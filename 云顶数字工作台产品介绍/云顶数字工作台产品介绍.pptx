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38" Type="http://schemas.openxmlformats.org/officeDocument/2006/relationships/slide" Target="slides/slide38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42" Type="http://schemas.openxmlformats.org/officeDocument/2006/relationships/viewProps" Target="viewProps.xml" /><Relationship Id="rId16" Type="http://schemas.openxmlformats.org/officeDocument/2006/relationships/slide" Target="slides/slide16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25" Type="http://schemas.openxmlformats.org/officeDocument/2006/relationships/slide" Target="slides/slide25.xml" /><Relationship Id="rId20" Type="http://schemas.openxmlformats.org/officeDocument/2006/relationships/slide" Target="slides/slide20.xml" /><Relationship Id="rId34" Type="http://schemas.openxmlformats.org/officeDocument/2006/relationships/slide" Target="slides/slide34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8" Type="http://schemas.openxmlformats.org/officeDocument/2006/relationships/slide" Target="slides/slide8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7" Type="http://schemas.openxmlformats.org/officeDocument/2006/relationships/slide" Target="slides/slide7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9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40" Type="http://schemas.openxmlformats.org/officeDocument/2006/relationships/presProps" Target="presProps.xml" /><Relationship Id="rId41" Type="http://schemas.openxmlformats.org/officeDocument/2006/relationships/tableStyles" Target="tableStyles.xml" /><Relationship Id="rId5" Type="http://schemas.openxmlformats.org/officeDocument/2006/relationships/slide" Target="slides/slide5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svg" /><Relationship Id="rId3" Type="http://schemas.openxmlformats.org/officeDocument/2006/relationships/image" Target="media/image6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3" Type="http://schemas.openxmlformats.org/officeDocument/2006/relationships/image" Target="media/image11.svg" /><Relationship Id="rId2" Type="http://schemas.openxmlformats.org/officeDocument/2006/relationships/image" Target="media/image10.svg" /><Relationship Id="rId4" Type="http://schemas.openxmlformats.org/officeDocument/2006/relationships/image" Target="media/image12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Relationship Id="rId2" Type="http://schemas.openxmlformats.org/officeDocument/2006/relationships/image" Target="media/image16.svg" /><Relationship Id="rId3" Type="http://schemas.openxmlformats.org/officeDocument/2006/relationships/image" Target="media/image17.sv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18.sv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Relationship Id="rId2" Type="http://schemas.openxmlformats.org/officeDocument/2006/relationships/image" Target="media/image21.sv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svg" /><Relationship Id="rId3" Type="http://schemas.openxmlformats.org/officeDocument/2006/relationships/image" Target="media/image6.sv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75A"/>
              </a:gs>
              <a:gs pos="48000">
                <a:srgbClr val="101F45"/>
              </a:gs>
              <a:gs pos="100000">
                <a:srgbClr val="0A2A6E"/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0" y="0"/>
            <a:ext cx="74295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76300" y="16002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76300" y="1981200"/>
            <a:ext cx="609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450">
                <a:solidFill>
                  <a:srgbClr val="7FB2E5"/>
                </a:solidFill>
                <a:latin typeface="Microsoft YaHei"/>
                <a:ea typeface="Microsoft YaHei"/>
              </a:rPr>
              <a:t>YDSZ WORKER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60960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950" b="1">
                <a:solidFill>
                  <a:srgbClr val="FFFFFF"/>
                </a:solidFill>
                <a:latin typeface="Microsoft YaHei"/>
                <a:ea typeface="Microsoft YaHei"/>
              </a:rPr>
              <a:t>云顶数字工作台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76300" y="3657600"/>
            <a:ext cx="60960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BD9F0"/>
                </a:solidFill>
                <a:latin typeface="Microsoft YaHei"/>
                <a:ea typeface="Microsoft YaHei"/>
              </a:rPr>
              <a:t>会思考，会干活，陪企业成长的智能伙伴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76300" y="4524375"/>
            <a:ext cx="5334000" cy="9525"/>
          </a:xfrm>
          <a:prstGeom prst="rect">
            <a:avLst/>
          </a:prstGeom>
          <a:solidFill>
            <a:srgbClr val="33507F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76300" y="4743450"/>
            <a:ext cx="6096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9AB4DB"/>
                </a:solidFill>
                <a:latin typeface="Microsoft YaHei"/>
                <a:ea typeface="Microsoft YaHei"/>
              </a:rPr>
              <a:t>自托管</a:t>
            </a:r>
            <a:r>
              <a:rPr lang="en-US" sz="1500">
                <a:solidFill>
                  <a:srgbClr val="9AB4D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9AB4DB"/>
                </a:solidFill>
                <a:latin typeface="Microsoft YaHei"/>
                <a:ea typeface="Microsoft YaHei"/>
              </a:rPr>
              <a:t>多用户</a:t>
            </a:r>
            <a:r>
              <a:rPr lang="en-US" sz="1500">
                <a:solidFill>
                  <a:srgbClr val="9AB4D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9AB4DB"/>
                </a:solidFill>
                <a:latin typeface="Microsoft YaHei"/>
                <a:ea typeface="Microsoft YaHei"/>
              </a:rPr>
              <a:t>多智能体企业级</a:t>
            </a:r>
            <a:r>
              <a:rPr lang="en-US" sz="1500">
                <a:solidFill>
                  <a:srgbClr val="9AB4D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9AB4DB"/>
                </a:solidFill>
                <a:latin typeface="Microsoft YaHei"/>
                <a:ea typeface="Microsoft YaHei"/>
              </a:rPr>
              <a:t>助手平台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76300" y="58959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产品对外介绍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057400" y="5905500"/>
            <a:ext cx="9525" cy="152400"/>
          </a:xfrm>
          <a:prstGeom prst="rect">
            <a:avLst/>
          </a:prstGeom>
          <a:solidFill>
            <a:srgbClr val="33507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447925" y="58959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版本</a:t>
            </a:r>
            <a:r>
              <a:rPr lang="en-US" sz="1050">
                <a:solidFill>
                  <a:srgbClr val="7EA3D6"/>
                </a:solidFill>
                <a:latin typeface="Microsoft YaHei"/>
                <a:ea typeface="Microsoft YaHei"/>
              </a:rPr>
              <a:t xml:space="preserve"> v26.10.20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743325" y="5905500"/>
            <a:ext cx="9525" cy="152400"/>
          </a:xfrm>
          <a:prstGeom prst="rect">
            <a:avLst/>
          </a:prstGeom>
          <a:solidFill>
            <a:srgbClr val="33507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133850" y="58959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A3D6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7EA3D6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71500" y="5715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3810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2275A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71500" y="1933575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45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571500" y="2524125"/>
            <a:ext cx="2857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71500" y="2743200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五个章节，依次为产品定位、能力全景、安全治理、连接集成与落地保障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4762500" y="571500"/>
            <a:ext cx="6858000" cy="1066800"/>
          </a:xfrm>
          <a:custGeom>
            <a:pathLst>
              <a:path w="720" h="112">
                <a:moveTo>
                  <a:pt x="0" y="111"/>
                </a:moveTo>
                <a:lnTo>
                  <a:pt x="720" y="111"/>
                </a:lnTo>
                <a:lnTo>
                  <a:pt x="72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762500" y="914400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D4ED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619750" y="95250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275A"/>
                </a:solidFill>
                <a:latin typeface="Microsoft YaHei"/>
                <a:ea typeface="Microsoft YaHei"/>
              </a:rPr>
              <a:t>认识云顶：定位与价值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953750" y="1009650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3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762500" y="1638300"/>
            <a:ext cx="6858000" cy="1066800"/>
          </a:xfrm>
          <a:custGeom>
            <a:pathLst>
              <a:path w="720" h="112">
                <a:moveTo>
                  <a:pt x="0" y="111"/>
                </a:moveTo>
                <a:lnTo>
                  <a:pt x="720" y="111"/>
                </a:lnTo>
                <a:lnTo>
                  <a:pt x="72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762500" y="1981200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D4ED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619750" y="201930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275A"/>
                </a:solidFill>
                <a:latin typeface="Microsoft YaHei"/>
                <a:ea typeface="Microsoft YaHei"/>
              </a:rPr>
              <a:t>能力全景：从理解到执行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953750" y="2076450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8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4762500" y="2705100"/>
            <a:ext cx="6858000" cy="1066800"/>
          </a:xfrm>
          <a:custGeom>
            <a:pathLst>
              <a:path w="720" h="112">
                <a:moveTo>
                  <a:pt x="0" y="111"/>
                </a:moveTo>
                <a:lnTo>
                  <a:pt x="720" y="111"/>
                </a:lnTo>
                <a:lnTo>
                  <a:pt x="72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762500" y="3048000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D4ED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619750" y="308610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275A"/>
                </a:solidFill>
                <a:latin typeface="Microsoft YaHei"/>
                <a:ea typeface="Microsoft YaHei"/>
              </a:rPr>
              <a:t>安全与治理：可验证的边界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0953750" y="3143250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18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762500" y="3771900"/>
            <a:ext cx="6858000" cy="1066800"/>
          </a:xfrm>
          <a:custGeom>
            <a:pathLst>
              <a:path w="720" h="112">
                <a:moveTo>
                  <a:pt x="0" y="111"/>
                </a:moveTo>
                <a:lnTo>
                  <a:pt x="720" y="111"/>
                </a:lnTo>
                <a:lnTo>
                  <a:pt x="72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762500" y="4114800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D4ED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619750" y="415290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275A"/>
                </a:solidFill>
                <a:latin typeface="Microsoft YaHei"/>
                <a:ea typeface="Microsoft YaHei"/>
              </a:rPr>
              <a:t>连接与集成：接入既有系统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953750" y="4210050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24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762500" y="4838700"/>
            <a:ext cx="6858000" cy="1066800"/>
          </a:xfrm>
          <a:custGeom>
            <a:pathLst>
              <a:path w="720" h="112">
                <a:moveTo>
                  <a:pt x="0" y="111"/>
                </a:moveTo>
                <a:lnTo>
                  <a:pt x="720" y="111"/>
                </a:lnTo>
                <a:lnTo>
                  <a:pt x="72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762500" y="5181600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D4ED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619750" y="521970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275A"/>
                </a:solidFill>
                <a:latin typeface="Microsoft YaHei"/>
                <a:ea typeface="Microsoft YaHei"/>
              </a:rPr>
              <a:t>落地与保障：部署到持续运行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953750" y="5276850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29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143000"/>
            <a:ext cx="4000500" cy="4572000"/>
          </a:xfrm>
          <a:prstGeom prst="rect">
            <a:avLst/>
          </a:prstGeom>
          <a:ln/>
        </p:spPr>
      </p:pic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1F3C7A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认识云顶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产品定位、价值主张与能力边界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01 · POSITIONING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三道断层，卡住了企业</a:t>
            </a:r>
            <a:r>
              <a:rPr lang="en-US" sz="25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的最后一公里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1" name=""/>
          <p:cNvSpPr/>
          <p:nvPr/>
        </p:nvSpPr>
        <p:spPr>
          <a:xfrm rot="0" flipH="0" flipV="0">
            <a:off x="571500" y="1752600"/>
            <a:ext cx="1600200" cy="1219200"/>
          </a:xfrm>
          <a:prstGeom prst="roundRect">
            <a:avLst>
              <a:gd name="adj" fmla="val 7813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1162050" y="1885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1276350" y="2000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990600" y="2400300"/>
            <a:ext cx="762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理解业务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76300" y="2705100"/>
            <a:ext cx="10001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进不了私有数据</a:t>
            </a:r>
            <a:endParaRPr/>
          </a:p>
        </p:txBody>
      </p:sp>
      <p:pic>
        <p:nvPicPr>
          <p:cNvPr id="10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190750" y="2228850"/>
            <a:ext cx="419100" cy="266700"/>
          </a:xfrm>
          <a:prstGeom prst="rect">
            <a:avLst/>
          </a:prstGeom>
          <a:ln/>
        </p:spPr>
      </p:pic>
      <p:sp>
        <p:nvSpPr>
          <p:cNvPr id="1007" name=""/>
          <p:cNvSpPr/>
          <p:nvPr/>
        </p:nvSpPr>
        <p:spPr>
          <a:xfrm rot="0" flipH="0" flipV="0">
            <a:off x="2628900" y="1752600"/>
            <a:ext cx="1600200" cy="1219200"/>
          </a:xfrm>
          <a:prstGeom prst="roundRect">
            <a:avLst>
              <a:gd name="adj" fmla="val 7813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8" name=""/>
          <p:cNvSpPr/>
          <p:nvPr/>
        </p:nvSpPr>
        <p:spPr>
          <a:xfrm rot="0" flipH="0" flipV="0">
            <a:off x="3219450" y="1885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3333750" y="20002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3048000" y="2400300"/>
            <a:ext cx="762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动手执行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2933700" y="2705100"/>
            <a:ext cx="10001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够不着工具系统</a:t>
            </a:r>
            <a:endParaRPr/>
          </a:p>
        </p:txBody>
      </p:sp>
      <p:pic>
        <p:nvPicPr>
          <p:cNvPr id="10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48150" y="2228850"/>
            <a:ext cx="419100" cy="266700"/>
          </a:xfrm>
          <a:prstGeom prst="rect">
            <a:avLst/>
          </a:prstGeom>
          <a:ln/>
        </p:spPr>
      </p:pic>
      <p:sp>
        <p:nvSpPr>
          <p:cNvPr id="1013" name=""/>
          <p:cNvSpPr/>
          <p:nvPr/>
        </p:nvSpPr>
        <p:spPr>
          <a:xfrm rot="0" flipH="0" flipV="0">
            <a:off x="4686300" y="1752600"/>
            <a:ext cx="1600200" cy="1219200"/>
          </a:xfrm>
          <a:prstGeom prst="roundRect">
            <a:avLst>
              <a:gd name="adj" fmla="val 7813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5276850" y="1885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5391150" y="2000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5105400" y="2400300"/>
            <a:ext cx="762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沉淀复用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4991100" y="2705100"/>
            <a:ext cx="10001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过不了合规审批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571500" y="3143250"/>
            <a:ext cx="5715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571500" y="3286125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通用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的能力链：三处断点让它停在演示阶段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571500" y="3667125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模型能力已经足够，缺的是把它接进企业现场的三段路：让它读得到私有数据、准予它调用工具，并且有人管得住它。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6705600" y="1752600"/>
            <a:ext cx="4914900" cy="1152525"/>
          </a:xfrm>
          <a:custGeom>
            <a:pathLst>
              <a:path w="516" h="121">
                <a:moveTo>
                  <a:pt x="0" y="120"/>
                </a:moveTo>
                <a:lnTo>
                  <a:pt x="516" y="120"/>
                </a:lnTo>
                <a:lnTo>
                  <a:pt x="51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6705600" y="1752600"/>
            <a:ext cx="4914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D4ED8"/>
                </a:solidFill>
                <a:latin typeface="Microsoft YaHei"/>
                <a:ea typeface="Microsoft YaHei"/>
              </a:rPr>
              <a:t>01</a:t>
            </a:r>
            <a:r>
              <a:rPr lang="zh-CN" sz="1650" b="1">
                <a:solidFill>
                  <a:srgbClr val="1D4ED8"/>
                </a:solidFill>
                <a:latin typeface="Microsoft YaHei"/>
                <a:ea typeface="Microsoft YaHei"/>
              </a:rPr>
              <a:t>　数据断层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6705600" y="2162175"/>
            <a:ext cx="4914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业务知识散落在文档、即时消息、业务系统与人脑里，通用模型没有检索入口，只能给出放之四海而皆准的答案。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6705600" y="2895600"/>
            <a:ext cx="4914900" cy="1285875"/>
          </a:xfrm>
          <a:custGeom>
            <a:pathLst>
              <a:path w="516" h="135">
                <a:moveTo>
                  <a:pt x="0" y="134"/>
                </a:moveTo>
                <a:lnTo>
                  <a:pt x="516" y="134"/>
                </a:lnTo>
                <a:lnTo>
                  <a:pt x="516" y="135"/>
                </a:lnTo>
                <a:lnTo>
                  <a:pt x="0" y="135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6705600" y="3028950"/>
            <a:ext cx="4914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D4ED8"/>
                </a:solidFill>
                <a:latin typeface="Microsoft YaHei"/>
                <a:ea typeface="Microsoft YaHei"/>
              </a:rPr>
              <a:t>02</a:t>
            </a:r>
            <a:r>
              <a:rPr lang="zh-CN" sz="1650" b="1">
                <a:solidFill>
                  <a:srgbClr val="1D4ED8"/>
                </a:solidFill>
                <a:latin typeface="Microsoft YaHei"/>
                <a:ea typeface="Microsoft YaHei"/>
              </a:rPr>
              <a:t>　工具断层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6705600" y="3438525"/>
            <a:ext cx="4914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没有文件、命令、浏览器与业务系统的执行权限，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的结论永远停在「建议你这样做」，价值进不了业务流程。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6705600" y="4305300"/>
            <a:ext cx="4914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D4ED8"/>
                </a:solidFill>
                <a:latin typeface="Microsoft YaHei"/>
                <a:ea typeface="Microsoft YaHei"/>
              </a:rPr>
              <a:t>03</a:t>
            </a:r>
            <a:r>
              <a:rPr lang="zh-CN" sz="1650" b="1">
                <a:solidFill>
                  <a:srgbClr val="1D4ED8"/>
                </a:solidFill>
                <a:latin typeface="Microsoft YaHei"/>
                <a:ea typeface="Microsoft YaHei"/>
              </a:rPr>
              <a:t>　管控断层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6705600" y="4714875"/>
            <a:ext cx="4914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缺少审批、命令守卫与调用留痕，安全团队无法回答「它刚才到底做了什么」，于是越能干越不敢放手。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571500" y="5524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723900" y="5676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914400" y="57435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试点停在演示阶段的主因不是模型不够强，而是数据、工具、管控这三项工程基础设施缺位——这三项补齐，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才进得了生产。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0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01 · POSITIONING</a:t>
            </a:r>
            <a:endParaRPr/>
          </a:p>
        </p:txBody>
      </p:sp>
      <p:sp>
        <p:nvSpPr>
          <p:cNvPr id="1035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一个安装包交付整套企业级</a:t>
            </a:r>
            <a:r>
              <a:rPr lang="en-US" sz="25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571500" y="1752600"/>
            <a:ext cx="6286500" cy="3581400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60198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YdszServer · </a:t>
            </a: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单进程，重启即恢复</a:t>
            </a:r>
            <a:endParaRPr/>
          </a:p>
        </p:txBody>
      </p:sp>
      <p:sp>
        <p:nvSpPr>
          <p:cNvPr id="1040" name=""/>
          <p:cNvSpPr/>
          <p:nvPr/>
        </p:nvSpPr>
        <p:spPr>
          <a:xfrm rot="0" flipH="0" flipV="0">
            <a:off x="704850" y="2286000"/>
            <a:ext cx="296227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790575" y="2371725"/>
            <a:ext cx="27908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D4ED8"/>
                </a:solidFill>
                <a:latin typeface="Microsoft YaHei"/>
                <a:ea typeface="Microsoft YaHei"/>
              </a:rPr>
              <a:t>控制面数据库</a:t>
            </a:r>
            <a:endParaRPr/>
          </a:p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790575" y="2609850"/>
            <a:ext cx="27908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SQLite WAL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起步，可切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PostgreSQL</a:t>
            </a:r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3762375" y="2286000"/>
            <a:ext cx="296227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3848100" y="2371725"/>
            <a:ext cx="27908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4ED8"/>
                </a:solidFill>
                <a:latin typeface="Microsoft YaHei"/>
                <a:ea typeface="Microsoft YaHei"/>
              </a:rPr>
              <a:t>SharedServices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3848100" y="2609850"/>
            <a:ext cx="27908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仓库与工厂的统一依赖注入根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704850" y="3019425"/>
            <a:ext cx="194310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790575" y="3105150"/>
            <a:ext cx="17716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4ED8"/>
                </a:solidFill>
                <a:latin typeface="Microsoft YaHei"/>
                <a:ea typeface="Microsoft YaHei"/>
              </a:rPr>
              <a:t>AgentManager</a:t>
            </a:r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790575" y="33432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注册与生命周期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2743200" y="3019425"/>
            <a:ext cx="194310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2828925" y="3105150"/>
            <a:ext cx="17716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Harness </a:t>
            </a:r>
            <a:r>
              <a:rPr lang="zh-CN" sz="1200" b="1">
                <a:solidFill>
                  <a:srgbClr val="1D4ED8"/>
                </a:solidFill>
                <a:latin typeface="Microsoft YaHei"/>
                <a:ea typeface="Microsoft YaHei"/>
              </a:rPr>
              <a:t>运行时</a:t>
            </a:r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2828925" y="33432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LangGraph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对话与检查点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4781550" y="3019425"/>
            <a:ext cx="194310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4867275" y="3105150"/>
            <a:ext cx="17716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4ED8"/>
                </a:solidFill>
                <a:latin typeface="Microsoft YaHei"/>
                <a:ea typeface="Microsoft YaHei"/>
              </a:rPr>
              <a:t>Gateway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4867275" y="33432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通道与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WebSocket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枢纽</a:t>
            </a:r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704850" y="3752850"/>
            <a:ext cx="296227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790575" y="3838575"/>
            <a:ext cx="27908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4ED8"/>
                </a:solidFill>
                <a:latin typeface="Microsoft YaHei"/>
                <a:ea typeface="Microsoft YaHei"/>
              </a:rPr>
              <a:t>CronManager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90575" y="4076700"/>
            <a:ext cx="27908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APScheduler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定时任务</a:t>
            </a:r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3762375" y="3752850"/>
            <a:ext cx="296227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3848100" y="3838575"/>
            <a:ext cx="27908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FastAPI + </a:t>
            </a:r>
            <a:r>
              <a:rPr lang="zh-CN" sz="1200" b="1">
                <a:solidFill>
                  <a:srgbClr val="1D4ED8"/>
                </a:solidFill>
                <a:latin typeface="Microsoft YaHei"/>
                <a:ea typeface="Microsoft YaHei"/>
              </a:rPr>
              <a:t>控制台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3848100" y="4076700"/>
            <a:ext cx="27908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HTTP / WebSocket / CLI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同源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7239000" y="1752600"/>
            <a:ext cx="4381500" cy="1152525"/>
          </a:xfrm>
          <a:custGeom>
            <a:pathLst>
              <a:path w="460" h="121">
                <a:moveTo>
                  <a:pt x="0" y="120"/>
                </a:moveTo>
                <a:lnTo>
                  <a:pt x="460" y="120"/>
                </a:lnTo>
                <a:lnTo>
                  <a:pt x="460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7239000" y="1752600"/>
            <a:ext cx="4381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形态：一个进程，四种入口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7239000" y="2162175"/>
            <a:ext cx="4381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控制台、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CLI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通道与定时任务共享同一条消息管线，无外部队列依赖。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7239000" y="2895600"/>
            <a:ext cx="4381500" cy="1285875"/>
          </a:xfrm>
          <a:custGeom>
            <a:pathLst>
              <a:path w="460" h="135">
                <a:moveTo>
                  <a:pt x="0" y="134"/>
                </a:moveTo>
                <a:lnTo>
                  <a:pt x="460" y="134"/>
                </a:lnTo>
                <a:lnTo>
                  <a:pt x="460" y="135"/>
                </a:lnTo>
                <a:lnTo>
                  <a:pt x="0" y="135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7239000" y="3028950"/>
            <a:ext cx="4381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来源：站在开源生态之上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7239000" y="3438525"/>
            <a:ext cx="4381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基于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Octop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开源生态，采用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MIT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许可，并承诺与上游子组件版本同步。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7239000" y="4305300"/>
            <a:ext cx="4381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边界：不是又一个聊天框</a:t>
            </a:r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7239000" y="4714875"/>
            <a:ext cx="4381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让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带着身份、权限与审计进入业务流程的控制面。</a:t>
            </a:r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571500" y="5524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723900" y="5676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914400" y="57435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运维复杂度被压缩到一个进程：没有消息队列要管、没有中间件要调，一台机器就能把整套能力跑起来。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072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1 · POSITIONING&lt;/Text&gt;&#13;&#10;            &lt;Box style={{ width: 44, height: 4, borderRadius: 2, background: '#1D4ED8' }} /&gt;&#13;&#10;        &lt;/Box&gt;&#13;&#10;        &lt;Text style={{ fontSize: 34, fontWeight: 'bold', color: '#12275A', marginTop: 16, lineHeight: 1.2 }}&gt;&#13;&#10;            会思考、会干活、陪企业成长，是三件不同的事&#13;&#10;        &lt;/Text&gt;&#13;&#10;        &lt;Box style={{ height: 1, background: '#E2E8F0', marginTop: 16 }} /&gt;&#13;&#10;&#13;&#10;        &lt;Box style={{ flex: 1, marginTop: 22, flexDirection: 'row', gap: 32 }}&gt;&#13;&#10;            {/* 主栏：会干活 */}&#13;&#10;            &lt;Box style={{ width: 600, background: '#12275A', borderRadius: 12, padding: 20 }}&gt;&#13;&#10;                &lt;Text style={{ fontSize: 26, fontWeight: 'bold', color: '#FFFFFF', lineHeight: 1.3 }}&gt;会干活：把结论变成动作&lt;/Text&gt;&#13;&#10;                &lt;Text style={{ fontSize: 17, color: '#A9C2E8', lineHeight: 1.5, marginTop: 12 }}&gt;&#13;&#10;                    读写文件、执行 Shell、调用浏览器、生成图片与视频、创建定时任务——动作真实发生在你的机器或沙箱里。&#13;&#10;                &lt;/Text&gt;&#13;&#10;                &lt;Box style={{ height: 1, background: '#2D4A85', marginTop: 14 }} /&gt;&#13;&#10;                &lt;Box style={{ flexDirection: 'row', gap: 12, alignItems: 'flex-start', marginTop: 12 }}&gt;&#13;&#10;                    &lt;Box style={{ width: 8, height: 8, borderRadius: 4, background: '#F59E0B', marginTop: 8 }} /&gt;&#13;&#10;                    &lt;Text style={{ flex: 1, fontSize: 17, color: '#D6E3F5', lineHeight: 1.5 }}&gt;&#13;&#10;                        文件与命令：ls / read_file / write_file / edit_file / glob / grep / execute&#13;&#10;                    &lt;/Text&gt;&#13;&#10;                &lt;/Box&gt;&#13;&#10;                &lt;Box style={{ flexDirection: 'row', gap: 12, alignItems: 'flex-start', marginTop: 10 }}&gt;&#13;&#10;                    &lt;Box style={{ width: 8, height: 8, borderRadius: 4, background: '#06B6D4', marginTop: 8 }} /&gt;&#13;&#10;                    &lt;Text style={{ flex: 1, fontSize: 17, color: '#D6E3F5', lineHeight: 1.5 }}&gt;&#13;&#10;                        联网与验证：5 个搜索后端、web_fetch、browser_use 无头浏览器会话&#13;&#10;                    &lt;/Text&gt;&#13;&#10;                &lt;/Box&gt;&#13;&#10;                &lt;Box style={{ flexDirection: 'row', gap: 12, alignItems: 'flex-start', marginTop: 10 }}&gt;&#13;&#10;                    &lt;Box style={{ width: 8, height: 8, borderRadius: 4, background: '#06B6D4', marginTop: 8 }} /&gt;&#13;&#10;                    &lt;Text style={{ flex: 1, fontSize: 17, color: '#D6E3F5', lineHeight: 1.5 }}&gt;&#13;&#10;                        交付与排程：文件回传、定时任务增删改查、立即执行&#13;&#10;                    &lt;/Text&gt;&#13;&#10;                &lt;/Box&gt;&#13;&#10;            &lt;/Box&gt;&#13;&#10;&#13;&#10;            {/* 右栏：会思考 + 陪企业成长 */}&#13;&#10;            &lt;Box style={{ width: 528 }}&gt;&#13;&#10;                &lt;Box style={{ background: '#E8EEFB', borderWidth: 1, borderColor: '#C7D6F5', borderStyle: 'solid', borderRadius: 12, padding: 20 }}&gt;&#13;&#10;                    &lt;Text style={{ fontSize: 24, fontWeight: '600', color: '#12275A', lineHeight: 1.3 }}&gt;会思考：答案锚定私有数据&lt;/Text&gt;&#13;&#10;                    &lt;Text style={{ fontSize: 17, color: '#475569', lineHeight: 1.5, marginTop: 10 }}&gt;&#13;&#10;                        知识库 RAG 给出带出处的答案；长期记忆以三层模型沉淀，跨会话仍认得你的组织。&#13;&#10;                    &lt;/Text&gt;&#13;&#10;                &lt;/Box&gt;&#13;&#10;                &lt;Box style={{ background: '#FFF7E9', borderWidth: 1, borderColor: '#F5D9A4', borderStyle: 'solid', borderRadius: 12, padding: 20, marginTop: 18 }}&gt;&#13;&#10;                    &lt;Text style={{ fontSize: 24, fontWeight: '600', color: '#12275A', lineHeight: 1.3 }}&gt;陪企业成长：越用越值钱&lt;/Text&gt;&#13;&#10;                    &lt;Text style={{ fontSize: 17, color: '#475569', lineHeight: 1.5, marginTop: 10 }}&gt;&#13;&#10;                        24 个技能包、38 个内置插件与 SkillHub 市场随装随用，配置持续沉淀为组织资产。&#13;&#10;                    &lt;/Text&gt;&#13;&#10;                &lt;/Box&gt;&#13;&#10;            &lt;/Box&gt;&#13;&#10;        &lt;/Box&gt;&#13;&#10;&#13;&#10;        &lt;Box style={{ marginTop: 20, flexDirection: 'row', alignItems: 'center', background: '#F4F6FB', borderRadius: 8, padding: 16, gap: 16 }}&gt;&#13;&#10;            &lt;Box style={{ width: 4, height: 48, borderRadius: 2, background: '#1D4ED8' }} /&gt;&#13;&#10;            &lt;Text style={{ flex: 1, fontSize: 19, color: '#12275A', lineHeight: 1.5 }}&gt;&#13;&#10;                三者构成闭环：先理解你的上下文，再真的动手，最后把过程沉淀成下一次的能力——而不是一次性的问答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01 · POSITIONING</a:t>
            </a:r>
            <a:endParaRPr/>
          </a:p>
        </p:txBody>
      </p:sp>
      <p:sp>
        <p:nvSpPr>
          <p:cNvPr id="1075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会思考、会干活、陪企业成长，是三件不同的事</a:t>
            </a:r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78" name=""/>
          <p:cNvSpPr/>
          <p:nvPr/>
        </p:nvSpPr>
        <p:spPr>
          <a:xfrm rot="0" flipH="0" flipV="0">
            <a:off x="571500" y="1752600"/>
            <a:ext cx="5715000" cy="3581400"/>
          </a:xfrm>
          <a:prstGeom prst="roundRect">
            <a:avLst>
              <a:gd name="adj" fmla="val 3191"/>
            </a:avLst>
          </a:prstGeom>
          <a:solidFill>
            <a:srgbClr val="12275A"/>
          </a:solidFill>
          <a:ln/>
        </p:spPr>
        <p:txBody>
          <a:bodyPr/>
          <a:p/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762000" y="1943100"/>
            <a:ext cx="53340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会干活：把结论变成动作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762000" y="2447925"/>
            <a:ext cx="5334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A9C2E8"/>
                </a:solidFill>
                <a:latin typeface="Microsoft YaHei"/>
                <a:ea typeface="Microsoft YaHei"/>
              </a:rPr>
              <a:t>读写文件、执行</a:t>
            </a:r>
            <a:r>
              <a:rPr lang="en-US" sz="1275">
                <a:solidFill>
                  <a:srgbClr val="A9C2E8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1275">
                <a:solidFill>
                  <a:srgbClr val="A9C2E8"/>
                </a:solidFill>
                <a:latin typeface="Microsoft YaHei"/>
                <a:ea typeface="Microsoft YaHei"/>
              </a:rPr>
              <a:t>、调用浏览器、生成图片与视频、创建定时任务——动作真实发生在你的机器或沙箱里。</a:t>
            </a:r>
            <a:endParaRPr/>
          </a:p>
        </p:txBody>
      </p:sp>
      <p:sp>
        <p:nvSpPr>
          <p:cNvPr id="1081" name=""/>
          <p:cNvSpPr/>
          <p:nvPr/>
        </p:nvSpPr>
        <p:spPr>
          <a:xfrm rot="0" flipH="0" flipV="0">
            <a:off x="762000" y="3171825"/>
            <a:ext cx="53340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1082" name=""/>
          <p:cNvSpPr/>
          <p:nvPr/>
        </p:nvSpPr>
        <p:spPr>
          <a:xfrm rot="0" flipH="0" flipV="0">
            <a:off x="762000" y="3371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952500" y="3295650"/>
            <a:ext cx="5143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文件与命令：</a:t>
            </a: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>ls / read_file / write_file / edit_file / glob / grep / execute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762000" y="4057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952500" y="3981450"/>
            <a:ext cx="5143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联网与验证：</a:t>
            </a: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个搜索后端、</a:t>
            </a: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>web_fetch</a:t>
            </a: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 xml:space="preserve">browser_use </a:t>
            </a: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无头浏览器会话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762000" y="4743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952500" y="4667250"/>
            <a:ext cx="5143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交付与排程：文件回传、定时任务增删改查、立即执行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6591300" y="1752600"/>
            <a:ext cx="5029200" cy="142875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6781800" y="1943100"/>
            <a:ext cx="46482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会思考：答案锚定私有数据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6781800" y="2400300"/>
            <a:ext cx="4648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知识库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给出带出处的答案；长期记忆以三层模型沉淀，跨会话仍认得你的组织。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6591300" y="3352800"/>
            <a:ext cx="5029200" cy="1428750"/>
          </a:xfrm>
          <a:prstGeom prst="roundRect">
            <a:avLst>
              <a:gd name="adj" fmla="val 8000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6781800" y="3543300"/>
            <a:ext cx="46482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陪企业成长：越用越值钱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6781800" y="4000500"/>
            <a:ext cx="4648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个技能包、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38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个内置插件与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SkillHub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市场随装随用，配置持续沉淀为组织资产。</a:t>
            </a:r>
            <a:endParaRPr/>
          </a:p>
        </p:txBody>
      </p:sp>
      <p:sp>
        <p:nvSpPr>
          <p:cNvPr id="1094" name=""/>
          <p:cNvSpPr/>
          <p:nvPr/>
        </p:nvSpPr>
        <p:spPr>
          <a:xfrm rot="0" flipH="0" flipV="0">
            <a:off x="571500" y="5524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95" name=""/>
          <p:cNvSpPr/>
          <p:nvPr/>
        </p:nvSpPr>
        <p:spPr>
          <a:xfrm rot="0" flipH="0" flipV="0">
            <a:off x="723900" y="5676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914400" y="57435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三者构成闭环：先理解你的上下文，再真的动手，最后把过程沉淀成下一次的能力——而不是一次性的问答。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097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1 · POSITIONING&lt;/Text&gt;&#13;&#10;            &lt;Box style={{ width: 44, height: 4, borderRadius: 2, background: '#1D4ED8' }} /&gt;&#13;&#10;        &lt;/Box&gt;&#13;&#10;        &lt;Text style={{ fontSize: 34, fontWeight: 'bold', color: '#12275A', marginTop: 16, lineHeight: 1.2 }}&gt;&#13;&#10;            一句话说清边界&#13;&#10;        &lt;/Text&gt;&#13;&#10;        &lt;Box style={{ height: 1, background: '#E2E8F0', marginTop: 16 }} /&gt;&#13;&#10;&#13;&#10;        &lt;Box style={{ flex: 1, marginTop: 18 }}&gt;&#13;&#10;            &lt;Text style={{ fontSize: 44, fontWeight: 'bold', color: '#12275A', lineHeight: 1.35 }}&gt;&#13;&#10;                对话即操作，配置即能力，&lt;span style={{ color: '#1D4ED8' }}&gt;数据不出内网&lt;/span&gt;&#13;&#10;            &lt;/Text&gt;&#13;&#10;            &lt;Text style={{ fontSize: 20, color: '#64748B', lineHeight: 1.5, marginTop: 22 }}&gt;&#13;&#10;                这三句分别对应三个工程事实：同一条消息管线驱动所有入口、专家与工具都是可配置资产、全部数据落在你自己的机器上。&#13;&#10;            &lt;/Text&gt;&#13;&#10;&#13;&#10;            &lt;Box style={{ flexDirection: 'row', gap: 26, marginTop: 26 }}&gt;&#13;&#10;                &lt;Box style={{ flex: 1, background: '#F8FAFC', borderWidth: 1, borderColor: '#E2E8F0', borderStyle: 'solid', borderRadius: 12, padding: 20 }}&gt;&#13;&#10;                    &lt;Text style={{ fontSize: 56, fontWeight: 'bold', color: '#F59E0B', lineHeight: 1.1 }}&gt;341,291&lt;/Text&gt;&#13;&#10;                    &lt;Text style={{ fontSize: 18, color: '#12275A', fontWeight: '600', lineHeight: 1.4, marginTop: 8 }}&gt;行自研代码&lt;/Text&gt;&#13;&#10;                    &lt;Text style={{ fontSize: 16, color: '#64748B', lineHeight: 1.5, marginTop: 8 }}&gt;&#13;&#10;                        Python 主包与四个自研子组件合计，工程体量决定可持续演进能力。&#13;&#10;                    &lt;/Text&gt;&#13;&#10;                &lt;/Box&gt;&#13;&#10;                &lt;Box style={{ flex: 1, background: '#F8FAFC', borderWidth: 1, borderColor: '#E2E8F0', borderStyle: 'solid', borderRadius: 12, padding: 20 }}&gt;&#13;&#10;                    &lt;Text style={{ fontSize: 56, fontWeight: 'bold', color: '#1D4ED8', lineHeight: 1.1 }}&gt;797&lt;/Text&gt;&#13;&#10;                    &lt;Text style={{ fontSize: 18, color: '#12275A', fontWeight: '600', lineHeight: 1.4, marginTop: 8 }}&gt;个测试文件&lt;/Text&gt;&#13;&#10;                    &lt;Text style={{ fontSize: 16, color: '#64748B', lineHeight: 1.5, marginTop: 8 }}&gt;&#13;&#10;                        覆盖后端、运行时、网关、浏览器与记忆引擎，不是只测主流程。&#13;&#10;                    &lt;/Text&gt;&#13;&#10;                &lt;/Box&gt;&#13;&#10;                &lt;Box style={{ flex: 1, background: '#F8FAFC', borderWidth: 1, borderColor: '#E2E8F0', borderStyle: 'solid', borderRadius: 12, padding: 20 }}&gt;&#13;&#10;                    &lt;Text style={{ fontSize: 56, fontWeight: 'bold', color: '#06B6D4', lineHeight: 1.1 }}&gt;MIT&lt;/Text&gt;&#13;&#10;                    &lt;Text style={{ fontSize: 18, color: '#12275A', fontWeight: '600', lineHeight: 1.4, marginTop: 8 }}&gt;开源许可&lt;/Text&gt;&#13;&#10;                    &lt;Text style={{ fontSize: 16, color: '#64748B', lineHeight: 1.5, marginTop: 8 }}&gt;&#13;&#10;                        无传染性协议约束，企业私有化部署与二次开发没有授权障碍。&#13;&#10;                    &lt;/Text&gt;&#13;&#10;                &lt;/Box&gt;&#13;&#10;            &lt;/Box&gt;&#13;&#10;        &lt;/Box&gt;&#13;&#10;&#13;&#10;        &lt;Box style={{ marginTop: 20, flexDirection: 'row', alignItems: 'center', background: '#F4F6FB', borderRadius: 8, padding: 16, gap: 16 }}&gt;&#13;&#10;            &lt;Box style={{ width: 4, height: 48, borderRadius: 2, background: '#1D4ED8' }} /&gt;&#13;&#10;            &lt;Text style={{ flex: 1, fontSize: 19, color: '#12275A', lineHeight: 1.5 }}&gt;&#13;&#10;                承诺的性质不同：功能可以模仿，代码体量、测试密度与许可证条款是可以当场核验的事实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01 · POSITIONING</a:t>
            </a:r>
            <a:endParaRPr/>
          </a:p>
        </p:txBody>
      </p:sp>
      <p:sp>
        <p:nvSpPr>
          <p:cNvPr id="110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一句话说清边界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571500" y="1714500"/>
            <a:ext cx="11049000" cy="6858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12275A"/>
                </a:solidFill>
                <a:latin typeface="Microsoft YaHei"/>
                <a:ea typeface="Microsoft YaHei"/>
              </a:rPr>
              <a:t>对话即操作，配置即能力，</a:t>
            </a:r>
            <a:r>
              <a:rPr lang="zh-CN" sz="3300" b="1">
                <a:solidFill>
                  <a:srgbClr val="1D4ED8"/>
                </a:solidFill>
                <a:latin typeface="Microsoft YaHei"/>
                <a:ea typeface="Microsoft YaHei"/>
              </a:rPr>
              <a:t>数据不出内网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571500" y="2609850"/>
            <a:ext cx="11049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这三句分别对应三个工程事实：同一条消息管线驱动所有入口、专家与工具都是可配置资产、全部数据落在你自己的机器上。</a:t>
            </a:r>
            <a:endParaRPr/>
          </a:p>
        </p:txBody>
      </p:sp>
      <p:sp>
        <p:nvSpPr>
          <p:cNvPr id="1105" name=""/>
          <p:cNvSpPr/>
          <p:nvPr/>
        </p:nvSpPr>
        <p:spPr>
          <a:xfrm rot="0" flipH="0" flipV="0">
            <a:off x="571500" y="3200400"/>
            <a:ext cx="3514725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762000" y="3390900"/>
            <a:ext cx="3133725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F59E0B"/>
                </a:solidFill>
                <a:latin typeface="Microsoft YaHei"/>
                <a:ea typeface="Microsoft YaHei"/>
              </a:rPr>
              <a:t>341,291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762000" y="4171950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行自研代码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762000" y="4543425"/>
            <a:ext cx="3133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主包与四个自研子组件合计，工程体量决定可持续演进能力。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4333875" y="3200400"/>
            <a:ext cx="352425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4524375" y="3390900"/>
            <a:ext cx="314325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1D4ED8"/>
                </a:solidFill>
                <a:latin typeface="Microsoft YaHei"/>
                <a:ea typeface="Microsoft YaHei"/>
              </a:rPr>
              <a:t>797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4524375" y="4171950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个测试文件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4524375" y="454342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覆盖后端、运行时、网关、浏览器与记忆引擎，不是只测主流程。</a:t>
            </a:r>
            <a:endParaRPr/>
          </a:p>
        </p:txBody>
      </p:sp>
      <p:sp>
        <p:nvSpPr>
          <p:cNvPr id="1113" name=""/>
          <p:cNvSpPr/>
          <p:nvPr/>
        </p:nvSpPr>
        <p:spPr>
          <a:xfrm rot="0" flipH="0" flipV="0">
            <a:off x="8105775" y="3200400"/>
            <a:ext cx="3514725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8296275" y="3390900"/>
            <a:ext cx="3133725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06B6D4"/>
                </a:solidFill>
                <a:latin typeface="Microsoft YaHei"/>
                <a:ea typeface="Microsoft YaHei"/>
              </a:rPr>
              <a:t>MIT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8296275" y="4171950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开源许可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296275" y="4543425"/>
            <a:ext cx="3133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无传染性协议约束，企业私有化部署与二次开发没有授权障碍。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571500" y="5524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118" name=""/>
          <p:cNvSpPr/>
          <p:nvPr/>
        </p:nvSpPr>
        <p:spPr>
          <a:xfrm rot="0" flipH="0" flipV="0">
            <a:off x="723900" y="5676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914400" y="57435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承诺的性质不同：功能可以模仿，代码体量、测试密度与许可证条款是可以当场核验的事实。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1F3C7A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能力全景</a:t>
            </a:r>
            <a:endParaRPr/>
          </a:p>
        </p:txBody>
      </p:sp>
      <p:sp>
        <p:nvSpPr>
          <p:cNvPr id="1125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从理解业务到动手执行的完整链路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127" name="" descr="&lt;Slide style={{ padding: 60, background: '#12275A' }}&gt;&#13;&#10;    &lt;Box style={{ height: 600 }}&gt;&#13;&#10;        &lt;Box style={{ height: 20, flexDirection: 'row', justifyContent: 'space-between', alignItems: 'center' }}&gt;&#13;&#10;            &lt;Text style={{ fontSize: 14, color: '#7EA3D6', letterSpacing: 2 }}&gt;02 · ABILITY LANDSCAPE&lt;/Text&gt;&#13;&#10;            &lt;Box style={{ width: 44, height: 4, borderRadius: 2, background: '#F59E0B' }} /&gt;&#13;&#10;        &lt;/Box&gt;&#13;&#10;        &lt;Text style={{ fontSize: 34, fontWeight: 'bold', color: '#FFFFFF', marginTop: 16, lineHeight: 1.2 }}&gt;&#13;&#10;            一套底座，把「理解 — 决策 — 执行 — 沉淀」串成闭环&#13;&#10;        &lt;/Text&gt;&#13;&#10;        &lt;Box style={{ height: 1, background: '#1E3C82', marginTop: 16 }} /&gt;&#13;&#10;&#13;&#10;        &lt;Box style={{ flex: 1, marginTop: 22 }}&gt;&#13;&#10;            {/* 载体层 */}&#13;&#10;            &lt;Box style={{ flexDirection: 'row', alignItems: 'stretch', gap: 20 }}&gt;&#13;&#10;                &lt;Box style={{ width: 132, background: '#1E3C82', borderRadius: 10, justifyContent: 'center', alignItems: 'center', padding: 12 }}&gt;&#13;&#10;                    &lt;Text style={{ fontSize: 18, fontWeight: '600', color: '#CBD9F0', lineHeight: 1.3 }}&gt;载体层&lt;/Text&gt;&#13;&#10;                    &lt;Text style={{ fontSize: 14, color: '#7EA3D6', lineHeight: 1.3 }}&gt;人从哪里用&lt;/Text&gt;&#13;&#10;                &lt;/Box&gt;&#13;&#10;                &lt;Box style={{ flex: 1, flexDirection: 'row', gap: 10 }}&gt;&#13;&#10;                    &lt;Box style={{ flex: 1, background: '#17305F', borderWidth: 1, borderColor: '#2D4A85', borderStyle: 'solid', borderRadius: 10, padding: 12, justifyContent: 'center' }}&gt;&#13;&#10;                        &lt;Text style={{ fontSize: 17, fontWeight: '600', color: '#FFFFFF', lineHeight: 1.3 }}&gt;Web 控制台&lt;/Text&gt;&#13;&#10;                        &lt;Text style={{ fontSize: 14, color: '#9AB4DB', lineHeight: 1.3 }}&gt;React + WebSocket&lt;/Text&gt;&#13;&#10;                    &lt;/Box&gt;&#13;&#10;                    &lt;Box style={{ flex: 1, background: '#17305F', borderWidth: 1, borderColor: '#2D4A85', borderStyle: 'solid', borderRadius: 10, padding: 12, justifyContent: 'center' }}&gt;&#13;&#10;                        &lt;Text style={{ fontSize: 17, fontWeight: '600', color: '#FFFFFF', lineHeight: 1.3 }}&gt;命令行 CLI&lt;/Text&gt;&#13;&#10;                        &lt;Text style={{ fontSize: 14, color: '#9AB4DB', lineHeight: 1.3 }}&gt;21 个子命令&lt;/Text&gt;&#13;&#10;                    &lt;/Box&gt;&#13;&#10;                    &lt;Box style={{ flex: 1, background: '#17305F', borderWidth: 1, borderColor: '#2D4A85', borderStyle: 'solid', borderRadius: 10, padding: 12, justifyContent: 'center' }}&gt;&#13;&#10;                        &lt;Text style={{ fontSize: 17, fontWeight: '600', color: '#FFFFFF', lineHeight: 1.3 }}&gt;IM 通道&lt;/Text&gt;&#13;&#10;                        &lt;Text style={{ fontSize: 14, color: '#9AB4DB', lineHeight: 1.3 }}&gt;10 个平台&lt;/Text&gt;&#13;&#10;                    &lt;/Box&gt;&#13;&#10;                    &lt;Box style={{ flex: 1, background: '#17305F', borderWidth: 1, borderColor: '#2D4A85', borderStyle: 'solid', borderRadius: 10, padding: 12, justifyContent: 'center' }}&gt;&#13;&#10;                        &lt;Text style={{ fontSize: 17, fontWeight: '600', color: '#FFFFFF', lineHeight: 1.3 }}&gt;定时任务&lt;/Text&gt;&#13;&#10;                        &lt;Text style={{ fontSize: 14, color: '#9AB4DB', lineHeight: 1.3 }}&gt;主动推送&lt;/Text&gt;&#13;&#10;                    &lt;/Box&gt;&#13;&#10;                    &lt;Box style={{ flex: 1, background: '#17305F', borderWidth: 1, borderColor: '#2D4A85', borderStyle: 'solid', borderRadius: 10, padding: 12, justifyContent: 'center' }}&gt;&#13;&#10;                        &lt;Text style={{ fontSize: 17, fontWeight: '600', color: '#FFFFFF', lineHeight: 1.3 }}&gt;ACP / MCP&lt;/Text&gt;&#13;&#10;                        &lt;Text style={{ fontSize: 14, color: '#9AB4DB', lineHeight: 1.3 }}&gt;双向协议&lt;/Text&gt;&#13;&#10;                    &lt;/Box&gt;&#13;&#10;                &lt;/Box&gt;&#13;&#10;            &lt;/Box&gt;&#13;&#10;&#13;&#10;            {/* 能力层 */}&#13;&#10;            &lt;Box style={{ flexDirection: 'row', alignItems: 'stretch', gap: 20, marginTop: 14 }}&gt;&#13;&#10;                &lt;Box style={{ width: 132, background: '#1D4ED8', borderRadius: 10, justifyContent: 'center', alignItems: 'center', padding: 12 }}&gt;&#13;&#10;                    &lt;Text style={{ fontSize: 18, fontWeight: '600', color: '#FFFFFF', lineHeight: 1.3 }}&gt;能力层&lt;/Text&gt;&#13;&#10;                    &lt;Text style={{ fontSize: 14, color: '#CBD9F0', lineHeight: 1.3 }}&gt;AI 会什么&lt;/Text&gt;&#13;&#10;                &lt;/Box&gt;&#13;&#10;                &lt;Box style={{ flex: 1 }}&gt;&#13;&#10;                    &lt;Box style={{ flexDirection: 'row', gap: 10 }}&gt;&#13;&#10;                        &lt;Box style={{ flex: 1, background: '#17305F', borderWidth: 1, borderColor: '#2D4A85', borderStyle: 'solid', borderRadius: 10, padding: 11, justifyContent: 'center' }}&gt;&#13;&#10;                            &lt;Text style={{ fontSize: 16, fontWeight: '600', color: '#FFFFFF', lineHeight: 1.3 }}&gt;专家与团队&lt;/Text&gt;&#13;&#10;                            &lt;Text style={{ fontSize: 14, color: '#9AB4DB', lineHeight: 1.3 }}&gt;37 个专家 / 团队编排&lt;/Text&gt;&#13;&#10;                        &lt;/Box&gt;&#13;&#10;                        &lt;Box style={{ flex: 1, background: '#17305F', borderWidth: 1, borderColor: '#2D4A85', borderStyle: 'solid', borderRadius: 10, padding: 11, justifyContent: 'center' }}&gt;&#13;&#10;                            &lt;Text style={{ fontSize: 16, fontWeight: '600', color: '#FFFFFF', lineHeight: 1.3 }}&gt;知识库 RAG&lt;/Text&gt;&#13;&#10;                            &lt;Text style={{ fontSize: 14, color: '#9AB4DB', lineHeight: 1.3 }}&gt;解析到引用溯源&lt;/Text&gt;&#13;&#10;                        &lt;/Box&gt;&#13;&#10;                        &lt;Box style={{ flex: 1, background: '#17305F', borderWidth: 1, borderColor: '#2D4A85', borderStyle: 'solid', borderRadius: 10, padding: 11, justifyContent: 'center' }}&gt;&#13;&#10;                            &lt;Text style={{ fontSize: 16, fontWeight: '600', color: '#FFFFFF', lineHeight: 1.3 }}&gt;长期记忆&lt;/Text&gt;&#13;&#10;                            &lt;Text style={{ fontSize: 14, color: '#9AB4DB', lineHeight: 1.3 }}&gt;三层记忆模型&lt;/Text&gt;&#13;&#10;                        &lt;/Box&gt;&#13;&#10;                    &lt;/Box&gt;&#13;&#10;                    &lt;Box style={{ flexDirection: 'row', gap: 10, marginTop: 10 }}&gt;&#13;&#10;                        &lt;Box style={{ flex: 1, background: '#17305F', borderWidth: 1, borderColor: '#2D4A85', borderStyle: 'solid', borderRadius: 10, padding: 11, justifyContent: 'center' }}&gt;&#13;&#10;                            &lt;Text style={{ fontSize: 16, fontWeight: '600', color: '#FFFFFF', lineHeight: 1.3 }}&gt;技能与插件&lt;/Text&gt;&#13;&#10;                            &lt;Text style={{ fontSize: 14, color: '#9AB4DB', lineHeight: 1.3 }}&gt;23 技能 / 37 插件&lt;/Text&gt;&#13;&#10;                        &lt;/Box&gt;&#13;&#10;                        &lt;Box style={{ flex: 1, background: '#17305F', borderWidth: 1, borderColor: '#2D4A85', borderStyle: 'solid', borderRadius: 10, padding: 11, justifyContent: 'center' }}&gt;&#13;&#10;                            &lt;Text style={{ fontSize: 16, fontWeight: '600', color: '#FFFFFF', lineHeight: 1.3 }}&gt;工具与执行&lt;/Text&gt;&#13;&#10;                            &lt;Text style={{ fontSize: 14, color: '#9AB4DB', lineHeight: 1.3 }}&gt;文件 / Shell / 浏览器&lt;/Text&gt;&#13;&#10;                        &lt;/Box&gt;&#13;&#10;                        &lt;Box style={{ flex: 1, background: '#17305F', borderWidth: 1, borderColor: '#2D4A85', borderStyle: 'solid', borderRadius: 10, padding: 11, justifyContent: 'center' }}&gt;&#13;&#10;                            &lt;Text style={{ fontSize: 16, fontWeight: '600', color: '#FFFFFF', lineHeight: 1.3 }}&gt;Connector&lt;/Text&gt;&#13;&#10;                            &lt;Text style={{ fontSize: 14, color: '#9AB4DB', lineHeight: 1.3 }}&gt;47 个外部系统&lt;/Text&gt;&#13;&#10;                        &lt;/Box&gt;&#13;&#10;                    &lt;/Box&gt;&#13;&#10;                &lt;/Box&gt;&#13;&#10;            &lt;/Box&gt;&#13;&#10;&#13;&#10;            {/* 运行时层 */}&#13;&#10;            &lt;Box style={{ flexDirection: 'row', alignItems: 'stretch', gap: 20, marginTop: 14 }}&gt;&#13;&#10;                &lt;Box style={{ width: 132, background: '#1E3C82', borderRadius: 10, justifyContent: 'center', alignItems: 'center', padding: 12 }}&gt;&#13;&#10;                    &lt;Text style={{ fontSize: 18, fontWeight: '600', color: '#CBD9F0', lineHeight: 1.3 }}&gt;运行时&lt;/Text&gt;&#13;&#10;                    &lt;Text style={{ fontSize: 14, color: '#7EA3D6', lineHeight: 1.3 }}&gt;底座是什么&lt;/Text&gt;&#13;&#10;                &lt;/Box&gt;&#13;&#10;                &lt;Box style={{ flex: 1, background: '#0F2247', borderWidth: 1, borderColor: '#2D4A85', borderStyle: 'solid', borderRadius: 10, padding: 14, flexDirection: 'row', alignItems: 'center', justifyContent: 'space-between' }}&gt;&#13;&#10;                    &lt;Text style={{ fontSize: 17, color: '#D6E3F5', lineHeight: 1.3 }}&gt;LangGraph Agent 运行时 · 对话检查点&lt;/Text&gt;&#13;&#10;                    &lt;Box style={{ width: 1, height: 22, background: '#2D4A85' }} /&gt;&#13;&#10;                    &lt;Text style={{ fontSize: 17, color: '#D6E3F5', lineHeight: 1.3 }}&gt;记忆与检索引擎&lt;/Text&gt;&#13;&#10;                    &lt;Box style={{ width: 1, height: 22, background: '#2D4A85' }} /&gt;&#13;&#10;                    &lt;Text style={{ fontSize: 17, color: '#D6E3F5', lineHeight: 1.3 }}&gt;控制面 SQLite / PostgreSQL&lt;/Text&gt;&#13;&#10;                &lt;/Box&gt;&#13;&#10;            &lt;/Box&gt;&#13;&#10;        &lt;/Box&gt;&#13;&#10;&#13;&#10;        &lt;Box style={{ marginTop: 18, flexDirection: 'row', alignItems: 'center', background: '#1E3C82', borderRadius: 8, padding: 14, gap: 16 }}&gt;&#13;&#10;            &lt;Box style={{ width: 4, height: 44, borderRadius: 2, background: '#F59E0B' }} /&gt;&#13;&#10;            &lt;Text style={{ flex: 1, fontSize: 18, color: '#E6EEFA', lineHeight: 1.5 }}&gt;&#13;&#10;                三层之间不是拼凑的工具清单：载体共用一条消息管线，能力共用一套身份与审计，底座共用一份控制面数据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/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7EA3D6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一套底座，把「理解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决策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沉淀」串成闭环</a:t>
            </a:r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1133" name=""/>
          <p:cNvSpPr/>
          <p:nvPr/>
        </p:nvSpPr>
        <p:spPr>
          <a:xfrm rot="0" flipH="0" flipV="0">
            <a:off x="571500" y="1752600"/>
            <a:ext cx="1257300" cy="714375"/>
          </a:xfrm>
          <a:prstGeom prst="roundRect">
            <a:avLst>
              <a:gd name="adj" fmla="val 13333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942975" y="1866900"/>
            <a:ext cx="514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CBD9F0"/>
                </a:solidFill>
                <a:latin typeface="Microsoft YaHei"/>
                <a:ea typeface="Microsoft YaHei"/>
              </a:rPr>
              <a:t>载体层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866775" y="2143125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人从哪里用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2019300" y="1752600"/>
            <a:ext cx="1847850" cy="714375"/>
          </a:xfrm>
          <a:prstGeom prst="roundRect">
            <a:avLst>
              <a:gd name="adj" fmla="val 1333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2133600" y="187642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控制台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2133600" y="21336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>React + WebSocket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3962400" y="1752600"/>
            <a:ext cx="1838325" cy="714375"/>
          </a:xfrm>
          <a:prstGeom prst="roundRect">
            <a:avLst>
              <a:gd name="adj" fmla="val 1333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4076700" y="1876425"/>
            <a:ext cx="16097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命令行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CLI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4076700" y="2133600"/>
            <a:ext cx="160972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21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个子命令</a:t>
            </a:r>
            <a:endParaRPr/>
          </a:p>
        </p:txBody>
      </p:sp>
      <p:sp>
        <p:nvSpPr>
          <p:cNvPr id="1142" name=""/>
          <p:cNvSpPr/>
          <p:nvPr/>
        </p:nvSpPr>
        <p:spPr>
          <a:xfrm rot="0" flipH="0" flipV="0">
            <a:off x="5895975" y="1752600"/>
            <a:ext cx="1847850" cy="714375"/>
          </a:xfrm>
          <a:prstGeom prst="roundRect">
            <a:avLst>
              <a:gd name="adj" fmla="val 1333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6010275" y="187642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通道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6010275" y="21336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个平台</a:t>
            </a:r>
            <a:endParaRPr/>
          </a:p>
        </p:txBody>
      </p:sp>
      <p:sp>
        <p:nvSpPr>
          <p:cNvPr id="1145" name=""/>
          <p:cNvSpPr/>
          <p:nvPr/>
        </p:nvSpPr>
        <p:spPr>
          <a:xfrm rot="0" flipH="0" flipV="0">
            <a:off x="7839075" y="1752600"/>
            <a:ext cx="1838325" cy="714375"/>
          </a:xfrm>
          <a:prstGeom prst="roundRect">
            <a:avLst>
              <a:gd name="adj" fmla="val 1333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7953375" y="1876425"/>
            <a:ext cx="16097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定时任务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7953375" y="2133600"/>
            <a:ext cx="160972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主动推送</a:t>
            </a:r>
            <a:endParaRPr/>
          </a:p>
        </p:txBody>
      </p:sp>
      <p:sp>
        <p:nvSpPr>
          <p:cNvPr id="1148" name=""/>
          <p:cNvSpPr/>
          <p:nvPr/>
        </p:nvSpPr>
        <p:spPr>
          <a:xfrm rot="0" flipH="0" flipV="0">
            <a:off x="9772650" y="1752600"/>
            <a:ext cx="1847850" cy="714375"/>
          </a:xfrm>
          <a:prstGeom prst="roundRect">
            <a:avLst>
              <a:gd name="adj" fmla="val 1333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9886950" y="187642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ACP / MCP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9886950" y="21336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双向协议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571500" y="2600325"/>
            <a:ext cx="1257300" cy="1409700"/>
          </a:xfrm>
          <a:prstGeom prst="roundRect">
            <a:avLst>
              <a:gd name="adj" fmla="val 7576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942975" y="3067050"/>
            <a:ext cx="514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914400" y="3343275"/>
            <a:ext cx="58102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CBD9F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CBD9F0"/>
                </a:solidFill>
                <a:latin typeface="Microsoft YaHei"/>
                <a:ea typeface="Microsoft YaHei"/>
              </a:rPr>
              <a:t>会什么</a:t>
            </a:r>
            <a:endParaRPr/>
          </a:p>
        </p:txBody>
      </p:sp>
      <p:sp>
        <p:nvSpPr>
          <p:cNvPr id="1154" name=""/>
          <p:cNvSpPr/>
          <p:nvPr/>
        </p:nvSpPr>
        <p:spPr>
          <a:xfrm rot="0" flipH="0" flipV="0">
            <a:off x="2019300" y="2600325"/>
            <a:ext cx="3133725" cy="657225"/>
          </a:xfrm>
          <a:prstGeom prst="roundRect">
            <a:avLst>
              <a:gd name="adj" fmla="val 1449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2124075" y="2705100"/>
            <a:ext cx="29241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专家与团队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2124075" y="2943225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个专家</a:t>
            </a: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团队编排</a:t>
            </a:r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5248275" y="2600325"/>
            <a:ext cx="3143250" cy="657225"/>
          </a:xfrm>
          <a:prstGeom prst="roundRect">
            <a:avLst>
              <a:gd name="adj" fmla="val 1449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5353050" y="2705100"/>
            <a:ext cx="2933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知识库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5353050" y="29432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解析到引用溯源</a:t>
            </a:r>
            <a:endParaRPr/>
          </a:p>
        </p:txBody>
      </p:sp>
      <p:sp>
        <p:nvSpPr>
          <p:cNvPr id="1160" name=""/>
          <p:cNvSpPr/>
          <p:nvPr/>
        </p:nvSpPr>
        <p:spPr>
          <a:xfrm rot="0" flipH="0" flipV="0">
            <a:off x="8486775" y="2600325"/>
            <a:ext cx="3133725" cy="657225"/>
          </a:xfrm>
          <a:prstGeom prst="roundRect">
            <a:avLst>
              <a:gd name="adj" fmla="val 1449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8591550" y="2705100"/>
            <a:ext cx="29241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长期记忆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8591550" y="2943225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三层记忆模型</a:t>
            </a:r>
            <a:endParaRPr/>
          </a:p>
        </p:txBody>
      </p:sp>
      <p:sp>
        <p:nvSpPr>
          <p:cNvPr id="1163" name=""/>
          <p:cNvSpPr/>
          <p:nvPr/>
        </p:nvSpPr>
        <p:spPr>
          <a:xfrm rot="0" flipH="0" flipV="0">
            <a:off x="2019300" y="3352800"/>
            <a:ext cx="3133725" cy="657225"/>
          </a:xfrm>
          <a:prstGeom prst="roundRect">
            <a:avLst>
              <a:gd name="adj" fmla="val 1449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2124075" y="3457575"/>
            <a:ext cx="29241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技能与插件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2124075" y="3695700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23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技能</a:t>
            </a: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 / 37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插件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5248275" y="3352800"/>
            <a:ext cx="3143250" cy="657225"/>
          </a:xfrm>
          <a:prstGeom prst="roundRect">
            <a:avLst>
              <a:gd name="adj" fmla="val 1449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5353050" y="3457575"/>
            <a:ext cx="2933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工具与执行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5353050" y="36957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文件</a:t>
            </a: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 / Shell /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浏览器</a:t>
            </a:r>
            <a:endParaRPr/>
          </a:p>
        </p:txBody>
      </p:sp>
      <p:sp>
        <p:nvSpPr>
          <p:cNvPr id="1169" name=""/>
          <p:cNvSpPr/>
          <p:nvPr/>
        </p:nvSpPr>
        <p:spPr>
          <a:xfrm rot="0" flipH="0" flipV="0">
            <a:off x="8486775" y="3352800"/>
            <a:ext cx="3133725" cy="657225"/>
          </a:xfrm>
          <a:prstGeom prst="roundRect">
            <a:avLst>
              <a:gd name="adj" fmla="val 14493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8591550" y="3457575"/>
            <a:ext cx="29241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Connector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8591550" y="3695700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9AB4DB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1050">
                <a:solidFill>
                  <a:srgbClr val="9AB4DB"/>
                </a:solidFill>
                <a:latin typeface="Microsoft YaHei"/>
                <a:ea typeface="Microsoft YaHei"/>
              </a:rPr>
              <a:t>个外部系统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571500" y="4143375"/>
            <a:ext cx="1257300" cy="714375"/>
          </a:xfrm>
          <a:prstGeom prst="roundRect">
            <a:avLst>
              <a:gd name="adj" fmla="val 13333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942975" y="4257675"/>
            <a:ext cx="514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CBD9F0"/>
                </a:solidFill>
                <a:latin typeface="Microsoft YaHei"/>
                <a:ea typeface="Microsoft YaHei"/>
              </a:rPr>
              <a:t>运行时</a:t>
            </a:r>
            <a:endParaRPr/>
          </a:p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866775" y="453390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底座是什么</a:t>
            </a:r>
            <a:endParaRPr/>
          </a:p>
        </p:txBody>
      </p:sp>
      <p:sp>
        <p:nvSpPr>
          <p:cNvPr id="1175" name=""/>
          <p:cNvSpPr/>
          <p:nvPr/>
        </p:nvSpPr>
        <p:spPr>
          <a:xfrm rot="0" flipH="0" flipV="0">
            <a:off x="2019300" y="4143375"/>
            <a:ext cx="9601200" cy="714375"/>
          </a:xfrm>
          <a:prstGeom prst="roundRect">
            <a:avLst>
              <a:gd name="adj" fmla="val 13333"/>
            </a:avLst>
          </a:prstGeom>
          <a:solidFill>
            <a:srgbClr val="0F2247"/>
          </a:solidFill>
          <a:ln w="12700">
            <a:solidFill>
              <a:srgbClr val="2D4A85"/>
            </a:solidFill>
            <a:prstDash val="solid"/>
          </a:ln>
        </p:spPr>
        <p:txBody>
          <a:bodyPr/>
          <a:p/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2152650" y="4371975"/>
            <a:ext cx="28479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 xml:space="preserve">LangGraph Agent </a:t>
            </a: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运行时</a:t>
            </a: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对话检查点</a:t>
            </a:r>
            <a:endParaRPr/>
          </a:p>
        </p:txBody>
      </p:sp>
      <p:sp>
        <p:nvSpPr>
          <p:cNvPr id="1177" name=""/>
          <p:cNvSpPr/>
          <p:nvPr/>
        </p:nvSpPr>
        <p:spPr>
          <a:xfrm rot="0" flipH="0" flipV="0">
            <a:off x="5810250" y="4400550"/>
            <a:ext cx="9525" cy="2095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6629400" y="43719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记忆与检索引擎</a:t>
            </a:r>
            <a:endParaRPr/>
          </a:p>
        </p:txBody>
      </p:sp>
      <p:sp>
        <p:nvSpPr>
          <p:cNvPr id="1179" name=""/>
          <p:cNvSpPr/>
          <p:nvPr/>
        </p:nvSpPr>
        <p:spPr>
          <a:xfrm rot="0" flipH="0" flipV="0">
            <a:off x="8572500" y="4400550"/>
            <a:ext cx="9525" cy="2095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9391650" y="4371975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D6E3F5"/>
                </a:solidFill>
                <a:latin typeface="Microsoft YaHei"/>
                <a:ea typeface="Microsoft YaHei"/>
              </a:rPr>
              <a:t>控制面</a:t>
            </a:r>
            <a:r>
              <a:rPr lang="en-US" sz="1275">
                <a:solidFill>
                  <a:srgbClr val="D6E3F5"/>
                </a:solidFill>
                <a:latin typeface="Microsoft YaHei"/>
                <a:ea typeface="Microsoft YaHei"/>
              </a:rPr>
              <a:t xml:space="preserve"> SQLite / PostgreSQL</a:t>
            </a:r>
            <a:endParaRPr/>
          </a:p>
        </p:txBody>
      </p:sp>
      <p:sp>
        <p:nvSpPr>
          <p:cNvPr id="1181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1182" name=""/>
          <p:cNvSpPr/>
          <p:nvPr/>
        </p:nvSpPr>
        <p:spPr>
          <a:xfrm rot="0" flipH="0" flipV="0">
            <a:off x="704850" y="57340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895350" y="5791200"/>
            <a:ext cx="10591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E6EEFA"/>
                </a:solidFill>
                <a:latin typeface="Microsoft YaHei"/>
                <a:ea typeface="Microsoft YaHei"/>
              </a:rPr>
              <a:t>三层之间不是拼凑的工具清单：载体共用一条消息管线，能力共用一套身份与审计，底座共用一份控制面数据。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一个实例，全公司共用，彼此看不见对方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71500" y="1752600"/>
            <a:ext cx="2857500" cy="3581400"/>
          </a:xfrm>
          <a:prstGeom prst="roundRect">
            <a:avLst>
              <a:gd name="adj" fmla="val 400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0100" y="1981200"/>
            <a:ext cx="24003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多用户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多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800100" y="24955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" y="2705100"/>
            <a:ext cx="24003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隔离粒度落在数据库行：</a:t>
            </a:r>
            <a:r>
              <a:rPr lang="en-US" sz="1200">
                <a:solidFill>
                  <a:srgbClr val="A9C2E8"/>
                </a:solidFill>
                <a:latin typeface="Microsoft YaHei"/>
                <a:ea typeface="Microsoft YaHei"/>
              </a:rPr>
              <a:t xml:space="preserve">agents.user_id </a:t>
            </a: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逐级校验，管理员可跨用户运维，普通用户只能看到自己的资源。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0100" y="3962400"/>
            <a:ext cx="2400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权限目录</a:t>
            </a:r>
            <a:r>
              <a:rPr lang="en-US" sz="1125">
                <a:solidFill>
                  <a:srgbClr val="7EA3D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角色模板</a:t>
            </a:r>
            <a:r>
              <a:rPr lang="en-US" sz="1125">
                <a:solidFill>
                  <a:srgbClr val="7EA3D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资源所有权三项，决定了谁能看谁的数据。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733800" y="1752600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D4ED8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733800" y="2124075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38575" y="222885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管理员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拥有全局运维视角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733800" y="2667000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38575" y="2771775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普通成员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仅限自身资源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733800" y="3209925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38575" y="331470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外部协作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邀请码与角色</a:t>
            </a:r>
            <a:endParaRPr/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15050" y="2609850"/>
            <a:ext cx="361950" cy="209550"/>
          </a:xfrm>
          <a:prstGeom prst="rect">
            <a:avLst/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477000" y="1752600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4ED8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477000" y="2124075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581775" y="222885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专家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独立提示词与人格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477000" y="2667000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581775" y="2771775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团队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协调者调度成员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477000" y="3209925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581775" y="331470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线程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会话与上下文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858250" y="2609850"/>
            <a:ext cx="361950" cy="20955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220200" y="1752600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D4ED8"/>
                </a:solidFill>
                <a:latin typeface="Microsoft YaHei"/>
                <a:ea typeface="Microsoft YaHei"/>
              </a:rPr>
              <a:t>工作区与通道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9220200" y="2124075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324975" y="222885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本地磁盘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/ Docker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沙箱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9220200" y="2667000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324975" y="2771775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对象存储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COS / S3 / OSS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9220200" y="3209925"/>
            <a:ext cx="2381250" cy="466725"/>
          </a:xfrm>
          <a:prstGeom prst="roundRect">
            <a:avLst>
              <a:gd name="adj" fmla="val 16327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324975" y="3314700"/>
            <a:ext cx="2171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各自的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 xml:space="preserve"> IM 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通道与定时任务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733800" y="3848100"/>
            <a:ext cx="7886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每位用户可以创建多个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，每个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自带独立的模型配置、技能集合、通道绑定与定时策略——共用一台服务器，不共用一份上下文。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" y="5524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23900" y="5676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14400" y="57435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一人运维、全员使用：服务器是共享的成本项，数据与智能体资产是严格隔离的。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ABILITY LANDSCAPE&lt;/Text&gt;&#13;&#10;            &lt;Box style={{ width: 44, height: 4, borderRadius: 2, background: '#1D4ED8' }} /&gt;&#13;&#10;        &lt;/Box&gt;&#13;&#10;        &lt;Text style={{ fontSize: 34, fontWeight: 'bold', color: '#12275A', marginTop: 16, lineHeight: 1.2 }}&gt;&#13;&#10;            岗位角色不是提示词妆容，而是可复用的资产&#13;&#10;        &lt;/Text&gt;&#13;&#10;        &lt;Box style={{ height: 1, background: '#E2E8F0', marginTop: 16 }} /&gt;&#13;&#10;&#13;&#10;        &lt;Box style={{ flex: 1, marginTop: 22, flexDirection: 'row', gap: 24, alignItems: 'stretch' }}&gt;&#13;&#10;            {/* 主卡 */}&#13;&#10;            &lt;Box style={{ width: 548, background: '#12275A', borderRadius: 12, padding: 20 }}&gt;&#13;&#10;                &lt;Text style={{ fontSize: 60, fontWeight: 'bold', color: '#F59E0B', lineHeight: 1.05 }}&gt;37&lt;/Text&gt;&#13;&#10;                &lt;Text style={{ fontSize: 22, fontWeight: '600', color: '#FFFFFF', lineHeight: 1.3, marginTop: 6 }}&gt;内置专家模板&lt;/Text&gt;&#13;&#10;                &lt;Text style={{ fontSize: 16, color: '#A9C2E8', lineHeight: 1.5, marginTop: 12 }}&gt;&#13;&#10;                    开箱即用的是成建制的岗位定义，而不是空白对话框。&#13;&#10;                &lt;/Text&gt;&#13;&#10;                &lt;Box style={{ height: 1, background: '#2D4A85', marginTop: 16 }} /&gt;&#13;&#10;                &lt;Box style={{ flexDirection: 'row', gap: 10, marginTop: 14 }}&gt;&#13;&#10;                    &lt;Box style={{ background: '#1E3C82', borderRadius: 6, padding: 8 }}&gt;&#13;&#10;                        &lt;Text style={{ fontSize: 15, color: '#D6E3F5', lineHeight: 1.3 }}&gt;code-reviewer&lt;/Text&gt;&#13;&#10;                    &lt;/Box&gt;&#13;&#10;                    &lt;Box style={{ background: '#1E3C82', borderRadius: 6, padding: 8 }}&gt;&#13;&#10;                        &lt;Text style={{ fontSize: 15, color: '#D6E3F5', lineHeight: 1.3 }}&gt;data-analyst&lt;/Text&gt;&#13;&#10;                    &lt;/Box&gt;&#13;&#10;                    &lt;Box style={{ background: '#1E3C82', borderRadius: 6, padding: 8 }}&gt;&#13;&#10;                        &lt;Text style={{ fontSize: 15, color: '#D6E3F5', lineHeight: 1.3 }}&gt;devops-engineer&lt;/Text&gt;&#13;&#10;                    &lt;/Box&gt;&#13;&#10;                &lt;/Box&gt;&#13;&#10;                &lt;Text style={{ fontSize: 16, color: '#A9C2E8', lineHeight: 1.5, marginTop: 16 }}&gt;&#13;&#10;                    覆盖研发、数据、运维、安全、法务、人力、市场、财务等职能；可发布到同实例供他人取用。&#13;&#10;                &lt;/Text&gt;&#13;&#10;            &lt;/Box&gt;&#13;&#10;&#13;&#10;            {/* 次卡 1 */}&#13;&#10;            &lt;Box style={{ width: 332, background: '#E8EEFB', borderWidth: 1, borderColor: '#C7D6F5', borderStyle: 'solid', borderRadius: 12, padding: 22 }}&gt;&#13;&#10;                &lt;Text style={{ fontSize: 56, fontWeight: 'bold', color: '#1D4ED8', lineHeight: 1.05 }}&gt;16&lt;/Text&gt;&#13;&#10;                &lt;Text style={{ fontSize: 21, fontWeight: '600', color: '#12275A', lineHeight: 1.3, marginTop: 6 }}&gt;MBTI 人格模板&lt;/Text&gt;&#13;&#10;                &lt;Text style={{ fontSize: 16, color: '#475569', lineHeight: 1.5, marginTop: 12 }}&gt;&#13;&#10;                    为 Agent 设定稳定一致的沟通风格与表达边界，并内置互动测试帮助团队挑选合适的性格设定。&#13;&#10;                &lt;/Text&gt;&#13;&#10;                &lt;Text style={{ fontSize: 16, color: '#475569', lineHeight: 1.5, marginTop: 12 }}&gt;&#13;&#10;                    同一套知识库，配上不同人格，就能服务不同场景的沟通需求。&#13;&#10;                &lt;/Text&gt;&#13;&#10;            &lt;/Box&gt;&#13;&#10;&#13;&#10;            {/* 次卡 2 */}&#13;&#10;            &lt;Box style={{ width: 232, background: '#E6F7F9', borderWidth: 1, borderColor: '#B6E3EA', borderStyle: 'solid', borderRadius: 12, padding: 20 }}&gt;&#13;&#10;                &lt;Text style={{ fontSize: 48, fontWeight: 'bold', color: '#0891B2', lineHeight: 1.05 }}&gt;217&lt;/Text&gt;&#13;&#10;                &lt;Text style={{ fontSize: 20, fontWeight: '600', color: '#12275A', lineHeight: 1.3, marginTop: 6 }}&gt;专职子 Agent&lt;/Text&gt;&#13;&#10;                &lt;Text style={{ fontSize: 15, color: '#475569', lineHeight: 1.5, marginTop: 12 }}&gt;&#13;&#10;                    16 个职能域、中英双语共 489 份定义，可作为被委派的专职成员。&#13;&#10;                &lt;/Text&gt;&#13;&#10;                &lt;Text style={{ fontSize: 15, color: '#475569', lineHeight: 1.5, marginTop: 10 }}&gt;&#13;&#10;                    主 Agent 专注编排，专项任务交给专职成员完成。&#13;&#10;                &lt;/Text&gt;&#13;&#10;            &lt;/Box&gt;&#13;&#10;        &lt;/Box&gt;&#13;&#10;&#13;&#10;        &lt;Box style={{ marginTop: 20, flexDirection: 'row', alignItems: 'center', background: '#F4F6FB', borderRadius: 8, padding: 16, gap: 16 }}&gt;&#13;&#10;            &lt;Box style={{ width: 4, height: 48, borderRadius: 2, background: '#1D4ED8' }} /&gt;&#13;&#10;            &lt;Text style={{ flex: 1, fontSize: 19, color: '#12275A', lineHeight: 1.5 }}&gt;&#13;&#10;                角色可以被发布、被复用、被独立修改——业务部门自己就能沉淀岗位资产，而不必每次都找工程师改提示词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岗位角色不是提示词妆容，而是可复用的资产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71500" y="1752600"/>
            <a:ext cx="5219700" cy="3581400"/>
          </a:xfrm>
          <a:prstGeom prst="roundRect">
            <a:avLst>
              <a:gd name="adj" fmla="val 3191"/>
            </a:avLst>
          </a:prstGeom>
          <a:solidFill>
            <a:srgbClr val="12275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62000" y="1943100"/>
            <a:ext cx="4838700" cy="7239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500" b="1">
                <a:solidFill>
                  <a:srgbClr val="F59E0B"/>
                </a:solidFill>
                <a:latin typeface="Microsoft YaHei"/>
                <a:ea typeface="Microsoft YaHei"/>
              </a:rPr>
              <a:t>37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62000" y="2724150"/>
            <a:ext cx="4838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内置专家模板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62000" y="3171825"/>
            <a:ext cx="4838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开箱即用的是成建制的岗位定义，而不是空白对话框。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762000" y="3600450"/>
            <a:ext cx="48387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762000" y="3743325"/>
            <a:ext cx="1133475" cy="381000"/>
          </a:xfrm>
          <a:prstGeom prst="roundRect">
            <a:avLst>
              <a:gd name="adj" fmla="val 15000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819525"/>
            <a:ext cx="98107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D6E3F5"/>
                </a:solidFill>
                <a:latin typeface="Microsoft YaHei"/>
                <a:ea typeface="Microsoft YaHei"/>
              </a:rPr>
              <a:t>code-reviewer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990725" y="3743325"/>
            <a:ext cx="1000125" cy="381000"/>
          </a:xfrm>
          <a:prstGeom prst="roundRect">
            <a:avLst>
              <a:gd name="adj" fmla="val 15000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066925" y="3819525"/>
            <a:ext cx="8477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D6E3F5"/>
                </a:solidFill>
                <a:latin typeface="Microsoft YaHei"/>
                <a:ea typeface="Microsoft YaHei"/>
              </a:rPr>
              <a:t>data-analyst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086100" y="3743325"/>
            <a:ext cx="1314450" cy="381000"/>
          </a:xfrm>
          <a:prstGeom prst="roundRect">
            <a:avLst>
              <a:gd name="adj" fmla="val 15000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162300" y="3819525"/>
            <a:ext cx="11620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D6E3F5"/>
                </a:solidFill>
                <a:latin typeface="Microsoft YaHei"/>
                <a:ea typeface="Microsoft YaHei"/>
              </a:rPr>
              <a:t>devops-engineer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4276725"/>
            <a:ext cx="4838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覆盖研发、数据、运维、安全、法务、人力、市场、财务等职能；可发布到同实例供他人取用。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19800" y="1752600"/>
            <a:ext cx="3162300" cy="3581400"/>
          </a:xfrm>
          <a:prstGeom prst="roundRect">
            <a:avLst>
              <a:gd name="adj" fmla="val 3614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229350" y="1962150"/>
            <a:ext cx="2743200" cy="676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200" b="1">
                <a:solidFill>
                  <a:srgbClr val="1D4ED8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229350" y="2695575"/>
            <a:ext cx="27432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7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MBTI </a:t>
            </a: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人格模板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229350" y="3124200"/>
            <a:ext cx="27432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为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设定稳定一致的沟通风格与表达边界，并内置互动测试帮助团队挑选合适的性格设定。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229350" y="4067175"/>
            <a:ext cx="2743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同一套知识库，配上不同人格，就能服务不同场景的沟通需求。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9410700" y="1752600"/>
            <a:ext cx="2209800" cy="3581400"/>
          </a:xfrm>
          <a:prstGeom prst="roundRect">
            <a:avLst>
              <a:gd name="adj" fmla="val 5172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601200" y="1943100"/>
            <a:ext cx="1828800" cy="5810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600" b="1">
                <a:solidFill>
                  <a:srgbClr val="0891B2"/>
                </a:solidFill>
                <a:latin typeface="Microsoft YaHei"/>
                <a:ea typeface="Microsoft YaHei"/>
              </a:rPr>
              <a:t>217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601200" y="2581275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专职子</a:t>
            </a:r>
            <a:r>
              <a:rPr lang="en-US" sz="15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601200" y="3000375"/>
            <a:ext cx="18288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16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个职能域、中英双语共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489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份定义，可作为被委派的专职成员。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601200" y="3867150"/>
            <a:ext cx="1828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主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专注编排，专项任务交给专职成员完成。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5524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723900" y="56769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4400" y="57435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角色可以被发布、被复用、被独立修改——业务部门自己就能沉淀岗位资产，而不必每次都找工程师改提示词。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复杂任务交给协调者，而不是靠一个人写长提示词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1752600"/>
            <a:ext cx="1905000" cy="1438275"/>
          </a:xfrm>
          <a:prstGeom prst="roundRect">
            <a:avLst>
              <a:gd name="adj" fmla="val 662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STEP 01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1638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任务进入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1638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多步骤目标从任一入口提交，落到同一会话线程。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76500" y="2390775"/>
            <a:ext cx="247650" cy="171450"/>
          </a:xfrm>
          <a:prstGeom prst="rect">
            <a:avLst/>
          </a:prstGeom>
          <a:ln/>
        </p:spPr>
      </p:pic>
      <p:sp>
        <p:nvSpPr>
          <p:cNvPr id="95" name=""/>
          <p:cNvSpPr/>
          <p:nvPr/>
        </p:nvSpPr>
        <p:spPr>
          <a:xfrm rot="0" flipH="0" flipV="0">
            <a:off x="2724150" y="1752600"/>
            <a:ext cx="1905000" cy="1438275"/>
          </a:xfrm>
          <a:prstGeom prst="roundRect">
            <a:avLst>
              <a:gd name="adj" fmla="val 6623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857500" y="1885950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7EA3D6"/>
                </a:solidFill>
                <a:latin typeface="Microsoft YaHei"/>
                <a:ea typeface="Microsoft YaHei"/>
              </a:rPr>
              <a:t>STEP 02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857500" y="2181225"/>
            <a:ext cx="1638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协调者拆解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857500" y="2543175"/>
            <a:ext cx="1638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主持人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拆分子目标，识别所需专长。</a:t>
            </a:r>
            <a:endParaRPr/>
          </a:p>
        </p:txBody>
      </p:sp>
      <p:pic>
        <p:nvPicPr>
          <p:cNvPr id="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29150" y="2390775"/>
            <a:ext cx="247650" cy="171450"/>
          </a:xfrm>
          <a:prstGeom prst="rect">
            <a:avLst/>
          </a:prstGeom>
          <a:ln/>
        </p:spPr>
      </p:pic>
      <p:sp>
        <p:nvSpPr>
          <p:cNvPr id="100" name=""/>
          <p:cNvSpPr/>
          <p:nvPr/>
        </p:nvSpPr>
        <p:spPr>
          <a:xfrm rot="0" flipH="0" flipV="0">
            <a:off x="4876800" y="1752600"/>
            <a:ext cx="1905000" cy="1438275"/>
          </a:xfrm>
          <a:prstGeom prst="roundRect">
            <a:avLst>
              <a:gd name="adj" fmla="val 662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010150" y="1885950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STEP 03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010150" y="2181225"/>
            <a:ext cx="1638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异步派工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010150" y="2543175"/>
            <a:ext cx="1638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通过邮箱队列向成员专家投递任务，互不阻塞。</a:t>
            </a:r>
            <a:endParaRPr/>
          </a:p>
        </p:txBody>
      </p:sp>
      <p:pic>
        <p:nvPicPr>
          <p:cNvPr id="1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81800" y="2390775"/>
            <a:ext cx="247650" cy="171450"/>
          </a:xfrm>
          <a:prstGeom prst="rect">
            <a:avLst/>
          </a:prstGeom>
          <a:ln/>
        </p:spPr>
      </p:pic>
      <p:sp>
        <p:nvSpPr>
          <p:cNvPr id="105" name=""/>
          <p:cNvSpPr/>
          <p:nvPr/>
        </p:nvSpPr>
        <p:spPr>
          <a:xfrm rot="0" flipH="0" flipV="0">
            <a:off x="7029450" y="1752600"/>
            <a:ext cx="1905000" cy="1438275"/>
          </a:xfrm>
          <a:prstGeom prst="roundRect">
            <a:avLst>
              <a:gd name="adj" fmla="val 662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162800" y="1885950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STEP 04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162800" y="2181225"/>
            <a:ext cx="1638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成员执行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162800" y="2543175"/>
            <a:ext cx="1638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成员在各自线程内调用工具与知识库完成任务。</a:t>
            </a:r>
            <a:endParaRPr/>
          </a:p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934450" y="2390775"/>
            <a:ext cx="247650" cy="171450"/>
          </a:xfrm>
          <a:prstGeom prst="rect">
            <a:avLst/>
          </a:prstGeom>
          <a:ln/>
        </p:spPr>
      </p:pic>
      <p:sp>
        <p:nvSpPr>
          <p:cNvPr id="110" name=""/>
          <p:cNvSpPr/>
          <p:nvPr/>
        </p:nvSpPr>
        <p:spPr>
          <a:xfrm rot="0" flipH="0" flipV="0">
            <a:off x="9182100" y="1752600"/>
            <a:ext cx="1905000" cy="1438275"/>
          </a:xfrm>
          <a:prstGeom prst="roundRect">
            <a:avLst>
              <a:gd name="adj" fmla="val 6623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315450" y="1885950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B45309"/>
                </a:solidFill>
                <a:latin typeface="Microsoft YaHei"/>
                <a:ea typeface="Microsoft YaHei"/>
              </a:rPr>
              <a:t>STEP 05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315450" y="2181225"/>
            <a:ext cx="1638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回流汇总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315450" y="2543175"/>
            <a:ext cx="1638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结果写回父线程检查点，按角色分条呈现。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3381375"/>
            <a:ext cx="3552825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23900" y="3533775"/>
            <a:ext cx="32480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邮箱队列，不是无限级联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23900" y="3886200"/>
            <a:ext cx="3248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基于收件箱管理与统一处理器，成员回复精确落回发起线程，避免上下文在多轮调用中漂移丢失。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314825" y="3381375"/>
            <a:ext cx="3562350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467225" y="3533775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过程可见，中途可干预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467225" y="3886200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对话区按发言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分角色渲染，实时快照与收尾摘要同步展示，随时可以插话或叫停。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067675" y="3381375"/>
            <a:ext cx="3552825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20075" y="3533775"/>
            <a:ext cx="32480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跨入口同一套链路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20075" y="3886200"/>
            <a:ext cx="3248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控制台、命令行、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与定时任务触发的团队任务，走的是同一条处理管线，不会因入口不同而行为分叉。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把一次性的复杂任务变成可编排、可追溯的流水线——这是多步骤业务真正能被托付出去的前提。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换个会话还认得你，靠的是结构化的记忆而不是更长的上下文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94A3B8"/>
                </a:solidFill>
                <a:latin typeface="Microsoft YaHei"/>
                <a:ea typeface="Microsoft YaHei"/>
              </a:rPr>
              <a:t>一次性对话式</a:t>
            </a:r>
            <a:r>
              <a:rPr lang="en-US" sz="1650" b="1">
                <a:solidFill>
                  <a:srgbClr val="94A3B8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71500" y="2200275"/>
            <a:ext cx="609600" cy="28575"/>
          </a:xfrm>
          <a:prstGeom prst="roundRect">
            <a:avLst>
              <a:gd name="adj" fmla="val 66667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2486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62000" y="2400300"/>
            <a:ext cx="4572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会话结束即归零，换个窗口要从头交代部门、项目和上次的结论。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3209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62000" y="3124200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上下文窗口塞得越满，早期信息越容易被挤出去。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71500" y="3638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62000" y="3552825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没有纠正机制，同样的误解会反复出现。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71500" y="4057650"/>
            <a:ext cx="4762500" cy="85725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23900" y="4210050"/>
            <a:ext cx="4457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结果：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每次都像一个刚入职的新同事，能力不随合作时间增长。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619750" y="1752600"/>
            <a:ext cx="9525" cy="3657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915025" y="1752600"/>
            <a:ext cx="56959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三层记忆</a:t>
            </a:r>
            <a:r>
              <a:rPr lang="en-US" sz="16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多阶段召回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915025" y="2200275"/>
            <a:ext cx="609600" cy="28575"/>
          </a:xfrm>
          <a:prstGeom prst="roundRect">
            <a:avLst>
              <a:gd name="adj" fmla="val 66667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915025" y="2381250"/>
            <a:ext cx="1819275" cy="1085850"/>
          </a:xfrm>
          <a:prstGeom prst="roundRect">
            <a:avLst>
              <a:gd name="adj" fmla="val 877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38850" y="2505075"/>
            <a:ext cx="15716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Atom 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原子事实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38850" y="2828925"/>
            <a:ext cx="15716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最小粒度的可核验条目，支持后续纠偏与更新。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7848600" y="2381250"/>
            <a:ext cx="1828800" cy="1085850"/>
          </a:xfrm>
          <a:prstGeom prst="roundRect">
            <a:avLst>
              <a:gd name="adj" fmla="val 877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972425" y="2505075"/>
            <a:ext cx="15811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Entity 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实体画像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972425" y="2828925"/>
            <a:ext cx="1581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人、项目、系统的档案页，支持别名消歧。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791700" y="2381250"/>
            <a:ext cx="1819275" cy="1085850"/>
          </a:xfrm>
          <a:prstGeom prst="roundRect">
            <a:avLst>
              <a:gd name="adj" fmla="val 877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915525" y="2505075"/>
            <a:ext cx="15716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Episode 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情节经历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915525" y="2828925"/>
            <a:ext cx="15716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保留事件脉络，回答「当时是怎么定的」。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5943600" y="3600450"/>
            <a:ext cx="5695950" cy="819150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943600" y="3600450"/>
            <a:ext cx="5695950" cy="819150"/>
          </a:xfrm>
          <a:custGeom>
            <a:pathLst>
              <a:path w="598" h="8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1"/>
                </a:lnTo>
                <a:cubicBezTo>
                  <a:pt x="3" y="83"/>
                  <a:pt x="5" y="85"/>
                  <a:pt x="7" y="86"/>
                </a:cubicBezTo>
                <a:cubicBezTo>
                  <a:pt x="3" y="85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76950" y="3733800"/>
            <a:ext cx="54006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召回不是关键词匹配：抽取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候选提升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实体消解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生命周期整理，取用时再经过路由、重排、去重与预算控制，才进上下文。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915025" y="4552950"/>
            <a:ext cx="27527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存储可选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SQLite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全文检索，或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PostgreSQL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Chroma / Qdrant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向量索引。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858250" y="4552950"/>
            <a:ext cx="27527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支持压缩整理与清理策略，长期运行不会无限膨胀。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记忆是分层、可纠正、可清理的资产——它让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的能力随合作时间累积，而不是每次会话从零开始。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答案带着出处：从一堆文档到一个可信答复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1500" y="1733550"/>
            <a:ext cx="1352550" cy="857250"/>
          </a:xfrm>
          <a:prstGeom prst="roundRect">
            <a:avLst>
              <a:gd name="adj" fmla="val 888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04900" y="18383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1D4ED8"/>
                </a:solidFill>
                <a:latin typeface="Microsoft YaHei"/>
                <a:ea typeface="Microsoft YaHei"/>
              </a:rPr>
              <a:t>解析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76275" y="2066925"/>
            <a:ext cx="1143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PDF / DOCX / XLSX / HTML</a:t>
            </a:r>
            <a:endParaRPr/>
          </a:p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924050" y="2095500"/>
            <a:ext cx="190500" cy="133350"/>
          </a:xfrm>
          <a:prstGeom prst="rect">
            <a:avLst/>
          </a:prstGeom>
          <a:ln/>
        </p:spPr>
      </p:pic>
      <p:sp>
        <p:nvSpPr>
          <p:cNvPr id="172" name=""/>
          <p:cNvSpPr/>
          <p:nvPr/>
        </p:nvSpPr>
        <p:spPr>
          <a:xfrm rot="0" flipH="0" flipV="0">
            <a:off x="2114550" y="1733550"/>
            <a:ext cx="1352550" cy="857250"/>
          </a:xfrm>
          <a:prstGeom prst="roundRect">
            <a:avLst>
              <a:gd name="adj" fmla="val 888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2638425" y="1838325"/>
            <a:ext cx="3143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1D4ED8"/>
                </a:solidFill>
                <a:latin typeface="Microsoft YaHei"/>
                <a:ea typeface="Microsoft YaHei"/>
              </a:rPr>
              <a:t>OCR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219325" y="2066925"/>
            <a:ext cx="1143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rapidocr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或视觉模型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467100" y="2095500"/>
            <a:ext cx="190500" cy="133350"/>
          </a:xfrm>
          <a:prstGeom prst="rect">
            <a:avLst/>
          </a:prstGeom>
          <a:ln/>
        </p:spPr>
      </p:pic>
      <p:sp>
        <p:nvSpPr>
          <p:cNvPr id="176" name=""/>
          <p:cNvSpPr/>
          <p:nvPr/>
        </p:nvSpPr>
        <p:spPr>
          <a:xfrm rot="0" flipH="0" flipV="0">
            <a:off x="3657600" y="1838325"/>
            <a:ext cx="1352550" cy="647700"/>
          </a:xfrm>
          <a:prstGeom prst="roundRect">
            <a:avLst>
              <a:gd name="adj" fmla="val 11765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191000" y="19431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1D4ED8"/>
                </a:solidFill>
                <a:latin typeface="Microsoft YaHei"/>
                <a:ea typeface="Microsoft YaHei"/>
              </a:rPr>
              <a:t>分块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771900" y="21717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800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字符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重叠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120</a:t>
            </a:r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010150" y="2095500"/>
            <a:ext cx="190500" cy="133350"/>
          </a:xfrm>
          <a:prstGeom prst="rect">
            <a:avLst/>
          </a:prstGeom>
          <a:ln/>
        </p:spPr>
      </p:pic>
      <p:sp>
        <p:nvSpPr>
          <p:cNvPr id="180" name=""/>
          <p:cNvSpPr/>
          <p:nvPr/>
        </p:nvSpPr>
        <p:spPr>
          <a:xfrm rot="0" flipH="0" flipV="0">
            <a:off x="5200650" y="1733550"/>
            <a:ext cx="1352550" cy="857250"/>
          </a:xfrm>
          <a:prstGeom prst="roundRect">
            <a:avLst>
              <a:gd name="adj" fmla="val 888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667375" y="1838325"/>
            <a:ext cx="4286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1D4ED8"/>
                </a:solidFill>
                <a:latin typeface="Microsoft YaHei"/>
                <a:ea typeface="Microsoft YaHei"/>
              </a:rPr>
              <a:t>向量化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305425" y="2066925"/>
            <a:ext cx="1143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ONNX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或远程端点</a:t>
            </a:r>
            <a:endParaRPr/>
          </a:p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553200" y="2095500"/>
            <a:ext cx="190500" cy="133350"/>
          </a:xfrm>
          <a:prstGeom prst="rect">
            <a:avLst/>
          </a:prstGeom>
          <a:ln/>
        </p:spPr>
      </p:pic>
      <p:sp>
        <p:nvSpPr>
          <p:cNvPr id="184" name=""/>
          <p:cNvSpPr/>
          <p:nvPr/>
        </p:nvSpPr>
        <p:spPr>
          <a:xfrm rot="0" flipH="0" flipV="0">
            <a:off x="6743700" y="1838325"/>
            <a:ext cx="1352550" cy="647700"/>
          </a:xfrm>
          <a:prstGeom prst="roundRect">
            <a:avLst>
              <a:gd name="adj" fmla="val 11765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277100" y="19431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1D4ED8"/>
                </a:solidFill>
                <a:latin typeface="Microsoft YaHei"/>
                <a:ea typeface="Microsoft YaHei"/>
              </a:rPr>
              <a:t>索引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962775" y="2171700"/>
            <a:ext cx="9239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每库一份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SQLite</a:t>
            </a:r>
            <a:endParaRPr/>
          </a:p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96250" y="2095500"/>
            <a:ext cx="190500" cy="133350"/>
          </a:xfrm>
          <a:prstGeom prst="rect">
            <a:avLst/>
          </a:prstGeom>
          <a:ln/>
        </p:spPr>
      </p:pic>
      <p:sp>
        <p:nvSpPr>
          <p:cNvPr id="188" name=""/>
          <p:cNvSpPr/>
          <p:nvPr/>
        </p:nvSpPr>
        <p:spPr>
          <a:xfrm rot="0" flipH="0" flipV="0">
            <a:off x="8286750" y="1733550"/>
            <a:ext cx="1352550" cy="857250"/>
          </a:xfrm>
          <a:prstGeom prst="roundRect">
            <a:avLst>
              <a:gd name="adj" fmla="val 8889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820150" y="18383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F59E0B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91525" y="2066925"/>
            <a:ext cx="1143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>
                <a:solidFill>
                  <a:srgbClr val="A9C2E8"/>
                </a:solidFill>
                <a:latin typeface="Microsoft YaHei"/>
                <a:ea typeface="Microsoft YaHei"/>
              </a:rPr>
              <a:t xml:space="preserve">Top-K 8 / </a:t>
            </a:r>
            <a:r>
              <a:rPr lang="zh-CN" sz="975">
                <a:solidFill>
                  <a:srgbClr val="A9C2E8"/>
                </a:solidFill>
                <a:latin typeface="Microsoft YaHei"/>
                <a:ea typeface="Microsoft YaHei"/>
              </a:rPr>
              <a:t>预算</a:t>
            </a:r>
            <a:r>
              <a:rPr lang="en-US" sz="975">
                <a:solidFill>
                  <a:srgbClr val="A9C2E8"/>
                </a:solidFill>
                <a:latin typeface="Microsoft YaHei"/>
                <a:ea typeface="Microsoft YaHei"/>
              </a:rPr>
              <a:t xml:space="preserve"> 6000 </a:t>
            </a:r>
            <a:r>
              <a:rPr lang="zh-CN" sz="975">
                <a:solidFill>
                  <a:srgbClr val="A9C2E8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639300" y="2095500"/>
            <a:ext cx="190500" cy="133350"/>
          </a:xfrm>
          <a:prstGeom prst="rect">
            <a:avLst/>
          </a:prstGeom>
          <a:ln/>
        </p:spPr>
      </p:pic>
      <p:sp>
        <p:nvSpPr>
          <p:cNvPr id="192" name=""/>
          <p:cNvSpPr/>
          <p:nvPr/>
        </p:nvSpPr>
        <p:spPr>
          <a:xfrm rot="0" flipH="0" flipV="0">
            <a:off x="9829800" y="1838325"/>
            <a:ext cx="1352550" cy="647700"/>
          </a:xfrm>
          <a:prstGeom prst="roundRect">
            <a:avLst>
              <a:gd name="adj" fmla="val 11765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220325" y="19431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引用溯源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077450" y="2171700"/>
            <a:ext cx="866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答案附来源标记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71500" y="2800350"/>
            <a:ext cx="3552825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23900" y="2952750"/>
            <a:ext cx="32480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中文场景做了专门处理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23900" y="3305175"/>
            <a:ext cx="3248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编码自动在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UTF-8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GB18030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之间回退，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.doc / .wps / .xls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等格式走格式转换服务，扫描件自动回退到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OCR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314825" y="2800350"/>
            <a:ext cx="3562350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467225" y="295275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可以不出内网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467225" y="3305175"/>
            <a:ext cx="32575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默认使用本地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ONNX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模型生成向量；若追求效果，也可切到已配置供应商的兼容端点，由企业按数据敏感度自行选择。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067675" y="2800350"/>
            <a:ext cx="3552825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220075" y="2952750"/>
            <a:ext cx="32480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边界说在前面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220075" y="3305175"/>
            <a:ext cx="32480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当前为向量余弦检索，未做关键词混合检索；中小企业语料规模下召回质量足够，超大规模场景我们再评估索引升级。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减少幻觉的关键不在于换个更大的模型，而在于让答案锚定企业自己的文档，并把出处一并交到使用者手上。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ABILITY LANDSCAPE&lt;/Text&gt;&#13;&#10;            &lt;Box style={{ width: 44, height: 4, borderRadius: 2, background: '#1D4ED8' }} /&gt;&#13;&#10;        &lt;/Box&gt;&#13;&#10;        &lt;Text style={{ fontSize: 34, fontWeight: 'bold', color: '#12275A', marginTop: 16, lineHeight: 1.2 }}&gt;&#13;&#10;            能力不是一次性交付，而是可持续安装的资产&#13;&#10;        &lt;/Text&gt;&#13;&#10;        &lt;Box style={{ height: 1, background: '#E2E8F0', marginTop: 16 }} /&gt;&#13;&#10;&#13;&#10;        &lt;Box style={{ flex: 1, marginTop: 22, flexDirection: 'row', gap: 32 }}&gt;&#13;&#10;            {/* 左解释栏 */}&#13;&#10;            &lt;Box style={{ width: 300 }}&gt;&#13;&#10;                &lt;Text style={{ fontSize: 24, fontWeight: 'bold', color: '#12275A', lineHeight: 1.3 }}&gt;三层可安装资产&lt;/Text&gt;&#13;&#10;                &lt;Box style={{ width: 48, height: 4, borderRadius: 2, background: '#F59E0B', marginTop: 14 }} /&gt;&#13;&#10;                &lt;Text style={{ fontSize: 17, color: '#475569', lineHeight: 1.5, marginTop: 16 }}&gt;&#13;&#10;                    底座负责稳定运行，能力层随业务需要叠加。新增一项能力不需要改动平台代码，也不需要重启已有 Agent。&#13;&#10;                &lt;/Text&gt;&#13;&#10;                &lt;Text style={{ fontSize: 17, color: '#475569', lineHeight: 1.5, marginTop: 14 }}&gt;&#13;&#10;                    第三方技能支持供应链扫描策略：关闭、告警或直接阻断，由企业安全策略决定。&#13;&#10;                &lt;/Text&gt;&#13;&#10;            &lt;/Box&gt;&#13;&#10;&#13;&#10;            {/* 右侧金字塔层级 */}&#13;&#10;            &lt;Box style={{ width: 828, justifyContent: 'center' }}&gt;&#13;&#10;                &lt;Box style={{ alignItems: 'center' }}&gt;&#13;&#10;                    &lt;Box style={{ width: 560, background: '#12275A', borderRadius: 10, padding: 12, flexDirection: 'row', alignItems: 'center', gap: 18 }}&gt;&#13;&#10;                        &lt;Text style={{ fontSize: 40, fontWeight: 'bold', color: '#F59E0B', lineHeight: 1.1 }}&gt;24&lt;/Text&gt;&#13;&#10;                        &lt;Box&gt;&#13;&#10;                            &lt;Text style={{ fontSize: 19, fontWeight: '600', color: '#FFFFFF', lineHeight: 1.3 }}&gt;内置技能包（中英双语）&lt;/Text&gt;&#13;&#10;                            &lt;Text style={{ fontSize: 15, color: '#A9C2E8', lineHeight: 1.4 }}&gt;plan、powerpoint、nano-pdf、ocr-and-documents 等&lt;/Text&gt;&#13;&#10;                        &lt;/Box&gt;&#13;&#10;                    &lt;/Box&gt;&#13;&#10;                &lt;/Box&gt;&#13;&#10;                &lt;Box style={{ alignItems: 'center', marginTop: 10 }}&gt;&#13;&#10;                    &lt;Box style={{ width: 700, background: '#1D4ED8', borderRadius: 10, padding: 12, flexDirection: 'row', alignItems: 'center', gap: 18 }}&gt;&#13;&#10;                        &lt;Text style={{ fontSize: 40, fontWeight: 'bold', color: '#FFFFFF', lineHeight: 1.1 }}&gt;38&lt;/Text&gt;&#13;&#10;                        &lt;Box&gt;&#13;&#10;                            &lt;Text style={{ fontSize: 19, fontWeight: '600', color: '#FFFFFF', lineHeight: 1.3 }}&gt;内置插件，随安装注入&lt;/Text&gt;&#13;&#10;                            &lt;Text style={{ fontSize: 15, color: '#CBD9F0', lineHeight: 1.4 }}&gt;market-quotes、hot-topics、expense-tracker、qrcode 等&lt;/Text&gt;&#13;&#10;                        &lt;/Box&gt;&#13;&#10;                    &lt;/Box&gt;&#13;&#10;                &lt;/Box&gt;&#13;&#10;                &lt;Box style={{ alignItems: 'center', marginTop: 10 }}&gt;&#13;&#10;                    &lt;Box style={{ width: 828, background: '#E6F7F9', borderWidth: 1, borderColor: '#B6E3EA', borderStyle: 'solid', borderRadius: 10, padding: 12, flexDirection: 'row', alignItems: 'center', gap: 18 }}&gt;&#13;&#10;                        &lt;Text style={{ fontSize: 40, fontWeight: 'bold', color: '#0891B2', lineHeight: 1.1 }}&gt;∞&lt;/Text&gt;&#13;&#10;                        &lt;Box&gt;&#13;&#10;                            &lt;Text style={{ fontSize: 19, fontWeight: '600', color: '#12275A', lineHeight: 1.3 }}&gt;SkillHub 在线市场与本地安装&lt;/Text&gt;&#13;&#10;                            &lt;Text style={{ fontSize: 15, color: '#475569', lineHeight: 1.4 }}&gt;在线检索、下载、归档打包、跨实例传输&lt;/Text&gt;&#13;&#10;                        &lt;/Box&gt;&#13;&#10;                    &lt;/Box&gt;&#13;&#10;                &lt;/Box&gt;&#13;&#10;                &lt;Box style={{ flexDirection: 'row', gap: 20, marginTop: 14 }}&gt;&#13;&#10;                    &lt;Box style={{ flex: 1, borderTopWidth: 1, borderTopColor: '#E2E8F0', borderTopStyle: 'solid', paddingTop: 12 }}&gt;&#13;&#10;                        &lt;Text style={{ fontSize: 16, color: '#64748B', lineHeight: 1.5 }}&gt;&#13;&#10;                            按 Agent 粒度启用，不同岗位拿不同技能集合。&#13;&#10;                        &lt;/Text&gt;&#13;&#10;                    &lt;/Box&gt;&#13;&#10;                    &lt;Box style={{ flex: 1, borderTopWidth: 1, borderTopColor: '#E2E8F0', borderTopStyle: 'solid', paddingTop: 12 }}&gt;&#13;&#10;                        &lt;Text style={{ fontSize: 16, color: '#64748B', lineHeight: 1.5 }}&gt;&#13;&#10;                            按场景过滤加载，只有相关技能进上下文。&#13;&#10;                        &lt;/Text&gt;&#13;&#10;                    &lt;/Box&gt;&#13;&#10;                &lt;/Box&gt;&#13;&#10;            &lt;/Box&gt;&#13;&#10;        &lt;/Box&gt;&#13;&#10;&#13;&#10;        &lt;Box style={{ marginTop: 20, flexDirection: 'row', alignItems: 'center', background: '#F4F6FB', borderRadius: 8, padding: 16, gap: 16 }}&gt;&#13;&#10;            &lt;Box style={{ width: 4, height: 40, borderRadius: 2, background: '#1D4ED8' }} /&gt;&#13;&#10;            &lt;Text style={{ flex: 1, fontSize: 19, color: '#12275A', lineHeight: 1.5 }}&gt;&#13;&#10;                采购一套产品的同时，也拿到一条可持续扩充能力的供应链——新增场景时先问「有没有现成技能」，而不是先排开发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能力不是一次性交付，而是可持续安装的资产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28575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三层可安装资产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1500" y="22479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1500" y="2438400"/>
            <a:ext cx="2857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底座负责稳定运行，能力层随业务需要叠加。新增一项能力不需要改动平台代码，也不需要重启已有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" y="3448050"/>
            <a:ext cx="2857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第三方技能支持供应链扫描策略：关闭、告警或直接阻断，由企业安全策略决定。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5010150" y="20764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12275A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124450" y="2209800"/>
            <a:ext cx="4762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72150" y="2190750"/>
            <a:ext cx="3695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内置技能包（中英双语）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72150" y="2476500"/>
            <a:ext cx="36957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plan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powerpoint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nano-pdf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ocr-and-documents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4343400" y="2933700"/>
            <a:ext cx="6667500" cy="762000"/>
          </a:xfrm>
          <a:prstGeom prst="roundRect">
            <a:avLst>
              <a:gd name="adj" fmla="val 125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57700" y="3067050"/>
            <a:ext cx="4762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38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105400" y="3048000"/>
            <a:ext cx="38862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内置插件，随安装注入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105400" y="3333750"/>
            <a:ext cx="38862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market-quotes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hot-topics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expense-tracker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 xml:space="preserve">qrcode 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733800" y="3790950"/>
            <a:ext cx="7886700" cy="762000"/>
          </a:xfrm>
          <a:prstGeom prst="roundRect">
            <a:avLst>
              <a:gd name="adj" fmla="val 12500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48100" y="3924300"/>
            <a:ext cx="3429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sz="3000" b="1">
                <a:solidFill>
                  <a:srgbClr val="0891B2"/>
                </a:solidFill>
                <a:latin typeface="Microsoft YaHei"/>
                <a:ea typeface="Microsoft YaHei"/>
              </a:rPr>
              <a:t>∞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362450" y="3905250"/>
            <a:ext cx="25717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SkillHub </a:t>
            </a: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在线市场与本地安装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362450" y="4191000"/>
            <a:ext cx="2571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在线检索、下载、归档打包、跨实例传输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3733800" y="4686300"/>
            <a:ext cx="3848100" cy="409575"/>
          </a:xfrm>
          <a:custGeom>
            <a:pathLst>
              <a:path w="404" h="43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733800" y="4810125"/>
            <a:ext cx="3848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粒度启用，不同岗位拿不同技能集合。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772400" y="4686300"/>
            <a:ext cx="3848100" cy="409575"/>
          </a:xfrm>
          <a:custGeom>
            <a:pathLst>
              <a:path w="404" h="43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772400" y="4810125"/>
            <a:ext cx="3848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按场景过滤加载，只有相关技能进上下文。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采购一套产品的同时，也拿到一条可持续扩充能力的供应链——新增场景时先问「有没有现成技能」，而不是先排开发。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区别不在于会不会说，而在于能不能亲手做完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571500" y="1752600"/>
            <a:ext cx="6096000" cy="3657600"/>
          </a:xfrm>
          <a:prstGeom prst="roundRect">
            <a:avLst>
              <a:gd name="adj" fmla="val 3125"/>
            </a:avLst>
          </a:prstGeom>
          <a:solidFill>
            <a:srgbClr val="0F2247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42950" y="1990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914400" y="1990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1085850" y="1990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333500" y="1924050"/>
            <a:ext cx="13525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7EA3D6"/>
                </a:solidFill>
                <a:latin typeface="Microsoft YaHei"/>
                <a:ea typeface="Microsoft YaHei"/>
              </a:rPr>
              <a:t>agent @ workspace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42950" y="2257425"/>
            <a:ext cx="57531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2950" y="2371725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6EE7B7"/>
                </a:solidFill>
                <a:latin typeface="Microsoft YaHei"/>
                <a:ea typeface="Microsoft YaHei"/>
              </a:rPr>
              <a:t>read_file</a:t>
            </a:r>
            <a:r>
              <a:rPr lang="zh-CN" sz="1200">
                <a:solidFill>
                  <a:srgbClr val="6EE7B7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6EE7B7"/>
                </a:solidFill>
                <a:latin typeface="Microsoft YaHei"/>
                <a:ea typeface="Microsoft YaHei"/>
              </a:rPr>
              <a:t>./</a:t>
            </a:r>
            <a:r>
              <a:rPr lang="zh-CN" sz="1200">
                <a:solidFill>
                  <a:srgbClr val="6EE7B7"/>
                </a:solidFill>
                <a:latin typeface="Microsoft YaHei"/>
                <a:ea typeface="Microsoft YaHei"/>
              </a:rPr>
              <a:t>季度报表</a:t>
            </a:r>
            <a:r>
              <a:rPr lang="en-US" sz="1200">
                <a:solidFill>
                  <a:srgbClr val="6EE7B7"/>
                </a:solidFill>
                <a:latin typeface="Microsoft YaHei"/>
                <a:ea typeface="Microsoft YaHei"/>
              </a:rPr>
              <a:t>.xlsx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grep</a:t>
            </a:r>
            <a:r>
              <a:rPr lang="zh-CN" sz="1200">
                <a:solidFill>
                  <a:srgbClr val="CBD9F0"/>
                </a:solidFill>
                <a:latin typeface="Microsoft YaHei"/>
                <a:ea typeface="Microsoft YaHei"/>
              </a:rPr>
              <a:t>　　　　</a:t>
            </a: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BD9F0"/>
                </a:solidFill>
                <a:latin typeface="Microsoft YaHei"/>
                <a:ea typeface="Microsoft YaHei"/>
              </a:rPr>
              <a:t>逾期</a:t>
            </a: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" ./contracts/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42950" y="2962275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execute</a:t>
            </a:r>
            <a:r>
              <a:rPr lang="zh-CN" sz="1200">
                <a:solidFill>
                  <a:srgbClr val="CBD9F0"/>
                </a:solidFill>
                <a:latin typeface="Microsoft YaHei"/>
                <a:ea typeface="Microsoft YaHei"/>
              </a:rPr>
              <a:t>　　</a:t>
            </a: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 xml:space="preserve"> pytest -q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2950" y="3257550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browser_use https://intranet/hr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42950" y="3552825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search_knowledge "</a:t>
            </a:r>
            <a:r>
              <a:rPr lang="zh-CN" sz="1200">
                <a:solidFill>
                  <a:srgbClr val="CBD9F0"/>
                </a:solidFill>
                <a:latin typeface="Microsoft YaHei"/>
                <a:ea typeface="Microsoft YaHei"/>
              </a:rPr>
              <a:t>差旅报销标准</a:t>
            </a: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42950" y="3848100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send_file_to_user ./</a:t>
            </a:r>
            <a:r>
              <a:rPr lang="zh-CN" sz="1200">
                <a:solidFill>
                  <a:srgbClr val="CBD9F0"/>
                </a:solidFill>
                <a:latin typeface="Microsoft YaHei"/>
                <a:ea typeface="Microsoft YaHei"/>
              </a:rPr>
              <a:t>报表汇总</a:t>
            </a:r>
            <a:r>
              <a:rPr lang="en-US" sz="1200">
                <a:solidFill>
                  <a:srgbClr val="CBD9F0"/>
                </a:solidFill>
                <a:latin typeface="Microsoft YaHei"/>
                <a:ea typeface="Microsoft YaHei"/>
              </a:rPr>
              <a:t>.pdf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742950" y="4248150"/>
            <a:ext cx="57531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2950" y="4371975"/>
            <a:ext cx="5753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每一行都是真实发生的动作：读文件、搜全文、跑命令、开浏览器、查知识库、生成素材、回传结果。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934200" y="1752600"/>
            <a:ext cx="4686300" cy="1047750"/>
          </a:xfrm>
          <a:custGeom>
            <a:pathLst>
              <a:path w="492" h="110">
                <a:moveTo>
                  <a:pt x="0" y="109"/>
                </a:moveTo>
                <a:lnTo>
                  <a:pt x="492" y="109"/>
                </a:lnTo>
                <a:lnTo>
                  <a:pt x="492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934200" y="1752600"/>
            <a:ext cx="46863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文件与命令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934200" y="2133600"/>
            <a:ext cx="4686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列目录、读写与增量编辑文件、全文检索、执行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命令——列目录、读写与增量编辑、全文检索、执行命令。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934200" y="2790825"/>
            <a:ext cx="4686300" cy="895350"/>
          </a:xfrm>
          <a:custGeom>
            <a:pathLst>
              <a:path w="492" h="94">
                <a:moveTo>
                  <a:pt x="0" y="93"/>
                </a:moveTo>
                <a:lnTo>
                  <a:pt x="492" y="93"/>
                </a:lnTo>
                <a:lnTo>
                  <a:pt x="49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934200" y="2914650"/>
            <a:ext cx="46863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联网与验证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934200" y="3295650"/>
            <a:ext cx="4686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五个可选搜索后端、网页抓取与无头浏览器会话。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934200" y="3676650"/>
            <a:ext cx="4686300" cy="895350"/>
          </a:xfrm>
          <a:custGeom>
            <a:pathLst>
              <a:path w="492" h="94">
                <a:moveTo>
                  <a:pt x="0" y="93"/>
                </a:moveTo>
                <a:lnTo>
                  <a:pt x="492" y="93"/>
                </a:lnTo>
                <a:lnTo>
                  <a:pt x="49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934200" y="3800475"/>
            <a:ext cx="46863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记忆与知识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934200" y="4181475"/>
            <a:ext cx="4686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记忆检索与保存、知识库检索由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自主调用。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934200" y="4657725"/>
            <a:ext cx="46863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交付与排程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934200" y="5038725"/>
            <a:ext cx="4686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文件回传、素材生成、定时任务增删改查与立即执行。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正因为这些动作真实发生，才必须配套审批、命令守卫与调用留痕——执行能力与安全治理在本产品中是一套设计，不是两张皮。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不只操作文件，还能操作机器本身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71500" y="1752600"/>
            <a:ext cx="6096000" cy="1724025"/>
          </a:xfrm>
          <a:prstGeom prst="roundRect">
            <a:avLst>
              <a:gd name="adj" fmla="val 663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33425" y="1914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3C82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000250"/>
            <a:ext cx="209550" cy="20955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247775" y="1943100"/>
            <a:ext cx="876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终端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AI+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33425" y="2409825"/>
            <a:ext cx="5772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浏览器内的交互式</a:t>
            </a:r>
            <a:r>
              <a:rPr lang="en-US" sz="1200">
                <a:solidFill>
                  <a:srgbClr val="A9C2E8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：命令由</a:t>
            </a:r>
            <a:r>
              <a:rPr lang="en-US" sz="1200">
                <a:solidFill>
                  <a:srgbClr val="A9C2E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辅助生成与排错，执行前后都可见、可中断，不必离开控制台再开一个</a:t>
            </a:r>
            <a:r>
              <a:rPr lang="en-US" sz="1200">
                <a:solidFill>
                  <a:srgbClr val="A9C2E8"/>
                </a:solidFill>
                <a:latin typeface="Microsoft YaHei"/>
                <a:ea typeface="Microsoft YaHei"/>
              </a:rPr>
              <a:t xml:space="preserve"> SSH</a:t>
            </a: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33425" y="3057525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典型场景：服务排障、日志排查、脚本执行、环境初始化。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858000" y="1752600"/>
            <a:ext cx="4762500" cy="1724025"/>
          </a:xfrm>
          <a:prstGeom prst="roundRect">
            <a:avLst>
              <a:gd name="adj" fmla="val 6630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019925" y="1914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2000250"/>
            <a:ext cx="209550" cy="209550"/>
          </a:xfrm>
          <a:prstGeom prst="rect">
            <a:avLst/>
          </a:prstGeom>
          <a:ln/>
        </p:spPr>
      </p:pic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534275" y="1943100"/>
            <a:ext cx="1085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浏览器</a:t>
            </a:r>
            <a:r>
              <a:rPr lang="en-US" sz="16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AI+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019925" y="2409825"/>
            <a:ext cx="4438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Chromium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的无头会话：网页自动化、截图核验、表单填报，还能把一次操作录制成可复用技能。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019925" y="3057525"/>
            <a:ext cx="4438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典型场景：内部系统填报、竞品采集、批量后台操作。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571500" y="3667125"/>
            <a:ext cx="4762500" cy="1724025"/>
          </a:xfrm>
          <a:prstGeom prst="roundRect">
            <a:avLst>
              <a:gd name="adj" fmla="val 66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733425" y="3829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9150" y="3914775"/>
            <a:ext cx="209550" cy="209550"/>
          </a:xfrm>
          <a:prstGeom prst="rect">
            <a:avLst/>
          </a:prstGeom>
          <a:ln/>
        </p:spPr>
      </p:pic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247775" y="3857625"/>
            <a:ext cx="1676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远程桌面与移动端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33425" y="4324350"/>
            <a:ext cx="4438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控制台内实时看屏与键鼠注入，跨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Linux / Windows / macOS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；安卓设备可通过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adb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完成界面解析与手势操作。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33425" y="4972050"/>
            <a:ext cx="4438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典型场景：远程运维、无人值守设备巡检。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524500" y="3667125"/>
            <a:ext cx="6096000" cy="1724025"/>
          </a:xfrm>
          <a:prstGeom prst="roundRect">
            <a:avLst>
              <a:gd name="adj" fmla="val 6630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686425" y="3829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772150" y="3914775"/>
            <a:ext cx="209550" cy="209550"/>
          </a:xfrm>
          <a:prstGeom prst="rect">
            <a:avLst/>
          </a:prstGeom>
          <a:ln/>
        </p:spPr>
      </p:pic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200775" y="3857625"/>
            <a:ext cx="1466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语音输入与播报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686425" y="4324350"/>
            <a:ext cx="5772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语音转写与合成走兼容端点，也可接云厂商或本地方案；在车间、巡检、驾车等不便打字的场景同样可用。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686425" y="4972050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2400E"/>
                </a:solidFill>
                <a:latin typeface="Microsoft YaHei"/>
                <a:ea typeface="Microsoft YaHei"/>
              </a:rPr>
              <a:t>典型场景：现场作业记录、移动端快速下达任务。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自托管带来的本质差异就在这里：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面对的是一台真实的机器，而不是一堆只能通过接口读写的远端数据。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02 · ABILITY LANDSCAPE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每一次越界动作，都可以被人叫停、修改或追问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571500" y="17335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04850" y="1790700"/>
            <a:ext cx="2419350" cy="190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1500" y="1981200"/>
            <a:ext cx="25527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事前定义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2295525"/>
            <a:ext cx="2552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写文件、改文件、执行命令与删除默认纳入审批清单，由管理员按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调整。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3124200" y="17335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3257550" y="1790700"/>
            <a:ext cx="2419350" cy="190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124200" y="1981200"/>
            <a:ext cx="25527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事中暂停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3124200" y="2295525"/>
            <a:ext cx="2552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命中审批清单或命令守卫规则时，回合在此挂起，等待人工处置。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676900" y="17335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810250" y="1790700"/>
            <a:ext cx="2419350" cy="190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676900" y="1981200"/>
            <a:ext cx="25527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人工决策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676900" y="2295525"/>
            <a:ext cx="2552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通过、修改参数后通过、拒绝、或补充要求后继续，共四种处置。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8229600" y="17335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362950" y="1790700"/>
            <a:ext cx="2686050" cy="190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229600" y="198120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事后继续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229600" y="2295525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决策结果回写检查点，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接着跑完剩余步骤，不会从头开始。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571500" y="3295650"/>
            <a:ext cx="2857500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23900" y="3448050"/>
            <a:ext cx="25527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四处入口，同一套审批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23900" y="3800475"/>
            <a:ext cx="25527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控制台、命令行、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与定时任务都能收到审批请求；在飞书、钉钉里也能直接点按钮处置。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3619500" y="3295650"/>
            <a:ext cx="2857500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771900" y="3448050"/>
            <a:ext cx="25527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会话级放行，减少打扰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771900" y="3800475"/>
            <a:ext cx="25527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确认可信后可本次放行或整段会话放行指定工具，避免同类动作反复打断工作流。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667500" y="3295650"/>
            <a:ext cx="4762500" cy="1485900"/>
          </a:xfrm>
          <a:prstGeom prst="roundRect">
            <a:avLst>
              <a:gd name="adj" fmla="val 641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19900" y="3448050"/>
            <a:ext cx="44577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为什么这决定能不能上线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819900" y="3800475"/>
            <a:ext cx="44577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6E3F5"/>
                </a:solidFill>
                <a:latin typeface="Microsoft YaHei"/>
                <a:ea typeface="Microsoft YaHei"/>
              </a:rPr>
              <a:t>绝大多数企业</a:t>
            </a:r>
            <a:r>
              <a:rPr lang="en-US" sz="1200">
                <a:solidFill>
                  <a:srgbClr val="D6E3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D6E3F5"/>
                </a:solidFill>
                <a:latin typeface="Microsoft YaHei"/>
                <a:ea typeface="Microsoft YaHei"/>
              </a:rPr>
              <a:t>项目卡在「不敢授权」。审批机制把默认策略从「全禁止」变成「可控放行」，</a:t>
            </a:r>
            <a:r>
              <a:rPr lang="en-US" sz="1200">
                <a:solidFill>
                  <a:srgbClr val="D6E3F5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D6E3F5"/>
                </a:solidFill>
                <a:latin typeface="Microsoft YaHei"/>
                <a:ea typeface="Microsoft YaHei"/>
              </a:rPr>
              <a:t>才真正进入业务流程而不是停在建议层。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自主执行与人工掌控并不矛盾：机器负责把活干完，人保留随时改主意和问清楚的权利。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1F3C7A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安全与治理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敢把</a:t>
            </a:r>
            <a:r>
              <a:rPr lang="en-US" sz="1650">
                <a:solidFill>
                  <a:srgbClr val="9AB4D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放出去用，靠的是可验证的边界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7EA3D6"/>
                </a:solidFill>
                <a:latin typeface="Microsoft YaHei"/>
                <a:ea typeface="Microsoft YaHei"/>
              </a:rPr>
              <a:t>03 · SECURITY &amp; GOVERNANCE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五层防线：每一层都能打开看、按企业需要改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1E3C82"/>
          </a:solidFill>
          <a:ln/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71500" y="17335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95325" y="1857375"/>
            <a:ext cx="266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F59E0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1114425" y="1866900"/>
            <a:ext cx="9525" cy="2857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276350" y="18669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身份与授权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286250" y="1885950"/>
            <a:ext cx="7210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密码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/ LDAP / SSO-OIDC /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邀请码，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JWT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全站校验，按行隔离用户数据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71500" y="23812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95325" y="2505075"/>
            <a:ext cx="266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1114425" y="2514600"/>
            <a:ext cx="9525" cy="2857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276350" y="25146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命令守卫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286250" y="2533650"/>
            <a:ext cx="7210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条内建危险命令规则，可选拦截、告警或转人工审批，规则可自定义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571500" y="30289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95325" y="3152775"/>
            <a:ext cx="266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1114425" y="3162300"/>
            <a:ext cx="9525" cy="2857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276350" y="31623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文件系统沙箱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286250" y="3181350"/>
            <a:ext cx="7210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按操作与路径配置允许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拒绝，默认拦截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/etc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/root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.env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、密钥与云凭证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71500" y="36766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95325" y="3800475"/>
            <a:ext cx="266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1114425" y="3810000"/>
            <a:ext cx="9525" cy="2857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276350" y="38100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数据与出站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286250" y="3829050"/>
            <a:ext cx="7210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四种脱敏策略作用于输入输出与工具结果，出站请求做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SSRF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571500" y="43243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95325" y="4448175"/>
            <a:ext cx="266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F59E0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1114425" y="4457700"/>
            <a:ext cx="9525" cy="285750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276350" y="44577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审计与备份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286250" y="4476750"/>
            <a:ext cx="7210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工具调用全量记入轨迹账本，支持自动备份与一键恢复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E3C82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04850" y="57340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95350" y="5791200"/>
            <a:ext cx="10591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E6EEFA"/>
                </a:solidFill>
                <a:latin typeface="Microsoft YaHei"/>
                <a:ea typeface="Microsoft YaHei"/>
              </a:rPr>
              <a:t>安全不是一句承诺：这五层都是配置文件里看得见、改得动、有日志可查的具体机制。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03 · SECURITY &amp; GOVERNANCE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危险动作在执行前被拦下，而不是事后追责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571500" y="1752600"/>
            <a:ext cx="3048000" cy="3657600"/>
          </a:xfrm>
          <a:prstGeom prst="roundRect">
            <a:avLst>
              <a:gd name="adj" fmla="val 375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2628900" cy="771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800" b="1">
                <a:solidFill>
                  <a:srgbClr val="F59E0B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81050" y="2790825"/>
            <a:ext cx="26289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条内建危险命令规则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781050" y="32385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81050" y="3409950"/>
            <a:ext cx="2628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覆盖删除与覆写、资源滥用、命令注入、提权、敏感文件与网络滥用六类威胁。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规则以</a:t>
            </a:r>
            <a:r>
              <a:rPr lang="en-US" sz="1125">
                <a:solidFill>
                  <a:srgbClr val="7EA3D6"/>
                </a:solidFill>
                <a:latin typeface="Microsoft YaHei"/>
                <a:ea typeface="Microsoft YaHei"/>
              </a:rPr>
              <a:t xml:space="preserve"> YAML </a:t>
            </a: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维护，支持校验、热加载，误伤时可一键恢复内置版本。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924300" y="1752600"/>
            <a:ext cx="7696200" cy="752475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4524375" y="1885950"/>
            <a:ext cx="9715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工具调用请求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4114800" y="2143125"/>
            <a:ext cx="1790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bash / execute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command</a:t>
            </a:r>
            <a:endParaRPr/>
          </a:p>
        </p:txBody>
      </p:sp>
      <p:pic>
        <p:nvPicPr>
          <p:cNvPr id="4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62650" y="2057400"/>
            <a:ext cx="381000" cy="152400"/>
          </a:xfrm>
          <a:prstGeom prst="rect">
            <a:avLst/>
          </a:prstGeom>
          <a:ln/>
        </p:spPr>
      </p:pic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810375" y="1885950"/>
            <a:ext cx="9715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规则引擎匹配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543675" y="2143125"/>
            <a:ext cx="15144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YAML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规则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用户自定义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48650" y="2057400"/>
            <a:ext cx="381000" cy="152400"/>
          </a:xfrm>
          <a:prstGeom prst="rect">
            <a:avLst/>
          </a:prstGeom>
          <a:ln/>
        </p:spPr>
      </p:pic>
      <p:sp>
        <p:nvSpPr>
          <p:cNvPr id="424" name=""/>
          <p:cNvSpPr/>
          <p:nvPr/>
        </p:nvSpPr>
        <p:spPr>
          <a:xfrm rot="0" flipH="0" flipV="0">
            <a:off x="8629650" y="1943100"/>
            <a:ext cx="904875" cy="38100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943975" y="20193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B91C1C"/>
                </a:solidFill>
                <a:latin typeface="Microsoft YaHei"/>
                <a:ea typeface="Microsoft YaHei"/>
              </a:rPr>
              <a:t>拦截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9610725" y="1943100"/>
            <a:ext cx="895350" cy="381000"/>
          </a:xfrm>
          <a:prstGeom prst="roundRect">
            <a:avLst>
              <a:gd name="adj" fmla="val 15000"/>
            </a:avLst>
          </a:prstGeom>
          <a:solidFill>
            <a:srgbClr val="FFF7E9"/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915525" y="20193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告警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10582275" y="1943100"/>
            <a:ext cx="904875" cy="381000"/>
          </a:xfrm>
          <a:prstGeom prst="roundRect">
            <a:avLst>
              <a:gd name="adj" fmla="val 15000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0820400" y="2019300"/>
            <a:ext cx="4286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1D4ED8"/>
                </a:solidFill>
                <a:latin typeface="Microsoft YaHei"/>
                <a:ea typeface="Microsoft YaHei"/>
              </a:rPr>
              <a:t>转审批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3924300" y="2638425"/>
            <a:ext cx="1428750" cy="1133475"/>
          </a:xfrm>
          <a:prstGeom prst="roundRect">
            <a:avLst>
              <a:gd name="adj" fmla="val 8403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048125" y="2762250"/>
            <a:ext cx="1181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代码执行类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048125" y="3048000"/>
            <a:ext cx="11811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5486400" y="2638425"/>
            <a:ext cx="1438275" cy="1133475"/>
          </a:xfrm>
          <a:prstGeom prst="roundRect">
            <a:avLst>
              <a:gd name="adj" fmla="val 8403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610225" y="2762250"/>
            <a:ext cx="11906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资源滥用类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610225" y="3048000"/>
            <a:ext cx="11906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7058025" y="2638425"/>
            <a:ext cx="1428750" cy="1133475"/>
          </a:xfrm>
          <a:prstGeom prst="roundRect">
            <a:avLst>
              <a:gd name="adj" fmla="val 8403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181850" y="2762250"/>
            <a:ext cx="1181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命令注入类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181850" y="3048000"/>
            <a:ext cx="11811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8620125" y="2638425"/>
            <a:ext cx="1438275" cy="1133475"/>
          </a:xfrm>
          <a:prstGeom prst="roundRect">
            <a:avLst>
              <a:gd name="adj" fmla="val 8403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743950" y="2762250"/>
            <a:ext cx="11906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提权与敏感文件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743950" y="3048000"/>
            <a:ext cx="11906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各</a:t>
            </a:r>
            <a:r>
              <a:rPr lang="en-US" sz="18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800" b="1">
                <a:solidFill>
                  <a:srgbClr val="12275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10191750" y="2638425"/>
            <a:ext cx="1428750" cy="1133475"/>
          </a:xfrm>
          <a:prstGeom prst="roundRect">
            <a:avLst>
              <a:gd name="adj" fmla="val 8403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0315575" y="2762250"/>
            <a:ext cx="1181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等级分布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0315575" y="3048000"/>
            <a:ext cx="11811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高危</a:t>
            </a:r>
            <a:r>
              <a:rPr lang="en-US" sz="15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7 / </a:t>
            </a: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严重</a:t>
            </a:r>
            <a:r>
              <a:rPr lang="en-US" sz="15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13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3924300" y="3905250"/>
            <a:ext cx="37719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057650" y="4038600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文件系统：按操作</a:t>
            </a:r>
            <a:r>
              <a:rPr lang="en-US" sz="127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路径授权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057650" y="4362450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读、写、删除分别授权，首个匹配规则生效，可整体设为默认允许或默认拒绝。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7848600" y="3905250"/>
            <a:ext cx="37719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981950" y="4038600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默认已拦截的路径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981950" y="4362450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/etc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/root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.env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SSH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私钥、云厂商凭证目录等，开箱即处于保护状态。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规则不是摆设：它把「哪些命令不能跑、哪些目录不能碰」变成可执行、可审计、可调整的企业策略。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03 · SECURITY &amp; GOVERNANCE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数据主权的开关，握在企业自己手里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94A3B8"/>
                </a:solidFill>
                <a:latin typeface="Microsoft YaHei"/>
                <a:ea typeface="Microsoft YaHei"/>
              </a:rPr>
              <a:t>公有云</a:t>
            </a:r>
            <a:r>
              <a:rPr lang="en-US" sz="1650" b="1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 b="1">
                <a:solidFill>
                  <a:srgbClr val="94A3B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571500" y="2200275"/>
            <a:ext cx="609600" cy="28575"/>
          </a:xfrm>
          <a:prstGeom prst="roundRect">
            <a:avLst>
              <a:gd name="adj" fmla="val 66667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571500" y="2428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62000" y="2343150"/>
            <a:ext cx="4572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提示词与附件要出网，脱敏策略由厂商决定，企业难以逐条核验。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571500" y="3124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62000" y="3038475"/>
            <a:ext cx="4572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向量、记忆与会话散落在厂商侧，迁移与导出通常受限于产品形态。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571500" y="3819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62000" y="3733800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合规举证依赖对方提供的承诺，审计时拿不到一手记录。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71500" y="4200525"/>
            <a:ext cx="4762500" cy="781050"/>
          </a:xfrm>
          <a:prstGeom prst="roundRect">
            <a:avLst>
              <a:gd name="adj" fmla="val 12195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85800" y="4314825"/>
            <a:ext cx="4533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结论：能力上线快，但边界由他人定义，越到核心业务越难说服合规部门。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5600700" y="1752600"/>
            <a:ext cx="9525" cy="3657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876925" y="1752600"/>
            <a:ext cx="5734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云顶数字工作台（自托管）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5876925" y="2200275"/>
            <a:ext cx="609600" cy="28575"/>
          </a:xfrm>
          <a:prstGeom prst="roundRect">
            <a:avLst>
              <a:gd name="adj" fmla="val 66667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876925" y="2381250"/>
            <a:ext cx="2800350" cy="1047750"/>
          </a:xfrm>
          <a:prstGeom prst="roundRect">
            <a:avLst>
              <a:gd name="adj" fmla="val 9091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981700" y="24860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脱敏四策略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981700" y="28098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阻断、删除、掩码、哈希，可选作用于输入、输出与工具结果。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8810625" y="2381250"/>
            <a:ext cx="2800350" cy="1047750"/>
          </a:xfrm>
          <a:prstGeom prst="roundRect">
            <a:avLst>
              <a:gd name="adj" fmla="val 9091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915400" y="24860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出站</a:t>
            </a: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 SSRF 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915400" y="28098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对外请求先过目标校验，避免被诱导访问内网地址。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876925" y="3562350"/>
            <a:ext cx="2800350" cy="1047750"/>
          </a:xfrm>
          <a:prstGeom prst="roundRect">
            <a:avLst>
              <a:gd name="adj" fmla="val 9091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981700" y="36671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本地推理可选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981700" y="39909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Ollama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本地模型与本地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ONNX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向量化，敏感场景可完全离线。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8810625" y="3562350"/>
            <a:ext cx="2800350" cy="1047750"/>
          </a:xfrm>
          <a:prstGeom prst="roundRect">
            <a:avLst>
              <a:gd name="adj" fmla="val 9091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915400" y="36671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沙箱执行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915400" y="39909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命令可在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bubblewrap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沙箱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或容器后端中执行。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5876925" y="4743450"/>
            <a:ext cx="5734050" cy="504825"/>
          </a:xfrm>
          <a:prstGeom prst="roundRect">
            <a:avLst>
              <a:gd name="adj" fmla="val 18868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991225" y="4857750"/>
            <a:ext cx="5505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D6E3F5"/>
                </a:solidFill>
                <a:latin typeface="Microsoft YaHei"/>
                <a:ea typeface="Microsoft YaHei"/>
              </a:rPr>
              <a:t>配置、会话、工作区与凭证统一落在安装目录；供应商、存储与通道均可替换。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该上云的环节仍可上云，但该留内网的必须留得住——选择权在配置里，不在合同里。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03 · SECURITY &amp; GOVERNANCE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接进企业现有身份体系，而不是再建一套账号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571500" y="1733550"/>
            <a:ext cx="2552700" cy="1714500"/>
          </a:xfrm>
          <a:prstGeom prst="roundRect">
            <a:avLst>
              <a:gd name="adj" fmla="val 555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04850" y="186690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阶段一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04850" y="2162175"/>
            <a:ext cx="2286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登录方式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22860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密码（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argon2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）、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LDAP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SSO-OIDC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（钉钉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飞书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企业微信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通用）、邀请码与验证码。</a:t>
            </a:r>
            <a:endParaRPr/>
          </a:p>
        </p:txBody>
      </p:sp>
      <p:pic>
        <p:nvPicPr>
          <p:cNvPr id="5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124200" y="2505075"/>
            <a:ext cx="266700" cy="171450"/>
          </a:xfrm>
          <a:prstGeom prst="rect">
            <a:avLst/>
          </a:prstGeom>
          <a:ln/>
        </p:spPr>
      </p:pic>
      <p:sp>
        <p:nvSpPr>
          <p:cNvPr id="501" name=""/>
          <p:cNvSpPr/>
          <p:nvPr/>
        </p:nvSpPr>
        <p:spPr>
          <a:xfrm rot="0" flipH="0" flipV="0">
            <a:off x="3390900" y="1733550"/>
            <a:ext cx="2552700" cy="1714500"/>
          </a:xfrm>
          <a:prstGeom prst="roundRect">
            <a:avLst>
              <a:gd name="adj" fmla="val 555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524250" y="186690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阶段二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524250" y="2162175"/>
            <a:ext cx="2286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令牌与会话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524250" y="2543175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全站接口强制校验，未完成初始化时锁定管理接口，空闲会话自动踢出。</a:t>
            </a:r>
            <a:endParaRPr/>
          </a:p>
        </p:txBody>
      </p:sp>
      <p:pic>
        <p:nvPicPr>
          <p:cNvPr id="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43600" y="2505075"/>
            <a:ext cx="266700" cy="171450"/>
          </a:xfrm>
          <a:prstGeom prst="rect">
            <a:avLst/>
          </a:prstGeom>
          <a:ln/>
        </p:spPr>
      </p:pic>
      <p:sp>
        <p:nvSpPr>
          <p:cNvPr id="506" name=""/>
          <p:cNvSpPr/>
          <p:nvPr/>
        </p:nvSpPr>
        <p:spPr>
          <a:xfrm rot="0" flipH="0" flipV="0">
            <a:off x="6210300" y="1733550"/>
            <a:ext cx="2552700" cy="1714500"/>
          </a:xfrm>
          <a:prstGeom prst="roundRect">
            <a:avLst>
              <a:gd name="adj" fmla="val 5556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343650" y="186690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7EA3D6"/>
                </a:solidFill>
                <a:latin typeface="Microsoft YaHei"/>
                <a:ea typeface="Microsoft YaHei"/>
              </a:rPr>
              <a:t>阶段三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343650" y="2162175"/>
            <a:ext cx="2286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权限判定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343650" y="2543175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模块级权限目录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角色模板，管理员取全集，成员按模块逐项授权。</a:t>
            </a:r>
            <a:endParaRPr/>
          </a:p>
        </p:txBody>
      </p:sp>
      <p:pic>
        <p:nvPicPr>
          <p:cNvPr id="5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63000" y="2505075"/>
            <a:ext cx="266700" cy="171450"/>
          </a:xfrm>
          <a:prstGeom prst="rect">
            <a:avLst/>
          </a:prstGeom>
          <a:ln/>
        </p:spPr>
      </p:pic>
      <p:sp>
        <p:nvSpPr>
          <p:cNvPr id="511" name=""/>
          <p:cNvSpPr/>
          <p:nvPr/>
        </p:nvSpPr>
        <p:spPr>
          <a:xfrm rot="0" flipH="0" flipV="0">
            <a:off x="9029700" y="1733550"/>
            <a:ext cx="2552700" cy="1714500"/>
          </a:xfrm>
          <a:prstGeom prst="roundRect">
            <a:avLst>
              <a:gd name="adj" fmla="val 5556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9163050" y="186690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B45309"/>
                </a:solidFill>
                <a:latin typeface="Microsoft YaHei"/>
                <a:ea typeface="Microsoft YaHei"/>
              </a:rPr>
              <a:t>阶段四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163050" y="2162175"/>
            <a:ext cx="2286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资源所有权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163050" y="2543175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数据行按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user_id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校验归属，跨用户运维仅管理员可用且留痕。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71500" y="3657600"/>
            <a:ext cx="3714750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714375" y="3800475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对</a:t>
            </a:r>
            <a:r>
              <a:rPr lang="en-US" sz="13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部门意味着什么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714375" y="4152900"/>
            <a:ext cx="3429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账号生命周期沿用现有目录服务，离职即失效；不必为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平台单独维护一份人员台账。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4476750" y="3657600"/>
            <a:ext cx="3714750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4619625" y="3800475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对业务团队意味着什么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619625" y="4152900"/>
            <a:ext cx="3429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成员只看到被授权的模块与自己的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，跨团队协作通过共享专家与邀请实现。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8382000" y="3657600"/>
            <a:ext cx="3238500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524875" y="3800475"/>
            <a:ext cx="29527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边界说明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524875" y="4152900"/>
            <a:ext cx="2952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当前未提供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SAML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登录，隔离粒度为用户与权限模块，不是租户级多租户模型。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身份接入越贴近企业现状，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平台推广的阻力越小——这一点往往比模型能力更早决定项目成败。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03 · SECURITY &amp; GOVERNANCE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出问题能回放每一步，出问题之前能提前备份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571500" y="1733550"/>
            <a:ext cx="11049000" cy="1419225"/>
          </a:xfrm>
          <a:prstGeom prst="roundRect">
            <a:avLst>
              <a:gd name="adj" fmla="val 80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23900" y="1885950"/>
            <a:ext cx="107442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轨迹账本：每一次工具调用都留痕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23900" y="2305050"/>
            <a:ext cx="3048000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38200" y="2419350"/>
            <a:ext cx="28194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D4ED8"/>
                </a:solidFill>
                <a:latin typeface="Microsoft YaHei"/>
                <a:ea typeface="Microsoft YaHei"/>
              </a:rPr>
              <a:t>工具调用发生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38200" y="2657475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读文件、跑命令、开浏览器、查知识库</a:t>
            </a:r>
            <a:endParaRPr/>
          </a:p>
        </p:txBody>
      </p:sp>
      <p:pic>
        <p:nvPicPr>
          <p:cNvPr id="5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771900" y="2581275"/>
            <a:ext cx="381000" cy="152400"/>
          </a:xfrm>
          <a:prstGeom prst="rect">
            <a:avLst/>
          </a:prstGeom>
          <a:ln/>
        </p:spPr>
      </p:pic>
      <p:sp>
        <p:nvSpPr>
          <p:cNvPr id="539" name=""/>
          <p:cNvSpPr/>
          <p:nvPr/>
        </p:nvSpPr>
        <p:spPr>
          <a:xfrm rot="0" flipH="0" flipV="0">
            <a:off x="4152900" y="2305050"/>
            <a:ext cx="3048000" cy="695325"/>
          </a:xfrm>
          <a:prstGeom prst="roundRect">
            <a:avLst>
              <a:gd name="adj" fmla="val 10959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267200" y="2419350"/>
            <a:ext cx="28194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事件落库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267200" y="2657475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调用、参数与结果写入轨迹事件表</a:t>
            </a:r>
            <a:endParaRPr/>
          </a:p>
        </p:txBody>
      </p:sp>
      <p:pic>
        <p:nvPicPr>
          <p:cNvPr id="5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00900" y="2581275"/>
            <a:ext cx="381000" cy="152400"/>
          </a:xfrm>
          <a:prstGeom prst="rect">
            <a:avLst/>
          </a:prstGeom>
          <a:ln/>
        </p:spPr>
      </p:pic>
      <p:sp>
        <p:nvSpPr>
          <p:cNvPr id="543" name=""/>
          <p:cNvSpPr/>
          <p:nvPr/>
        </p:nvSpPr>
        <p:spPr>
          <a:xfrm rot="0" flipH="0" flipV="0">
            <a:off x="7581900" y="2305050"/>
            <a:ext cx="3886200" cy="695325"/>
          </a:xfrm>
          <a:prstGeom prst="roundRect">
            <a:avLst>
              <a:gd name="adj" fmla="val 10959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696200" y="2419350"/>
            <a:ext cx="36576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B45309"/>
                </a:solidFill>
                <a:latin typeface="Microsoft YaHei"/>
                <a:ea typeface="Microsoft YaHei"/>
              </a:rPr>
              <a:t>三种检视视图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696200" y="2657475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调用清单、时间轴、明细与指标条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571500" y="3305175"/>
            <a:ext cx="2638425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95325" y="3429000"/>
            <a:ext cx="23907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自动备份可挂定时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95325" y="3771900"/>
            <a:ext cx="23907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备份作业本身可纳入定时任务周期执行，无需额外运维脚本。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3381375" y="3305175"/>
            <a:ext cx="26289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505200" y="3429000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覆盖控制面与工作区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3505200" y="3771900"/>
            <a:ext cx="2381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支持数据库转储与工作区归档，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场景走专用导出工具。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181725" y="3305175"/>
            <a:ext cx="2638425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305550" y="3429000"/>
            <a:ext cx="23907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升级前一键导出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305550" y="3771900"/>
            <a:ext cx="23907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跨版本升级前可先备份再更新，服务模式下自动重启恢复运行。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8991600" y="3305175"/>
            <a:ext cx="26289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115425" y="3429000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轨迹不只是日志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9115425" y="3771900"/>
            <a:ext cx="2381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可按会话回放完整过程，用于复盘、追责与效果度量。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可回放、可恢复、可解释——这三项能力决定了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能不能真正通过企业的内控与安全评审。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1F3C7A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连接与集成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不是新建孤岛，而是接进既有系统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68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4 · INTEGRATION&lt;/Text&gt;&#13;&#10;            &lt;Box style={{ width: 44, height: 4, borderRadius: 2, background: '#1D4ED8' }} /&gt;&#13;&#10;        &lt;/Box&gt;&#13;&#10;        &lt;Text style={{ fontSize: 34, fontWeight: 'bold', color: '#12275A', marginTop: 16, lineHeight: 1.2 }}&gt;&#13;&#10;            日常在用的系统，开箱就能接&#13;&#10;        &lt;/Text&gt;&#13;&#10;        &lt;Box style={{ height: 1, background: '#E2E8F0', marginTop: 16 }} /&gt;&#13;&#10;&#13;&#10;        &lt;Box style={{ flex: 1, marginTop: 22, flexDirection: 'row', gap: 32 }}&gt;&#13;&#10;            {/* 巨型数字 */}&#13;&#10;            &lt;Box style={{ width: 380, background: '#12275A', borderRadius: 12, padding: 22 }}&gt;&#13;&#10;                &lt;Text style={{ fontSize: 96, fontWeight: 'bold', color: '#F59E0B', lineHeight: 1.05 }}&gt;47&lt;/Text&gt;&#13;&#10;                &lt;Text style={{ fontSize: 21, fontWeight: '600', color: '#FFFFFF', lineHeight: 1.3, marginTop: 4 }}&gt;个企业系统连接器&lt;/Text&gt;&#13;&#10;                &lt;Box style={{ height: 1, background: '#2D4A85', marginTop: 16 }} /&gt;&#13;&#10;                &lt;Text style={{ fontSize: 15, color: '#A9C2E8', lineHeight: 1.5, marginTop: 14 }}&gt;&#13;&#10;                    43 个已可用、4 个即将上线；接入模式为远程 17、网关 16、内建 13、stdio 1。&#13;&#10;                &lt;/Text&gt;&#13;&#10;                &lt;Text style={{ fontSize: 15, color: '#7EA3D6', lineHeight: 1.5, marginTop: 12 }}&gt;&#13;&#10;                    认证覆盖 API Key、OAuth2、个人令牌与自定义字段，授权流程内建。&#13;&#10;                &lt;/Text&gt;&#13;&#10;            &lt;/Box&gt;&#13;&#10;&#13;&#10;            {/* 分类分布 */}&#13;&#10;            &lt;Box style={{ width: 748 }}&gt;&#13;&#10;                &lt;Box style={{ flexDirection: 'row', gap: 12 }}&gt;&#13;&#10;                    &lt;Box style={{ flex: 1, background: '#E8EEFB', borderWidth: 1, borderColor: '#C7D6F5', borderStyle: 'solid', borderRadius: 9, padding: 11 }}&gt;&#13;&#10;                        &lt;Text style={{ fontSize: 16, fontWeight: '600', color: '#12275A', lineHeight: 1.3 }}&gt;办公文档 · 10&lt;/Text&gt;&#13;&#10;                        &lt;Text style={{ fontSize: 14, color: '#64748B', lineHeight: 1.4 }}&gt;腾讯文档 / 会议 / 微云 / 有道 / Notion&lt;/Text&gt;&#13;&#10;                    &lt;/Box&gt;&#13;&#10;                    &lt;Box style={{ flex: 1, background: '#E8EEFB', borderWidth: 1, borderColor: '#C7D6F5', borderStyle: 'solid', borderRadius: 9, padding: 11 }}&gt;&#13;&#10;                        &lt;Text style={{ fontSize: 16, fontWeight: '600', color: '#12275A', lineHeight: 1.3 }}&gt;知识沉淀 · 8&lt;/Text&gt;&#13;&#10;                        &lt;Text style={{ fontSize: 14, color: '#64748B', lineHeight: 1.4 }}&gt;腾讯 IMA / 乐享 / 语雀 / Obsidian&lt;/Text&gt;&#13;&#10;                    &lt;/Box&gt;&#13;&#10;                    &lt;Box style={{ flex: 1, background: '#E8EEFB', borderWidth: 1, borderColor: '#C7D6F5', borderStyle: 'solid', borderRadius: 9, padding: 11 }}&gt;&#13;&#10;                        &lt;Text style={{ fontSize: 16, fontWeight: '600', color: '#12275A', lineHeight: 1.3 }}&gt;效率协作 · 7&lt;/Text&gt;&#13;&#10;                        &lt;Text style={{ fontSize: 14, color: '#64748B', lineHeight: 1.4 }}&gt;邮箱 / 滴答清单 / 办公套件 / 腾讯问卷&lt;/Text&gt;&#13;&#10;                    &lt;/Box&gt;&#13;&#10;                &lt;/Box&gt;&#13;&#10;                &lt;Box style={{ flexDirection: 'row', gap: 12, marginTop: 12 }}&gt;&#13;&#10;                    &lt;Box style={{ flex: 1, background: '#F8FAFC', borderWidth: 1, borderColor: '#E2E8F0', borderStyle: 'solid', borderRadius: 9, padding: 11 }}&gt;&#13;&#10;                        &lt;Text style={{ fontSize: 16, fontWeight: '600', color: '#12275A', lineHeight: 1.3 }}&gt;出行差旅 · 5&lt;/Text&gt;&#13;&#10;                        &lt;Text style={{ fontSize: 14, color: '#64748B', lineHeight: 1.4 }}&gt;飞猪 / 携程 / 美团 / 滴滴 / 百度地图&lt;/Text&gt;&#13;&#10;                    &lt;/Box&gt;&#13;&#10;                    &lt;Box style={{ flex: 1, background: '#F8FAFC', borderWidth: 1, borderColor: '#E2E8F0', borderStyle: 'solid', borderRadius: 9, padding: 11 }}&gt;&#13;&#10;                        &lt;Text style={{ fontSize: 16, fontWeight: '600', color: '#12275A', lineHeight: 1.3 }}&gt;媒体内容 · 4&lt;/Text&gt;&#13;&#10;                        &lt;Text style={{ fontSize: 14, color: '#64748B', lineHeight: 1.4 }}&gt;腾讯新闻 / 微信读书 / QQ 音乐 / RSS&lt;/Text&gt;&#13;&#10;                    &lt;/Box&gt;&#13;&#10;                    &lt;Box style={{ flex: 1, background: '#F8FAFC', borderWidth: 1, borderColor: '#E2E8F0', borderStyle: 'solid', borderRadius: 9, padding: 11 }}&gt;&#13;&#10;                        &lt;Text style={{ fontSize: 16, fontWeight: '600', color: '#12275A', lineHeight: 1.3 }}&gt;研发与项目 · 4&lt;/Text&gt;&#13;&#10;                        &lt;Text style={{ fontSize: 14, color: '#64748B', lineHeight: 1.4 }}&gt;GitHub / Jira / Linear / TAPD&lt;/Text&gt;&#13;&#10;                    &lt;/Box&gt;&#13;&#10;                &lt;/Box&gt;&#13;&#10;                &lt;Box style={{ flexDirection: 'row', gap: 12, marginTop: 12 }}&gt;&#13;&#10;                    &lt;Box style={{ flex: 1, background: '#FFF7E9', borderWidth: 1, borderColor: '#F5D9A4', borderStyle: 'solid', borderRadius: 9, padding: 11 }}&gt;&#13;&#10;                        &lt;Text style={{ fontSize: 16, fontWeight: '600', color: '#12275A', lineHeight: 1.3 }}&gt;专业数据 · 5&lt;/Text&gt;&#13;&#10;                        &lt;Text style={{ fontSize: 14, color: '#64748B', lineHeight: 1.4 }}&gt;企查查 / 天眼查 / 元典 / 法规 / 金融数据&lt;/Text&gt;&#13;&#10;                    &lt;/Box&gt;&#13;&#10;                    &lt;Box style={{ flex: 2, background: '#F4F6FB', borderWidth: 1, borderColor: '#E2E8F0', borderStyle: 'solid', borderRadius: 9, padding: 11 }}&gt;&#13;&#10;                        &lt;Text style={{ fontSize: 16, fontWeight: '600', color: '#12275A', lineHeight: 1.3 }}&gt;自定义 MCP 与内部系统&lt;/Text&gt;&#13;&#10;                        &lt;Text style={{ fontSize: 14, color: '#64748B', lineHeight: 1.4 }}&gt;支持按 MCP 协议登记企业自有服务，内部系统也能成为 Agent 的工具&lt;/Text&gt;&#13;&#10;                    &lt;/Box&gt;&#13;&#10;                &lt;/Box&gt;&#13;&#10;                &lt;Text style={{ fontSize: 16, color: '#475569', lineHeight: 1.5, marginTop: 16 }}&gt;&#13;&#10;                    连接器按 Agent 绑定：客服 Agent 接工单与知识库，研发 Agent 接仓库与项目工具，权限边界随角色走。&#13;&#10;                &lt;/Text&gt;&#13;&#10;            &lt;/Box&gt;&#13;&#10;        &lt;/Box&gt;&#13;&#10;&#13;&#10;        &lt;Box style={{ marginTop: 20, flexDirection: 'row', alignItems: 'center', background: '#F4F6FB', borderRadius: 8, padding: 16, gap: 16 }}&gt;&#13;&#10;            &lt;Box style={{ width: 4, height: 40, borderRadius: 2, background: '#1D4ED8' }} /&gt;&#13;&#10;            &lt;Text style={{ flex: 1, fontSize: 19, color: '#12275A', lineHeight: 1.5 }}&gt;&#13;&#10;                主流办公与业务系统的接入已无需自研——省下的不是几个接口的工作量，而是整套授权、刷新与运维的长期成本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04 · INTEGRATION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日常在用的系统，开箱就能接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571500" y="1752600"/>
            <a:ext cx="3619500" cy="3657600"/>
          </a:xfrm>
          <a:prstGeom prst="roundRect">
            <a:avLst>
              <a:gd name="adj" fmla="val 3158"/>
            </a:avLst>
          </a:prstGeom>
          <a:solidFill>
            <a:srgbClr val="12275A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3200400" cy="1152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200" b="1">
                <a:solidFill>
                  <a:srgbClr val="F59E0B"/>
                </a:solidFill>
                <a:latin typeface="Microsoft YaHei"/>
                <a:ea typeface="Microsoft YaHei"/>
              </a:rPr>
              <a:t>47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81050" y="3152775"/>
            <a:ext cx="32004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个企业系统连接器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781050" y="3619500"/>
            <a:ext cx="32004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81050" y="3762375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43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个已可用、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个即将上线；接入模式为远程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17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、网关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16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、内建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13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stdio 1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81050" y="4391025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认证覆盖</a:t>
            </a:r>
            <a:r>
              <a:rPr lang="en-US" sz="1125">
                <a:solidFill>
                  <a:srgbClr val="7EA3D6"/>
                </a:solidFill>
                <a:latin typeface="Microsoft YaHei"/>
                <a:ea typeface="Microsoft YaHei"/>
              </a:rPr>
              <a:t xml:space="preserve"> API Key</a:t>
            </a: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7EA3D6"/>
                </a:solidFill>
                <a:latin typeface="Microsoft YaHei"/>
                <a:ea typeface="Microsoft YaHei"/>
              </a:rPr>
              <a:t>OAuth2</a:t>
            </a: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、个人令牌与自定义字段，授权流程内建。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4495800" y="1752600"/>
            <a:ext cx="2295525" cy="904875"/>
          </a:xfrm>
          <a:prstGeom prst="roundRect">
            <a:avLst>
              <a:gd name="adj" fmla="val 9474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600575" y="1857375"/>
            <a:ext cx="20859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办公文档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10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600575" y="2095500"/>
            <a:ext cx="20859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腾讯文档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会议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微云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有道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Notion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905625" y="1752600"/>
            <a:ext cx="2305050" cy="904875"/>
          </a:xfrm>
          <a:prstGeom prst="roundRect">
            <a:avLst>
              <a:gd name="adj" fmla="val 9474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010400" y="1857375"/>
            <a:ext cx="20955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知识沉淀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8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010400" y="2095500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腾讯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IMA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乐享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语雀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Obsidian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9324975" y="1752600"/>
            <a:ext cx="2295525" cy="904875"/>
          </a:xfrm>
          <a:prstGeom prst="roundRect">
            <a:avLst>
              <a:gd name="adj" fmla="val 9474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9429750" y="1857375"/>
            <a:ext cx="20859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效率协作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7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9429750" y="2095500"/>
            <a:ext cx="20859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邮箱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滴答清单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办公套件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腾讯问卷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4495800" y="2771775"/>
            <a:ext cx="2295525" cy="904875"/>
          </a:xfrm>
          <a:prstGeom prst="roundRect">
            <a:avLst>
              <a:gd name="adj" fmla="val 94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4600575" y="2876550"/>
            <a:ext cx="20859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出行差旅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5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600575" y="3114675"/>
            <a:ext cx="20859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飞猪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携程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美团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滴滴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百度地图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905625" y="2771775"/>
            <a:ext cx="2305050" cy="904875"/>
          </a:xfrm>
          <a:prstGeom prst="roundRect">
            <a:avLst>
              <a:gd name="adj" fmla="val 94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010400" y="2876550"/>
            <a:ext cx="20955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媒体内容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4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010400" y="3114675"/>
            <a:ext cx="20955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腾讯新闻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微信读书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QQ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音乐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RSS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9324975" y="2771775"/>
            <a:ext cx="2295525" cy="904875"/>
          </a:xfrm>
          <a:prstGeom prst="roundRect">
            <a:avLst>
              <a:gd name="adj" fmla="val 94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9429750" y="2876550"/>
            <a:ext cx="20859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研发与项目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4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9429750" y="3114675"/>
            <a:ext cx="20859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GitHub / Jira / Linear / TAPD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4495800" y="3790950"/>
            <a:ext cx="2333625" cy="904875"/>
          </a:xfrm>
          <a:prstGeom prst="roundRect">
            <a:avLst>
              <a:gd name="adj" fmla="val 9474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600575" y="3895725"/>
            <a:ext cx="21240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专业数据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· 5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4600575" y="4133850"/>
            <a:ext cx="21240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企查查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天眼查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元典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法规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金融数据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943725" y="3790950"/>
            <a:ext cx="4676775" cy="904875"/>
          </a:xfrm>
          <a:prstGeom prst="roundRect">
            <a:avLst>
              <a:gd name="adj" fmla="val 947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048500" y="3895725"/>
            <a:ext cx="44672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自定义</a:t>
            </a:r>
            <a:r>
              <a:rPr lang="en-US" sz="120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与内部系统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048500" y="4133850"/>
            <a:ext cx="44672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支持按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协议登记企业自有服务，内部系统也能成为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的工具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495800" y="4848225"/>
            <a:ext cx="7124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连接器按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绑定：客服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接工单与知识库，研发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接仓库与项目工具，权限边界随角色走。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主流办公与业务系统的接入已无需自研——省下的不是几个接口的工作量，而是整套授权、刷新与运维的长期成本。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6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04 · INTEGRATION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员工不需要学新工具：在已经在用的聊天框里派活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571500" y="1752600"/>
            <a:ext cx="4953000" cy="2724150"/>
          </a:xfrm>
          <a:prstGeom prst="roundRect">
            <a:avLst>
              <a:gd name="adj" fmla="val 41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723900" y="1905000"/>
            <a:ext cx="46482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个</a:t>
            </a:r>
            <a:r>
              <a:rPr lang="en-US" sz="142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IM </a:t>
            </a: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通道，同一条处理管线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723900" y="2324100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314450" y="2419350"/>
            <a:ext cx="3048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飞书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2305050" y="2324100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2895600" y="2419350"/>
            <a:ext cx="3048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钉钉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886200" y="2324100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4324350" y="2419350"/>
            <a:ext cx="6096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企业微信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723900" y="2847975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314450" y="2943225"/>
            <a:ext cx="3048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微信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2305050" y="2847975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2924175" y="2943225"/>
            <a:ext cx="2571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>QQ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886200" y="2847975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4324350" y="2943225"/>
            <a:ext cx="6096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腾讯元宝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723900" y="3371850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133475" y="3467100"/>
            <a:ext cx="6667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>Telegram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2305050" y="3371850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771775" y="3467100"/>
            <a:ext cx="5619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>Discord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3886200" y="3371850"/>
            <a:ext cx="14859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476750" y="3467100"/>
            <a:ext cx="3048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小艺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723900" y="3895725"/>
            <a:ext cx="1514475" cy="428625"/>
          </a:xfrm>
          <a:prstGeom prst="roundRect">
            <a:avLst>
              <a:gd name="adj" fmla="val 17778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90600" y="3990975"/>
            <a:ext cx="9810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>MQTT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2275A"/>
                </a:solidFill>
                <a:latin typeface="Microsoft YaHei"/>
                <a:ea typeface="Microsoft YaHei"/>
              </a:rPr>
              <a:t>IoT</a:t>
            </a:r>
            <a:r>
              <a:rPr lang="zh-CN" sz="1200">
                <a:solidFill>
                  <a:srgbClr val="12275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2333625" y="3895725"/>
            <a:ext cx="3038475" cy="428625"/>
          </a:xfrm>
          <a:prstGeom prst="roundRect">
            <a:avLst>
              <a:gd name="adj" fmla="val 17778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3171825" y="3990975"/>
            <a:ext cx="13716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插件可扩展更多通道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5829300" y="1752600"/>
            <a:ext cx="5791200" cy="790575"/>
          </a:xfrm>
          <a:custGeom>
            <a:pathLst>
              <a:path w="608" h="83">
                <a:moveTo>
                  <a:pt x="0" y="82"/>
                </a:moveTo>
                <a:lnTo>
                  <a:pt x="608" y="82"/>
                </a:lnTo>
                <a:lnTo>
                  <a:pt x="608" y="83"/>
                </a:lnTo>
                <a:lnTo>
                  <a:pt x="0" y="83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829300" y="1752600"/>
            <a:ext cx="57912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接入方式：扫码或机器人自助创建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829300" y="2143125"/>
            <a:ext cx="579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主流平台支持扫码绑定与机器人自助创建。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5829300" y="2533650"/>
            <a:ext cx="5791200" cy="923925"/>
          </a:xfrm>
          <a:custGeom>
            <a:pathLst>
              <a:path w="608" h="97">
                <a:moveTo>
                  <a:pt x="0" y="96"/>
                </a:moveTo>
                <a:lnTo>
                  <a:pt x="608" y="96"/>
                </a:lnTo>
                <a:lnTo>
                  <a:pt x="608" y="97"/>
                </a:ln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5829300" y="2667000"/>
            <a:ext cx="57912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群里也能用：单聊与群聊分别成会话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829300" y="3057525"/>
            <a:ext cx="579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会话键按平台区分，群聊上下文不会串到私聊。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5829300" y="3448050"/>
            <a:ext cx="5791200" cy="923925"/>
          </a:xfrm>
          <a:custGeom>
            <a:pathLst>
              <a:path w="608" h="97">
                <a:moveTo>
                  <a:pt x="0" y="96"/>
                </a:moveTo>
                <a:lnTo>
                  <a:pt x="608" y="96"/>
                </a:lnTo>
                <a:lnTo>
                  <a:pt x="608" y="97"/>
                </a:ln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>
            <a:pPr/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829300" y="3581400"/>
            <a:ext cx="57912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主动触达：不只是被动应答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5829300" y="3971925"/>
            <a:ext cx="579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定时任务与主动关怀可把日报与预警推到指定会话。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5829300" y="4467225"/>
            <a:ext cx="57912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2275A"/>
                </a:solidFill>
                <a:latin typeface="Microsoft YaHei"/>
                <a:ea typeface="Microsoft YaHei"/>
              </a:rPr>
              <a:t>边界说明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5829300" y="4857750"/>
            <a:ext cx="579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未提供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WhatsApp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Teams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通道；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Slack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为连接器。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推广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最大的成本往往不是技术，而是改变人的习惯——把它放进现有的协作工具里，这一步就省掉了。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7EA3D6"/>
                </a:solidFill>
                <a:latin typeface="Microsoft YaHei"/>
                <a:ea typeface="Microsoft YaHei"/>
              </a:rPr>
              <a:t>04 · INTEGRATION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既是对等协作者，也是被调用的服务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1E3C82"/>
          </a:solidFill>
          <a:ln/>
        </p:spPr>
        <p:txBody>
          <a:bodyPr/>
          <a:p>
            <a:pPr/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571500" y="1752600"/>
            <a:ext cx="4343400" cy="3676650"/>
          </a:xfrm>
          <a:prstGeom prst="roundRect">
            <a:avLst>
              <a:gd name="adj" fmla="val 3109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42950" y="1924050"/>
            <a:ext cx="40005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06B6D4"/>
                </a:solidFill>
                <a:latin typeface="Microsoft YaHei"/>
                <a:ea typeface="Microsoft YaHei"/>
              </a:rPr>
              <a:t>我们调用外部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742950" y="231457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AB4DB"/>
                </a:solidFill>
                <a:latin typeface="Microsoft YaHei"/>
                <a:ea typeface="Microsoft YaHei"/>
              </a:rPr>
              <a:t>把任务交给更合适的工具完成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742950" y="2705100"/>
            <a:ext cx="40005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42950" y="284797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ACP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出站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581150" y="284797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把编码任务委派给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OpenCode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CodeBuddy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Claude Code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Codex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等外部编程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42950" y="347662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出站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581150" y="347662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作为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客户端连接外部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服务，完整支持会话协商与协议版本。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42950" y="410527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权限协商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581150" y="410527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外部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请求权限时回传至本平台审批链路，由同一套策略决定放行。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381625" y="25908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734050" y="3019425"/>
            <a:ext cx="723900" cy="57150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云顶数字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工作台</a:t>
            </a:r>
            <a:endParaRPr/>
          </a:p>
        </p:txBody>
      </p:sp>
      <p:pic>
        <p:nvPicPr>
          <p:cNvPr id="6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62625" y="4152900"/>
            <a:ext cx="285750" cy="133350"/>
          </a:xfrm>
          <a:prstGeom prst="rect">
            <a:avLst/>
          </a:prstGeom>
          <a:ln/>
        </p:spPr>
      </p:pic>
      <p:pic>
        <p:nvPicPr>
          <p:cNvPr id="6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143625" y="4152900"/>
            <a:ext cx="285750" cy="133350"/>
          </a:xfrm>
          <a:prstGeom prst="rect">
            <a:avLst/>
          </a:prstGeom>
          <a:ln/>
        </p:spPr>
      </p:pic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5829300" y="4362450"/>
            <a:ext cx="5334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双向协议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7277100" y="1752600"/>
            <a:ext cx="4343400" cy="3676650"/>
          </a:xfrm>
          <a:prstGeom prst="roundRect">
            <a:avLst>
              <a:gd name="adj" fmla="val 3109"/>
            </a:avLst>
          </a:prstGeom>
          <a:solidFill>
            <a:srgbClr val="17305F"/>
          </a:solidFill>
          <a:ln w="12700">
            <a:solidFill>
              <a:srgbClr val="2D4A8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448550" y="1924050"/>
            <a:ext cx="40005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59E0B"/>
                </a:solidFill>
                <a:latin typeface="Microsoft YaHei"/>
                <a:ea typeface="Microsoft YaHei"/>
              </a:rPr>
              <a:t>外部调用我们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448550" y="231457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AB4DB"/>
                </a:solidFill>
                <a:latin typeface="Microsoft YaHei"/>
                <a:ea typeface="Microsoft YaHei"/>
              </a:rPr>
              <a:t>让既有工具链直接用上本平台能力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7448550" y="2705100"/>
            <a:ext cx="40005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448550" y="284797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ACP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入站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286750" y="284797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一条命令对外提供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stdio ACP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服务，供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Zed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OpenCode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等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IDE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与终端工具直接使用。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448550" y="347662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入站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286750" y="347662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把已配置的专家对外暴露为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工具，其他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可直接调用企业内的专家。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448550" y="4105275"/>
            <a:ext cx="723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开放接口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286750" y="4105275"/>
            <a:ext cx="316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55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组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REST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路由、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WebSocket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SSE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事件流，供程序化集成。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E3C82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04850" y="57340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95350" y="5791200"/>
            <a:ext cx="10591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E6EEFA"/>
                </a:solidFill>
                <a:latin typeface="Microsoft YaHei"/>
                <a:ea typeface="Microsoft YaHei"/>
              </a:rPr>
              <a:t>开放意味着不被绑定：企业可以把本平台接进现有工具链，也可以在更好的工具出现时把任务委派出去。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6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04 · INTEGRATION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换模型是配置项，不是一个重构项目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571500" y="1752600"/>
            <a:ext cx="4572000" cy="3657600"/>
          </a:xfrm>
          <a:prstGeom prst="roundRect">
            <a:avLst>
              <a:gd name="adj" fmla="val 3125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62000" y="1943100"/>
            <a:ext cx="809625" cy="7239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500" b="1">
                <a:solidFill>
                  <a:srgbClr val="F59E0B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762000" y="2686050"/>
            <a:ext cx="80962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A9C2E8"/>
                </a:solidFill>
                <a:latin typeface="Microsoft YaHei"/>
                <a:ea typeface="Microsoft YaHei"/>
              </a:rPr>
              <a:t>供应商模板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762125" y="1943100"/>
            <a:ext cx="1066800" cy="7239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500" b="1">
                <a:solidFill>
                  <a:srgbClr val="FFFFFF"/>
                </a:solidFill>
                <a:latin typeface="Microsoft YaHei"/>
                <a:ea typeface="Microsoft YaHei"/>
              </a:rPr>
              <a:t>390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762125" y="2686050"/>
            <a:ext cx="10668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A9C2E8"/>
                </a:solidFill>
                <a:latin typeface="Microsoft YaHei"/>
                <a:ea typeface="Microsoft YaHei"/>
              </a:rPr>
              <a:t>内置模型条目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762000" y="3114675"/>
            <a:ext cx="41910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62000" y="3257550"/>
            <a:ext cx="41910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已覆盖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 xml:space="preserve"> OpenAI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Anthropic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Gemini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Groq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DeepSeek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DashScope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（含国际与美国站）、智谱、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Moonshot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>MiniMax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、火山引擎、硅基流动、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 xml:space="preserve">ModelScope 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等。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62000" y="4124325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逐模型适配推理强度档位，并内置故障转移与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配额中间件。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5314950" y="1752600"/>
            <a:ext cx="3619500" cy="3657600"/>
          </a:xfrm>
          <a:prstGeom prst="roundRect">
            <a:avLst>
              <a:gd name="adj" fmla="val 3158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505450" y="1943100"/>
            <a:ext cx="32385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1D4ED8"/>
                </a:solidFill>
                <a:latin typeface="Microsoft YaHei"/>
                <a:ea typeface="Microsoft YaHei"/>
              </a:rPr>
              <a:t>37/40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5505450" y="2628900"/>
            <a:ext cx="3238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为</a:t>
            </a:r>
            <a:r>
              <a:rPr lang="en-US" sz="142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兼容协议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5505450" y="302895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任何提供兼容端点的服务商——包括企业自建网关与私有化部署的模型——都能直接登记使用。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5505450" y="3676650"/>
            <a:ext cx="32385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>
            <a:pPr/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5505450" y="3800475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支持按实例、按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、按线程、按单轮四个层级选择模型，成本与效果分别调优。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9105900" y="1752600"/>
            <a:ext cx="2514600" cy="3657600"/>
          </a:xfrm>
          <a:prstGeom prst="roundRect">
            <a:avLst>
              <a:gd name="adj" fmla="val 4545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9277350" y="1924050"/>
            <a:ext cx="2171700" cy="533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3300" b="1">
                <a:solidFill>
                  <a:srgbClr val="0891B2"/>
                </a:solidFill>
                <a:latin typeface="Microsoft YaHei"/>
                <a:ea typeface="Microsoft YaHei"/>
              </a:rPr>
              <a:t>本地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9277350" y="2514600"/>
            <a:ext cx="2171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推理与向量化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9277350" y="2914650"/>
            <a:ext cx="2171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Ollama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本地模型管理，配合本地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ONNX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向量模型，敏感场景可完全离线运行。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9277350" y="3800475"/>
            <a:ext cx="2171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推理强度与采样参数可按专家单独配置。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模型迭代速度远快于企业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周期——把模型选择做成运行时配置，才能在不改业务的前提下持续换更好的脑子。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1F3C7A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落地与保障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从一条命令开始，到全公司持续运行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7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控制面与数据面分离：规模变了，不用换产品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571500" y="1752600"/>
            <a:ext cx="1428750" cy="1323975"/>
          </a:xfrm>
          <a:prstGeom prst="roundRect">
            <a:avLst>
              <a:gd name="adj" fmla="val 7194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04850" y="2143125"/>
            <a:ext cx="11620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控制面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1620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7EA3D6"/>
                </a:solidFill>
                <a:latin typeface="Microsoft YaHei"/>
                <a:ea typeface="Microsoft YaHei"/>
              </a:rPr>
              <a:t>账号与配置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2190750" y="1752600"/>
            <a:ext cx="9429750" cy="1323975"/>
          </a:xfrm>
          <a:prstGeom prst="roundRect">
            <a:avLst>
              <a:gd name="adj" fmla="val 71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2324100" y="1885950"/>
            <a:ext cx="4514850" cy="695325"/>
          </a:xfrm>
          <a:prstGeom prst="roundRect">
            <a:avLst>
              <a:gd name="adj" fmla="val 1095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2428875" y="1990725"/>
            <a:ext cx="43053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>SQLite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（默认）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2428875" y="224790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WAL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模式，单机即可跑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6972300" y="1885950"/>
            <a:ext cx="4514850" cy="695325"/>
          </a:xfrm>
          <a:prstGeom prst="roundRect">
            <a:avLst>
              <a:gd name="adj" fmla="val 1095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077075" y="1990725"/>
            <a:ext cx="43053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>PostgreSQL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（可选）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7077075" y="224790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连接池与高并发行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2324100" y="2686050"/>
            <a:ext cx="9163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21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个版本化迁移，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SQLite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PostgreSQL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双份脚本同步演进——从单机试点升级到集中部署，数据结构无需推倒重来。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571500" y="3228975"/>
            <a:ext cx="1428750" cy="15621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04850" y="3733800"/>
            <a:ext cx="11620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数据面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04850" y="4057650"/>
            <a:ext cx="11620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CBD9F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CBD9F0"/>
                </a:solidFill>
                <a:latin typeface="Microsoft YaHei"/>
                <a:ea typeface="Microsoft YaHei"/>
              </a:rPr>
              <a:t>工作区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2190750" y="3228975"/>
            <a:ext cx="9429750" cy="1562100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2324100" y="336232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3152775" y="34575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12275A"/>
                </a:solidFill>
                <a:latin typeface="Microsoft YaHei"/>
                <a:ea typeface="Microsoft YaHei"/>
              </a:rPr>
              <a:t>本地磁盘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4638675" y="336232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5343525" y="3457575"/>
            <a:ext cx="8191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 xml:space="preserve">Docker </a:t>
            </a:r>
            <a:r>
              <a:rPr lang="zh-CN" sz="1125">
                <a:solidFill>
                  <a:srgbClr val="12275A"/>
                </a:solidFill>
                <a:latin typeface="Microsoft YaHei"/>
                <a:ea typeface="Microsoft YaHei"/>
              </a:rPr>
              <a:t>沙箱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6953250" y="336232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7581900" y="3457575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>OpenSandbox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9267825" y="336232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9982200" y="3457575"/>
            <a:ext cx="79057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>PostgreSQL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2324100" y="387667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048000" y="3971925"/>
            <a:ext cx="7715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12275A"/>
                </a:solidFill>
                <a:latin typeface="Microsoft YaHei"/>
                <a:ea typeface="Microsoft YaHei"/>
              </a:rPr>
              <a:t>腾讯云</a:t>
            </a: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 xml:space="preserve"> COS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4638675" y="387667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372100" y="3971925"/>
            <a:ext cx="75247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12275A"/>
                </a:solidFill>
                <a:latin typeface="Microsoft YaHei"/>
                <a:ea typeface="Microsoft YaHei"/>
              </a:rPr>
              <a:t>阿里云</a:t>
            </a: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 xml:space="preserve"> OSS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6953250" y="387667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7686675" y="39719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12275A"/>
                </a:solidFill>
                <a:latin typeface="Microsoft YaHei"/>
                <a:ea typeface="Microsoft YaHei"/>
              </a:rPr>
              <a:t>华为云</a:t>
            </a: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 xml:space="preserve"> OBS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9267825" y="3876675"/>
            <a:ext cx="2219325" cy="419100"/>
          </a:xfrm>
          <a:prstGeom prst="roundRect">
            <a:avLst>
              <a:gd name="adj" fmla="val 18182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10134600" y="3971925"/>
            <a:ext cx="4953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12275A"/>
                </a:solidFill>
                <a:latin typeface="Microsoft YaHei"/>
                <a:ea typeface="Microsoft YaHei"/>
              </a:rPr>
              <a:t>通用</a:t>
            </a:r>
            <a:r>
              <a:rPr lang="en-US" sz="1125">
                <a:solidFill>
                  <a:srgbClr val="12275A"/>
                </a:solidFill>
                <a:latin typeface="Microsoft YaHei"/>
                <a:ea typeface="Microsoft YaHei"/>
              </a:rPr>
              <a:t xml:space="preserve"> S3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2324100" y="4400550"/>
            <a:ext cx="9163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工作区文件不直接落控制面：可以留在本地、放进沙箱，也可以托管到企业已有的对象存储，合规策略随存储位置走。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今天一台笔记本跑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 SQLite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，明天一台服务器跑</a:t>
            </a:r>
            <a:r>
              <a:rPr lang="en-US" sz="1425">
                <a:solidFill>
                  <a:srgbClr val="12275A"/>
                </a:solidFill>
                <a:latin typeface="Microsoft YaHei"/>
                <a:ea typeface="Microsoft YaHei"/>
              </a:rPr>
              <a:t xml:space="preserve"> PostgreSQL </a:t>
            </a: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加对象存储——产品形态不变，运维复杂度才可控。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7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从一台笔记本到一台</a:t>
            </a:r>
            <a:r>
              <a:rPr lang="en-US" sz="25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NAS</a:t>
            </a: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，都有对应的跑法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571500" y="3962400"/>
            <a:ext cx="2057400" cy="1447800"/>
          </a:xfrm>
          <a:prstGeom prst="roundRect">
            <a:avLst>
              <a:gd name="adj" fmla="val 657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04850" y="4095750"/>
            <a:ext cx="17907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方式一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704850" y="4381500"/>
            <a:ext cx="1790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一键脚本安装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04850" y="4743450"/>
            <a:ext cx="1790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Linux / macOS / Windows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各自一条命令，自动创建隔离的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Python 3.12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环境。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2819400" y="3581400"/>
            <a:ext cx="2057400" cy="1828800"/>
          </a:xfrm>
          <a:prstGeom prst="roundRect">
            <a:avLst>
              <a:gd name="adj" fmla="val 5208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2952750" y="3714750"/>
            <a:ext cx="17907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方式二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2952750" y="4000500"/>
            <a:ext cx="1790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12275A"/>
                </a:solidFill>
                <a:latin typeface="Microsoft YaHei"/>
                <a:ea typeface="Microsoft YaHei"/>
              </a:rPr>
              <a:t>Docker Compose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2952750" y="4362450"/>
            <a:ext cx="17907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官方编排文件开箱可用，另有国内镜像加速版与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PostgreSQL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版，生产环境推荐。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5067300" y="3200400"/>
            <a:ext cx="2057400" cy="2209800"/>
          </a:xfrm>
          <a:prstGeom prst="roundRect">
            <a:avLst>
              <a:gd name="adj" fmla="val 4630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200650" y="3333750"/>
            <a:ext cx="17907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方式三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5200650" y="3619500"/>
            <a:ext cx="1790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注册为系统服务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200650" y="3981450"/>
            <a:ext cx="17907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支持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systemd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launchd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Windows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服务，开机自启；内置自更新，升级后自动重启恢复。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7315200" y="2819400"/>
            <a:ext cx="2057400" cy="2590800"/>
          </a:xfrm>
          <a:prstGeom prst="roundRect">
            <a:avLst>
              <a:gd name="adj" fmla="val 463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7448550" y="2952750"/>
            <a:ext cx="17907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7EA3D6"/>
                </a:solidFill>
                <a:latin typeface="Microsoft YaHei"/>
                <a:ea typeface="Microsoft YaHei"/>
              </a:rPr>
              <a:t>方式四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448550" y="3238500"/>
            <a:ext cx="1790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桌面客户端与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NAS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7448550" y="3600450"/>
            <a:ext cx="17907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A9C2E8"/>
                </a:solidFill>
                <a:latin typeface="Microsoft YaHei"/>
                <a:ea typeface="Microsoft YaHei"/>
              </a:rPr>
              <a:t xml:space="preserve">Windows / macOS / Linux </a:t>
            </a: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原生安装包，飞牛</a:t>
            </a:r>
            <a:r>
              <a:rPr lang="en-US" sz="1050">
                <a:solidFill>
                  <a:srgbClr val="A9C2E8"/>
                </a:solidFill>
                <a:latin typeface="Microsoft YaHei"/>
                <a:ea typeface="Microsoft YaHei"/>
              </a:rPr>
              <a:t xml:space="preserve"> FnOS </a:t>
            </a: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另提供原生与容器两种包；图形界面即可完成安装，不需要终端。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9563100" y="2514600"/>
            <a:ext cx="2057400" cy="2895600"/>
          </a:xfrm>
          <a:prstGeom prst="roundRect">
            <a:avLst>
              <a:gd name="adj" fmla="val 4630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9696450" y="2647950"/>
            <a:ext cx="17907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方式五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9696450" y="2933700"/>
            <a:ext cx="1790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随时随地的访问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9696450" y="3295650"/>
            <a:ext cx="17907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控制台支持</a:t>
            </a:r>
            <a:r>
              <a:rPr lang="en-US" sz="1050">
                <a:solidFill>
                  <a:srgbClr val="92400E"/>
                </a:solidFill>
                <a:latin typeface="Microsoft YaHei"/>
                <a:ea typeface="Microsoft YaHei"/>
              </a:rPr>
              <a:t xml:space="preserve"> PWA </a:t>
            </a: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安装与移动端适配，配合内建</a:t>
            </a:r>
            <a:r>
              <a:rPr lang="en-US" sz="1050">
                <a:solidFill>
                  <a:srgbClr val="92400E"/>
                </a:solidFill>
                <a:latin typeface="Microsoft YaHei"/>
                <a:ea typeface="Microsoft YaHei"/>
              </a:rPr>
              <a:t xml:space="preserve"> ACME </a:t>
            </a: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自动签发证书，可安全地对外提供</a:t>
            </a:r>
            <a:r>
              <a:rPr lang="en-US" sz="1050">
                <a:solidFill>
                  <a:srgbClr val="92400E"/>
                </a:solidFill>
                <a:latin typeface="Microsoft YaHei"/>
                <a:ea typeface="Microsoft YaHei"/>
              </a:rPr>
              <a:t xml:space="preserve"> HTTPS </a:t>
            </a: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访问。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上线路径不依赖任何云厂商：试点可以在一台电脑上完成，规模扩大时再迁到容器与集群，配置与数据可平滑带走。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7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交付的不是演示界面，而是工程化打磨的操作台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571500" y="1752600"/>
            <a:ext cx="7239000" cy="3009900"/>
          </a:xfrm>
          <a:prstGeom prst="roundRect">
            <a:avLst>
              <a:gd name="adj" fmla="val 37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69723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控制台四个分区，约</a:t>
            </a:r>
            <a:r>
              <a:rPr lang="en-US" sz="1350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个一级页面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704850" y="2276475"/>
            <a:ext cx="1676400" cy="819150"/>
          </a:xfrm>
          <a:prstGeom prst="roundRect">
            <a:avLst>
              <a:gd name="adj" fmla="val 9302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800100" y="2371725"/>
            <a:ext cx="14859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 b="1">
                <a:solidFill>
                  <a:srgbClr val="1D4ED8"/>
                </a:solidFill>
                <a:latin typeface="Microsoft YaHei"/>
                <a:ea typeface="Microsoft YaHei"/>
              </a:rPr>
              <a:t>常用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800100" y="2581275"/>
            <a:ext cx="1485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对话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专家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定时任务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Token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用量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2476500" y="2276475"/>
            <a:ext cx="16668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2571750" y="2371725"/>
            <a:ext cx="14763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 b="1">
                <a:solidFill>
                  <a:srgbClr val="1D4ED8"/>
                </a:solidFill>
                <a:latin typeface="Microsoft YaHei"/>
                <a:ea typeface="Microsoft YaHei"/>
              </a:rPr>
              <a:t>个性化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2571750" y="2581275"/>
            <a:ext cx="14763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技能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子智能体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工具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插件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记忆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通道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4238625" y="2276475"/>
            <a:ext cx="16764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4333875" y="2371725"/>
            <a:ext cx="14859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 b="1">
                <a:solidFill>
                  <a:srgbClr val="1D4ED8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4333875" y="2581275"/>
            <a:ext cx="14859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工作台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终端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浏览器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远程桌面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ACP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6010275" y="2276475"/>
            <a:ext cx="16668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6105525" y="2371725"/>
            <a:ext cx="14763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 b="1">
                <a:solidFill>
                  <a:srgbClr val="1D4ED8"/>
                </a:solidFill>
                <a:latin typeface="Microsoft YaHei"/>
                <a:ea typeface="Microsoft YaHei"/>
              </a:rPr>
              <a:t>管理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105525" y="2581275"/>
            <a:ext cx="14763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用户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模型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存储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安全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高级设置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704850" y="3209925"/>
            <a:ext cx="69723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04850" y="3333750"/>
            <a:ext cx="69723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2275A"/>
                </a:solidFill>
                <a:latin typeface="Microsoft YaHei"/>
                <a:ea typeface="Microsoft YaHei"/>
              </a:rPr>
              <a:t>对话区能承载的内容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704850" y="3667125"/>
            <a:ext cx="628650" cy="333375"/>
          </a:xfrm>
          <a:prstGeom prst="roundRect">
            <a:avLst>
              <a:gd name="adj" fmla="val 17143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771525" y="37338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推理过程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1409700" y="3667125"/>
            <a:ext cx="752475" cy="333375"/>
          </a:xfrm>
          <a:prstGeom prst="roundRect">
            <a:avLst>
              <a:gd name="adj" fmla="val 17143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1476375" y="3733800"/>
            <a:ext cx="61912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2275A"/>
                </a:solidFill>
                <a:latin typeface="Microsoft YaHei"/>
                <a:ea typeface="Microsoft YaHei"/>
              </a:rPr>
              <a:t>工具调用卡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2238375" y="3667125"/>
            <a:ext cx="504825" cy="333375"/>
          </a:xfrm>
          <a:prstGeom prst="roundRect">
            <a:avLst>
              <a:gd name="adj" fmla="val 17143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2305050" y="3733800"/>
            <a:ext cx="3714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2275A"/>
                </a:solidFill>
                <a:latin typeface="Microsoft YaHei"/>
                <a:ea typeface="Microsoft YaHei"/>
              </a:rPr>
              <a:t>审批卡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2819400" y="3667125"/>
            <a:ext cx="628650" cy="333375"/>
          </a:xfrm>
          <a:prstGeom prst="roundRect">
            <a:avLst>
              <a:gd name="adj" fmla="val 17143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2886075" y="37338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2275A"/>
                </a:solidFill>
                <a:latin typeface="Microsoft YaHei"/>
                <a:ea typeface="Microsoft YaHei"/>
              </a:rPr>
              <a:t>待办清单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3524250" y="3667125"/>
            <a:ext cx="628650" cy="333375"/>
          </a:xfrm>
          <a:prstGeom prst="roundRect">
            <a:avLst>
              <a:gd name="adj" fmla="val 17143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3590925" y="37338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2275A"/>
                </a:solidFill>
                <a:latin typeface="Microsoft YaHei"/>
                <a:ea typeface="Microsoft YaHei"/>
              </a:rPr>
              <a:t>引用溯源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4229100" y="3667125"/>
            <a:ext cx="1066800" cy="333375"/>
          </a:xfrm>
          <a:prstGeom prst="roundRect">
            <a:avLst>
              <a:gd name="adj" fmla="val 17143"/>
            </a:avLst>
          </a:prstGeom>
          <a:solidFill>
            <a:srgbClr val="E8EE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4295775" y="3733800"/>
            <a:ext cx="93345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12275A"/>
                </a:solidFill>
                <a:latin typeface="Microsoft YaHei"/>
                <a:ea typeface="Microsoft YaHei"/>
              </a:rPr>
              <a:t>多</a:t>
            </a:r>
            <a:r>
              <a:rPr lang="en-US" sz="975">
                <a:solidFill>
                  <a:srgbClr val="12275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12275A"/>
                </a:solidFill>
                <a:latin typeface="Microsoft YaHei"/>
                <a:ea typeface="Microsoft YaHei"/>
              </a:rPr>
              <a:t>分角色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5372100" y="3667125"/>
            <a:ext cx="628650" cy="333375"/>
          </a:xfrm>
          <a:prstGeom prst="roundRect">
            <a:avLst>
              <a:gd name="adj" fmla="val 17143"/>
            </a:avLst>
          </a:prstGeom>
          <a:solidFill>
            <a:srgbClr val="FFF7E9"/>
          </a:solidFill>
          <a:ln/>
        </p:spPr>
        <p:txBody>
          <a:bodyPr/>
          <a:p>
            <a:pPr/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5438775" y="37338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B45309"/>
                </a:solidFill>
                <a:latin typeface="Microsoft YaHei"/>
                <a:ea typeface="Microsoft YaHei"/>
              </a:rPr>
              <a:t>轨迹检视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704850" y="4114800"/>
            <a:ext cx="6972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对话基于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WebSocket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双向流式，随时可停止、可中途插话；支持明暗主题、中英双语、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PWA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安装与移动端适配。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8077200" y="1752600"/>
            <a:ext cx="3543300" cy="2247900"/>
          </a:xfrm>
          <a:prstGeom prst="roundRect">
            <a:avLst>
              <a:gd name="adj" fmla="val 5085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8248650" y="192405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前端工程规模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8248650" y="2228850"/>
            <a:ext cx="32004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200,684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248650" y="2733675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CBD9F0"/>
                </a:solidFill>
                <a:latin typeface="Microsoft YaHei"/>
                <a:ea typeface="Microsoft YaHei"/>
              </a:rPr>
              <a:t>行</a:t>
            </a:r>
            <a:r>
              <a:rPr lang="en-US" sz="1125">
                <a:solidFill>
                  <a:srgbClr val="CBD9F0"/>
                </a:solidFill>
                <a:latin typeface="Microsoft YaHei"/>
                <a:ea typeface="Microsoft YaHei"/>
              </a:rPr>
              <a:t xml:space="preserve"> TypeScript / TSX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8248650" y="3114675"/>
            <a:ext cx="32004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248650" y="3238500"/>
            <a:ext cx="1600200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1,033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8248650" y="360045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源文件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9848850" y="3238500"/>
            <a:ext cx="1600200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267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9848850" y="360045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测试文件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8077200" y="4133850"/>
            <a:ext cx="3543300" cy="1095375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2766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React 18 + TypeScript 5.8 + Vite 6 + Ant Design 5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，构建产物随安装包一并分发，无需单独部署前端。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评估一套平台时，界面往往是最诚实的证据：功能是否真的可用、过程是否真的可控，打开控制台就看得出来。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场景一｜智能客服：答复有出处，背景记得住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571500" y="1733550"/>
            <a:ext cx="2019300" cy="1647825"/>
          </a:xfrm>
          <a:prstGeom prst="roundRect">
            <a:avLst>
              <a:gd name="adj" fmla="val 5780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95325" y="18573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695325" y="2133600"/>
            <a:ext cx="17716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客户提问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695325" y="2486025"/>
            <a:ext cx="17716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问题从企业微信、飞书或钉钉进入，与控制台共用同一条管线。</a:t>
            </a:r>
            <a:endParaRPr/>
          </a:p>
        </p:txBody>
      </p:sp>
      <p:pic>
        <p:nvPicPr>
          <p:cNvPr id="8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581275" y="2476500"/>
            <a:ext cx="247650" cy="171450"/>
          </a:xfrm>
          <a:prstGeom prst="rect">
            <a:avLst/>
          </a:prstGeom>
          <a:ln/>
        </p:spPr>
      </p:pic>
      <p:sp>
        <p:nvSpPr>
          <p:cNvPr id="860" name=""/>
          <p:cNvSpPr/>
          <p:nvPr/>
        </p:nvSpPr>
        <p:spPr>
          <a:xfrm rot="0" flipH="0" flipV="0">
            <a:off x="2828925" y="1733550"/>
            <a:ext cx="2019300" cy="1647825"/>
          </a:xfrm>
          <a:prstGeom prst="roundRect">
            <a:avLst>
              <a:gd name="adj" fmla="val 5780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2952750" y="18573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7EA3D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2952750" y="2133600"/>
            <a:ext cx="17716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知识库检索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2952750" y="2486025"/>
            <a:ext cx="17716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在私有文档中检索相关片段，答案附带来源标记可回溯。</a:t>
            </a:r>
            <a:endParaRPr/>
          </a:p>
        </p:txBody>
      </p:sp>
      <p:pic>
        <p:nvPicPr>
          <p:cNvPr id="8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38700" y="2476500"/>
            <a:ext cx="247650" cy="171450"/>
          </a:xfrm>
          <a:prstGeom prst="rect">
            <a:avLst/>
          </a:prstGeom>
          <a:ln/>
        </p:spPr>
      </p:pic>
      <p:sp>
        <p:nvSpPr>
          <p:cNvPr id="865" name=""/>
          <p:cNvSpPr/>
          <p:nvPr/>
        </p:nvSpPr>
        <p:spPr>
          <a:xfrm rot="0" flipH="0" flipV="0">
            <a:off x="5086350" y="1733550"/>
            <a:ext cx="2019300" cy="1647825"/>
          </a:xfrm>
          <a:prstGeom prst="roundRect">
            <a:avLst>
              <a:gd name="adj" fmla="val 5780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5210175" y="18573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5210175" y="2133600"/>
            <a:ext cx="17716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带出处作答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5210175" y="248602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答案直接回传原会话，客户与坐席都能看到引用来源。</a:t>
            </a:r>
            <a:endParaRPr/>
          </a:p>
        </p:txBody>
      </p:sp>
      <p:pic>
        <p:nvPicPr>
          <p:cNvPr id="8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105650" y="2476500"/>
            <a:ext cx="247650" cy="171450"/>
          </a:xfrm>
          <a:prstGeom prst="rect">
            <a:avLst/>
          </a:prstGeom>
          <a:ln/>
        </p:spPr>
      </p:pic>
      <p:sp>
        <p:nvSpPr>
          <p:cNvPr id="870" name=""/>
          <p:cNvSpPr/>
          <p:nvPr/>
        </p:nvSpPr>
        <p:spPr>
          <a:xfrm rot="0" flipH="0" flipV="0">
            <a:off x="7353300" y="1733550"/>
            <a:ext cx="2019300" cy="1647825"/>
          </a:xfrm>
          <a:prstGeom prst="roundRect">
            <a:avLst>
              <a:gd name="adj" fmla="val 5780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7477125" y="18573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7477125" y="2133600"/>
            <a:ext cx="17716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不知则转人工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477125" y="2486025"/>
            <a:ext cx="17716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缺信息时主动反问，超范围时升级人工并保留完整上下文。</a:t>
            </a:r>
            <a:endParaRPr/>
          </a:p>
        </p:txBody>
      </p:sp>
      <p:pic>
        <p:nvPicPr>
          <p:cNvPr id="8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363075" y="2476500"/>
            <a:ext cx="247650" cy="171450"/>
          </a:xfrm>
          <a:prstGeom prst="rect">
            <a:avLst/>
          </a:prstGeom>
          <a:ln/>
        </p:spPr>
      </p:pic>
      <p:sp>
        <p:nvSpPr>
          <p:cNvPr id="875" name=""/>
          <p:cNvSpPr/>
          <p:nvPr/>
        </p:nvSpPr>
        <p:spPr>
          <a:xfrm rot="0" flipH="0" flipV="0">
            <a:off x="9610725" y="1733550"/>
            <a:ext cx="2019300" cy="1647825"/>
          </a:xfrm>
          <a:prstGeom prst="roundRect">
            <a:avLst>
              <a:gd name="adj" fmla="val 5780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9734550" y="185737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9734550" y="2133600"/>
            <a:ext cx="17716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2275A"/>
                </a:solidFill>
                <a:latin typeface="Microsoft YaHei"/>
                <a:ea typeface="Microsoft YaHei"/>
              </a:rPr>
              <a:t>沉淀为记忆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9734550" y="248602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本次结论进入长期记忆，下次不必重讲背景。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571500" y="3590925"/>
            <a:ext cx="2619375" cy="1409700"/>
          </a:xfrm>
          <a:prstGeom prst="roundRect">
            <a:avLst>
              <a:gd name="adj" fmla="val 6757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714375" y="37338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减少来回切换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714375" y="4086225"/>
            <a:ext cx="23336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坐席不必在工单、知识库与聊天窗口之间跳转，答复与出处在同一处呈现。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3381375" y="3590925"/>
            <a:ext cx="2619375" cy="1409700"/>
          </a:xfrm>
          <a:prstGeom prst="roundRect">
            <a:avLst>
              <a:gd name="adj" fmla="val 6757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524250" y="37338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3524250" y="4086225"/>
            <a:ext cx="23336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答案来自同一份受控文档，避免不同坐席给出互相矛盾的说法。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6191250" y="3590925"/>
            <a:ext cx="2619375" cy="1409700"/>
          </a:xfrm>
          <a:prstGeom prst="roundRect">
            <a:avLst>
              <a:gd name="adj" fmla="val 6757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6334125" y="37338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2275A"/>
                </a:solidFill>
                <a:latin typeface="Microsoft YaHei"/>
                <a:ea typeface="Microsoft YaHei"/>
              </a:rPr>
              <a:t>上下文延续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6334125" y="4086225"/>
            <a:ext cx="23336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客户二次咨询时带着上次结论继续，不需要从头复述问题。</a:t>
            </a:r>
            <a:endParaRPr/>
          </a:p>
        </p:txBody>
      </p:sp>
      <p:sp>
        <p:nvSpPr>
          <p:cNvPr id="888" name=""/>
          <p:cNvSpPr/>
          <p:nvPr/>
        </p:nvSpPr>
        <p:spPr>
          <a:xfrm rot="0" flipH="0" flipV="0">
            <a:off x="9001125" y="3590925"/>
            <a:ext cx="2619375" cy="1409700"/>
          </a:xfrm>
          <a:prstGeom prst="roundRect">
            <a:avLst>
              <a:gd name="adj" fmla="val 6757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9144000" y="37338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数据留在本地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9144000" y="4086225"/>
            <a:ext cx="23336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D6E3F5"/>
                </a:solidFill>
                <a:latin typeface="Microsoft YaHei"/>
                <a:ea typeface="Microsoft YaHei"/>
              </a:rPr>
              <a:t>客户对话与语料都不出内网，便于通过合规审查。</a:t>
            </a:r>
            <a:endParaRPr/>
          </a:p>
        </p:txBody>
      </p:sp>
      <p:sp>
        <p:nvSpPr>
          <p:cNvPr id="891" name=""/>
          <p:cNvSpPr/>
          <p:nvPr/>
        </p:nvSpPr>
        <p:spPr>
          <a:xfrm rot="0" flipH="0" flipV="0">
            <a:off x="571500" y="5638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723900" y="57912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914400" y="580072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客服场景的价值不在「回答得快」，而在「答得准、说得清出处、记得住前情」——三者缺一，客户体验都回不去。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8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场景二｜研发提效：从补全代码到受控执行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94A3B8"/>
                </a:solidFill>
                <a:latin typeface="Microsoft YaHei"/>
                <a:ea typeface="Microsoft YaHei"/>
              </a:rPr>
              <a:t>通用编码助手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571500" y="2200275"/>
            <a:ext cx="609600" cy="28575"/>
          </a:xfrm>
          <a:prstGeom prst="roundRect">
            <a:avLst>
              <a:gd name="adj" fmla="val 66667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902" name=""/>
          <p:cNvSpPr/>
          <p:nvPr/>
        </p:nvSpPr>
        <p:spPr>
          <a:xfrm rot="0" flipH="0" flipV="0">
            <a:off x="571500" y="2466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能力集中在编辑器内的补全与建议，跨出编辑器就断开。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571500" y="2895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762000" y="2809875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跑测试、查日志、改配置要靠人手动完成，工具链割裂。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571500" y="3324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62000" y="3238500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执行权限由个人机器决定，团队难以统一策略与留痕。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571500" y="3705225"/>
            <a:ext cx="4762500" cy="819150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704850" y="3838575"/>
            <a:ext cx="4495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结果：个人效率提升明显，但团队无法把它纳入统一的工程规范与审计。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5600700" y="1752600"/>
            <a:ext cx="9525" cy="3657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5876925" y="1752600"/>
            <a:ext cx="5734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2275A"/>
                </a:solidFill>
                <a:latin typeface="Microsoft YaHei"/>
                <a:ea typeface="Microsoft YaHei"/>
              </a:rPr>
              <a:t>云顶数字工作台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5876925" y="2200275"/>
            <a:ext cx="609600" cy="28575"/>
          </a:xfrm>
          <a:prstGeom prst="roundRect">
            <a:avLst>
              <a:gd name="adj" fmla="val 66667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5876925" y="2362200"/>
            <a:ext cx="2809875" cy="790575"/>
          </a:xfrm>
          <a:prstGeom prst="roundRect">
            <a:avLst>
              <a:gd name="adj" fmla="val 12048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5991225" y="2476500"/>
            <a:ext cx="25812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ACP 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入站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5991225" y="2790825"/>
            <a:ext cx="2581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IDE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与终端里直接调用本机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8801100" y="2362200"/>
            <a:ext cx="2809875" cy="790575"/>
          </a:xfrm>
          <a:prstGeom prst="roundRect">
            <a:avLst>
              <a:gd name="adj" fmla="val 12048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915400" y="2476500"/>
            <a:ext cx="25812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ACP </a:t>
            </a:r>
            <a:r>
              <a:rPr lang="zh-CN" sz="1275" b="1">
                <a:solidFill>
                  <a:srgbClr val="1D4ED8"/>
                </a:solidFill>
                <a:latin typeface="Microsoft YaHei"/>
                <a:ea typeface="Microsoft YaHei"/>
              </a:rPr>
              <a:t>出站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8915400" y="2790825"/>
            <a:ext cx="2581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复杂任务可委派给外部编程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5876925" y="3267075"/>
            <a:ext cx="2809875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5991225" y="3381375"/>
            <a:ext cx="25812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命令守卫</a:t>
            </a:r>
            <a:r>
              <a:rPr lang="en-US" sz="1275" b="1">
                <a:solidFill>
                  <a:srgbClr val="12275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审批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5991225" y="3695700"/>
            <a:ext cx="2581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危险命令执行前被拦截或转审批。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8801100" y="3267075"/>
            <a:ext cx="2809875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8915400" y="3381375"/>
            <a:ext cx="25812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2275A"/>
                </a:solidFill>
                <a:latin typeface="Microsoft YaHei"/>
                <a:ea typeface="Microsoft YaHei"/>
              </a:rPr>
              <a:t>轨迹留痕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8915400" y="3695700"/>
            <a:ext cx="2581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每次命令与文件改动可回放。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5876925" y="4171950"/>
            <a:ext cx="5734050" cy="542925"/>
          </a:xfrm>
          <a:prstGeom prst="roundRect">
            <a:avLst>
              <a:gd name="adj" fmla="val 17544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6010275" y="4305300"/>
            <a:ext cx="5467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D6E3F5"/>
                </a:solidFill>
                <a:latin typeface="Microsoft YaHei"/>
                <a:ea typeface="Microsoft YaHei"/>
              </a:rPr>
              <a:t>差别不在写得多快，而在能不能被信任地执行。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723900" y="57531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914400" y="578167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给开发者一个更聪明的输入框，不如给团队一个受管控的执行者——前者提升个人手感，后者改变交付方式。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9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2275A"/>
                </a:solidFill>
                <a:latin typeface="Microsoft YaHei"/>
                <a:ea typeface="Microsoft YaHei"/>
              </a:rPr>
              <a:t>场景三｜自动化运营：重复的事交给定时任务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571500" y="1752600"/>
            <a:ext cx="3714750" cy="1209675"/>
          </a:xfrm>
          <a:prstGeom prst="roundRect">
            <a:avLst>
              <a:gd name="adj" fmla="val 9449"/>
            </a:avLst>
          </a:prstGeom>
          <a:solidFill>
            <a:srgbClr val="12275A"/>
          </a:solidFill>
          <a:ln/>
        </p:spPr>
        <p:txBody>
          <a:bodyPr/>
          <a:p>
            <a:pPr/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723900" y="1905000"/>
            <a:ext cx="34099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日报与周报自动出稿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723900" y="2295525"/>
            <a:ext cx="3409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cron /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间隔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指定时间触发，读数据、生成摘要并推送到指定会话或邮箱，无需人工值守。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4476750" y="1752600"/>
            <a:ext cx="3543300" cy="1209675"/>
          </a:xfrm>
          <a:prstGeom prst="roundRect">
            <a:avLst>
              <a:gd name="adj" fmla="val 9449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4629150" y="19050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数据看板与预警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4629150" y="2295525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定时拉取业务数据生成图表，指标异常时主动推送提醒，把事后发现变成提前预警。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8210550" y="1752600"/>
            <a:ext cx="3352800" cy="1209675"/>
          </a:xfrm>
          <a:prstGeom prst="roundRect">
            <a:avLst>
              <a:gd name="adj" fmla="val 9449"/>
            </a:avLst>
          </a:prstGeom>
          <a:solidFill>
            <a:srgbClr val="E6F7F9"/>
          </a:solidFill>
          <a:ln w="12700">
            <a:solidFill>
              <a:srgbClr val="B6E3E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8362950" y="19050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网页操作录成技能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8362950" y="2295525"/>
            <a:ext cx="304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一次浏览器操作可录制为可复用技能，之后按关键词触发回放，批量后台操作不再重复手工。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571500" y="3133725"/>
            <a:ext cx="3352800" cy="1209675"/>
          </a:xfrm>
          <a:prstGeom prst="roundRect">
            <a:avLst>
              <a:gd name="adj" fmla="val 9449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23900" y="3286125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主动关怀推送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723900" y="3676650"/>
            <a:ext cx="304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92400E"/>
                </a:solidFill>
                <a:latin typeface="Microsoft YaHei"/>
                <a:ea typeface="Microsoft YaHei"/>
              </a:rPr>
              <a:t>读取记忆生成提醒内容并主动推送，适用于续约、回款、保修到期等时间点驱动的场景。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4114800" y="3133725"/>
            <a:ext cx="354330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4267200" y="3286125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团队知识沉淀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4267200" y="367665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文档入库后统一检索与共享，经验不再散落在个人电脑里，新人提问即可得到带出处的回答。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7848600" y="3133725"/>
            <a:ext cx="37147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8001000" y="3286125"/>
            <a:ext cx="34099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2275A"/>
                </a:solidFill>
                <a:latin typeface="Microsoft YaHei"/>
                <a:ea typeface="Microsoft YaHei"/>
              </a:rPr>
              <a:t>远程运维与巡检</a:t>
            </a:r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8001000" y="3676650"/>
            <a:ext cx="3409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终端、浏览器与远程桌面组合，完成服务排障、设备巡检与无人值守环境下的异常处理。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571500" y="4495800"/>
            <a:ext cx="11049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以上六类场景共用同一套组件：定时任务触发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同一条消息管线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同一套工具与审批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同一份轨迹留痕。</a:t>
            </a:r>
            <a:endParaRPr/>
          </a:p>
        </p:txBody>
      </p:sp>
      <p:sp>
        <p:nvSpPr>
          <p:cNvPr id="955" name=""/>
          <p:cNvSpPr/>
          <p:nvPr/>
        </p:nvSpPr>
        <p:spPr>
          <a:xfrm rot="0" flipH="0" flipV="0">
            <a:off x="571500" y="5638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F4F6FB"/>
          </a:solidFill>
          <a:ln/>
        </p:spPr>
        <p:txBody>
          <a:bodyPr/>
          <a:p>
            <a:pPr/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723900" y="57912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914400" y="580072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2275A"/>
                </a:solidFill>
                <a:latin typeface="Microsoft YaHei"/>
                <a:ea typeface="Microsoft YaHei"/>
              </a:rPr>
              <a:t>自动化的真正收益不是省几次点击，而是让「该做但没人做」的事稳定发生——巡检、提醒、复盘从此不再依赖人的记性。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958" name="" descr="&lt;Slide style={{ padding: 60, background: '#12275A' }}&gt;&#13;&#10;    &lt;Box style={{ height: 600 }}&gt;&#13;&#10;        &lt;Box style={{ height: 20, flexDirection: 'row', justifyContent: 'space-between', alignItems: 'center' }}&gt;&#13;&#10;            &lt;Text style={{ fontSize: 14, color: '#7EA3D6', letterSpacing: 2 }}&gt;05 · DEPLOYMENT&lt;/Text&gt;&#13;&#10;            &lt;Box style={{ width: 44, height: 4, borderRadius: 2, background: '#F59E0B' }} /&gt;&#13;&#10;        &lt;/Box&gt;&#13;&#10;        &lt;Text style={{ fontSize: 34, fontWeight: 'bold', color: '#FFFFFF', marginTop: 16, lineHeight: 1.2 }}&gt;&#13;&#10;            选择一套平台，本质是选择它能被维护多久&#13;&#10;        &lt;/Text&gt;&#13;&#10;        &lt;Box style={{ height: 1, background: '#1E3C82', marginTop: 16 }} /&gt;&#13;&#10;&#13;&#10;        &lt;Box style={{ flex: 1, marginTop: 24, flexDirection: 'row', gap: 24 }}&gt;&#13;&#10;            &lt;Box style={{ width: 460 }}&gt;&#13;&#10;                &lt;Text style={{ fontSize: 15, color: '#7EA3D6', lineHeight: 1.4 }}&gt;自研代码总量&lt;/Text&gt;&#13;&#10;                &lt;Text style={{ fontSize: 92, fontWeight: 'bold', color: '#F59E0B', lineHeight: 1.05 }}&gt;341,291&lt;/Text&gt;&#13;&#10;                &lt;Text style={{ fontSize: 17, color: '#CBD9F0', lineHeight: 1.5, marginTop: 8 }}&gt;&#13;&#10;                    行 Python 代码：主包 162,502 行，运行时 75,936 行，记忆引擎 59,110 行，网关 29,092 行，浏览器 14,651 行。&#13;&#10;                &lt;/Text&gt;&#13;&#10;                &lt;Box style={{ height: 1, background: '#2D4A85', marginTop: 18 }} /&gt;&#13;&#10;                &lt;Text style={{ fontSize: 16, color: '#A9C2E8', lineHeight: 1.5, marginTop: 14 }}&gt;&#13;&#10;                    这个体量意味着功能不是贴上去的壳：每一层都有独立演进的历史与测试覆盖。&#13;&#10;                &lt;/Text&gt;&#13;&#10;            &lt;/Box&gt;&#13;&#10;            &lt;Box style={{ width: 320 }}&gt;&#13;&#10;                &lt;Text style={{ fontSize: 15, color: '#7EA3D6', lineHeight: 1.4 }}&gt;质量门槛&lt;/Text&gt;&#13;&#10;                &lt;Text style={{ fontSize: 92, fontWeight: 'bold', color: '#06B6D4', lineHeight: 1.05 }}&gt;797&lt;/Text&gt;&#13;&#10;                &lt;Text style={{ fontSize: 17, color: '#CBD9F0', lineHeight: 1.5, marginTop: 8 }}&gt;&#13;&#10;                    个测试文件，覆盖后端、运行时、网关、浏览器与记忆引擎。&#13;&#10;                &lt;/Text&gt;&#13;&#10;                &lt;Box style={{ height: 1, background: '#2D4A85', marginTop: 18 }} /&gt;&#13;&#10;                &lt;Text style={{ fontSize: 16, color: '#A9C2E8', lineHeight: 1.5, marginTop: 14 }}&gt;&#13;&#10;                    格式、静态检查、类型检查与测试构成提交前的统一门槛。&#13;&#10;                &lt;/Text&gt;&#13;&#10;            &lt;/Box&gt;&#13;&#10;            &lt;Box style={{ width: 332 }}&gt;&#13;&#10;                &lt;Text style={{ fontSize: 15, color: '#7EA3D6', lineHeight: 1.4 }}&gt;许可与上游&lt;/Text&gt;&#13;&#10;                &lt;Text style={{ fontSize: 72, fontWeight: 'bold', color: '#FFFFFF', lineHeight: 1.05 }}&gt;MIT&lt;/Text&gt;&#13;&#10;                &lt;Text style={{ fontSize: 17, color: '#CBD9F0', lineHeight: 1.5, marginTop: 8 }}&gt;&#13;&#10;                    开源许可，无传染性约束；基于 Octop 生态，承诺与上游子组件版本同步。&#13;&#10;                &lt;/Text&gt;&#13;&#10;                &lt;Box style={{ height: 1, background: '#2D4A85', marginTop: 18 }} /&gt;&#13;&#10;                &lt;Text style={{ fontSize: 16, color: '#A9C2E8', lineHeight: 1.5, marginTop: 14 }}&gt;&#13;&#10;                    企业可自行审计、二次开发与私有化分发，不受授权条款掣肘。&#13;&#10;                &lt;/Text&gt;&#13;&#10;            &lt;/Box&gt;&#13;&#10;        &lt;/Box&gt;&#13;&#10;&#13;&#10;        &lt;Box style={{ marginTop: 20, flexDirection: 'row', alignItems: 'center', background: '#1E3C82', borderRadius: 8, padding: 14, gap: 16 }}&gt;&#13;&#10;            &lt;Box style={{ width: 4, height: 44, borderRadius: 2, background: '#F59E0B' }} /&gt;&#13;&#10;            &lt;Text style={{ flex: 1, fontSize: 18, color: '#E6EEFA', lineHeight: 1.5 }}&gt;&#13;&#10;                可审计的代码体量、可核验的测试密度、明确的开源协议——这三项决定了这套平台三年后还能不能继续演进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2275A"/>
          </a:solidFill>
          <a:ln/>
        </p:spPr>
        <p:txBody>
          <a:bodyPr/>
          <a:p/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7EA3D6"/>
                </a:solidFill>
                <a:latin typeface="Microsoft YaHei"/>
                <a:ea typeface="Microsoft YaHei"/>
              </a:rPr>
              <a:t>05 · DEPLOYMENT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选择一套平台，本质是选择它能被维护多久</a:t>
            </a:r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571500" y="1771650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自研代码总量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571500" y="2019300"/>
            <a:ext cx="4381500" cy="11049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900" b="1">
                <a:solidFill>
                  <a:srgbClr val="F59E0B"/>
                </a:solidFill>
                <a:latin typeface="Microsoft YaHei"/>
                <a:ea typeface="Microsoft YaHei"/>
              </a:rPr>
              <a:t>341,291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571500" y="3200400"/>
            <a:ext cx="4381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行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代码：主包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162,502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行，运行时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75,936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行，记忆引擎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59,110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行，网关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29,092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行，浏览器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14,651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行。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571500" y="3962400"/>
            <a:ext cx="43815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571500" y="4105275"/>
            <a:ext cx="4381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这个体量意味着功能不是贴上去的壳：每一层都有独立演进的历史与测试覆盖。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5181600" y="1771650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质量门槛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5181600" y="2019300"/>
            <a:ext cx="3048000" cy="11049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900" b="1">
                <a:solidFill>
                  <a:srgbClr val="06B6D4"/>
                </a:solidFill>
                <a:latin typeface="Microsoft YaHei"/>
                <a:ea typeface="Microsoft YaHei"/>
              </a:rPr>
              <a:t>797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5181600" y="3200400"/>
            <a:ext cx="3048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个测试文件，覆盖后端、运行时、网关、浏览器与记忆引擎。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5181600" y="3962400"/>
            <a:ext cx="30480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5181600" y="4105275"/>
            <a:ext cx="3048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格式、静态检查、类型检查与测试构成提交前的统一门槛。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8458200" y="1771650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许可与上游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8458200" y="2019300"/>
            <a:ext cx="3162300" cy="8667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MIT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8458200" y="2962275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开源许可，无传染性约束；基于</a:t>
            </a:r>
            <a:r>
              <a:rPr lang="en-US" sz="1275">
                <a:solidFill>
                  <a:srgbClr val="CBD9F0"/>
                </a:solidFill>
                <a:latin typeface="Microsoft YaHei"/>
                <a:ea typeface="Microsoft YaHei"/>
              </a:rPr>
              <a:t xml:space="preserve"> Octop </a:t>
            </a:r>
            <a:r>
              <a:rPr lang="zh-CN" sz="1275">
                <a:solidFill>
                  <a:srgbClr val="CBD9F0"/>
                </a:solidFill>
                <a:latin typeface="Microsoft YaHei"/>
                <a:ea typeface="Microsoft YaHei"/>
              </a:rPr>
              <a:t>生态，承诺与上游子组件版本同步。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8458200" y="3724275"/>
            <a:ext cx="31623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8458200" y="386715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9C2E8"/>
                </a:solidFill>
                <a:latin typeface="Microsoft YaHei"/>
                <a:ea typeface="Microsoft YaHei"/>
              </a:rPr>
              <a:t>企业可自行审计、二次开发与私有化分发，不受授权条款掣肘。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E3C82"/>
          </a:solidFill>
          <a:ln/>
        </p:spPr>
        <p:txBody>
          <a:bodyPr/>
          <a:p/>
        </p:txBody>
      </p:sp>
      <p:sp>
        <p:nvSpPr>
          <p:cNvPr id="980" name=""/>
          <p:cNvSpPr/>
          <p:nvPr/>
        </p:nvSpPr>
        <p:spPr>
          <a:xfrm rot="0" flipH="0" flipV="0">
            <a:off x="704850" y="57340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895350" y="5791200"/>
            <a:ext cx="10591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E6EEFA"/>
                </a:solidFill>
                <a:latin typeface="Microsoft YaHei"/>
                <a:ea typeface="Microsoft YaHei"/>
              </a:rPr>
              <a:t>可审计的代码体量、可核验的测试密度、明确的开源协议——这三项决定了这套平台三年后还能不能继续演进。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275A"/>
              </a:gs>
              <a:gs pos="50000">
                <a:srgbClr val="101F45"/>
              </a:gs>
              <a:gs pos="100000">
                <a:srgbClr val="0A2A6E"/>
              </a:gs>
            </a:gsLst>
            <a:lin ang="15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9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0" y="857250"/>
            <a:ext cx="6096000" cy="5143500"/>
          </a:xfrm>
          <a:prstGeom prst="rect">
            <a:avLst/>
          </a:prstGeom>
          <a:ln/>
        </p:spPr>
      </p:pic>
      <p:sp>
        <p:nvSpPr>
          <p:cNvPr id="985" name=""/>
          <p:cNvSpPr/>
          <p:nvPr/>
        </p:nvSpPr>
        <p:spPr>
          <a:xfrm rot="0" flipH="0" flipV="0">
            <a:off x="876300" y="14287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876300" y="1771650"/>
            <a:ext cx="66675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950" b="1">
                <a:solidFill>
                  <a:srgbClr val="FFFFFF"/>
                </a:solidFill>
                <a:latin typeface="Microsoft YaHei"/>
                <a:ea typeface="Microsoft YaHei"/>
              </a:rPr>
              <a:t>从一条命令开始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876300" y="2838450"/>
            <a:ext cx="66675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9AB4DB"/>
                </a:solidFill>
                <a:latin typeface="Microsoft YaHei"/>
                <a:ea typeface="Microsoft YaHei"/>
              </a:rPr>
              <a:t>先在一台机器上跑通一个场景，再决定要不要扩大到全公司。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876300" y="4905375"/>
            <a:ext cx="6667500" cy="9525"/>
          </a:xfrm>
          <a:prstGeom prst="rect">
            <a:avLst/>
          </a:prstGeom>
          <a:solidFill>
            <a:srgbClr val="2D4A85"/>
          </a:solidFill>
          <a:ln/>
        </p:spPr>
        <p:txBody>
          <a:bodyPr/>
          <a:p>
            <a:pPr/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876300" y="5124450"/>
            <a:ext cx="190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876300" y="5410200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ydsz-worker init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3019425" y="5124450"/>
            <a:ext cx="190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3019425" y="5410200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ydsz-worker run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5172075" y="5124450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7EA3D6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5172075" y="5410200"/>
            <a:ext cx="2381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F59E0B"/>
                </a:solidFill>
                <a:latin typeface="Microsoft YaHei"/>
                <a:ea typeface="Microsoft YaHei"/>
              </a:rPr>
              <a:t>打开</a:t>
            </a:r>
            <a:r>
              <a:rPr lang="en-US" sz="1425" b="1">
                <a:solidFill>
                  <a:srgbClr val="F59E0B"/>
                </a:solidFill>
                <a:latin typeface="Microsoft YaHei"/>
                <a:ea typeface="Microsoft YaHei"/>
              </a:rPr>
              <a:t xml:space="preserve"> 127.0.0.1:8088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2026-10-29T17:47:06Z</dcterms:created>
  <dcterms:modified xsi:type="dcterms:W3CDTF">2026-10-29T17:47:06Z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{"AIGC":{"Label":"1","ContentProducer":"00119111010856365494821B355","ProduceID":"01a186acaa707d36a53fc03491fc3634","ReservedCode1":"","ContentPropagator":"00119111010856365494821B355","PropagateID":"01a186acaa707d36a53fc03491fc3634","ReservedCode2":""}}</vt:lpwstr>
  </property>
</Properties>
</file>