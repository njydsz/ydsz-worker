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31.xml" ContentType="application/vnd.openxmlformats-officedocument.presentationml.slid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1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0.xml" ContentType="application/vnd.openxmlformats-officedocument.presentationml.slide+xml"/>
  <Override PartName="/ppt/slides/slide4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8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37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42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slide" Target="slides/slide15.xml" /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9" Type="http://schemas.openxmlformats.org/officeDocument/2006/relationships/slide" Target="slides/slide9.xml" /><Relationship Id="rId1" Type="http://schemas.openxmlformats.org/officeDocument/2006/relationships/slide" Target="slides/slide1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6" Type="http://schemas.openxmlformats.org/officeDocument/2006/relationships/slide" Target="slides/slide16.xml" /><Relationship Id="rId28" Type="http://schemas.openxmlformats.org/officeDocument/2006/relationships/slide" Target="slides/slide28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40" Type="http://schemas.openxmlformats.org/officeDocument/2006/relationships/slide" Target="slides/slide40.xml" /><Relationship Id="rId2" Type="http://schemas.openxmlformats.org/officeDocument/2006/relationships/slide" Target="slides/slide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24" Type="http://schemas.openxmlformats.org/officeDocument/2006/relationships/slide" Target="slides/slide24.xml" /><Relationship Id="rId25" Type="http://schemas.openxmlformats.org/officeDocument/2006/relationships/slide" Target="slides/slide25.xml" /><Relationship Id="rId26" Type="http://schemas.openxmlformats.org/officeDocument/2006/relationships/slide" Target="slides/slide26.xml" /><Relationship Id="rId27" Type="http://schemas.openxmlformats.org/officeDocument/2006/relationships/slide" Target="slides/slide27.xml" /><Relationship Id="rId30" Type="http://schemas.openxmlformats.org/officeDocument/2006/relationships/slide" Target="slides/slide30.xml" /><Relationship Id="rId29" Type="http://schemas.openxmlformats.org/officeDocument/2006/relationships/slide" Target="slides/slide29.xml" /><Relationship Id="rId42" Type="http://schemas.openxmlformats.org/officeDocument/2006/relationships/notesMaster" Target="notesMasters/notesMaster1.xml" /><Relationship Id="rId3" Type="http://schemas.openxmlformats.org/officeDocument/2006/relationships/slide" Target="slides/slide3.xml" /><Relationship Id="rId37" Type="http://schemas.openxmlformats.org/officeDocument/2006/relationships/slide" Target="slides/slide37.xml" /><Relationship Id="rId31" Type="http://schemas.openxmlformats.org/officeDocument/2006/relationships/slide" Target="slides/slide31.xml" /><Relationship Id="rId32" Type="http://schemas.openxmlformats.org/officeDocument/2006/relationships/slide" Target="slides/slide32.xml" /><Relationship Id="rId33" Type="http://schemas.openxmlformats.org/officeDocument/2006/relationships/slide" Target="slides/slide33.xml" /><Relationship Id="rId34" Type="http://schemas.openxmlformats.org/officeDocument/2006/relationships/slide" Target="slides/slide34.xml" /><Relationship Id="rId35" Type="http://schemas.openxmlformats.org/officeDocument/2006/relationships/slide" Target="slides/slide35.xml" /><Relationship Id="rId36" Type="http://schemas.openxmlformats.org/officeDocument/2006/relationships/slide" Target="slides/slide36.xml" /><Relationship Id="rId38" Type="http://schemas.openxmlformats.org/officeDocument/2006/relationships/slide" Target="slides/slide38.xml" /><Relationship Id="rId39" Type="http://schemas.openxmlformats.org/officeDocument/2006/relationships/slide" Target="slides/slide39.xml" /><Relationship Id="rId4" Type="http://schemas.openxmlformats.org/officeDocument/2006/relationships/slide" Target="slides/slide4.xml" /><Relationship Id="rId41" Type="http://schemas.openxmlformats.org/officeDocument/2006/relationships/slide" Target="slides/slide41.xml" /><Relationship Id="rId43" Type="http://schemas.openxmlformats.org/officeDocument/2006/relationships/presProps" Target="presProps.xml" /><Relationship Id="rId44" Type="http://schemas.openxmlformats.org/officeDocument/2006/relationships/tableStyles" Target="tableStyles.xml" /><Relationship Id="rId45" Type="http://schemas.openxmlformats.org/officeDocument/2006/relationships/viewProps" Target="viewProps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4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7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3" Type="http://schemas.openxmlformats.org/officeDocument/2006/relationships/image" Target="media/image6.svg" /><Relationship Id="rId2" Type="http://schemas.openxmlformats.org/officeDocument/2006/relationships/image" Target="media/image5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8.svg" /><Relationship Id="rId1" Type="http://schemas.openxmlformats.org/officeDocument/2006/relationships/image" Target="media/image7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Relationship Id="rId2" Type="http://schemas.openxmlformats.org/officeDocument/2006/relationships/image" Target="media/image10.svg" /><Relationship Id="rId3" Type="http://schemas.openxmlformats.org/officeDocument/2006/relationships/image" Target="media/image11.svg" /><Relationship Id="rId4" Type="http://schemas.openxmlformats.org/officeDocument/2006/relationships/image" Target="media/image12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svg" /><Relationship Id="rId3" Type="http://schemas.openxmlformats.org/officeDocument/2006/relationships/image" Target="media/image17.svg" /><Relationship Id="rId2" Type="http://schemas.openxmlformats.org/officeDocument/2006/relationships/image" Target="media/image16.svg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Relationship Id="rId2" Type="http://schemas.openxmlformats.org/officeDocument/2006/relationships/image" Target="media/image18.svg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0.svg" /><Relationship Id="rId2" Type="http://schemas.openxmlformats.org/officeDocument/2006/relationships/image" Target="media/image21.svg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3.svg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Relationship Id="rId2" Type="http://schemas.openxmlformats.org/officeDocument/2006/relationships/image" Target="media/image5.svg" /><Relationship Id="rId3" Type="http://schemas.openxmlformats.org/officeDocument/2006/relationships/image" Target="media/image6.svg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5.svg" 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&#13;&#10;    padding: 0,&#13;&#10;    position: 'relative',&#13;&#10;    background: 'linear-gradient(120deg, #FFFFFF 0%, #F4F6FB 52%, #E4ECF9 100%)',&#13;&#10;}}&gt;&#13;&#10;    {/* 右侧节点网络主视觉 */}&#13;&#10;    &lt;Box style={{ position: 'absolute', top: 0, right: 0, width: 780, height: 720 }}&gt;&#13;&#10;        &lt;svg width={780} height={720} viewBox='0 0 780 720'&gt;&#13;&#10;            &lt;g stroke='#C7D6F5' strokeWidth='1' opacity='0.9'&gt;&#13;&#10;                &lt;line x1='120' y1='150' x2='300' y2='110' /&gt;&#13;&#10;                &lt;line x1='120' y1='150' x2='290' y2='250' /&gt;&#13;&#10;                &lt;line x1='300' y1='110' x2='470' y2='175' /&gt;&#13;&#10;                &lt;line x1='300' y1='110' x2='430' y2='60' /&gt;&#13;&#10;                &lt;line x1='290' y1='250' x2='470' y2='175' /&gt;&#13;&#10;                &lt;line x1='290' y1='250' x2='380' y2='390' /&gt;&#13;&#10;                &lt;line x1='470' y1='175' x2='600' y2='95' /&gt;&#13;&#10;                &lt;line x1='470' y1='175' x2='640' y2='280' /&gt;&#13;&#10;                &lt;line x1='380' y1='390' x2='640' y2='280' /&gt;&#13;&#10;                &lt;line x1='380' y1='390' x2='250' y2='470' /&gt;&#13;&#10;                &lt;line x1='250' y1='470' x2='430' y2='560' /&gt;&#13;&#10;                &lt;line x1='430' y1='560' x2='640' y2='280' /&gt;&#13;&#10;                &lt;line x1='430' y1='560' x2='620' y2='640' /&gt;&#13;&#10;                &lt;line x1='600' y1='95' x2='640' y2='280' /&gt;&#13;&#10;                &lt;line x1='620' y1='640' x2='640' y2='280' /&gt;&#13;&#10;            &lt;/g&gt;&#13;&#10;            &lt;circle cx='120' cy='150' r='9' fill='#0891B2' /&gt;&#13;&#10;            &lt;circle cx='300' cy='110' r='6' fill='#93C5FD' /&gt;&#13;&#10;            &lt;circle cx='430' cy='60' r='5' fill='#93C5FD' /&gt;&#13;&#10;            &lt;circle cx='470' cy='175' r='14' fill='#2563EB' /&gt;&#13;&#10;            &lt;circle cx='600' cy='95' r='6' fill='#93C5FD' /&gt;&#13;&#10;            &lt;circle cx='290' cy='250' r='9' fill='#0891B2' opacity='0.85' /&gt;&#13;&#10;            &lt;circle cx='640' cy='280' r='11' fill='#2563EB' /&gt;&#13;&#10;            &lt;circle cx='380' cy='390' r='18' fill='#F59E0B' /&gt;&#13;&#10;            &lt;circle cx='250' cy='470' r='7' fill='#93C5FD' /&gt;&#13;&#10;            &lt;circle cx='430' cy='560' r='10' fill='#0891B2' opacity='0.85' /&gt;&#13;&#10;            &lt;circle cx='620' cy='640' r='7' fill='#93C5FD' /&gt;&#13;&#10;        &lt;/svg&gt;&#13;&#10;    &lt;/Box&gt;&#13;&#10;&#13;&#10;    {/* 主文本区 */}&#13;&#10;    &lt;Box style={{ position: 'absolute', left: 92, top: 168, width: 640 }}&gt;&#13;&#10;        &lt;Box style={{ width: 72, height: 6, borderRadius: 3, background: '#F59E0B', marginBottom: 34 }} /&gt;&#13;&#10;        &lt;Text style={{ fontSize: 30, fontWeight: '600', color: '#2563EB', letterSpacing: 6, marginBottom: 22 }}&gt;&#13;&#10;            YDSZ WORKER&#13;&#10;        &lt;/Text&gt;&#13;&#10;        &lt;Text style={{ fontSize: 66, fontWeight: 'bold', color: '#1E293B', lineHeight: 1.15 }}&gt;&#13;&#10;            云顶数字工作台&#13;&#10;        &lt;/Text&gt;&#13;&#10;        &lt;Text style={{ fontSize: 30, color: '#334155', marginTop: 26, lineHeight: 1.4 }}&gt;&#13;&#10;            会思考，会干活，陪企业成长的智能伙伴&#13;&#10;        &lt;/Text&gt;&#13;&#10;        &lt;Box style={{ width: 560, height: 1, background: '#C7D6F5', marginTop: 40, marginBottom: 22 }} /&gt;&#13;&#10;        &lt;Text style={{ fontSize: 20, color: '#64748B', lineHeight: 1.5 }}&gt;&#13;&#10;            自托管 · 多用户 · 多智能体企业级 AI 助手平台&#13;&#10;        &lt;/Text&gt;&#13;&#10;    &lt;/Box&gt;&#13;&#10;&#13;&#10;    {/* 信息层 */}&#13;&#10;    &lt;Box style={{ position: 'absolute', left: 92, bottom: 84, width: 700, flexDirection: 'row', gap: 40, alignItems: 'center' }}&gt;&#13;&#10;        &lt;Text style={{ fontSize: 14, color: '#64748B' }}&gt;产品对外介绍&lt;/Text&gt;&#13;&#10;        &lt;Box style={{ width: 1, height: 16, background: '#C7D6F5' }} /&gt;&#13;&#10;        &lt;Text style={{ fontSize: 14, color: '#64748B' }}&gt;版本 v26.10.20&lt;/Text&gt;&#13;&#10;        &lt;Box style={{ width: 1, height: 16, background: '#C7D6F5' }} /&gt;&#13;&#10;        &lt;Text style={{ fontSize: 14, color: '#64748B' }}&gt;2026 年 10 月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52000">
                <a:srgbClr val="F4F6FB"/>
              </a:gs>
              <a:gs pos="100000">
                <a:srgbClr val="E4ECF9"/>
              </a:gs>
            </a:gsLst>
            <a:lin ang="1800000" scaled="1"/>
          </a:gra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0" y="0"/>
            <a:ext cx="74295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876300" y="16002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876300" y="1981200"/>
            <a:ext cx="609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450">
                <a:solidFill>
                  <a:srgbClr val="2563EB"/>
                </a:solidFill>
                <a:latin typeface="Microsoft YaHei"/>
                <a:ea typeface="Microsoft YaHei"/>
              </a:rPr>
              <a:t>YDSZ WORKER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76300" y="2533650"/>
            <a:ext cx="6096000" cy="8763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950" b="1">
                <a:solidFill>
                  <a:srgbClr val="1E293B"/>
                </a:solidFill>
                <a:latin typeface="Microsoft YaHei"/>
                <a:ea typeface="Microsoft YaHei"/>
              </a:rPr>
              <a:t>云顶数字工作台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76300" y="3657600"/>
            <a:ext cx="6096000" cy="4857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>
                <a:solidFill>
                  <a:srgbClr val="334155"/>
                </a:solidFill>
                <a:latin typeface="Microsoft YaHei"/>
                <a:ea typeface="Microsoft YaHei"/>
              </a:rPr>
              <a:t>会思考，会干活，陪企业成长的智能伙伴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876300" y="4524375"/>
            <a:ext cx="533400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76300" y="4743450"/>
            <a:ext cx="6096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自托管</a:t>
            </a:r>
            <a:r>
              <a:rPr lang="en-US" sz="150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多用户</a:t>
            </a:r>
            <a:r>
              <a:rPr lang="en-US" sz="150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多智能体企业级</a:t>
            </a:r>
            <a:r>
              <a:rPr lang="en-US" sz="1500">
                <a:solidFill>
                  <a:srgbClr val="64748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助手平台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76300" y="58959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产品对外介绍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2057400" y="5905500"/>
            <a:ext cx="9525" cy="15240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447925" y="58959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版本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v26.10.20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743325" y="5905500"/>
            <a:ext cx="9525" cy="15240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133850" y="5895975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44" name="" descr="&lt;Slide style={{ padding: 60, background: '#FFFFFF' }}&gt;&#13;&#10;    &lt;Box style={{ height: 600, flexDirection: 'row' }}&gt;&#13;&#10;        {/* 左侧标题区 */}&#13;&#10;        &lt;Box style={{ width: 400 }}&gt;&#13;&#10;            &lt;Box style={{ width: 72, height: 6, borderRadius: 3, background: '#2563EB' }} /&gt;&#13;&#10;            &lt;Text style={{ fontSize: 64, fontWeight: 'bold', color: '#1E293B', marginTop: 30, lineHeight: 1.15 }}&gt;&#13;&#10;                目录&#13;&#10;            &lt;/Text&gt;&#13;&#10;            &lt;Text style={{ fontSize: 18, color: '#94A3B8', letterSpacing: 6, marginTop: 18 }}&gt;&#13;&#10;                CONTENTS&#13;&#10;            &lt;/Text&gt;&#13;&#10;            &lt;Box style={{ width: 300, height: 1, background: '#E2E8F0', marginTop: 40 }} /&gt;&#13;&#10;            &lt;Text style={{ fontSize: 16, color: '#64748B', lineHeight: 1.5, marginTop: 22 }}&gt;&#13;&#10;                五个章节，依次为产品定位、能力全景、安全治理、连接集成与落地保障&#13;&#10;            &lt;/Text&gt;&#13;&#10;        &lt;/Box&gt;&#13;&#10;&#13;&#10;        {/* 右侧章节清单 */}&#13;&#10;        &lt;Box style={{ width: 720, marginLeft: 40 }}&gt;&#13;&#10;            &lt;Box style={{ height: 112, flexDirection: 'row', alignItems: 'center', borderBottomWidth: 1, borderBottomColor: '#E2E8F0', borderBottomStyle: 'solid' }}&gt;&#13;&#10;                &lt;Text style={{ width: 90, fontSize: 32, fontWeight: 'bold', color: '#2563EB' }}&gt;01&lt;/Text&gt;&#13;&#10;                &lt;Text style={{ flex: 1, fontSize: 26, fontWeight: '600', color: '#1E293B' }}&gt;认识云顶：定位与价值&lt;/Text&gt;&#13;&#10;                &lt;Text style={{ width: 70, fontSize: 16, color: '#64748B', textAlign: 'right' }}&gt;P 3&lt;/Text&gt;&#13;&#10;            &lt;/Box&gt;&#13;&#10;            &lt;Box style={{ height: 112, flexDirection: 'row', alignItems: 'center', borderBottomWidth: 1, borderBottomColor: '#E2E8F0', borderBottomStyle: 'solid' }}&gt;&#13;&#10;                &lt;Text style={{ width: 90, fontSize: 32, fontWeight: 'bold', color: '#2563EB' }}&gt;02&lt;/Text&gt;&#13;&#10;                &lt;Text style={{ flex: 1, fontSize: 26, fontWeight: '600', color: '#1E293B' }}&gt;能力全景：从理解到执行&lt;/Text&gt;&#13;&#10;                &lt;Text style={{ width: 70, fontSize: 16, color: '#64748B', textAlign: 'right' }}&gt;P 8&lt;/Text&gt;&#13;&#10;            &lt;/Box&gt;&#13;&#10;            &lt;Box style={{ height: 112, flexDirection: 'row', alignItems: 'center', borderBottomWidth: 1, borderBottomColor: '#E2E8F0', borderBottomStyle: 'solid' }}&gt;&#13;&#10;                &lt;Text style={{ width: 90, fontSize: 32, fontWeight: 'bold', color: '#2563EB' }}&gt;03&lt;/Text&gt;&#13;&#10;                &lt;Text style={{ flex: 1, fontSize: 26, fontWeight: '600', color: '#1E293B' }}&gt;安全与治理：可验证的边界&lt;/Text&gt;&#13;&#10;                &lt;Text style={{ width: 70, fontSize: 16, color: '#64748B', textAlign: 'right' }}&gt;P 18&lt;/Text&gt;&#13;&#10;            &lt;/Box&gt;&#13;&#10;            &lt;Box style={{ height: 112, flexDirection: 'row', alignItems: 'center', borderBottomWidth: 1, borderBottomColor: '#E2E8F0', borderBottomStyle: 'solid' }}&gt;&#13;&#10;                &lt;Text style={{ width: 90, fontSize: 32, fontWeight: 'bold', color: '#2563EB' }}&gt;04&lt;/Text&gt;&#13;&#10;                &lt;Text style={{ flex: 1, fontSize: 26, fontWeight: '600', color: '#1E293B' }}&gt;连接与集成：接入既有系统&lt;/Text&gt;&#13;&#10;                &lt;Text style={{ width: 70, fontSize: 16, color: '#64748B', textAlign: 'right' }}&gt;P 24&lt;/Text&gt;&#13;&#10;            &lt;/Box&gt;&#13;&#10;            &lt;Box style={{ height: 112, flexDirection: 'row', alignItems: 'center', borderBottomWidth: 1, borderBottomColor: '#E2E8F0', borderBottomStyle: 'solid' }}&gt;&#13;&#10;                &lt;Text style={{ width: 90, fontSize: 32, fontWeight: 'bold', color: '#2563EB' }}&gt;05&lt;/Text&gt;&#13;&#10;                &lt;Text style={{ flex: 1, fontSize: 26, fontWeight: '600', color: '#1E293B' }}&gt;落地与保障：部署到持续运行&lt;/Text&gt;&#13;&#10;                &lt;Text style={{ width: 70, fontSize: 16, color: '#64748B', textAlign: 'right' }}&gt;P 29&lt;/Text&gt;&#13;&#10;            &lt;/Box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71500" y="5715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3810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71500" y="1933575"/>
            <a:ext cx="381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4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571500" y="2524125"/>
            <a:ext cx="28575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571500" y="2743200"/>
            <a:ext cx="3810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五个章节，依次为产品定位、能力全景、安全治理、连接集成与落地保障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4762500" y="5715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762500" y="9144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2563E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619750" y="9525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认识云顶：定位与价值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953750" y="10096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3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4762500" y="16383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4762500" y="19812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2563E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619750" y="20193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能力全景：从理解到执行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953750" y="20764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8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4762500" y="27051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4762500" y="30480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2563EB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5619750" y="30861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安全与治理：可验证的边界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0953750" y="31432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18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762500" y="37719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762500" y="41148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2563EB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619750" y="41529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连接与集成：接入既有系统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953750" y="42100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24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762500" y="48387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762500" y="51816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2563EB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5619750" y="52197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落地与保障：部署到持续运行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0953750" y="52768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29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14" name="" descr="&lt;Slide style={{ padding: 60, background: '#F4F6FB', position: 'relative' }}&gt;&#13;&#10;    &lt;Box style={{ position: 'absolute', right: 60, top: 130, width: 420, height: 460 }}&gt;&#13;&#10;        &lt;svg width={420} height={460} viewBox='0 0 420 460'&gt;&#13;&#10;            &lt;circle cx='210' cy='240' r='150' fill='none' stroke='#C7D6F5' strokeWidth='1' /&gt;&#13;&#10;            &lt;circle cx='210' cy='240' r='200' fill='none' stroke='#C7D6F5' strokeWidth='1' /&gt;&#13;&#10;            &lt;path d='M10 240 A200 200 0 0 1 410 240' fill='none' stroke='#0891B2' strokeWidth='3' opacity='0.6' /&gt;&#13;&#10;            &lt;circle cx='360' cy='240' r='8' fill='#F59E0B' /&gt;&#13;&#10;            &lt;circle cx='60' cy='240' r='8' fill='#2563EB' /&gt;&#13;&#10;            &lt;circle cx='210' cy='40' r='6' fill='#0891B2' /&gt;&#13;&#10;        &lt;/svg&gt;&#13;&#10;    &lt;/Box&gt;&#13;&#10;&#13;&#10;    &lt;Box style={{ position: 'absolute', left: 92, top: 168, width: 680 }}&gt;&#13;&#10;        &lt;Text style={{ fontSize: 180, fontWeight: 'bold', color: '#CBD9F0', lineHeight: 1.05 }}&gt;&#13;&#10;            01&#13;&#10;        &lt;/Text&gt;&#13;&#10;        &lt;Text style={{ fontSize: 64, fontWeight: 'bold', color: '#1E293B', lineHeight: 1.15, marginTop: 12 }}&gt;&#13;&#10;            认识云顶&#13;&#10;        &lt;/Text&gt;&#13;&#10;        &lt;Box style={{ width: 72, height: 6, borderRadius: 3, background: '#F59E0B', marginTop: 30 }} /&gt;&#13;&#10;        &lt;Text style={{ fontSize: 22, color: '#64748B', lineHeight: 1.5, marginTop: 26 }}&gt;&#13;&#10;            产品定位、价值主张与能力边界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B"/>
          </a:solidFill>
          <a:ln/>
        </p:spPr>
        <p:txBody>
          <a:bodyPr/>
          <a:p/>
        </p:txBody>
      </p:sp>
      <p:pic>
        <p:nvPicPr>
          <p:cNvPr id="7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CBD9F0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认识云顶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产品定位、价值主张与能力边界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56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1 · POSITIONING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三道断层，卡住了企业 AI 的最后一公里&#13;&#10;        &lt;/Text&gt;&#13;&#10;        &lt;Box style={{ height: 1, background: '#E2E8F0', marginTop: 16 }} /&gt;&#13;&#10;&#13;&#10;        &lt;Box style={{ flex: 1, marginTop: 22, flexDirection: 'row', gap: 44 }}&gt;&#13;&#10;            {/* 左侧断裂链路图 */}&#13;&#10;            &lt;Box style={{ width: 600 }}&gt;&#13;&#10;                &lt;Box style={{ flexDirection: 'row', alignItems: 'center' }}&gt;&#13;&#10;                    &lt;Box style={{ width: 168, height: 128, background: '#E8EEFB', borderWidth: 1, borderColor: '#C7D6F5', borderStyle: 'solid', borderRadius: 10, padding: 14, alignItems: 'center' }}&gt;&#13;&#10;                        &lt;Box style={{ width: 44, height: 44, borderRadius: 22, background: '#DCE7FB', justifyContent: 'center', alignItems: 'center' }}&gt;&#13;&#10;                            &lt;Box style={{ width: 20, height: 20, borderRadius: 10, background: '#2563EB' }} /&gt;&#13;&#10;                        &lt;/Box&gt;&#13;&#10;                        &lt;Text style={{ fontSize: 20, fontWeight: '600', color: '#1E293B', marginTop: 10, lineHeight: 1.3 }}&gt;理解业务&lt;/Text&gt;&#13;&#10;                        &lt;Text style={{ fontSize: 15, color: '#94A3B8', lineHeight: 1.3 }}&gt;进不了私有数据&lt;/Text&gt;&#13;&#10;                    &lt;/Box&gt;&#13;&#10;                    &lt;Box style={{ width: 48, height: 128, justifyContent: 'center', alignItems: 'center' }}&gt;&#13;&#10;                        &lt;svg width={44} height={28} viewBox='0 0 44 28'&gt;&#13;&#10;                            &lt;path d='M2 12 L20 0 L20 28 Z' fill='#F59E0B' /&gt;&#13;&#10;                            &lt;path d='M42 12 L24 0 L24 28 Z' fill='#F59E0B' opacity='0.55' /&gt;&#13;&#10;                        &lt;/svg&gt;&#13;&#10;                    &lt;/Box&gt;&#13;&#10;                    &lt;Box style={{ width: 168, height: 128, background: '#E8EEFB', borderWidth: 1, borderColor: '#C7D6F5', borderStyle: 'solid', borderRadius: 10, padding: 14, alignItems: 'center' }}&gt;&#13;&#10;                        &lt;Box style={{ width: 44, height: 44, borderRadius: 22, background: '#DCE7FB', justifyContent: 'center', alignItems: 'center' }}&gt;&#13;&#10;                            &lt;Box style={{ width: 20, height: 20, borderRadius: 4, background: '#0891B2' }} /&gt;&#13;&#10;                        &lt;/Box&gt;&#13;&#10;                        &lt;Text style={{ fontSize: 20, fontWeight: '600', color: '#1E293B', marginTop: 10, lineHeight: 1.3 }}&gt;动手执行&lt;/Text&gt;&#13;&#10;                        &lt;Text style={{ fontSize: 15, color: '#94A3B8', lineHeight: 1.3 }}&gt;够不着工具系统&lt;/Text&gt;&#13;&#10;                    &lt;/Box&gt;&#13;&#10;                    &lt;Box style={{ width: 48, height: 128, justifyContent: 'center', alignItems: 'center' }}&gt;&#13;&#10;                        &lt;svg width={44} height={28} viewBox='0 0 44 28'&gt;&#13;&#10;                            &lt;path d='M2 12 L20 0 L20 28 Z' fill='#F59E0B' /&gt;&#13;&#10;                            &lt;path d='M42 12 L24 0 L24 28 Z' fill='#F59E0B' opacity='0.55' /&gt;&#13;&#10;                        &lt;/svg&gt;&#13;&#10;                    &lt;/Box&gt;&#13;&#10;                    &lt;Box style={{ width: 168, height: 128, background: '#E8EEFB', borderWidth: 1, borderColor: '#C7D6F5', borderStyle: 'solid', borderRadius: 10, padding: 14, alignItems: 'center' }}&gt;&#13;&#10;                        &lt;Box style={{ width: 44, height: 44, borderRadius: 22, background: '#DCE7FB', justifyContent: 'center', alignItems: 'center' }}&gt;&#13;&#10;                            &lt;Box style={{ width: 20, height: 20, borderRadius: 10, background: '#F59E0B' }} /&gt;&#13;&#10;                        &lt;/Box&gt;&#13;&#10;                        &lt;Text style={{ fontSize: 20, fontWeight: '600', color: '#1E293B', marginTop: 10, lineHeight: 1.3 }}&gt;沉淀复用&lt;/Text&gt;&#13;&#10;                        &lt;Text style={{ fontSize: 15, color: '#94A3B8', lineHeight: 1.3 }}&gt;过不了合规审批&lt;/Text&gt;&#13;&#10;                    &lt;/Box&gt;&#13;&#10;                &lt;/Box&gt;&#13;&#10;                &lt;Box style={{ height: 1, background: '#E2E8F0', marginTop: 18 }} /&gt;&#13;&#10;                &lt;Text style={{ fontSize: 15, color: '#94A3B8', marginTop: 14, lineHeight: 1.4 }}&gt;&#13;&#10;                    通用 AI 的能力链：三处断点让它停在演示阶段&#13;&#10;                &lt;/Text&gt;&#13;&#10;                &lt;Text style={{ fontSize: 18, color: '#475569', lineHeight: 1.5, marginTop: 14 }}&gt;&#13;&#10;                    模型能力已经足够，缺的是把它接进企业现场的三段路：让它读得到私有数据、准予它调用工具，并且有人管得住它。&#13;&#10;                &lt;/Text&gt;&#13;&#10;            &lt;/Box&gt;&#13;&#10;&#13;&#10;            {/* 右侧三断层解读 */}&#13;&#10;            &lt;Box style={{ width: 516 }}&gt;&#13;&#10;                &lt;Box style={{ paddingBottom: 14, borderBottomWidth: 1, borderBottomColor: '#E2E8F0', borderBottomStyle: 'solid' }}&gt;&#13;&#10;                    &lt;Text style={{ fontSize: 22, fontWeight: '600', color: '#2563EB', lineHeight: 1.3 }}&gt;&#13;&#10;                        01　数据断层&#13;&#10;                    &lt;/Text&gt;&#13;&#10;                    &lt;Text style={{ fontSize: 17, color: '#475569', lineHeight: 1.5, marginTop: 8 }}&gt;&#13;&#10;                        业务知识散落在文档、即时消息、业务系统与人脑里，通用模型没有检索入口，只能给出放之四海而皆准的答案。&#13;&#10;                    &lt;/Text&gt;&#13;&#10;                &lt;/Box&gt;&#13;&#10;                &lt;Box style={{ paddingTop: 14, paddingBottom: 14, borderBottomWidth: 1, borderBottomColor: '#E2E8F0', borderBottomStyle: 'solid' }}&gt;&#13;&#10;                    &lt;Text style={{ fontSize: 22, fontWeight: '600', color: '#2563EB', lineHeight: 1.3 }}&gt;&#13;&#10;                        02　工具断层&#13;&#10;                    &lt;/Text&gt;&#13;&#10;                    &lt;Text style={{ fontSize: 17, color: '#475569', lineHeight: 1.5, marginTop: 8 }}&gt;&#13;&#10;                        没有文件、命令、浏览器与业务系统的执行权限，AI 的结论永远停在「建议你这样做」，价值进不了业务流程。&#13;&#10;                    &lt;/Text&gt;&#13;&#10;                &lt;/Box&gt;&#13;&#10;                &lt;Box style={{ paddingTop: 14 }}&gt;&#13;&#10;                    &lt;Text style={{ fontSize: 22, fontWeight: '600', color: '#2563EB', lineHeight: 1.3 }}&gt;&#13;&#10;                        03　管控断层&#13;&#10;                    &lt;/Text&gt;&#13;&#10;                    &lt;Text style={{ fontSize: 17, color: '#475569', lineHeight: 1.5, marginTop: 8 }}&gt;&#13;&#10;                        缺少审批、命令守卫与调用留痕，安全团队无法回答「它刚才到底做了什么」，于是越能干越不敢放手。&#13;&#10;                    &lt;/Text&gt;&#13;&#10;                &lt;/Box&gt;&#13;&#10;            &lt;/Box&gt;&#13;&#10;        &lt;/Box&gt;&#13;&#10;&#13;&#10;        {/* 结论条 */}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试点停在演示阶段的主因不是模型不够强，而是数据、工具、管控这三项工程基础设施缺位——这三项补齐，AI 才进得了生产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105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6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三道断层，卡住了企业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的最后一公里</a:t>
            </a:r>
            <a:endParaRPr/>
          </a:p>
        </p:txBody>
      </p:sp>
      <p:sp>
        <p:nvSpPr>
          <p:cNvPr id="106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62" name=""/>
          <p:cNvSpPr/>
          <p:nvPr/>
        </p:nvSpPr>
        <p:spPr>
          <a:xfrm rot="0" flipH="0" flipV="0">
            <a:off x="5715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063" name=""/>
          <p:cNvSpPr/>
          <p:nvPr/>
        </p:nvSpPr>
        <p:spPr>
          <a:xfrm rot="0" flipH="0" flipV="0">
            <a:off x="11620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/>
        </p:txBody>
      </p:sp>
      <p:sp>
        <p:nvSpPr>
          <p:cNvPr id="1064" name=""/>
          <p:cNvSpPr/>
          <p:nvPr/>
        </p:nvSpPr>
        <p:spPr>
          <a:xfrm rot="0" flipH="0" flipV="0">
            <a:off x="1276350" y="20002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65" name="" descr="{&quot;isTemplate&quot;:true,&quot;type&quot;:&quot;text&quot;}"/>
          <p:cNvSpPr txBox="1"/>
          <p:nvPr/>
        </p:nvSpPr>
        <p:spPr>
          <a:xfrm rot="0" flipH="0" flipV="0">
            <a:off x="9906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理解业务</a:t>
            </a:r>
            <a:endParaRPr/>
          </a:p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8763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进不了私有数据</a:t>
            </a:r>
            <a:endParaRPr/>
          </a:p>
        </p:txBody>
      </p:sp>
      <p:pic>
        <p:nvPicPr>
          <p:cNvPr id="10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190750" y="2228850"/>
            <a:ext cx="419100" cy="266700"/>
          </a:xfrm>
          <a:prstGeom prst="rect">
            <a:avLst/>
          </a:prstGeom>
          <a:ln/>
        </p:spPr>
      </p:pic>
      <p:sp>
        <p:nvSpPr>
          <p:cNvPr id="1068" name=""/>
          <p:cNvSpPr/>
          <p:nvPr/>
        </p:nvSpPr>
        <p:spPr>
          <a:xfrm rot="0" flipH="0" flipV="0">
            <a:off x="26289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069" name=""/>
          <p:cNvSpPr/>
          <p:nvPr/>
        </p:nvSpPr>
        <p:spPr>
          <a:xfrm rot="0" flipH="0" flipV="0">
            <a:off x="32194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/>
        </p:txBody>
      </p:sp>
      <p:sp>
        <p:nvSpPr>
          <p:cNvPr id="1070" name=""/>
          <p:cNvSpPr/>
          <p:nvPr/>
        </p:nvSpPr>
        <p:spPr>
          <a:xfrm rot="0" flipH="0" flipV="0">
            <a:off x="3333750" y="2000250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071" name="" descr="{&quot;isTemplate&quot;:true,&quot;type&quot;:&quot;text&quot;}"/>
          <p:cNvSpPr txBox="1"/>
          <p:nvPr/>
        </p:nvSpPr>
        <p:spPr>
          <a:xfrm rot="0" flipH="0" flipV="0">
            <a:off x="30480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动手执行</a:t>
            </a:r>
            <a:endParaRPr/>
          </a:p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29337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够不着工具系统</a:t>
            </a:r>
            <a:endParaRPr/>
          </a:p>
        </p:txBody>
      </p:sp>
      <p:pic>
        <p:nvPicPr>
          <p:cNvPr id="10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48150" y="2228850"/>
            <a:ext cx="419100" cy="266700"/>
          </a:xfrm>
          <a:prstGeom prst="rect">
            <a:avLst/>
          </a:prstGeom>
          <a:ln/>
        </p:spPr>
      </p:pic>
      <p:sp>
        <p:nvSpPr>
          <p:cNvPr id="1074" name=""/>
          <p:cNvSpPr/>
          <p:nvPr/>
        </p:nvSpPr>
        <p:spPr>
          <a:xfrm rot="0" flipH="0" flipV="0">
            <a:off x="46863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075" name=""/>
          <p:cNvSpPr/>
          <p:nvPr/>
        </p:nvSpPr>
        <p:spPr>
          <a:xfrm rot="0" flipH="0" flipV="0">
            <a:off x="52768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5391150" y="20002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51054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沉淀复用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49911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过不了合规审批</a:t>
            </a:r>
            <a:endParaRPr/>
          </a:p>
        </p:txBody>
      </p:sp>
      <p:sp>
        <p:nvSpPr>
          <p:cNvPr id="1079" name=""/>
          <p:cNvSpPr/>
          <p:nvPr/>
        </p:nvSpPr>
        <p:spPr>
          <a:xfrm rot="0" flipH="0" flipV="0">
            <a:off x="571500" y="3143250"/>
            <a:ext cx="5715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571500" y="3286125"/>
            <a:ext cx="5715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通用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的能力链：三处断点让它停在演示阶段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571500" y="3667125"/>
            <a:ext cx="5715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475569"/>
                </a:solidFill>
                <a:latin typeface="Microsoft YaHei"/>
                <a:ea typeface="Microsoft YaHei"/>
              </a:rPr>
              <a:t>模型能力已经足够，缺的是把它接进企业现场的三段路：让它读得到私有数据、准予它调用工具，并且有人管得住它。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6705600" y="1752600"/>
            <a:ext cx="4914900" cy="1152525"/>
          </a:xfrm>
          <a:custGeom>
            <a:pathLst>
              <a:path w="516" h="121">
                <a:moveTo>
                  <a:pt x="0" y="120"/>
                </a:moveTo>
                <a:lnTo>
                  <a:pt x="516" y="120"/>
                </a:lnTo>
                <a:lnTo>
                  <a:pt x="516" y="121"/>
                </a:lnTo>
                <a:lnTo>
                  <a:pt x="0" y="12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6705600" y="175260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2563EB"/>
                </a:solidFill>
                <a:latin typeface="Microsoft YaHei"/>
                <a:ea typeface="Microsoft YaHei"/>
              </a:rPr>
              <a:t>01</a:t>
            </a: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　数据断层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6705600" y="216217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业务知识散落在文档、即时消息、业务系统与人脑里，通用模型没有检索入口，只能给出放之四海而皆准的答案。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6705600" y="2895600"/>
            <a:ext cx="4914900" cy="1285875"/>
          </a:xfrm>
          <a:custGeom>
            <a:pathLst>
              <a:path w="516" h="135">
                <a:moveTo>
                  <a:pt x="0" y="134"/>
                </a:moveTo>
                <a:lnTo>
                  <a:pt x="516" y="134"/>
                </a:lnTo>
                <a:lnTo>
                  <a:pt x="516" y="135"/>
                </a:lnTo>
                <a:lnTo>
                  <a:pt x="0" y="135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6705600" y="302895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2563EB"/>
                </a:solidFill>
                <a:latin typeface="Microsoft YaHei"/>
                <a:ea typeface="Microsoft YaHei"/>
              </a:rPr>
              <a:t>02</a:t>
            </a: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　工具断层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6705600" y="343852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没有文件、命令、浏览器与业务系统的执行权限，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的结论永远停在「建议你这样做」，价值进不了业务流程。</a:t>
            </a:r>
            <a:endParaRPr/>
          </a:p>
        </p:txBody>
      </p:sp>
      <p:sp>
        <p:nvSpPr>
          <p:cNvPr id="1088" name="" descr="{&quot;isTemplate&quot;:true,&quot;type&quot;:&quot;text&quot;}"/>
          <p:cNvSpPr txBox="1"/>
          <p:nvPr/>
        </p:nvSpPr>
        <p:spPr>
          <a:xfrm rot="0" flipH="0" flipV="0">
            <a:off x="6705600" y="430530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2563EB"/>
                </a:solidFill>
                <a:latin typeface="Microsoft YaHei"/>
                <a:ea typeface="Microsoft YaHei"/>
              </a:rPr>
              <a:t>03</a:t>
            </a:r>
            <a:r>
              <a:rPr lang="zh-CN" sz="1650" b="1">
                <a:solidFill>
                  <a:srgbClr val="2563EB"/>
                </a:solidFill>
                <a:latin typeface="Microsoft YaHei"/>
                <a:ea typeface="Microsoft YaHei"/>
              </a:rPr>
              <a:t>　管控断层</a:t>
            </a:r>
            <a:endParaRPr/>
          </a:p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6705600" y="471487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缺少审批、命令守卫与调用留痕，安全团队无法回答「它刚才到底做了什么」，于是越能干越不敢放手。</a:t>
            </a:r>
            <a:endParaRPr/>
          </a:p>
        </p:txBody>
      </p:sp>
      <p:sp>
        <p:nvSpPr>
          <p:cNvPr id="1090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091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试点停在演示阶段的主因不是模型不够强，而是数据、工具、管控这三项工程基础设施缺位——这三项补齐，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才进得了生产。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132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1 · POSITIONING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一个安装包交付整套企业级 AI 助手&#13;&#10;        &lt;/Text&gt;&#13;&#10;        &lt;Box style={{ height: 1, background: '#E2E8F0', marginTop: 16 }} /&gt;&#13;&#10;&#13;&#10;        &lt;Box style={{ flex: 1, marginTop: 22, flexDirection: 'row', gap: 40 }}&gt;&#13;&#10;            {/* 左侧进程拓扑 */}&#13;&#10;            &lt;Box style={{ width: 660, background: '#F8FAFC', borderWidth: 1, borderColor: '#E2E8F0', borderStyle: 'solid', borderRadius: 12, padding: 14 }}&gt;&#13;&#10;                &lt;Text style={{ fontSize: 20, fontWeight: '600', color: '#1E293B', lineHeight: 1.3 }}&gt;YdszServer · 单进程，重启即恢复&lt;/Text&gt;&#13;&#10;                &lt;Box style={{ flexDirection: 'row', gap: 10, marginTop: 10 }}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控制面数据库&lt;/Text&gt;&#13;&#10;                        &lt;Text style={{ fontSize: 14, color: '#64748B', lineHeight: 1.4 }}&gt;SQLite WAL 起步，可切 PostgreSQL&lt;/Text&gt;&#13;&#10;                    &lt;/Box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SharedServices&lt;/Text&gt;&#13;&#10;                        &lt;Text style={{ fontSize: 14, color: '#64748B', lineHeight: 1.4 }}&gt;仓库与工厂的统一依赖注入根&lt;/Text&gt;&#13;&#10;                    &lt;/Box&gt;&#13;&#10;                &lt;/Box&gt;&#13;&#10;                &lt;Box style={{ flexDirection: 'row', gap: 10, marginTop: 10 }}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AgentManager&lt;/Text&gt;&#13;&#10;                        &lt;Text style={{ fontSize: 14, color: '#64748B', lineHeight: 1.4 }}&gt;多 Agent 注册与生命周期&lt;/Text&gt;&#13;&#10;                    &lt;/Box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Harness 运行时&lt;/Text&gt;&#13;&#10;                        &lt;Text style={{ fontSize: 14, color: '#64748B', lineHeight: 1.4 }}&gt;LangGraph 对话与检查点&lt;/Text&gt;&#13;&#10;                    &lt;/Box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Gateway&lt;/Text&gt;&#13;&#10;                        &lt;Text style={{ fontSize: 14, color: '#64748B', lineHeight: 1.4 }}&gt;IM 通道与 WebSocket 枢纽&lt;/Text&gt;&#13;&#10;                    &lt;/Box&gt;&#13;&#10;                &lt;/Box&gt;&#13;&#10;                &lt;Box style={{ flexDirection: 'row', gap: 10, marginTop: 10 }}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CronManager&lt;/Text&gt;&#13;&#10;                        &lt;Text style={{ fontSize: 14, color: '#64748B', lineHeight: 1.4 }}&gt;APScheduler 定时任务&lt;/Text&gt;&#13;&#10;                    &lt;/Box&gt;&#13;&#10;                    &lt;Box style={{ flex: 1, background: '#FFFFFF', borderWidth: 1, borderColor: '#C7D6F5', borderStyle: 'solid', borderRadius: 8, padding: 9 }}&gt;&#13;&#10;                        &lt;Text style={{ fontSize: 16, fontWeight: '600', color: '#2563EB', lineHeight: 1.3 }}&gt;FastAPI + 控制台&lt;/Text&gt;&#13;&#10;                        &lt;Text style={{ fontSize: 14, color: '#64748B', lineHeight: 1.4 }}&gt;HTTP / WebSocket / CLI 同源&lt;/Text&gt;&#13;&#10;                    &lt;/Box&gt;&#13;&#10;                &lt;/Box&gt;&#13;&#10;            &lt;/Box&gt;&#13;&#10;&#13;&#10;            {/* 右侧定位三段 */}&#13;&#10;            &lt;Box style={{ width: 460 }}&gt;&#13;&#10;                &lt;Box style={{ paddingBottom: 14, borderBottomWidth: 1, borderBottomColor: '#E2E8F0', borderBottomStyle: 'solid' }}&gt;&#13;&#10;                    &lt;Text style={{ fontSize: 22, fontWeight: '600', color: '#1E293B', lineHeight: 1.3 }}&gt;形态：一个进程，四种入口&lt;/Text&gt;&#13;&#10;                    &lt;Text style={{ fontSize: 17, color: '#475569', lineHeight: 1.5, marginTop: 8 }}&gt;&#13;&#10;                        Web 控制台、CLI、IM 通道与定时任务共享同一条消息管线，无外部队列依赖。&#13;&#10;                    &lt;/Text&gt;&#13;&#10;                &lt;/Box&gt;&#13;&#10;                &lt;Box style={{ paddingTop: 14, paddingBottom: 14, borderBottomWidth: 1, borderBottomColor: '#E2E8F0', borderBottomStyle: 'solid' }}&gt;&#13;&#10;                    &lt;Text style={{ fontSize: 22, fontWeight: '600', color: '#1E293B', lineHeight: 1.3 }}&gt;来源：站在开源生态之上&lt;/Text&gt;&#13;&#10;                    &lt;Text style={{ fontSize: 17, color: '#475569', lineHeight: 1.5, marginTop: 8 }}&gt;&#13;&#10;                        基于 Octop 开源生态，采用 MIT 许可，并承诺与上游子组件版本同步。&#13;&#10;                    &lt;/Text&gt;&#13;&#10;                &lt;/Box&gt;&#13;&#10;                &lt;Box style={{ paddingTop: 14 }}&gt;&#13;&#10;                    &lt;Text style={{ fontSize: 22, fontWeight: '600', color: '#1E293B', lineHeight: 1.3 }}&gt;边界：不是又一个聊天框&lt;/Text&gt;&#13;&#10;                    &lt;Text style={{ fontSize: 17, color: '#475569', lineHeight: 1.5, marginTop: 8 }}&gt;&#13;&#10;                        让 AI 带着身份、权限与审计进入业务流程的控制面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运维复杂度被压缩到一个进程：没有消息队列要管、没有中间件要调，一台机器就能把整套能力跑起来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113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一个安装包交付整套企业级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138" name=""/>
          <p:cNvSpPr/>
          <p:nvPr/>
        </p:nvSpPr>
        <p:spPr>
          <a:xfrm rot="0" flipH="0" flipV="0">
            <a:off x="571500" y="1752600"/>
            <a:ext cx="6286500" cy="3581400"/>
          </a:xfrm>
          <a:prstGeom prst="roundRect">
            <a:avLst>
              <a:gd name="adj" fmla="val 31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39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60198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YdszServer · </a:t>
            </a: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单进程，重启即恢复</a:t>
            </a:r>
            <a:endParaRPr/>
          </a:p>
        </p:txBody>
      </p:sp>
      <p:sp>
        <p:nvSpPr>
          <p:cNvPr id="1140" name=""/>
          <p:cNvSpPr/>
          <p:nvPr/>
        </p:nvSpPr>
        <p:spPr>
          <a:xfrm rot="0" flipH="0" flipV="0">
            <a:off x="704850" y="228600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790575" y="237172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控制面数据库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790575" y="260985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SQLite WAL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起步，可切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PostgreSQL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3762375" y="228600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3848100" y="237172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>SharedServices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3848100" y="260985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仓库与工厂的统一依赖注入根</a:t>
            </a:r>
            <a:endParaRPr/>
          </a:p>
        </p:txBody>
      </p:sp>
      <p:sp>
        <p:nvSpPr>
          <p:cNvPr id="1146" name=""/>
          <p:cNvSpPr/>
          <p:nvPr/>
        </p:nvSpPr>
        <p:spPr>
          <a:xfrm rot="0" flipH="0" flipV="0">
            <a:off x="70485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47" name="" descr="{&quot;isTemplate&quot;:true,&quot;type&quot;:&quot;text&quot;}"/>
          <p:cNvSpPr txBox="1"/>
          <p:nvPr/>
        </p:nvSpPr>
        <p:spPr>
          <a:xfrm rot="0" flipH="0" flipV="0">
            <a:off x="79057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>AgentManager</a:t>
            </a:r>
            <a:endParaRPr/>
          </a:p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79057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多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注册与生命周期</a:t>
            </a:r>
            <a:endParaRPr/>
          </a:p>
        </p:txBody>
      </p:sp>
      <p:sp>
        <p:nvSpPr>
          <p:cNvPr id="1149" name=""/>
          <p:cNvSpPr/>
          <p:nvPr/>
        </p:nvSpPr>
        <p:spPr>
          <a:xfrm rot="0" flipH="0" flipV="0">
            <a:off x="274320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282892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Harness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运行时</a:t>
            </a:r>
            <a:endParaRPr/>
          </a:p>
        </p:txBody>
      </p:sp>
      <p:sp>
        <p:nvSpPr>
          <p:cNvPr id="1151" name="" descr="{&quot;isTemplate&quot;:true,&quot;type&quot;:&quot;text&quot;}"/>
          <p:cNvSpPr txBox="1"/>
          <p:nvPr/>
        </p:nvSpPr>
        <p:spPr>
          <a:xfrm rot="0" flipH="0" flipV="0">
            <a:off x="282892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LangGraph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对话与检查点</a:t>
            </a:r>
            <a:endParaRPr/>
          </a:p>
        </p:txBody>
      </p:sp>
      <p:sp>
        <p:nvSpPr>
          <p:cNvPr id="1152" name=""/>
          <p:cNvSpPr/>
          <p:nvPr/>
        </p:nvSpPr>
        <p:spPr>
          <a:xfrm rot="0" flipH="0" flipV="0">
            <a:off x="478155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53" name="" descr="{&quot;isTemplate&quot;:true,&quot;type&quot;:&quot;text&quot;}"/>
          <p:cNvSpPr txBox="1"/>
          <p:nvPr/>
        </p:nvSpPr>
        <p:spPr>
          <a:xfrm rot="0" flipH="0" flipV="0">
            <a:off x="486727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>Gateway</a:t>
            </a:r>
            <a:endParaRPr/>
          </a:p>
        </p:txBody>
      </p:sp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486727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通道与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WebSocket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枢纽</a:t>
            </a:r>
            <a:endParaRPr/>
          </a:p>
        </p:txBody>
      </p:sp>
      <p:sp>
        <p:nvSpPr>
          <p:cNvPr id="1155" name=""/>
          <p:cNvSpPr/>
          <p:nvPr/>
        </p:nvSpPr>
        <p:spPr>
          <a:xfrm rot="0" flipH="0" flipV="0">
            <a:off x="704850" y="375285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56" name="" descr="{&quot;isTemplate&quot;:true,&quot;type&quot;:&quot;text&quot;}"/>
          <p:cNvSpPr txBox="1"/>
          <p:nvPr/>
        </p:nvSpPr>
        <p:spPr>
          <a:xfrm rot="0" flipH="0" flipV="0">
            <a:off x="790575" y="383857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>CronManager</a:t>
            </a:r>
            <a:endParaRPr/>
          </a:p>
        </p:txBody>
      </p:sp>
      <p:sp>
        <p:nvSpPr>
          <p:cNvPr id="1157" name="" descr="{&quot;isTemplate&quot;:true,&quot;type&quot;:&quot;text&quot;}"/>
          <p:cNvSpPr txBox="1"/>
          <p:nvPr/>
        </p:nvSpPr>
        <p:spPr>
          <a:xfrm rot="0" flipH="0" flipV="0">
            <a:off x="790575" y="407670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APScheduler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1158" name=""/>
          <p:cNvSpPr/>
          <p:nvPr/>
        </p:nvSpPr>
        <p:spPr>
          <a:xfrm rot="0" flipH="0" flipV="0">
            <a:off x="3762375" y="375285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59" name="" descr="{&quot;isTemplate&quot;:true,&quot;type&quot;:&quot;text&quot;}"/>
          <p:cNvSpPr txBox="1"/>
          <p:nvPr/>
        </p:nvSpPr>
        <p:spPr>
          <a:xfrm rot="0" flipH="0" flipV="0">
            <a:off x="3848100" y="383857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FastAPI + </a:t>
            </a: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控制台</a:t>
            </a:r>
            <a:endParaRPr/>
          </a:p>
        </p:txBody>
      </p:sp>
      <p:sp>
        <p:nvSpPr>
          <p:cNvPr id="1160" name="" descr="{&quot;isTemplate&quot;:true,&quot;type&quot;:&quot;text&quot;}"/>
          <p:cNvSpPr txBox="1"/>
          <p:nvPr/>
        </p:nvSpPr>
        <p:spPr>
          <a:xfrm rot="0" flipH="0" flipV="0">
            <a:off x="3848100" y="407670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HTTP / WebSocket / CLI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同源</a:t>
            </a:r>
            <a:endParaRPr/>
          </a:p>
        </p:txBody>
      </p:sp>
      <p:sp>
        <p:nvSpPr>
          <p:cNvPr id="1161" name=""/>
          <p:cNvSpPr/>
          <p:nvPr/>
        </p:nvSpPr>
        <p:spPr>
          <a:xfrm rot="0" flipH="0" flipV="0">
            <a:off x="7239000" y="1752600"/>
            <a:ext cx="4381500" cy="1152525"/>
          </a:xfrm>
          <a:custGeom>
            <a:pathLst>
              <a:path w="460" h="121">
                <a:moveTo>
                  <a:pt x="0" y="120"/>
                </a:moveTo>
                <a:lnTo>
                  <a:pt x="460" y="120"/>
                </a:lnTo>
                <a:lnTo>
                  <a:pt x="460" y="121"/>
                </a:lnTo>
                <a:lnTo>
                  <a:pt x="0" y="12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62" name="" descr="{&quot;isTemplate&quot;:true,&quot;type&quot;:&quot;text&quot;}"/>
          <p:cNvSpPr txBox="1"/>
          <p:nvPr/>
        </p:nvSpPr>
        <p:spPr>
          <a:xfrm rot="0" flipH="0" flipV="0">
            <a:off x="7239000" y="175260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形态：一个进程，四种入口</a:t>
            </a:r>
            <a:endParaRPr/>
          </a:p>
        </p:txBody>
      </p:sp>
      <p:sp>
        <p:nvSpPr>
          <p:cNvPr id="1163" name="" descr="{&quot;isTemplate&quot;:true,&quot;type&quot;:&quot;text&quot;}"/>
          <p:cNvSpPr txBox="1"/>
          <p:nvPr/>
        </p:nvSpPr>
        <p:spPr>
          <a:xfrm rot="0" flipH="0" flipV="0">
            <a:off x="7239000" y="2162175"/>
            <a:ext cx="4381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控制台、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>CLI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通道与定时任务共享同一条消息管线，无外部队列依赖。</a:t>
            </a:r>
            <a:endParaRPr/>
          </a:p>
        </p:txBody>
      </p:sp>
      <p:sp>
        <p:nvSpPr>
          <p:cNvPr id="1164" name=""/>
          <p:cNvSpPr/>
          <p:nvPr/>
        </p:nvSpPr>
        <p:spPr>
          <a:xfrm rot="0" flipH="0" flipV="0">
            <a:off x="7239000" y="2895600"/>
            <a:ext cx="4381500" cy="1285875"/>
          </a:xfrm>
          <a:custGeom>
            <a:pathLst>
              <a:path w="460" h="135">
                <a:moveTo>
                  <a:pt x="0" y="134"/>
                </a:moveTo>
                <a:lnTo>
                  <a:pt x="460" y="134"/>
                </a:lnTo>
                <a:lnTo>
                  <a:pt x="460" y="135"/>
                </a:lnTo>
                <a:lnTo>
                  <a:pt x="0" y="135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65" name="" descr="{&quot;isTemplate&quot;:true,&quot;type&quot;:&quot;text&quot;}"/>
          <p:cNvSpPr txBox="1"/>
          <p:nvPr/>
        </p:nvSpPr>
        <p:spPr>
          <a:xfrm rot="0" flipH="0" flipV="0">
            <a:off x="7239000" y="30289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来源：站在开源生态之上</a:t>
            </a:r>
            <a:endParaRPr/>
          </a:p>
        </p:txBody>
      </p:sp>
      <p:sp>
        <p:nvSpPr>
          <p:cNvPr id="1166" name="" descr="{&quot;isTemplate&quot;:true,&quot;type&quot;:&quot;text&quot;}"/>
          <p:cNvSpPr txBox="1"/>
          <p:nvPr/>
        </p:nvSpPr>
        <p:spPr>
          <a:xfrm rot="0" flipH="0" flipV="0">
            <a:off x="7239000" y="3438525"/>
            <a:ext cx="4381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基于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Octop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开源生态，采用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MIT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许可，并承诺与上游子组件版本同步。</a:t>
            </a:r>
            <a:endParaRPr/>
          </a:p>
        </p:txBody>
      </p:sp>
      <p:sp>
        <p:nvSpPr>
          <p:cNvPr id="1167" name="" descr="{&quot;isTemplate&quot;:true,&quot;type&quot;:&quot;text&quot;}"/>
          <p:cNvSpPr txBox="1"/>
          <p:nvPr/>
        </p:nvSpPr>
        <p:spPr>
          <a:xfrm rot="0" flipH="0" flipV="0">
            <a:off x="7239000" y="430530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边界：不是又一个聊天框</a:t>
            </a:r>
            <a:endParaRPr/>
          </a:p>
        </p:txBody>
      </p:sp>
      <p:sp>
        <p:nvSpPr>
          <p:cNvPr id="1168" name="" descr="{&quot;isTemplate&quot;:true,&quot;type&quot;:&quot;text&quot;}"/>
          <p:cNvSpPr txBox="1"/>
          <p:nvPr/>
        </p:nvSpPr>
        <p:spPr>
          <a:xfrm rot="0" flipH="0" flipV="0">
            <a:off x="7239000" y="4714875"/>
            <a:ext cx="43815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让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带着身份、权限与审计进入业务流程的控制面。</a:t>
            </a:r>
            <a:endParaRPr/>
          </a:p>
        </p:txBody>
      </p:sp>
      <p:sp>
        <p:nvSpPr>
          <p:cNvPr id="1169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170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71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运维复杂度被压缩到一个进程：没有消息队列要管、没有中间件要调，一台机器就能把整套能力跑起来。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172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1 · POSITIONING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会思考、会干活、陪企业成长，是三件不同的事&#13;&#10;        &lt;/Text&gt;&#13;&#10;        &lt;Box style={{ height: 1, background: '#E2E8F0', marginTop: 16 }} /&gt;&#13;&#10;&#13;&#10;        &lt;Box style={{ flex: 1, marginTop: 22, flexDirection: 'row', gap: 32 }}&gt;&#13;&#10;            {/* 主栏：会干活 */}&#13;&#10;            &lt;Box style={{ width: 600, background: '#D6E4F9', borderRadius: 12, padding: 20 }}&gt;&#13;&#10;                &lt;Text style={{ fontSize: 26, fontWeight: 'bold', color: '#1E293B', lineHeight: 1.3 }}&gt;会干活：把结论变成动作&lt;/Text&gt;&#13;&#10;                &lt;Text style={{ fontSize: 17, color: '#475569', lineHeight: 1.5, marginTop: 12 }}&gt;&#13;&#10;                    读写文件、执行 Shell、调用浏览器、生成图片与视频、创建定时任务——动作真实发生在你的机器或沙箱里。&#13;&#10;                &lt;/Text&gt;&#13;&#10;                &lt;Box style={{ height: 1, background: '#93C5FD', marginTop: 14 }} /&gt;&#13;&#10;                &lt;Box style={{ flexDirection: 'row', gap: 12, alignItems: 'flex-start', marginTop: 12 }}&gt;&#13;&#10;                    &lt;Box style={{ width: 8, height: 8, borderRadius: 4, background: '#F59E0B', marginTop: 8 }} /&gt;&#13;&#10;                    &lt;Text style={{ flex: 1, fontSize: 17, color: '#475569', lineHeight: 1.5 }}&gt;&#13;&#10;                        文件与命令：ls / read_file / write_file / edit_file / glob / grep / execute&#13;&#10;                    &lt;/Text&gt;&#13;&#10;                &lt;/Box&gt;&#13;&#10;                &lt;Box style={{ flexDirection: 'row', gap: 12, alignItems: 'flex-start', marginTop: 10 }}&gt;&#13;&#10;                    &lt;Box style={{ width: 8, height: 8, borderRadius: 4, background: '#0891B2', marginTop: 8 }} /&gt;&#13;&#10;                    &lt;Text style={{ flex: 1, fontSize: 17, color: '#475569', lineHeight: 1.5 }}&gt;&#13;&#10;                        联网与验证：5 个搜索后端、web_fetch、browser_use 无头浏览器会话&#13;&#10;                    &lt;/Text&gt;&#13;&#10;                &lt;/Box&gt;&#13;&#10;                &lt;Box style={{ flexDirection: 'row', gap: 12, alignItems: 'flex-start', marginTop: 10 }}&gt;&#13;&#10;                    &lt;Box style={{ width: 8, height: 8, borderRadius: 4, background: '#0891B2', marginTop: 8 }} /&gt;&#13;&#10;                    &lt;Text style={{ flex: 1, fontSize: 17, color: '#475569', lineHeight: 1.5 }}&gt;&#13;&#10;                        交付与排程：文件回传、定时任务增删改查、立即执行&#13;&#10;                    &lt;/Text&gt;&#13;&#10;                &lt;/Box&gt;&#13;&#10;            &lt;/Box&gt;&#13;&#10;&#13;&#10;            {/* 右栏：会思考 + 陪企业成长 */}&#13;&#10;            &lt;Box style={{ width: 528 }}&gt;&#13;&#10;                &lt;Box style={{ background: '#E8EEFB', borderWidth: 1, borderColor: '#C7D6F5', borderStyle: 'solid', borderRadius: 12, padding: 20 }}&gt;&#13;&#10;                    &lt;Text style={{ fontSize: 24, fontWeight: '600', color: '#1E293B', lineHeight: 1.3 }}&gt;会思考：答案锚定私有数据&lt;/Text&gt;&#13;&#10;                    &lt;Text style={{ fontSize: 17, color: '#475569', lineHeight: 1.5, marginTop: 10 }}&gt;&#13;&#10;                        知识库 RAG 给出带出处的答案；长期记忆以三层模型沉淀，跨会话仍认得你的组织。&#13;&#10;                    &lt;/Text&gt;&#13;&#10;                &lt;/Box&gt;&#13;&#10;                &lt;Box style={{ background: '#FFF7E9', borderWidth: 1, borderColor: '#F5D9A4', borderStyle: 'solid', borderRadius: 12, padding: 20, marginTop: 18 }}&gt;&#13;&#10;                    &lt;Text style={{ fontSize: 24, fontWeight: '600', color: '#1E293B', lineHeight: 1.3 }}&gt;陪企业成长：越用越值钱&lt;/Text&gt;&#13;&#10;                    &lt;Text style={{ fontSize: 17, color: '#475569', lineHeight: 1.5, marginTop: 10 }}&gt;&#13;&#10;                        24 个技能包、38 个内置插件与 SkillHub 市场随装随用，配置持续沉淀为组织资产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三者构成闭环：先理解你的上下文，再真的动手，最后把过程沉淀成下一次的能力——而不是一次性的问答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7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117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7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会思考、会干活、陪企业成长，是三件不同的事</a:t>
            </a:r>
            <a:endParaRPr/>
          </a:p>
        </p:txBody>
      </p:sp>
      <p:sp>
        <p:nvSpPr>
          <p:cNvPr id="117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178" name=""/>
          <p:cNvSpPr/>
          <p:nvPr/>
        </p:nvSpPr>
        <p:spPr>
          <a:xfrm rot="0" flipH="0" flipV="0">
            <a:off x="571500" y="1752600"/>
            <a:ext cx="5715000" cy="3581400"/>
          </a:xfrm>
          <a:prstGeom prst="roundRect">
            <a:avLst>
              <a:gd name="adj" fmla="val 3191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1179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53340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1E293B"/>
                </a:solidFill>
                <a:latin typeface="Microsoft YaHei"/>
                <a:ea typeface="Microsoft YaHei"/>
              </a:rPr>
              <a:t>会干活：把结论变成动作</a:t>
            </a:r>
            <a:endParaRPr/>
          </a:p>
        </p:txBody>
      </p:sp>
      <p:sp>
        <p:nvSpPr>
          <p:cNvPr id="1180" name="" descr="{&quot;isTemplate&quot;:true,&quot;type&quot;:&quot;text&quot;}"/>
          <p:cNvSpPr txBox="1"/>
          <p:nvPr/>
        </p:nvSpPr>
        <p:spPr>
          <a:xfrm rot="0" flipH="0" flipV="0">
            <a:off x="762000" y="2447925"/>
            <a:ext cx="5334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读写文件、执行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、调用浏览器、生成图片与视频、创建定时任务——动作真实发生在你的机器或沙箱里。</a:t>
            </a:r>
            <a:endParaRPr/>
          </a:p>
        </p:txBody>
      </p:sp>
      <p:sp>
        <p:nvSpPr>
          <p:cNvPr id="1181" name=""/>
          <p:cNvSpPr/>
          <p:nvPr/>
        </p:nvSpPr>
        <p:spPr>
          <a:xfrm rot="0" flipH="0" flipV="0">
            <a:off x="762000" y="3171825"/>
            <a:ext cx="53340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1182" name=""/>
          <p:cNvSpPr/>
          <p:nvPr/>
        </p:nvSpPr>
        <p:spPr>
          <a:xfrm rot="0" flipH="0" flipV="0">
            <a:off x="762000" y="3371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83" name="" descr="{&quot;isTemplate&quot;:true,&quot;type&quot;:&quot;text&quot;}"/>
          <p:cNvSpPr txBox="1"/>
          <p:nvPr/>
        </p:nvSpPr>
        <p:spPr>
          <a:xfrm rot="0" flipH="0" flipV="0">
            <a:off x="952500" y="3295650"/>
            <a:ext cx="5143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文件与命令：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>ls / read_file / write_file / edit_file / glob / grep / execute</a:t>
            </a:r>
            <a:endParaRPr/>
          </a:p>
        </p:txBody>
      </p:sp>
      <p:sp>
        <p:nvSpPr>
          <p:cNvPr id="1184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185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143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联网与验证：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个搜索后端、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>web_fetch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browser_use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无头浏览器会话</a:t>
            </a:r>
            <a:endParaRPr/>
          </a:p>
        </p:txBody>
      </p:sp>
      <p:sp>
        <p:nvSpPr>
          <p:cNvPr id="1186" name=""/>
          <p:cNvSpPr/>
          <p:nvPr/>
        </p:nvSpPr>
        <p:spPr>
          <a:xfrm rot="0" flipH="0" flipV="0">
            <a:off x="762000" y="47434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187" name="" descr="{&quot;isTemplate&quot;:true,&quot;type&quot;:&quot;text&quot;}"/>
          <p:cNvSpPr txBox="1"/>
          <p:nvPr/>
        </p:nvSpPr>
        <p:spPr>
          <a:xfrm rot="0" flipH="0" flipV="0">
            <a:off x="952500" y="4667250"/>
            <a:ext cx="51435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交付与排程：文件回传、定时任务增删改查、立即执行</a:t>
            </a:r>
            <a:endParaRPr/>
          </a:p>
        </p:txBody>
      </p:sp>
      <p:sp>
        <p:nvSpPr>
          <p:cNvPr id="1188" name=""/>
          <p:cNvSpPr/>
          <p:nvPr/>
        </p:nvSpPr>
        <p:spPr>
          <a:xfrm rot="0" flipH="0" flipV="0">
            <a:off x="6591300" y="1752600"/>
            <a:ext cx="5029200" cy="142875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189" name="" descr="{&quot;isTemplate&quot;:true,&quot;type&quot;:&quot;text&quot;}"/>
          <p:cNvSpPr txBox="1"/>
          <p:nvPr/>
        </p:nvSpPr>
        <p:spPr>
          <a:xfrm rot="0" flipH="0" flipV="0">
            <a:off x="6781800" y="1943100"/>
            <a:ext cx="46482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会思考：答案锚定私有数据</a:t>
            </a:r>
            <a:endParaRPr/>
          </a:p>
        </p:txBody>
      </p:sp>
      <p:sp>
        <p:nvSpPr>
          <p:cNvPr id="1190" name="" descr="{&quot;isTemplate&quot;:true,&quot;type&quot;:&quot;text&quot;}"/>
          <p:cNvSpPr txBox="1"/>
          <p:nvPr/>
        </p:nvSpPr>
        <p:spPr>
          <a:xfrm rot="0" flipH="0" flipV="0">
            <a:off x="6781800" y="2400300"/>
            <a:ext cx="4648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知识库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给出带出处的答案；长期记忆以三层模型沉淀，跨会话仍认得你的组织。</a:t>
            </a:r>
            <a:endParaRPr/>
          </a:p>
        </p:txBody>
      </p:sp>
      <p:sp>
        <p:nvSpPr>
          <p:cNvPr id="1191" name=""/>
          <p:cNvSpPr/>
          <p:nvPr/>
        </p:nvSpPr>
        <p:spPr>
          <a:xfrm rot="0" flipH="0" flipV="0">
            <a:off x="6591300" y="3352800"/>
            <a:ext cx="5029200" cy="1428750"/>
          </a:xfrm>
          <a:prstGeom prst="roundRect">
            <a:avLst>
              <a:gd name="adj" fmla="val 800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192" name="" descr="{&quot;isTemplate&quot;:true,&quot;type&quot;:&quot;text&quot;}"/>
          <p:cNvSpPr txBox="1"/>
          <p:nvPr/>
        </p:nvSpPr>
        <p:spPr>
          <a:xfrm rot="0" flipH="0" flipV="0">
            <a:off x="6781800" y="3543300"/>
            <a:ext cx="46482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陪企业成长：越用越值钱</a:t>
            </a:r>
            <a:endParaRPr/>
          </a:p>
        </p:txBody>
      </p:sp>
      <p:sp>
        <p:nvSpPr>
          <p:cNvPr id="1193" name="" descr="{&quot;isTemplate&quot;:true,&quot;type&quot;:&quot;text&quot;}"/>
          <p:cNvSpPr txBox="1"/>
          <p:nvPr/>
        </p:nvSpPr>
        <p:spPr>
          <a:xfrm rot="0" flipH="0" flipV="0">
            <a:off x="6781800" y="4000500"/>
            <a:ext cx="4648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个技能包、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38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个内置插件与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SkillHub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市场随装随用，配置持续沉淀为组织资产。</a:t>
            </a:r>
            <a:endParaRPr/>
          </a:p>
        </p:txBody>
      </p:sp>
      <p:sp>
        <p:nvSpPr>
          <p:cNvPr id="1194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195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96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三者构成闭环：先理解你的上下文，再真的动手，最后把过程沉淀成下一次的能力——而不是一次性的问答。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197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1 · POSITIONING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一句话说清边界&#13;&#10;        &lt;/Text&gt;&#13;&#10;        &lt;Box style={{ height: 1, background: '#E2E8F0', marginTop: 16 }} /&gt;&#13;&#10;&#13;&#10;        &lt;Box style={{ flex: 1, marginTop: 18 }}&gt;&#13;&#10;            &lt;Text style={{ fontSize: 44, fontWeight: 'bold', color: '#1E293B', lineHeight: 1.35 }}&gt;&#13;&#10;                对话即操作，配置即能力，&lt;span style={{ color: '#2563EB' }}&gt;数据不出内网&lt;/span&gt;&#13;&#10;            &lt;/Text&gt;&#13;&#10;            &lt;Text style={{ fontSize: 20, color: '#64748B', lineHeight: 1.5, marginTop: 22 }}&gt;&#13;&#10;                这三句分别对应三个工程事实：同一条消息管线驱动所有入口、专家与工具都是可配置资产、全部数据落在你自己的机器上。&#13;&#10;            &lt;/Text&gt;&#13;&#10;&#13;&#10;            &lt;Box style={{ flexDirection: 'row', gap: 26, marginTop: 26 }}&gt;&#13;&#10;                &lt;Box style={{ flex: 1, background: '#F8FAFC', borderWidth: 1, borderColor: '#E2E8F0', borderStyle: 'solid', borderRadius: 12, padding: 20 }}&gt;&#13;&#10;                    &lt;Text style={{ fontSize: 56, fontWeight: 'bold', color: '#F59E0B', lineHeight: 1.1 }}&gt;341,291&lt;/Text&gt;&#13;&#10;                    &lt;Text style={{ fontSize: 18, color: '#1E293B', fontWeight: '600', lineHeight: 1.4, marginTop: 8 }}&gt;行自研代码&lt;/Text&gt;&#13;&#10;                    &lt;Text style={{ fontSize: 16, color: '#64748B', lineHeight: 1.5, marginTop: 8 }}&gt;&#13;&#10;                        Python 主包与四个自研子组件合计，工程体量决定可持续演进能力。&#13;&#10;                    &lt;/Text&gt;&#13;&#10;                &lt;/Box&gt;&#13;&#10;                &lt;Box style={{ flex: 1, background: '#F8FAFC', borderWidth: 1, borderColor: '#E2E8F0', borderStyle: 'solid', borderRadius: 12, padding: 20 }}&gt;&#13;&#10;                    &lt;Text style={{ fontSize: 56, fontWeight: 'bold', color: '#2563EB', lineHeight: 1.1 }}&gt;797&lt;/Text&gt;&#13;&#10;                    &lt;Text style={{ fontSize: 18, color: '#1E293B', fontWeight: '600', lineHeight: 1.4, marginTop: 8 }}&gt;个测试文件&lt;/Text&gt;&#13;&#10;                    &lt;Text style={{ fontSize: 16, color: '#64748B', lineHeight: 1.5, marginTop: 8 }}&gt;&#13;&#10;                        覆盖后端、运行时、网关、浏览器与记忆引擎，不是只测主流程。&#13;&#10;                    &lt;/Text&gt;&#13;&#10;                &lt;/Box&gt;&#13;&#10;                &lt;Box style={{ flex: 1, background: '#F8FAFC', borderWidth: 1, borderColor: '#E2E8F0', borderStyle: 'solid', borderRadius: 12, padding: 20 }}&gt;&#13;&#10;                    &lt;Text style={{ fontSize: 56, fontWeight: 'bold', color: '#0891B2', lineHeight: 1.1 }}&gt;MIT&lt;/Text&gt;&#13;&#10;                    &lt;Text style={{ fontSize: 18, color: '#1E293B', fontWeight: '600', lineHeight: 1.4, marginTop: 8 }}&gt;开源许可&lt;/Text&gt;&#13;&#10;                    &lt;Text style={{ fontSize: 16, color: '#64748B', lineHeight: 1.5, marginTop: 8 }}&gt;&#13;&#10;                        无传染性协议约束，企业私有化部署与二次开发没有授权障碍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承诺的性质不同：功能可以模仿，代码体量、测试密度与许可证条款是可以当场核验的事实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120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20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一句话说清边界</a:t>
            </a:r>
            <a:endParaRPr/>
          </a:p>
        </p:txBody>
      </p:sp>
      <p:sp>
        <p:nvSpPr>
          <p:cNvPr id="120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203" name="" descr="{&quot;isTemplate&quot;:true,&quot;type&quot;:&quot;text&quot;}"/>
          <p:cNvSpPr txBox="1"/>
          <p:nvPr/>
        </p:nvSpPr>
        <p:spPr>
          <a:xfrm rot="0" flipH="0" flipV="0">
            <a:off x="571500" y="1714500"/>
            <a:ext cx="11049000" cy="6858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1E293B"/>
                </a:solidFill>
                <a:latin typeface="Microsoft YaHei"/>
                <a:ea typeface="Microsoft YaHei"/>
              </a:rPr>
              <a:t>对话即操作，配置即能力，</a:t>
            </a:r>
            <a:r>
              <a:rPr lang="zh-CN" sz="3300" b="1">
                <a:solidFill>
                  <a:srgbClr val="2563EB"/>
                </a:solidFill>
                <a:latin typeface="Microsoft YaHei"/>
                <a:ea typeface="Microsoft YaHei"/>
              </a:rPr>
              <a:t>数据不出内网</a:t>
            </a:r>
            <a:endParaRPr/>
          </a:p>
        </p:txBody>
      </p:sp>
      <p:sp>
        <p:nvSpPr>
          <p:cNvPr id="1204" name="" descr="{&quot;isTemplate&quot;:true,&quot;type&quot;:&quot;text&quot;}"/>
          <p:cNvSpPr txBox="1"/>
          <p:nvPr/>
        </p:nvSpPr>
        <p:spPr>
          <a:xfrm rot="0" flipH="0" flipV="0">
            <a:off x="571500" y="2609850"/>
            <a:ext cx="1104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这三句分别对应三个工程事实：同一条消息管线驱动所有入口、专家与工具都是可配置资产、全部数据落在你自己的机器上。</a:t>
            </a:r>
            <a:endParaRPr/>
          </a:p>
        </p:txBody>
      </p:sp>
      <p:sp>
        <p:nvSpPr>
          <p:cNvPr id="1205" name=""/>
          <p:cNvSpPr/>
          <p:nvPr/>
        </p:nvSpPr>
        <p:spPr>
          <a:xfrm rot="0" flipH="0" flipV="0">
            <a:off x="571500" y="3200400"/>
            <a:ext cx="3514725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06" name="" descr="{&quot;isTemplate&quot;:true,&quot;type&quot;:&quot;text&quot;}"/>
          <p:cNvSpPr txBox="1"/>
          <p:nvPr/>
        </p:nvSpPr>
        <p:spPr>
          <a:xfrm rot="0" flipH="0" flipV="0">
            <a:off x="762000" y="3390900"/>
            <a:ext cx="3133725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F59E0B"/>
                </a:solidFill>
                <a:latin typeface="Microsoft YaHei"/>
                <a:ea typeface="Microsoft YaHei"/>
              </a:rPr>
              <a:t>341,291</a:t>
            </a:r>
            <a:endParaRPr/>
          </a:p>
        </p:txBody>
      </p:sp>
      <p:sp>
        <p:nvSpPr>
          <p:cNvPr id="1207" name="" descr="{&quot;isTemplate&quot;:true,&quot;type&quot;:&quot;text&quot;}"/>
          <p:cNvSpPr txBox="1"/>
          <p:nvPr/>
        </p:nvSpPr>
        <p:spPr>
          <a:xfrm rot="0" flipH="0" flipV="0">
            <a:off x="762000" y="4171950"/>
            <a:ext cx="3133725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行自研代码</a:t>
            </a:r>
            <a:endParaRPr/>
          </a:p>
        </p:txBody>
      </p:sp>
      <p:sp>
        <p:nvSpPr>
          <p:cNvPr id="1208" name="" descr="{&quot;isTemplate&quot;:true,&quot;type&quot;:&quot;text&quot;}"/>
          <p:cNvSpPr txBox="1"/>
          <p:nvPr/>
        </p:nvSpPr>
        <p:spPr>
          <a:xfrm rot="0" flipH="0" flipV="0">
            <a:off x="762000" y="4543425"/>
            <a:ext cx="31337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主包与四个自研子组件合计，工程体量决定可持续演进能力。</a:t>
            </a:r>
            <a:endParaRPr/>
          </a:p>
        </p:txBody>
      </p:sp>
      <p:sp>
        <p:nvSpPr>
          <p:cNvPr id="1209" name=""/>
          <p:cNvSpPr/>
          <p:nvPr/>
        </p:nvSpPr>
        <p:spPr>
          <a:xfrm rot="0" flipH="0" flipV="0">
            <a:off x="4333875" y="3200400"/>
            <a:ext cx="3524250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10" name="" descr="{&quot;isTemplate&quot;:true,&quot;type&quot;:&quot;text&quot;}"/>
          <p:cNvSpPr txBox="1"/>
          <p:nvPr/>
        </p:nvSpPr>
        <p:spPr>
          <a:xfrm rot="0" flipH="0" flipV="0">
            <a:off x="4524375" y="3390900"/>
            <a:ext cx="3143250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2563EB"/>
                </a:solidFill>
                <a:latin typeface="Microsoft YaHei"/>
                <a:ea typeface="Microsoft YaHei"/>
              </a:rPr>
              <a:t>797</a:t>
            </a:r>
            <a:endParaRPr/>
          </a:p>
        </p:txBody>
      </p:sp>
      <p:sp>
        <p:nvSpPr>
          <p:cNvPr id="1211" name="" descr="{&quot;isTemplate&quot;:true,&quot;type&quot;:&quot;text&quot;}"/>
          <p:cNvSpPr txBox="1"/>
          <p:nvPr/>
        </p:nvSpPr>
        <p:spPr>
          <a:xfrm rot="0" flipH="0" flipV="0">
            <a:off x="4524375" y="4171950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个测试文件</a:t>
            </a:r>
            <a:endParaRPr/>
          </a:p>
        </p:txBody>
      </p:sp>
      <p:sp>
        <p:nvSpPr>
          <p:cNvPr id="1212" name="" descr="{&quot;isTemplate&quot;:true,&quot;type&quot;:&quot;text&quot;}"/>
          <p:cNvSpPr txBox="1"/>
          <p:nvPr/>
        </p:nvSpPr>
        <p:spPr>
          <a:xfrm rot="0" flipH="0" flipV="0">
            <a:off x="4524375" y="4543425"/>
            <a:ext cx="3143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覆盖后端、运行时、网关、浏览器与记忆引擎，不是只测主流程。</a:t>
            </a:r>
            <a:endParaRPr/>
          </a:p>
        </p:txBody>
      </p:sp>
      <p:sp>
        <p:nvSpPr>
          <p:cNvPr id="1213" name=""/>
          <p:cNvSpPr/>
          <p:nvPr/>
        </p:nvSpPr>
        <p:spPr>
          <a:xfrm rot="0" flipH="0" flipV="0">
            <a:off x="8105775" y="3200400"/>
            <a:ext cx="3514725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14" name="" descr="{&quot;isTemplate&quot;:true,&quot;type&quot;:&quot;text&quot;}"/>
          <p:cNvSpPr txBox="1"/>
          <p:nvPr/>
        </p:nvSpPr>
        <p:spPr>
          <a:xfrm rot="0" flipH="0" flipV="0">
            <a:off x="8296275" y="3390900"/>
            <a:ext cx="3133725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0891B2"/>
                </a:solidFill>
                <a:latin typeface="Microsoft YaHei"/>
                <a:ea typeface="Microsoft YaHei"/>
              </a:rPr>
              <a:t>MIT</a:t>
            </a:r>
            <a:endParaRPr/>
          </a:p>
        </p:txBody>
      </p:sp>
      <p:sp>
        <p:nvSpPr>
          <p:cNvPr id="1215" name="" descr="{&quot;isTemplate&quot;:true,&quot;type&quot;:&quot;text&quot;}"/>
          <p:cNvSpPr txBox="1"/>
          <p:nvPr/>
        </p:nvSpPr>
        <p:spPr>
          <a:xfrm rot="0" flipH="0" flipV="0">
            <a:off x="8296275" y="4171950"/>
            <a:ext cx="3133725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开源许可</a:t>
            </a:r>
            <a:endParaRPr/>
          </a:p>
        </p:txBody>
      </p:sp>
      <p:sp>
        <p:nvSpPr>
          <p:cNvPr id="1216" name="" descr="{&quot;isTemplate&quot;:true,&quot;type&quot;:&quot;text&quot;}"/>
          <p:cNvSpPr txBox="1"/>
          <p:nvPr/>
        </p:nvSpPr>
        <p:spPr>
          <a:xfrm rot="0" flipH="0" flipV="0">
            <a:off x="8296275" y="4543425"/>
            <a:ext cx="31337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无传染性协议约束，企业私有化部署与二次开发没有授权障碍。</a:t>
            </a:r>
            <a:endParaRPr/>
          </a:p>
        </p:txBody>
      </p:sp>
      <p:sp>
        <p:nvSpPr>
          <p:cNvPr id="1217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218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219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承诺的性质不同：功能可以模仿，代码体量、测试密度与许可证条款是可以当场核验的事实。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20" name="" descr="&lt;Slide style={{ padding: 60, background: '#F4F6FB', position: 'relative' }}&gt;&#13;&#10;    &lt;Box style={{ position: 'absolute', right: 60, top: 130, width: 420, height: 460 }}&gt;&#13;&#10;        &lt;svg width={420} height={460} viewBox='0 0 420 460'&gt;&#13;&#10;            &lt;rect x='40' y='60' width='340' height='90' rx='10' fill='none' stroke='#C7D6F5' strokeWidth='1' /&gt;&#13;&#10;            &lt;rect x='40' y='190' width='340' height='90' rx='10' fill='none' stroke='#C7D6F5' strokeWidth='1' /&gt;&#13;&#10;            &lt;rect x='40' y='320' width='340' height='90' rx='10' fill='none' stroke='#2563EB' strokeWidth='2' /&gt;&#13;&#10;            &lt;line x1='210' y1='150' x2='210' y2='190' stroke='#0891B2' strokeWidth='2' /&gt;&#13;&#10;            &lt;line x1='210' y1='280' x2='210' y2='320' stroke='#0891B2' strokeWidth='2' /&gt;&#13;&#10;            &lt;circle cx='210' cy='150' r='6' fill='#0891B2' /&gt;&#13;&#10;            &lt;circle cx='210' cy='280' r='6' fill='#0891B2' /&gt;&#13;&#10;            &lt;circle cx='380' cy='365' r='8' fill='#F59E0B' /&gt;&#13;&#10;        &lt;/svg&gt;&#13;&#10;    &lt;/Box&gt;&#13;&#10;&#13;&#10;    &lt;Box style={{ position: 'absolute', left: 92, top: 168, width: 680 }}&gt;&#13;&#10;        &lt;Text style={{ fontSize: 180, fontWeight: 'bold', color: '#CBD9F0', lineHeight: 1.05 }}&gt;&#13;&#10;            02&#13;&#10;        &lt;/Text&gt;&#13;&#10;        &lt;Text style={{ fontSize: 64, fontWeight: 'bold', color: '#1E293B', lineHeight: 1.15, marginTop: 12 }}&gt;&#13;&#10;            能力全景&#13;&#10;        &lt;/Text&gt;&#13;&#10;        &lt;Box style={{ width: 72, height: 6, borderRadius: 3, background: '#F59E0B', marginTop: 30 }} /&gt;&#13;&#10;        &lt;Text style={{ fontSize: 22, color: '#64748B', lineHeight: 1.5, marginTop: 26 }}&gt;&#13;&#10;            从理解业务到动手执行的完整链路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B"/>
          </a:solidFill>
          <a:ln/>
        </p:spPr>
        <p:txBody>
          <a:bodyPr/>
          <a:p/>
        </p:txBody>
      </p:sp>
      <p:pic>
        <p:nvPicPr>
          <p:cNvPr id="12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1223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CBD9F0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24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能力全景</a:t>
            </a:r>
            <a:endParaRPr/>
          </a:p>
        </p:txBody>
      </p:sp>
      <p:sp>
        <p:nvSpPr>
          <p:cNvPr id="1225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26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从理解业务到动手执行的完整链路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227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一套底座，把「理解 — 决策 — 执行 — 沉淀」串成闭环&#13;&#10;        &lt;/Text&gt;&#13;&#10;        &lt;Box style={{ height: 1, background: '#E2E8F0', marginTop: 16 }} /&gt;&#13;&#10;&#13;&#10;        &lt;Box style={{ flex: 1, marginTop: 22 }}&gt;&#13;&#10;            {/* 载体层 */}&#13;&#10;            &lt;Box style={{ flexDirection: 'row', alignItems: 'stretch', gap: 20 }}&gt;&#13;&#10;                &lt;Box style={{ width: 132, background: '#D6E4F9', borderRadius: 10, justifyContent: 'center', alignItems: 'center', padding: 12 }}&gt;&#13;&#10;                    &lt;Text style={{ fontSize: 18, fontWeight: '600', color: '#1E293B', lineHeight: 1.3 }}&gt;载体层&lt;/Text&gt;&#13;&#10;                    &lt;Text style={{ fontSize: 14, color: '#475569', lineHeight: 1.3 }}&gt;人从哪里用&lt;/Text&gt;&#13;&#10;                &lt;/Box&gt;&#13;&#10;                &lt;Box style={{ flex: 1, flexDirection: 'row', gap: 10 }}&gt;&#13;&#10;                    &lt;Box style={{ flex: 1, background: '#F4F6FB', borderWidth: 1, borderColor: '#E2E8F0', borderStyle: 'solid', borderRadius: 10, padding: 12, justifyContent: 'center' }}&gt;&#13;&#10;                        &lt;Text style={{ fontSize: 17, fontWeight: '600', color: '#1E293B', lineHeight: 1.3 }}&gt;Web 控制台&lt;/Text&gt;&#13;&#10;                        &lt;Text style={{ fontSize: 14, color: '#64748B', lineHeight: 1.3 }}&gt;React + WebSocket&lt;/Text&gt;&#13;&#10;                    &lt;/Box&gt;&#13;&#10;                    &lt;Box style={{ flex: 1, background: '#F4F6FB', borderWidth: 1, borderColor: '#E2E8F0', borderStyle: 'solid', borderRadius: 10, padding: 12, justifyContent: 'center' }}&gt;&#13;&#10;                        &lt;Text style={{ fontSize: 17, fontWeight: '600', color: '#1E293B', lineHeight: 1.3 }}&gt;命令行 CLI&lt;/Text&gt;&#13;&#10;                        &lt;Text style={{ fontSize: 14, color: '#64748B', lineHeight: 1.3 }}&gt;21 个子命令&lt;/Text&gt;&#13;&#10;                    &lt;/Box&gt;&#13;&#10;                    &lt;Box style={{ flex: 1, background: '#F4F6FB', borderWidth: 1, borderColor: '#E2E8F0', borderStyle: 'solid', borderRadius: 10, padding: 12, justifyContent: 'center' }}&gt;&#13;&#10;                        &lt;Text style={{ fontSize: 17, fontWeight: '600', color: '#1E293B', lineHeight: 1.3 }}&gt;IM 通道&lt;/Text&gt;&#13;&#10;                        &lt;Text style={{ fontSize: 14, color: '#64748B', lineHeight: 1.3 }}&gt;10 个平台&lt;/Text&gt;&#13;&#10;                    &lt;/Box&gt;&#13;&#10;                    &lt;Box style={{ flex: 1, background: '#F4F6FB', borderWidth: 1, borderColor: '#E2E8F0', borderStyle: 'solid', borderRadius: 10, padding: 12, justifyContent: 'center' }}&gt;&#13;&#10;                        &lt;Text style={{ fontSize: 17, fontWeight: '600', color: '#1E293B', lineHeight: 1.3 }}&gt;定时任务&lt;/Text&gt;&#13;&#10;                        &lt;Text style={{ fontSize: 14, color: '#64748B', lineHeight: 1.3 }}&gt;主动推送&lt;/Text&gt;&#13;&#10;                    &lt;/Box&gt;&#13;&#10;                    &lt;Box style={{ flex: 1, background: '#F4F6FB', borderWidth: 1, borderColor: '#E2E8F0', borderStyle: 'solid', borderRadius: 10, padding: 12, justifyContent: 'center' }}&gt;&#13;&#10;                        &lt;Text style={{ fontSize: 17, fontWeight: '600', color: '#1E293B', lineHeight: 1.3 }}&gt;ACP / MCP&lt;/Text&gt;&#13;&#10;                        &lt;Text style={{ fontSize: 14, color: '#64748B', lineHeight: 1.3 }}&gt;双向协议&lt;/Text&gt;&#13;&#10;                    &lt;/Box&gt;&#13;&#10;                &lt;/Box&gt;&#13;&#10;            &lt;/Box&gt;&#13;&#10;&#13;&#10;            {/* 能力层 */}&#13;&#10;            &lt;Box style={{ flexDirection: 'row', alignItems: 'stretch', gap: 20, marginTop: 14 }}&gt;&#13;&#10;                &lt;Box style={{ width: 132, background: '#D5EEF3', borderRadius: 10, justifyContent: 'center', alignItems: 'center', padding: 12 }}&gt;&#13;&#10;                    &lt;Text style={{ fontSize: 18, fontWeight: '600', color: '#1E293B', lineHeight: 1.3 }}&gt;能力层&lt;/Text&gt;&#13;&#10;                    &lt;Text style={{ fontSize: 14, color: '#475569', lineHeight: 1.3 }}&gt;AI 会什么&lt;/Text&gt;&#13;&#10;                &lt;/Box&gt;&#13;&#10;                &lt;Box style={{ flex: 1 }}&gt;&#13;&#10;                    &lt;Box style={{ flexDirection: 'row', gap: 10 }}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专家与团队&lt;/Text&gt;&#13;&#10;                            &lt;Text style={{ fontSize: 14, color: '#64748B', lineHeight: 1.3 }}&gt;37 个专家 / 团队编排&lt;/Text&gt;&#13;&#10;                        &lt;/Box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知识库 RAG&lt;/Text&gt;&#13;&#10;                            &lt;Text style={{ fontSize: 14, color: '#64748B', lineHeight: 1.3 }}&gt;解析到引用溯源&lt;/Text&gt;&#13;&#10;                        &lt;/Box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长期记忆&lt;/Text&gt;&#13;&#10;                            &lt;Text style={{ fontSize: 14, color: '#64748B', lineHeight: 1.3 }}&gt;三层记忆模型&lt;/Text&gt;&#13;&#10;                        &lt;/Box&gt;&#13;&#10;                    &lt;/Box&gt;&#13;&#10;                    &lt;Box style={{ flexDirection: 'row', gap: 10, marginTop: 10 }}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技能与插件&lt;/Text&gt;&#13;&#10;                            &lt;Text style={{ fontSize: 14, color: '#64748B', lineHeight: 1.3 }}&gt;24 技能 / 38 插件&lt;/Text&gt;&#13;&#10;                        &lt;/Box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工具与执行&lt;/Text&gt;&#13;&#10;                            &lt;Text style={{ fontSize: 14, color: '#64748B', lineHeight: 1.3 }}&gt;文件 / Shell / 浏览器&lt;/Text&gt;&#13;&#10;                        &lt;/Box&gt;&#13;&#10;                        &lt;Box style={{ flex: 1, background: '#E8EEFB', borderWidth: 1, borderColor: '#C7D6F5', borderStyle: 'solid', borderRadius: 10, padding: 11, justifyContent: 'center' }}&gt;&#13;&#10;                            &lt;Text style={{ fontSize: 16, fontWeight: '600', color: '#1E293B', lineHeight: 1.3 }}&gt;Connector&lt;/Text&gt;&#13;&#10;                            &lt;Text style={{ fontSize: 14, color: '#64748B', lineHeight: 1.3 }}&gt;47 个外部系统&lt;/Text&gt;&#13;&#10;                        &lt;/Box&gt;&#13;&#10;                    &lt;/Box&gt;&#13;&#10;                &lt;/Box&gt;&#13;&#10;            &lt;/Box&gt;&#13;&#10;&#13;&#10;            {/* 运行时层 */}&#13;&#10;            &lt;Box style={{ flexDirection: 'row', alignItems: 'stretch', gap: 20, marginTop: 14 }}&gt;&#13;&#10;                &lt;Box style={{ width: 132, background: '#E8EEFB', borderWidth: 1, borderColor: '#C7D6F5', borderStyle: 'solid', borderRadius: 10, justifyContent: 'center', alignItems: 'center', padding: 12 }}&gt;&#13;&#10;                    &lt;Text style={{ fontSize: 18, fontWeight: '600', color: '#1E293B', lineHeight: 1.3 }}&gt;运行时&lt;/Text&gt;&#13;&#10;                    &lt;Text style={{ fontSize: 14, color: '#64748B', lineHeight: 1.3 }}&gt;底座是什么&lt;/Text&gt;&#13;&#10;                &lt;/Box&gt;&#13;&#10;                &lt;Box style={{ flex: 1, background: '#F4F6FB', borderWidth: 1, borderColor: '#E2E8F0', borderStyle: 'solid', borderRadius: 10, padding: 14, flexDirection: 'row', alignItems: 'center', justifyContent: 'space-between' }}&gt;&#13;&#10;                    &lt;Text style={{ fontSize: 17, color: '#334155', lineHeight: 1.3 }}&gt;LangGraph Agent 运行时 · 对话检查点&lt;/Text&gt;&#13;&#10;                    &lt;Box style={{ width: 1, height: 22, background: '#C7D6F5' }} /&gt;&#13;&#10;                    &lt;Text style={{ fontSize: 17, color: '#334155', lineHeight: 1.3 }}&gt;记忆与检索引擎&lt;/Text&gt;&#13;&#10;                    &lt;Box style={{ width: 1, height: 22, background: '#C7D6F5' }} /&gt;&#13;&#10;                    &lt;Text style={{ fontSize: 17, color: '#334155', lineHeight: 1.3 }}&gt;控制面 SQLite / PostgreSQL&lt;/Text&gt;&#13;&#10;                &lt;/Box&gt;&#13;&#10;            &lt;/Box&gt;&#13;&#10;        &lt;/Box&gt;&#13;&#10;&#13;&#10;        &lt;Box style={{ marginTop: 18, flexDirection: 'row', alignItems: 'center', background: '#F4F6FB', borderRadius: 8, padding: 14, gap: 16 }}&gt;&#13;&#10;            &lt;Box style={{ width: 4, height: 44, borderRadius: 2, background: '#F59E0B' }} /&gt;&#13;&#10;            &lt;Text style={{ flex: 1, fontSize: 18, color: '#1E293B', lineHeight: 1.5 }}&gt;&#13;&#10;                三层之间不是拼凑的工具清单：载体共用一条消息管线，能力共用一套身份与审计，底座共用一份控制面数据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23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23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一套底座，把「理解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决策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执行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沉淀」串成闭环</a:t>
            </a:r>
            <a:endParaRPr/>
          </a:p>
        </p:txBody>
      </p:sp>
      <p:sp>
        <p:nvSpPr>
          <p:cNvPr id="123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233" name=""/>
          <p:cNvSpPr/>
          <p:nvPr/>
        </p:nvSpPr>
        <p:spPr>
          <a:xfrm rot="0" flipH="0" flipV="0">
            <a:off x="571500" y="1752600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1234" name="" descr="{&quot;isTemplate&quot;:true,&quot;type&quot;:&quot;text&quot;}"/>
          <p:cNvSpPr txBox="1"/>
          <p:nvPr/>
        </p:nvSpPr>
        <p:spPr>
          <a:xfrm rot="0" flipH="0" flipV="0">
            <a:off x="942975" y="186690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载体层</a:t>
            </a:r>
            <a:endParaRPr/>
          </a:p>
        </p:txBody>
      </p:sp>
      <p:sp>
        <p:nvSpPr>
          <p:cNvPr id="1235" name="" descr="{&quot;isTemplate&quot;:true,&quot;type&quot;:&quot;text&quot;}"/>
          <p:cNvSpPr txBox="1"/>
          <p:nvPr/>
        </p:nvSpPr>
        <p:spPr>
          <a:xfrm rot="0" flipH="0" flipV="0">
            <a:off x="866775" y="21431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人从哪里用</a:t>
            </a:r>
            <a:endParaRPr/>
          </a:p>
        </p:txBody>
      </p:sp>
      <p:sp>
        <p:nvSpPr>
          <p:cNvPr id="1236" name=""/>
          <p:cNvSpPr/>
          <p:nvPr/>
        </p:nvSpPr>
        <p:spPr>
          <a:xfrm rot="0" flipH="0" flipV="0">
            <a:off x="201930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37" name="" descr="{&quot;isTemplate&quot;:true,&quot;type&quot;:&quot;text&quot;}"/>
          <p:cNvSpPr txBox="1"/>
          <p:nvPr/>
        </p:nvSpPr>
        <p:spPr>
          <a:xfrm rot="0" flipH="0" flipV="0">
            <a:off x="213360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控制台</a:t>
            </a:r>
            <a:endParaRPr/>
          </a:p>
        </p:txBody>
      </p:sp>
      <p:sp>
        <p:nvSpPr>
          <p:cNvPr id="1238" name="" descr="{&quot;isTemplate&quot;:true,&quot;type&quot;:&quot;text&quot;}"/>
          <p:cNvSpPr txBox="1"/>
          <p:nvPr/>
        </p:nvSpPr>
        <p:spPr>
          <a:xfrm rot="0" flipH="0" flipV="0">
            <a:off x="213360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React + WebSocket</a:t>
            </a:r>
            <a:endParaRPr/>
          </a:p>
        </p:txBody>
      </p:sp>
      <p:sp>
        <p:nvSpPr>
          <p:cNvPr id="1239" name=""/>
          <p:cNvSpPr/>
          <p:nvPr/>
        </p:nvSpPr>
        <p:spPr>
          <a:xfrm rot="0" flipH="0" flipV="0">
            <a:off x="3962400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40" name="" descr="{&quot;isTemplate&quot;:true,&quot;type&quot;:&quot;text&quot;}"/>
          <p:cNvSpPr txBox="1"/>
          <p:nvPr/>
        </p:nvSpPr>
        <p:spPr>
          <a:xfrm rot="0" flipH="0" flipV="0">
            <a:off x="4076700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命令行</a:t>
            </a: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CLI</a:t>
            </a:r>
            <a:endParaRPr/>
          </a:p>
        </p:txBody>
      </p:sp>
      <p:sp>
        <p:nvSpPr>
          <p:cNvPr id="1241" name="" descr="{&quot;isTemplate&quot;:true,&quot;type&quot;:&quot;text&quot;}"/>
          <p:cNvSpPr txBox="1"/>
          <p:nvPr/>
        </p:nvSpPr>
        <p:spPr>
          <a:xfrm rot="0" flipH="0" flipV="0">
            <a:off x="4076700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个子命令</a:t>
            </a:r>
            <a:endParaRPr/>
          </a:p>
        </p:txBody>
      </p:sp>
      <p:sp>
        <p:nvSpPr>
          <p:cNvPr id="1242" name=""/>
          <p:cNvSpPr/>
          <p:nvPr/>
        </p:nvSpPr>
        <p:spPr>
          <a:xfrm rot="0" flipH="0" flipV="0">
            <a:off x="5895975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43" name="" descr="{&quot;isTemplate&quot;:true,&quot;type&quot;:&quot;text&quot;}"/>
          <p:cNvSpPr txBox="1"/>
          <p:nvPr/>
        </p:nvSpPr>
        <p:spPr>
          <a:xfrm rot="0" flipH="0" flipV="0">
            <a:off x="6010275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通道</a:t>
            </a:r>
            <a:endParaRPr/>
          </a:p>
        </p:txBody>
      </p:sp>
      <p:sp>
        <p:nvSpPr>
          <p:cNvPr id="1244" name="" descr="{&quot;isTemplate&quot;:true,&quot;type&quot;:&quot;text&quot;}"/>
          <p:cNvSpPr txBox="1"/>
          <p:nvPr/>
        </p:nvSpPr>
        <p:spPr>
          <a:xfrm rot="0" flipH="0" flipV="0">
            <a:off x="6010275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个平台</a:t>
            </a:r>
            <a:endParaRPr/>
          </a:p>
        </p:txBody>
      </p:sp>
      <p:sp>
        <p:nvSpPr>
          <p:cNvPr id="1245" name=""/>
          <p:cNvSpPr/>
          <p:nvPr/>
        </p:nvSpPr>
        <p:spPr>
          <a:xfrm rot="0" flipH="0" flipV="0">
            <a:off x="7839075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46" name="" descr="{&quot;isTemplate&quot;:true,&quot;type&quot;:&quot;text&quot;}"/>
          <p:cNvSpPr txBox="1"/>
          <p:nvPr/>
        </p:nvSpPr>
        <p:spPr>
          <a:xfrm rot="0" flipH="0" flipV="0">
            <a:off x="7953375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1247" name="" descr="{&quot;isTemplate&quot;:true,&quot;type&quot;:&quot;text&quot;}"/>
          <p:cNvSpPr txBox="1"/>
          <p:nvPr/>
        </p:nvSpPr>
        <p:spPr>
          <a:xfrm rot="0" flipH="0" flipV="0">
            <a:off x="7953375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主动推送</a:t>
            </a:r>
            <a:endParaRPr/>
          </a:p>
        </p:txBody>
      </p:sp>
      <p:sp>
        <p:nvSpPr>
          <p:cNvPr id="1248" name=""/>
          <p:cNvSpPr/>
          <p:nvPr/>
        </p:nvSpPr>
        <p:spPr>
          <a:xfrm rot="0" flipH="0" flipV="0">
            <a:off x="977265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49" name="" descr="{&quot;isTemplate&quot;:true,&quot;type&quot;:&quot;text&quot;}"/>
          <p:cNvSpPr txBox="1"/>
          <p:nvPr/>
        </p:nvSpPr>
        <p:spPr>
          <a:xfrm rot="0" flipH="0" flipV="0">
            <a:off x="988695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>ACP / MCP</a:t>
            </a:r>
            <a:endParaRPr/>
          </a:p>
        </p:txBody>
      </p:sp>
      <p:sp>
        <p:nvSpPr>
          <p:cNvPr id="1250" name="" descr="{&quot;isTemplate&quot;:true,&quot;type&quot;:&quot;text&quot;}"/>
          <p:cNvSpPr txBox="1"/>
          <p:nvPr/>
        </p:nvSpPr>
        <p:spPr>
          <a:xfrm rot="0" flipH="0" flipV="0">
            <a:off x="988695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双向协议</a:t>
            </a:r>
            <a:endParaRPr/>
          </a:p>
        </p:txBody>
      </p:sp>
      <p:sp>
        <p:nvSpPr>
          <p:cNvPr id="1251" name=""/>
          <p:cNvSpPr/>
          <p:nvPr/>
        </p:nvSpPr>
        <p:spPr>
          <a:xfrm rot="0" flipH="0" flipV="0">
            <a:off x="571500" y="2600325"/>
            <a:ext cx="1257300" cy="1409700"/>
          </a:xfrm>
          <a:prstGeom prst="roundRect">
            <a:avLst>
              <a:gd name="adj" fmla="val 7576"/>
            </a:avLst>
          </a:prstGeom>
          <a:solidFill>
            <a:srgbClr val="D5EEF3"/>
          </a:solidFill>
          <a:ln/>
        </p:spPr>
        <p:txBody>
          <a:bodyPr/>
          <a:p/>
        </p:txBody>
      </p:sp>
      <p:sp>
        <p:nvSpPr>
          <p:cNvPr id="1252" name="" descr="{&quot;isTemplate&quot;:true,&quot;type&quot;:&quot;text&quot;}"/>
          <p:cNvSpPr txBox="1"/>
          <p:nvPr/>
        </p:nvSpPr>
        <p:spPr>
          <a:xfrm rot="0" flipH="0" flipV="0">
            <a:off x="942975" y="306705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能力层</a:t>
            </a:r>
            <a:endParaRPr/>
          </a:p>
        </p:txBody>
      </p:sp>
      <p:sp>
        <p:nvSpPr>
          <p:cNvPr id="1253" name="" descr="{&quot;isTemplate&quot;:true,&quot;type&quot;:&quot;text&quot;}"/>
          <p:cNvSpPr txBox="1"/>
          <p:nvPr/>
        </p:nvSpPr>
        <p:spPr>
          <a:xfrm rot="0" flipH="0" flipV="0">
            <a:off x="914400" y="3343275"/>
            <a:ext cx="5810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会什么</a:t>
            </a:r>
            <a:endParaRPr/>
          </a:p>
        </p:txBody>
      </p:sp>
      <p:sp>
        <p:nvSpPr>
          <p:cNvPr id="1254" name=""/>
          <p:cNvSpPr/>
          <p:nvPr/>
        </p:nvSpPr>
        <p:spPr>
          <a:xfrm rot="0" flipH="0" flipV="0">
            <a:off x="2019300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55" name="" descr="{&quot;isTemplate&quot;:true,&quot;type&quot;:&quot;text&quot;}"/>
          <p:cNvSpPr txBox="1"/>
          <p:nvPr/>
        </p:nvSpPr>
        <p:spPr>
          <a:xfrm rot="0" flipH="0" flipV="0">
            <a:off x="2124075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专家与团队</a:t>
            </a:r>
            <a:endParaRPr/>
          </a:p>
        </p:txBody>
      </p:sp>
      <p:sp>
        <p:nvSpPr>
          <p:cNvPr id="1256" name="" descr="{&quot;isTemplate&quot;:true,&quot;type&quot;:&quot;text&quot;}"/>
          <p:cNvSpPr txBox="1"/>
          <p:nvPr/>
        </p:nvSpPr>
        <p:spPr>
          <a:xfrm rot="0" flipH="0" flipV="0">
            <a:off x="2124075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37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个专家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团队编排</a:t>
            </a:r>
            <a:endParaRPr/>
          </a:p>
        </p:txBody>
      </p:sp>
      <p:sp>
        <p:nvSpPr>
          <p:cNvPr id="1257" name=""/>
          <p:cNvSpPr/>
          <p:nvPr/>
        </p:nvSpPr>
        <p:spPr>
          <a:xfrm rot="0" flipH="0" flipV="0">
            <a:off x="5248275" y="2600325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58" name="" descr="{&quot;isTemplate&quot;:true,&quot;type&quot;:&quot;text&quot;}"/>
          <p:cNvSpPr txBox="1"/>
          <p:nvPr/>
        </p:nvSpPr>
        <p:spPr>
          <a:xfrm rot="0" flipH="0" flipV="0">
            <a:off x="5353050" y="2705100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知识库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RAG</a:t>
            </a:r>
            <a:endParaRPr/>
          </a:p>
        </p:txBody>
      </p:sp>
      <p:sp>
        <p:nvSpPr>
          <p:cNvPr id="1259" name="" descr="{&quot;isTemplate&quot;:true,&quot;type&quot;:&quot;text&quot;}"/>
          <p:cNvSpPr txBox="1"/>
          <p:nvPr/>
        </p:nvSpPr>
        <p:spPr>
          <a:xfrm rot="0" flipH="0" flipV="0">
            <a:off x="5353050" y="2943225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解析到引用溯源</a:t>
            </a:r>
            <a:endParaRPr/>
          </a:p>
        </p:txBody>
      </p:sp>
      <p:sp>
        <p:nvSpPr>
          <p:cNvPr id="1260" name=""/>
          <p:cNvSpPr/>
          <p:nvPr/>
        </p:nvSpPr>
        <p:spPr>
          <a:xfrm rot="0" flipH="0" flipV="0">
            <a:off x="8486775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61" name="" descr="{&quot;isTemplate&quot;:true,&quot;type&quot;:&quot;text&quot;}"/>
          <p:cNvSpPr txBox="1"/>
          <p:nvPr/>
        </p:nvSpPr>
        <p:spPr>
          <a:xfrm rot="0" flipH="0" flipV="0">
            <a:off x="8591550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长期记忆</a:t>
            </a:r>
            <a:endParaRPr/>
          </a:p>
        </p:txBody>
      </p:sp>
      <p:sp>
        <p:nvSpPr>
          <p:cNvPr id="1262" name="" descr="{&quot;isTemplate&quot;:true,&quot;type&quot;:&quot;text&quot;}"/>
          <p:cNvSpPr txBox="1"/>
          <p:nvPr/>
        </p:nvSpPr>
        <p:spPr>
          <a:xfrm rot="0" flipH="0" flipV="0">
            <a:off x="8591550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三层记忆模型</a:t>
            </a:r>
            <a:endParaRPr/>
          </a:p>
        </p:txBody>
      </p:sp>
      <p:sp>
        <p:nvSpPr>
          <p:cNvPr id="1263" name=""/>
          <p:cNvSpPr/>
          <p:nvPr/>
        </p:nvSpPr>
        <p:spPr>
          <a:xfrm rot="0" flipH="0" flipV="0">
            <a:off x="2019300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64" name="" descr="{&quot;isTemplate&quot;:true,&quot;type&quot;:&quot;text&quot;}"/>
          <p:cNvSpPr txBox="1"/>
          <p:nvPr/>
        </p:nvSpPr>
        <p:spPr>
          <a:xfrm rot="0" flipH="0" flipV="0">
            <a:off x="2124075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技能与插件</a:t>
            </a:r>
            <a:endParaRPr/>
          </a:p>
        </p:txBody>
      </p:sp>
      <p:sp>
        <p:nvSpPr>
          <p:cNvPr id="1265" name="" descr="{&quot;isTemplate&quot;:true,&quot;type&quot;:&quot;text&quot;}"/>
          <p:cNvSpPr txBox="1"/>
          <p:nvPr/>
        </p:nvSpPr>
        <p:spPr>
          <a:xfrm rot="0" flipH="0" flipV="0">
            <a:off x="2124075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技能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38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插件</a:t>
            </a:r>
            <a:endParaRPr/>
          </a:p>
        </p:txBody>
      </p:sp>
      <p:sp>
        <p:nvSpPr>
          <p:cNvPr id="1266" name=""/>
          <p:cNvSpPr/>
          <p:nvPr/>
        </p:nvSpPr>
        <p:spPr>
          <a:xfrm rot="0" flipH="0" flipV="0">
            <a:off x="5248275" y="3352800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67" name="" descr="{&quot;isTemplate&quot;:true,&quot;type&quot;:&quot;text&quot;}"/>
          <p:cNvSpPr txBox="1"/>
          <p:nvPr/>
        </p:nvSpPr>
        <p:spPr>
          <a:xfrm rot="0" flipH="0" flipV="0">
            <a:off x="5353050" y="3457575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工具与执行</a:t>
            </a:r>
            <a:endParaRPr/>
          </a:p>
        </p:txBody>
      </p:sp>
      <p:sp>
        <p:nvSpPr>
          <p:cNvPr id="1268" name="" descr="{&quot;isTemplate&quot;:true,&quot;type&quot;:&quot;text&quot;}"/>
          <p:cNvSpPr txBox="1"/>
          <p:nvPr/>
        </p:nvSpPr>
        <p:spPr>
          <a:xfrm rot="0" flipH="0" flipV="0">
            <a:off x="5353050" y="3695700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文件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Shell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浏览器</a:t>
            </a:r>
            <a:endParaRPr/>
          </a:p>
        </p:txBody>
      </p:sp>
      <p:sp>
        <p:nvSpPr>
          <p:cNvPr id="1269" name=""/>
          <p:cNvSpPr/>
          <p:nvPr/>
        </p:nvSpPr>
        <p:spPr>
          <a:xfrm rot="0" flipH="0" flipV="0">
            <a:off x="8486775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70" name="" descr="{&quot;isTemplate&quot;:true,&quot;type&quot;:&quot;text&quot;}"/>
          <p:cNvSpPr txBox="1"/>
          <p:nvPr/>
        </p:nvSpPr>
        <p:spPr>
          <a:xfrm rot="0" flipH="0" flipV="0">
            <a:off x="8591550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>Connector</a:t>
            </a:r>
            <a:endParaRPr/>
          </a:p>
        </p:txBody>
      </p:sp>
      <p:sp>
        <p:nvSpPr>
          <p:cNvPr id="1271" name="" descr="{&quot;isTemplate&quot;:true,&quot;type&quot;:&quot;text&quot;}"/>
          <p:cNvSpPr txBox="1"/>
          <p:nvPr/>
        </p:nvSpPr>
        <p:spPr>
          <a:xfrm rot="0" flipH="0" flipV="0">
            <a:off x="8591550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47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个外部系统</a:t>
            </a:r>
            <a:endParaRPr/>
          </a:p>
        </p:txBody>
      </p:sp>
      <p:sp>
        <p:nvSpPr>
          <p:cNvPr id="1272" name=""/>
          <p:cNvSpPr/>
          <p:nvPr/>
        </p:nvSpPr>
        <p:spPr>
          <a:xfrm rot="0" flipH="0" flipV="0">
            <a:off x="571500" y="4143375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273" name="" descr="{&quot;isTemplate&quot;:true,&quot;type&quot;:&quot;text&quot;}"/>
          <p:cNvSpPr txBox="1"/>
          <p:nvPr/>
        </p:nvSpPr>
        <p:spPr>
          <a:xfrm rot="0" flipH="0" flipV="0">
            <a:off x="942975" y="4257675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运行时</a:t>
            </a:r>
            <a:endParaRPr/>
          </a:p>
        </p:txBody>
      </p:sp>
      <p:sp>
        <p:nvSpPr>
          <p:cNvPr id="1274" name="" descr="{&quot;isTemplate&quot;:true,&quot;type&quot;:&quot;text&quot;}"/>
          <p:cNvSpPr txBox="1"/>
          <p:nvPr/>
        </p:nvSpPr>
        <p:spPr>
          <a:xfrm rot="0" flipH="0" flipV="0">
            <a:off x="866775" y="45339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底座是什么</a:t>
            </a:r>
            <a:endParaRPr/>
          </a:p>
        </p:txBody>
      </p:sp>
      <p:sp>
        <p:nvSpPr>
          <p:cNvPr id="1275" name=""/>
          <p:cNvSpPr/>
          <p:nvPr/>
        </p:nvSpPr>
        <p:spPr>
          <a:xfrm rot="0" flipH="0" flipV="0">
            <a:off x="2019300" y="4143375"/>
            <a:ext cx="9601200" cy="714375"/>
          </a:xfrm>
          <a:prstGeom prst="roundRect">
            <a:avLst>
              <a:gd name="adj" fmla="val 1333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76" name="" descr="{&quot;isTemplate&quot;:true,&quot;type&quot;:&quot;text&quot;}"/>
          <p:cNvSpPr txBox="1"/>
          <p:nvPr/>
        </p:nvSpPr>
        <p:spPr>
          <a:xfrm rot="0" flipH="0" flipV="0">
            <a:off x="2152650" y="4371975"/>
            <a:ext cx="28479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>
                <a:solidFill>
                  <a:srgbClr val="334155"/>
                </a:solidFill>
                <a:latin typeface="Microsoft YaHei"/>
                <a:ea typeface="Microsoft YaHei"/>
              </a:rPr>
              <a:t xml:space="preserve">LangGraph Agent </a:t>
            </a:r>
            <a:r>
              <a:rPr lang="zh-CN" sz="1275">
                <a:solidFill>
                  <a:srgbClr val="334155"/>
                </a:solidFill>
                <a:latin typeface="Microsoft YaHei"/>
                <a:ea typeface="Microsoft YaHei"/>
              </a:rPr>
              <a:t>运行时</a:t>
            </a:r>
            <a:r>
              <a:rPr lang="en-US" sz="1275">
                <a:solidFill>
                  <a:srgbClr val="33415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34155"/>
                </a:solidFill>
                <a:latin typeface="Microsoft YaHei"/>
                <a:ea typeface="Microsoft YaHei"/>
              </a:rPr>
              <a:t>对话检查点</a:t>
            </a:r>
            <a:endParaRPr/>
          </a:p>
        </p:txBody>
      </p:sp>
      <p:sp>
        <p:nvSpPr>
          <p:cNvPr id="1277" name=""/>
          <p:cNvSpPr/>
          <p:nvPr/>
        </p:nvSpPr>
        <p:spPr>
          <a:xfrm rot="0" flipH="0" flipV="0">
            <a:off x="5810250" y="4400550"/>
            <a:ext cx="9525" cy="20955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278" name="" descr="{&quot;isTemplate&quot;:true,&quot;type&quot;:&quot;text&quot;}"/>
          <p:cNvSpPr txBox="1"/>
          <p:nvPr/>
        </p:nvSpPr>
        <p:spPr>
          <a:xfrm rot="0" flipH="0" flipV="0">
            <a:off x="6629400" y="4371975"/>
            <a:ext cx="11334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334155"/>
                </a:solidFill>
                <a:latin typeface="Microsoft YaHei"/>
                <a:ea typeface="Microsoft YaHei"/>
              </a:rPr>
              <a:t>记忆与检索引擎</a:t>
            </a:r>
            <a:endParaRPr/>
          </a:p>
        </p:txBody>
      </p:sp>
      <p:sp>
        <p:nvSpPr>
          <p:cNvPr id="1279" name=""/>
          <p:cNvSpPr/>
          <p:nvPr/>
        </p:nvSpPr>
        <p:spPr>
          <a:xfrm rot="0" flipH="0" flipV="0">
            <a:off x="8572500" y="4400550"/>
            <a:ext cx="9525" cy="20955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280" name="" descr="{&quot;isTemplate&quot;:true,&quot;type&quot;:&quot;text&quot;}"/>
          <p:cNvSpPr txBox="1"/>
          <p:nvPr/>
        </p:nvSpPr>
        <p:spPr>
          <a:xfrm rot="0" flipH="0" flipV="0">
            <a:off x="9391650" y="437197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334155"/>
                </a:solidFill>
                <a:latin typeface="Microsoft YaHei"/>
                <a:ea typeface="Microsoft YaHei"/>
              </a:rPr>
              <a:t>控制面</a:t>
            </a:r>
            <a:r>
              <a:rPr lang="en-US" sz="1275">
                <a:solidFill>
                  <a:srgbClr val="334155"/>
                </a:solidFill>
                <a:latin typeface="Microsoft YaHei"/>
                <a:ea typeface="Microsoft YaHei"/>
              </a:rPr>
              <a:t xml:space="preserve"> SQLite / PostgreSQL</a:t>
            </a:r>
            <a:endParaRPr/>
          </a:p>
        </p:txBody>
      </p:sp>
      <p:sp>
        <p:nvSpPr>
          <p:cNvPr id="1281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282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83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E293B"/>
                </a:solidFill>
                <a:latin typeface="Microsoft YaHei"/>
                <a:ea typeface="Microsoft YaHei"/>
              </a:rPr>
              <a:t>三层之间不是拼凑的工具清单：载体共用一条消息管线，能力共用一套身份与审计，底座共用一份控制面数据。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一个实例，全公司共用，彼此看不见对方&#13;&#10;        &lt;/Text&gt;&#13;&#10;        &lt;Box style={{ height: 1, background: '#E2E8F0', marginTop: 16 }} /&gt;&#13;&#10;&#13;&#10;        &lt;Box style={{ flex: 1, marginTop: 22, flexDirection: 'row', gap: 32 }}&gt;&#13;&#10;            {/* 左标题色块 */}&#13;&#10;            &lt;Box style={{ width: 300, background: '#D6E4F9', borderRadius: 12, padding: 24 }}&gt;&#13;&#10;                &lt;Text style={{ fontSize: 24, fontWeight: 'bold', color: '#1E293B', lineHeight: 1.3 }}&gt;多用户 · 多 Agent&lt;/Text&gt;&#13;&#10;                &lt;Box style={{ width: 48, height: 4, borderRadius: 2, background: '#F59E0B', marginTop: 16 }} /&gt;&#13;&#10;                &lt;Text style={{ fontSize: 16, color: '#475569', lineHeight: 1.5, marginTop: 18 }}&gt;&#13;&#10;                    隔离粒度落在数据库行：agents.user_id 逐级校验，管理员可跨用户运维，普通用户只能看到自己的资源。&#13;&#10;                &lt;/Text&gt;&#13;&#10;                &lt;Text style={{ fontSize: 15, color: '#475569', lineHeight: 1.5, marginTop: 16 }}&gt;&#13;&#10;                    权限目录 + 角色模板 + 资源所有权三项，决定了谁能看谁的数据。&#13;&#10;                &lt;/Text&gt;&#13;&#10;            &lt;/Box&gt;&#13;&#10;&#13;&#10;            {/* 右侧三级关系图 */}&#13;&#10;            &lt;Box style={{ width: 828 }}&gt;&#13;&#10;                &lt;Box style={{ flexDirection: 'row', alignItems: 'center' }}&gt;&#13;&#10;                    &lt;Box style={{ width: 250 }}&gt;&#13;&#10;                        &lt;Text style={{ fontSize: 18, fontWeight: '600', color: '#2563EB', lineHeight: 1.3, marginBottom: 10 }}&gt;用户&lt;/Text&gt;&#13;&#10;                        &lt;Box style={{ background: '#F4F6FB', borderWidth: 1, borderColor: '#E2E8F0', borderStyle: 'solid', borderRadius: 8, padding: 11, marginBottom: 8 }}&gt;&#13;&#10;                            &lt;Text style={{ fontSize: 16, color: '#1E293B', lineHeight: 1.4 }}&gt;管理员 · 拥有全局运维视角&lt;/Text&gt;&#13;&#10;                        &lt;/Box&gt;&#13;&#10;                        &lt;Box style={{ background: '#F4F6FB', borderWidth: 1, borderColor: '#E2E8F0', borderStyle: 'solid', borderRadius: 8, padding: 11, marginBottom: 8 }}&gt;&#13;&#10;                            &lt;Text style={{ fontSize: 16, color: '#1E293B', lineHeight: 1.4 }}&gt;普通成员 · 仅限自身资源&lt;/Text&gt;&#13;&#10;                        &lt;/Box&gt;&#13;&#10;                        &lt;Box style={{ background: '#F4F6FB', borderWidth: 1, borderColor: '#E2E8F0', borderStyle: 'solid', borderRadius: 8, padding: 11 }}&gt;&#13;&#10;                            &lt;Text style={{ fontSize: 16, color: '#1E293B', lineHeight: 1.4 }}&gt;外部协作 · 邀请码与角色&lt;/Text&gt;&#13;&#10;                        &lt;/Box&gt;&#13;&#10;                    &lt;/Box&gt;&#13;&#10;                    &lt;Box style={{ width: 38, alignItems: 'center', justifyContent: 'center' }}&gt;&#13;&#10;                        &lt;svg width={38} height={22} viewBox='0 0 38 22'&gt;&#13;&#10;                            &lt;path d='M0 11 L26 11' stroke='#2563EB' strokeWidth='2' /&gt;&#13;&#10;                            &lt;path d='M26 4 L38 11 L26 18 Z' fill='#2563EB' /&gt;&#13;&#10;                        &lt;/svg&gt;&#13;&#10;                    &lt;/Box&gt;&#13;&#10;                    &lt;Box style={{ width: 250 }}&gt;&#13;&#10;                        &lt;Text style={{ fontSize: 18, fontWeight: '600', color: '#2563EB', lineHeight: 1.3, marginBottom: 10 }}&gt;Agent&lt;/Text&gt;&#13;&#10;                        &lt;Box style={{ background: '#E8EEFB', borderWidth: 1, borderColor: '#C7D6F5', borderStyle: 'solid', borderRadius: 8, padding: 11, marginBottom: 8 }}&gt;&#13;&#10;                            &lt;Text style={{ fontSize: 16, color: '#1E293B', lineHeight: 1.4 }}&gt;专家 · 独立提示词与人格&lt;/Text&gt;&#13;&#10;                        &lt;/Box&gt;&#13;&#10;                        &lt;Box style={{ background: '#E8EEFB', borderWidth: 1, borderColor: '#C7D6F5', borderStyle: 'solid', borderRadius: 8, padding: 11, marginBottom: 8 }}&gt;&#13;&#10;                            &lt;Text style={{ fontSize: 16, color: '#1E293B', lineHeight: 1.4 }}&gt;团队 · 协调者调度成员&lt;/Text&gt;&#13;&#10;                        &lt;/Box&gt;&#13;&#10;                        &lt;Box style={{ background: '#E8EEFB', borderWidth: 1, borderColor: '#C7D6F5', borderStyle: 'solid', borderRadius: 8, padding: 11 }}&gt;&#13;&#10;                            &lt;Text style={{ fontSize: 16, color: '#1E293B', lineHeight: 1.4 }}&gt;线程 · 会话与上下文&lt;/Text&gt;&#13;&#10;                        &lt;/Box&gt;&#13;&#10;                    &lt;/Box&gt;&#13;&#10;                    &lt;Box style={{ width: 38, alignItems: 'center', justifyContent: 'center' }}&gt;&#13;&#10;                        &lt;svg width={38} height={22} viewBox='0 0 38 22'&gt;&#13;&#10;                            &lt;path d='M0 11 L26 11' stroke='#0891B2' strokeWidth='2' /&gt;&#13;&#10;                            &lt;path d='M26 4 L38 11 L26 18 Z' fill='#0891B2' /&gt;&#13;&#10;                        &lt;/svg&gt;&#13;&#10;                    &lt;/Box&gt;&#13;&#10;                    &lt;Box style={{ width: 250 }}&gt;&#13;&#10;                        &lt;Text style={{ fontSize: 18, fontWeight: '600', color: '#2563EB', lineHeight: 1.3, marginBottom: 10 }}&gt;工作区与通道&lt;/Text&gt;&#13;&#10;                        &lt;Box style={{ background: '#E6F7F9', borderWidth: 1, borderColor: '#B6E3EA', borderStyle: 'solid', borderRadius: 8, padding: 11, marginBottom: 8 }}&gt;&#13;&#10;                            &lt;Text style={{ fontSize: 16, color: '#1E293B', lineHeight: 1.4 }}&gt;本地磁盘 / Docker 沙箱&lt;/Text&gt;&#13;&#10;                        &lt;/Box&gt;&#13;&#10;                        &lt;Box style={{ background: '#E6F7F9', borderWidth: 1, borderColor: '#B6E3EA', borderStyle: 'solid', borderRadius: 8, padding: 11, marginBottom: 8 }}&gt;&#13;&#10;                            &lt;Text style={{ fontSize: 16, color: '#1E293B', lineHeight: 1.4 }}&gt;对象存储 COS / S3 / OSS&lt;/Text&gt;&#13;&#10;                        &lt;/Box&gt;&#13;&#10;                        &lt;Box style={{ background: '#E6F7F9', borderWidth: 1, borderColor: '#B6E3EA', borderStyle: 'solid', borderRadius: 8, padding: 11 }}&gt;&#13;&#10;                            &lt;Text style={{ fontSize: 16, color: '#1E293B', lineHeight: 1.4 }}&gt;各自的 IM 通道与定时任务&lt;/Text&gt;&#13;&#10;                        &lt;/Box&gt;&#13;&#10;                    &lt;/Box&gt;&#13;&#10;                &lt;/Box&gt;&#13;&#10;                &lt;Text style={{ fontSize: 17, color: '#475569', lineHeight: 1.5, marginTop: 18 }}&gt;&#13;&#10;                    每位用户可以创建多个 Agent，每个 Agent 自带独立的模型配置、技能集合、通道绑定与定时策略——共用一台服务器，不共用一份上下文。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一人运维、全员使用：服务器是共享的成本项，数据与智能体资产是严格隔离的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一个实例，全公司共用，彼此看不见对方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1" name=""/>
          <p:cNvSpPr/>
          <p:nvPr/>
        </p:nvSpPr>
        <p:spPr>
          <a:xfrm rot="0" flipH="0" flipV="0">
            <a:off x="571500" y="1752600"/>
            <a:ext cx="2857500" cy="3581400"/>
          </a:xfrm>
          <a:prstGeom prst="roundRect">
            <a:avLst>
              <a:gd name="adj" fmla="val 40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00100" y="1981200"/>
            <a:ext cx="24003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多用户</a:t>
            </a: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多</a:t>
            </a: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00100" y="249555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00100" y="2705100"/>
            <a:ext cx="24003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隔离粒度落在数据库行：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agents.user_id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逐级校验，管理员可跨用户运维，普通用户只能看到自己的资源。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3962400"/>
            <a:ext cx="2400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权限目录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角色模板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资源所有权三项，决定了谁能看谁的数据。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7338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2563EB"/>
                </a:solidFill>
                <a:latin typeface="Microsoft YaHei"/>
                <a:ea typeface="Microsoft YaHei"/>
              </a:rPr>
              <a:t>用户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7338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385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管理员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拥有全局运维视角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7338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385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普通成员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仅限自身资源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37338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385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外部协作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邀请码与角色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15050" y="2609850"/>
            <a:ext cx="361950" cy="20955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4770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350" b="1">
                <a:solidFill>
                  <a:srgbClr val="2563EB"/>
                </a:solidFill>
                <a:latin typeface="Microsoft YaHei"/>
                <a:ea typeface="Microsoft YaHei"/>
              </a:rPr>
              <a:t>Agent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4770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5817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专家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独立提示词与人格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770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817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团队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协调者调度成员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64770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5817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线程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会话与上下文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609850"/>
            <a:ext cx="361950" cy="209550"/>
          </a:xfrm>
          <a:prstGeom prst="rect">
            <a:avLst/>
          </a:prstGeom>
          <a:ln/>
        </p:spPr>
      </p:pic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2202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2563EB"/>
                </a:solidFill>
                <a:latin typeface="Microsoft YaHei"/>
                <a:ea typeface="Microsoft YaHei"/>
              </a:rPr>
              <a:t>工作区与通道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92202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3249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本地磁盘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/ Docker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沙箱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92202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3249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对象存储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COS / S3 / OSS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92202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3249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各自的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 xml:space="preserve"> IM 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通道与定时任务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733800" y="3848100"/>
            <a:ext cx="7886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每位用户可以创建多个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，每个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自带独立的模型配置、技能集合、通道绑定与定时策略——共用一台服务器，不共用一份上下文。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一人运维、全员使用：服务器是共享的成本项，数据与智能体资产是严格隔离的。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岗位角色不是提示词妆容，而是可复用的资产&#13;&#10;        &lt;/Text&gt;&#13;&#10;        &lt;Box style={{ height: 1, background: '#E2E8F0', marginTop: 16 }} /&gt;&#13;&#10;&#13;&#10;        &lt;Box style={{ flex: 1, marginTop: 22, flexDirection: 'row', gap: 24, alignItems: 'stretch' }}&gt;&#13;&#10;            {/* 主卡 */}&#13;&#10;            &lt;Box style={{ width: 548, background: '#D6E4F9', borderRadius: 12, padding: 20 }}&gt;&#13;&#10;                &lt;Text style={{ fontSize: 60, fontWeight: 'bold', color: '#F59E0B', lineHeight: 1.05 }}&gt;37&lt;/Text&gt;&#13;&#10;                &lt;Text style={{ fontSize: 22, fontWeight: '600', color: '#1E293B', lineHeight: 1.3, marginTop: 6 }}&gt;内置专家模板&lt;/Text&gt;&#13;&#10;                &lt;Text style={{ fontSize: 16, color: '#475569', lineHeight: 1.5, marginTop: 12 }}&gt;&#13;&#10;                    开箱即用的是成建制的岗位定义，而不是空白对话框。&#13;&#10;                &lt;/Text&gt;&#13;&#10;                &lt;Box style={{ height: 1, background: '#93C5FD', marginTop: 16 }} /&gt;&#13;&#10;                &lt;Box style={{ flexDirection: 'row', gap: 10, marginTop: 14 }}&gt;&#13;&#10;                    &lt;Box style={{ background: '#D6E4F9', borderRadius: 6, padding: 8 }}&gt;&#13;&#10;                        &lt;Text style={{ fontSize: 15, color: '#1E293B', lineHeight: 1.3 }}&gt;code-reviewer&lt;/Text&gt;&#13;&#10;                    &lt;/Box&gt;&#13;&#10;                    &lt;Box style={{ background: '#D6E4F9', borderRadius: 6, padding: 8 }}&gt;&#13;&#10;                        &lt;Text style={{ fontSize: 15, color: '#1E293B', lineHeight: 1.3 }}&gt;data-analyst&lt;/Text&gt;&#13;&#10;                    &lt;/Box&gt;&#13;&#10;                    &lt;Box style={{ background: '#D6E4F9', borderRadius: 6, padding: 8 }}&gt;&#13;&#10;                        &lt;Text style={{ fontSize: 15, color: '#1E293B', lineHeight: 1.3 }}&gt;devops-engineer&lt;/Text&gt;&#13;&#10;                    &lt;/Box&gt;&#13;&#10;                &lt;/Box&gt;&#13;&#10;                &lt;Text style={{ fontSize: 16, color: '#475569', lineHeight: 1.5, marginTop: 16 }}&gt;&#13;&#10;                    覆盖研发、数据、运维、安全、法务、人力、市场、财务等职能；可发布到同实例供他人取用。&#13;&#10;                &lt;/Text&gt;&#13;&#10;            &lt;/Box&gt;&#13;&#10;&#13;&#10;            {/* 次卡 1 */}&#13;&#10;            &lt;Box style={{ width: 332, background: '#E8EEFB', borderWidth: 1, borderColor: '#C7D6F5', borderStyle: 'solid', borderRadius: 12, padding: 22 }}&gt;&#13;&#10;                &lt;Text style={{ fontSize: 56, fontWeight: 'bold', color: '#2563EB', lineHeight: 1.05 }}&gt;16&lt;/Text&gt;&#13;&#10;                &lt;Text style={{ fontSize: 21, fontWeight: '600', color: '#1E293B', lineHeight: 1.3, marginTop: 6 }}&gt;MBTI 人格模板&lt;/Text&gt;&#13;&#10;                &lt;Text style={{ fontSize: 16, color: '#475569', lineHeight: 1.5, marginTop: 12 }}&gt;&#13;&#10;                    为 Agent 设定稳定一致的沟通风格与表达边界，并内置互动测试帮助团队挑选合适的性格设定。&#13;&#10;                &lt;/Text&gt;&#13;&#10;                &lt;Text style={{ fontSize: 16, color: '#475569', lineHeight: 1.5, marginTop: 12 }}&gt;&#13;&#10;                    同一套知识库，配上不同人格，就能服务不同场景的沟通需求。&#13;&#10;                &lt;/Text&gt;&#13;&#10;            &lt;/Box&gt;&#13;&#10;&#13;&#10;            {/* 次卡 2 */}&#13;&#10;            &lt;Box style={{ width: 232, background: '#E6F7F9', borderWidth: 1, borderColor: '#B6E3EA', borderStyle: 'solid', borderRadius: 12, padding: 20 }}&gt;&#13;&#10;                &lt;Text style={{ fontSize: 48, fontWeight: 'bold', color: '#0891B2', lineHeight: 1.05 }}&gt;217&lt;/Text&gt;&#13;&#10;                &lt;Text style={{ fontSize: 20, fontWeight: '600', color: '#1E293B', lineHeight: 1.3, marginTop: 6 }}&gt;专职子 Agent&lt;/Text&gt;&#13;&#10;                &lt;Text style={{ fontSize: 15, color: '#475569', lineHeight: 1.5, marginTop: 12 }}&gt;&#13;&#10;                    16 个职能域、中英双语共 489 份定义，可作为被委派的专职成员。&#13;&#10;                &lt;/Text&gt;&#13;&#10;                &lt;Text style={{ fontSize: 15, color: '#475569', lineHeight: 1.5, marginTop: 10 }}&gt;&#13;&#10;                    主 Agent 专注编排，专项任务交给专职成员完成。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8, borderRadius: 2, background: '#2563EB' }} /&gt;&#13;&#10;            &lt;Text style={{ flex: 1, fontSize: 19, color: '#1E293B', lineHeight: 1.5 }}&gt;&#13;&#10;                角色可以被发布、被复用、被独立修改——业务部门自己就能沉淀岗位资产，而不必每次都找工程师改提示词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岗位角色不是提示词妆容，而是可复用的资产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9" name=""/>
          <p:cNvSpPr/>
          <p:nvPr/>
        </p:nvSpPr>
        <p:spPr>
          <a:xfrm rot="0" flipH="0" flipV="0">
            <a:off x="571500" y="1752600"/>
            <a:ext cx="5219700" cy="3581400"/>
          </a:xfrm>
          <a:prstGeom prst="roundRect">
            <a:avLst>
              <a:gd name="adj" fmla="val 3191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4838700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F59E0B"/>
                </a:solidFill>
                <a:latin typeface="Microsoft YaHei"/>
                <a:ea typeface="Microsoft YaHei"/>
              </a:rPr>
              <a:t>37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62000" y="2724150"/>
            <a:ext cx="48387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内置专家模板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62000" y="3171825"/>
            <a:ext cx="48387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开箱即用的是成建制的岗位定义，而不是空白对话框。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62000" y="3600450"/>
            <a:ext cx="48387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762000" y="3743325"/>
            <a:ext cx="1133475" cy="381000"/>
          </a:xfrm>
          <a:prstGeom prst="roundRect">
            <a:avLst>
              <a:gd name="adj" fmla="val 150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38200" y="3819525"/>
            <a:ext cx="9810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>code-reviewer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1990725" y="3743325"/>
            <a:ext cx="1000125" cy="381000"/>
          </a:xfrm>
          <a:prstGeom prst="roundRect">
            <a:avLst>
              <a:gd name="adj" fmla="val 150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2066925" y="3819525"/>
            <a:ext cx="8477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>data-analyst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3086100" y="3743325"/>
            <a:ext cx="1314450" cy="381000"/>
          </a:xfrm>
          <a:prstGeom prst="roundRect">
            <a:avLst>
              <a:gd name="adj" fmla="val 150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3162300" y="3819525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>devops-engineer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4276725"/>
            <a:ext cx="4838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覆盖研发、数据、运维、安全、法务、人力、市场、财务等职能；可发布到同实例供他人取用。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019800" y="1752600"/>
            <a:ext cx="3162300" cy="3581400"/>
          </a:xfrm>
          <a:prstGeom prst="roundRect">
            <a:avLst>
              <a:gd name="adj" fmla="val 361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229350" y="1962150"/>
            <a:ext cx="2743200" cy="6762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200" b="1">
                <a:solidFill>
                  <a:srgbClr val="2563EB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229350" y="2695575"/>
            <a:ext cx="2743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MBTI </a:t>
            </a: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人格模板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229350" y="3124200"/>
            <a:ext cx="27432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为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设定稳定一致的沟通风格与表达边界，并内置互动测试帮助团队挑选合适的性格设定。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229350" y="4067175"/>
            <a:ext cx="2743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同一套知识库，配上不同人格，就能服务不同场景的沟通需求。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9410700" y="1752600"/>
            <a:ext cx="2209800" cy="3581400"/>
          </a:xfrm>
          <a:prstGeom prst="roundRect">
            <a:avLst>
              <a:gd name="adj" fmla="val 517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9601200" y="1943100"/>
            <a:ext cx="182880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891B2"/>
                </a:solidFill>
                <a:latin typeface="Microsoft YaHei"/>
                <a:ea typeface="Microsoft YaHei"/>
              </a:rPr>
              <a:t>217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9601200" y="2581275"/>
            <a:ext cx="18288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专职子</a:t>
            </a:r>
            <a:r>
              <a:rPr lang="en-US" sz="15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601200" y="3000375"/>
            <a:ext cx="18288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16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个职能域、中英双语共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489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份定义，可作为被委派的专职成员。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9601200" y="3867150"/>
            <a:ext cx="1828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主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专注编排，专项任务交给专职成员完成。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角色可以被发布、被复用、被独立修改——业务部门自己就能沉淀岗位资产，而不必每次都找工程师改提示词。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4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复杂任务交给协调者，而不是靠一个人写长提示词&#13;&#10;        &lt;/Text&gt;&#13;&#10;        &lt;Box style={{ height: 1, background: '#E2E8F0', marginTop: 16 }} /&gt;&#13;&#10;&#13;&#10;        &lt;Box style={{ flex: 1, marginTop: 22 }}&gt;&#13;&#10;            {/* 流程链 */}&#13;&#10;            &lt;Box style={{ flexDirection: 'row', alignItems: 'stretch' }}&gt;&#13;&#10;                &lt;Box style={{ width: 200, background: '#F4F6FB', borderWidth: 1, borderColor: '#E2E8F0', borderStyle: 'solid', borderRadius: 10, padding: 14 }}&gt;&#13;&#10;                    &lt;Text style={{ fontSize: 16, fontWeight: '600', color: '#94A3B8', lineHeight: 1.3 }}&gt;STEP 01&lt;/Text&gt;&#13;&#10;                    &lt;Text style={{ fontSize: 19, fontWeight: '600', color: '#1E293B', lineHeight: 1.3, marginTop: 6 }}&gt;任务进入&lt;/Text&gt;&#13;&#10;                    &lt;Text style={{ fontSize: 15, color: '#64748B', lineHeight: 1.5, marginTop: 8 }}&gt;&#13;&#10;                        多步骤目标从任一入口提交，落到同一会话线程。&#13;&#10;                    &lt;/Text&gt;&#13;&#10;                &lt;/Box&gt;&#13;&#10;                &lt;Box style={{ width: 26, justifyContent: 'center', alignItems: 'center' }}&gt;&#13;&#10;                    &lt;svg width={26} height={18} viewBox='0 0 26 18'&gt;&#13;&#10;                        &lt;path d='M0 9 L16 9' stroke='#2563EB' strokeWidth='2' /&gt;&#13;&#10;                        &lt;path d='M16 2 L26 9 L16 16 Z' fill='#2563EB' /&gt;&#13;&#10;                    &lt;/svg&gt;&#13;&#10;                &lt;/Box&gt;&#13;&#10;                &lt;Box style={{ width: 200, background: '#D6E4F9', borderRadius: 10, padding: 14 }}&gt;&#13;&#10;                    &lt;Text style={{ fontSize: 16, fontWeight: '600', color: '#475569', lineHeight: 1.3 }}&gt;STEP 02&lt;/Text&gt;&#13;&#10;                    &lt;Text style={{ fontSize: 19, fontWeight: '600', color: '#1E293B', lineHeight: 1.3, marginTop: 6 }}&gt;协调者拆解&lt;/Text&gt;&#13;&#10;                    &lt;Text style={{ fontSize: 15, color: '#475569', lineHeight: 1.5, marginTop: 8 }}&gt;&#13;&#10;                        主持人 Agent 拆分子目标，识别所需专长。&#13;&#10;                    &lt;/Text&gt;&#13;&#10;                &lt;/Box&gt;&#13;&#10;                &lt;Box style={{ width: 26, justifyContent: 'center', alignItems: 'center' }}&gt;&#13;&#10;                    &lt;svg width={26} height={18} viewBox='0 0 26 18'&gt;&#13;&#10;                        &lt;path d='M0 9 L16 9' stroke='#0891B2' strokeWidth='2' /&gt;&#13;&#10;                        &lt;path d='M16 2 L26 9 L16 16 Z' fill='#0891B2' /&gt;&#13;&#10;                    &lt;/svg&gt;&#13;&#10;                &lt;/Box&gt;&#13;&#10;                &lt;Box style={{ width: 200, background: '#F4F6FB', borderWidth: 1, borderColor: '#E2E8F0', borderStyle: 'solid', borderRadius: 10, padding: 14 }}&gt;&#13;&#10;                    &lt;Text style={{ fontSize: 16, fontWeight: '600', color: '#94A3B8', lineHeight: 1.3 }}&gt;STEP 03&lt;/Text&gt;&#13;&#10;                    &lt;Text style={{ fontSize: 19, fontWeight: '600', color: '#1E293B', lineHeight: 1.3, marginTop: 6 }}&gt;异步派工&lt;/Text&gt;&#13;&#10;                    &lt;Text style={{ fontSize: 15, color: '#64748B', lineHeight: 1.5, marginTop: 8 }}&gt;&#13;&#10;                        通过邮箱队列向成员专家投递任务，互不阻塞。&#13;&#10;                    &lt;/Text&gt;&#13;&#10;                &lt;/Box&gt;&#13;&#10;                &lt;Box style={{ width: 26, justifyContent: 'center', alignItems: 'center' }}&gt;&#13;&#10;                    &lt;svg width={26} height={18} viewBox='0 0 26 18'&gt;&#13;&#10;                        &lt;path d='M0 9 L16 9' stroke='#0891B2' strokeWidth='2' /&gt;&#13;&#10;                        &lt;path d='M16 2 L26 9 L16 16 Z' fill='#0891B2' /&gt;&#13;&#10;                    &lt;/svg&gt;&#13;&#10;                &lt;/Box&gt;&#13;&#10;                &lt;Box style={{ width: 200, background: '#F4F6FB', borderWidth: 1, borderColor: '#E2E8F0', borderStyle: 'solid', borderRadius: 10, padding: 14 }}&gt;&#13;&#10;                    &lt;Text style={{ fontSize: 16, fontWeight: '600', color: '#94A3B8', lineHeight: 1.3 }}&gt;STEP 04&lt;/Text&gt;&#13;&#10;                    &lt;Text style={{ fontSize: 19, fontWeight: '600', color: '#1E293B', lineHeight: 1.3, marginTop: 6 }}&gt;成员执行&lt;/Text&gt;&#13;&#10;                    &lt;Text style={{ fontSize: 15, color: '#64748B', lineHeight: 1.5, marginTop: 8 }}&gt;&#13;&#10;                        成员在各自线程内调用工具与知识库完成任务。&#13;&#10;                    &lt;/Text&gt;&#13;&#10;                &lt;/Box&gt;&#13;&#10;                &lt;Box style={{ width: 26, justifyContent: 'center', alignItems: 'center' }}&gt;&#13;&#10;                    &lt;svg width={26} height={18} viewBox='0 0 26 18'&gt;&#13;&#10;                        &lt;path d='M0 9 L16 9' stroke='#F59E0B' strokeWidth='2' /&gt;&#13;&#10;                        &lt;path d='M16 2 L26 9 L16 16 Z' fill='#F59E0B' /&gt;&#13;&#10;                    &lt;/svg&gt;&#13;&#10;                &lt;/Box&gt;&#13;&#10;                &lt;Box style={{ width: 200, background: '#FFF7E9', borderWidth: 1, borderColor: '#F5D9A4', borderStyle: 'solid', borderRadius: 10, padding: 14 }}&gt;&#13;&#10;                    &lt;Text style={{ fontSize: 16, fontWeight: '600', color: '#B45309', lineHeight: 1.3 }}&gt;STEP 05&lt;/Text&gt;&#13;&#10;                    &lt;Text style={{ fontSize: 19, fontWeight: '600', color: '#1E293B', lineHeight: 1.3, marginTop: 6 }}&gt;回流汇总&lt;/Text&gt;&#13;&#10;                    &lt;Text style={{ fontSize: 15, color: '#64748B', lineHeight: 1.5, marginTop: 8 }}&gt;&#13;&#10;                        结果写回父线程检查点，按角色分条呈现。&#13;&#10;                    &lt;/Text&gt;&#13;&#10;                &lt;/Box&gt;&#13;&#10;            &lt;/Box&gt;&#13;&#10;&#13;&#10;            {/* 输出条 */}&#13;&#10;            &lt;Box style={{ flexDirection: 'row', gap: 20, marginTop: 20 }}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邮箱队列，不是无限级联&lt;/Text&gt;&#13;&#10;                    &lt;Text style={{ fontSize: 16, color: '#475569', lineHeight: 1.5, marginTop: 8 }}&gt;&#13;&#10;                        基于收件箱管理与统一处理器，成员回复精确落回发起线程，避免上下文在多轮调用中漂移丢失。&#13;&#10;                    &lt;/Text&gt;&#13;&#10;                &lt;/Box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过程可见，中途可干预&lt;/Text&gt;&#13;&#10;                    &lt;Text style={{ fontSize: 16, color: '#475569', lineHeight: 1.5, marginTop: 8 }}&gt;&#13;&#10;                        对话区按发言 Agent 分角色渲染，实时快照与收尾摘要同步展示，随时可以插话或叫停。&#13;&#10;                    &lt;/Text&gt;&#13;&#10;                &lt;/Box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跨入口同一套链路&lt;/Text&gt;&#13;&#10;                    &lt;Text style={{ fontSize: 16, color: '#475569', lineHeight: 1.5, marginTop: 8 }}&gt;&#13;&#10;                        控制台、命令行、IM 与定时任务触发的团队任务，走的是同一条处理管线，不会因入口不同而行为分叉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把一次性的复杂任务变成可编排、可追溯的流水线——这是多步骤业务真正能被托付出去的前提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复杂任务交给协调者，而不是靠一个人写长提示词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5715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48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任务进入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048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多步骤目标从任一入口提交，落到同一会话线程。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76500" y="2390775"/>
            <a:ext cx="247650" cy="17145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272415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285750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475569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285750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协调者拆解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285750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主持人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拆分子目标，识别所需专长。</a:t>
            </a:r>
            <a:endParaRPr/>
          </a:p>
        </p:txBody>
      </p:sp>
      <p:pic>
        <p:nvPicPr>
          <p:cNvPr id="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2390775"/>
            <a:ext cx="247650" cy="171450"/>
          </a:xfrm>
          <a:prstGeom prst="rect">
            <a:avLst/>
          </a:prstGeom>
          <a:ln/>
        </p:spPr>
      </p:pic>
      <p:sp>
        <p:nvSpPr>
          <p:cNvPr id="100" name=""/>
          <p:cNvSpPr/>
          <p:nvPr/>
        </p:nvSpPr>
        <p:spPr>
          <a:xfrm rot="0" flipH="0" flipV="0">
            <a:off x="48768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50101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03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0101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异步派工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0101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通过邮箱队列向成员专家投递任务，互不阻塞。</a:t>
            </a:r>
            <a:endParaRPr/>
          </a:p>
        </p:txBody>
      </p:sp>
      <p:pic>
        <p:nvPicPr>
          <p:cNvPr id="1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81800" y="2390775"/>
            <a:ext cx="247650" cy="171450"/>
          </a:xfrm>
          <a:prstGeom prst="rect">
            <a:avLst/>
          </a:prstGeom>
          <a:ln/>
        </p:spPr>
      </p:pic>
      <p:sp>
        <p:nvSpPr>
          <p:cNvPr id="105" name=""/>
          <p:cNvSpPr/>
          <p:nvPr/>
        </p:nvSpPr>
        <p:spPr>
          <a:xfrm rot="0" flipH="0" flipV="0">
            <a:off x="702945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16280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16280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成员执行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16280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成员在各自线程内调用工具与知识库完成任务。</a:t>
            </a:r>
            <a:endParaRPr/>
          </a:p>
        </p:txBody>
      </p:sp>
      <p:pic>
        <p:nvPicPr>
          <p:cNvPr id="1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934450" y="2390775"/>
            <a:ext cx="247650" cy="171450"/>
          </a:xfrm>
          <a:prstGeom prst="rect">
            <a:avLst/>
          </a:prstGeom>
          <a:ln/>
        </p:spPr>
      </p:pic>
      <p:sp>
        <p:nvSpPr>
          <p:cNvPr id="110" name=""/>
          <p:cNvSpPr/>
          <p:nvPr/>
        </p:nvSpPr>
        <p:spPr>
          <a:xfrm rot="0" flipH="0" flipV="0">
            <a:off x="91821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3154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B45309"/>
                </a:solidFill>
                <a:latin typeface="Microsoft YaHei"/>
                <a:ea typeface="Microsoft YaHei"/>
              </a:rPr>
              <a:t>STEP 05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3154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回流汇总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3154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结果写回父线程检查点，按角色分条呈现。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71500" y="3381375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23900" y="3533775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邮箱队列，不是无限级联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23900" y="3886200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基于收件箱管理与统一处理器，成员回复精确落回发起线程，避免上下文在多轮调用中漂移丢失。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4314825" y="3381375"/>
            <a:ext cx="356235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467225" y="3533775"/>
            <a:ext cx="32575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过程可见，中途可干预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467225" y="3886200"/>
            <a:ext cx="3257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对话区按发言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分角色渲染，实时快照与收尾摘要同步展示，随时可以插话或叫停。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8067675" y="3381375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220075" y="3533775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跨入口同一套链路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220075" y="3886200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控制台、命令行、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与定时任务触发的团队任务，走的是同一条处理管线，不会因入口不同而行为分叉。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把一次性的复杂任务变成可编排、可追溯的流水线——这是多步骤业务真正能被托付出去的前提。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26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换个会话还认得你，靠的是结构化的记忆而不是更长的上下文&#13;&#10;        &lt;/Text&gt;&#13;&#10;        &lt;Box style={{ height: 1, background: '#E2E8F0', marginTop: 16 }} /&gt;&#13;&#10;&#13;&#10;        &lt;Box style={{ flex: 1, marginTop: 22, flexDirection: 'row', gap: 0 }}&gt;&#13;&#10;            {/* 左：普通对话 */}&#13;&#10;            &lt;Box style={{ width: 500 }}&gt;&#13;&#10;                &lt;Text style={{ fontSize: 22, fontWeight: '600', color: '#94A3B8', lineHeight: 1.3 }}&gt;一次性对话式 AI&lt;/Text&gt;&#13;&#10;                &lt;Box style={{ height: 3, width: 64, borderRadius: 2, background: '#CBD5E1', marginTop: 12 }} /&gt;&#13;&#10;                &lt;Box style={{ flexDirection: 'row', gap: 12, alignItems: 'flex-start', marginTop: 18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会话结束即归零，换个窗口要从头交代部门、项目和上次的结论。&#13;&#10;                    &lt;/Text&gt;&#13;&#10;                &lt;/Box&gt;&#13;&#10;                &lt;Box style={{ flexDirection: 'row', gap: 12, alignItems: 'flex-start', marginTop: 14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上下文窗口塞得越满，早期信息越容易被挤出去。&#13;&#10;                    &lt;/Text&gt;&#13;&#10;                &lt;/Box&gt;&#13;&#10;                &lt;Box style={{ flexDirection: 'row', gap: 12, alignItems: 'flex-start', marginTop: 14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没有纠正机制，同样的误解会反复出现。&#13;&#10;                    &lt;/Text&gt;&#13;&#10;                &lt;/Box&gt;&#13;&#10;                &lt;Box style={{ marginTop: 22, background: '#F1F5F9', borderRadius: 10, padding: 16 }}&gt;&#13;&#10;                    &lt;Text style={{ fontSize: 16, color: '#64748B', lineHeight: 1.5 }}&gt;&#13;&#10;                        结果：AI 每次都像一个刚入职的新同事，能力不随合作时间增长。&#13;&#10;                    &lt;/Text&gt;&#13;&#10;                &lt;/Box&gt;&#13;&#10;            &lt;/Box&gt;&#13;&#10;&#13;&#10;            {/* 分隔线 */}&#13;&#10;            &lt;Box style={{ width: 1, background: '#E2E8F0', marginLeft: 30, marginRight: 30 }} /&gt;&#13;&#10;&#13;&#10;            {/* 右：三层记忆 */}&#13;&#10;            &lt;Box style={{ width: 598 }}&gt;&#13;&#10;                &lt;Text style={{ fontSize: 22, fontWeight: '600', color: '#1E293B', lineHeight: 1.3 }}&gt;三层记忆 + 多阶段召回&lt;/Text&gt;&#13;&#10;                &lt;Box style={{ height: 3, width: 64, borderRadius: 2, background: '#D6E4F9', marginTop: 12 }} /&gt;&#13;&#10;                &lt;Box style={{ flexDirection: 'row', gap: 12, marginTop: 16 }}&gt;&#13;&#10;                    &lt;Box style={{ flex: 1, background: '#E8EEFB', borderWidth: 1, borderColor: '#C7D6F5', borderStyle: 'solid', borderRadius: 10, padding: 13 }}&gt;&#13;&#10;                        &lt;Text style={{ fontSize: 17, fontWeight: '600', color: '#2563EB', lineHeight: 1.3 }}&gt;Atom 原子事实&lt;/Text&gt;&#13;&#10;                        &lt;Text style={{ fontSize: 15, color: '#475569', lineHeight: 1.5, marginTop: 7 }}&gt;&#13;&#10;                            最小粒度的可核验条目，支持后续纠偏与更新。&#13;&#10;                        &lt;/Text&gt;&#13;&#10;                    &lt;/Box&gt;&#13;&#10;                    &lt;Box style={{ flex: 1, background: '#E8EEFB', borderWidth: 1, borderColor: '#C7D6F5', borderStyle: 'solid', borderRadius: 10, padding: 13 }}&gt;&#13;&#10;                        &lt;Text style={{ fontSize: 17, fontWeight: '600', color: '#2563EB', lineHeight: 1.3 }}&gt;Entity 实体画像&lt;/Text&gt;&#13;&#10;                        &lt;Text style={{ fontSize: 15, color: '#475569', lineHeight: 1.5, marginTop: 7 }}&gt;&#13;&#10;                            人、项目、系统的档案页，支持别名消歧。&#13;&#10;                        &lt;/Text&gt;&#13;&#10;                    &lt;/Box&gt;&#13;&#10;                    &lt;Box style={{ flex: 1, background: '#E8EEFB', borderWidth: 1, borderColor: '#C7D6F5', borderStyle: 'solid', borderRadius: 10, padding: 13 }}&gt;&#13;&#10;                        &lt;Text style={{ fontSize: 17, fontWeight: '600', color: '#2563EB', lineHeight: 1.3 }}&gt;Episode 情节经历&lt;/Text&gt;&#13;&#10;                        &lt;Text style={{ fontSize: 15, color: '#475569', lineHeight: 1.5, marginTop: 7 }}&gt;&#13;&#10;                            保留事件脉络，回答「当时是怎么定的」。&#13;&#10;                        &lt;/Text&gt;&#13;&#10;                    &lt;/Box&gt;&#13;&#10;                &lt;/Box&gt;&#13;&#10;                &lt;Box style={{ marginTop: 14, background: '#F4F6FB', borderLeftWidth: 3, borderLeftColor: '#0891B2', borderLeftStyle: 'solid', borderRadius: 8, padding: 14 }}&gt;&#13;&#10;                    &lt;Text style={{ fontSize: 16, color: '#475569', lineHeight: 1.5 }}&gt;&#13;&#10;                        召回不是关键词匹配：抽取 → 候选提升 → 实体消解 → 生命周期整理，取用时再经过路由、重排、去重与预算控制，才进上下文。&#13;&#10;                    &lt;/Text&gt;&#13;&#10;                &lt;/Box&gt;&#13;&#10;                &lt;Box style={{ flexDirection: 'row', gap: 20, marginTop: 14 }}&gt;&#13;&#10;                    &lt;Text style={{ fontSize: 16, color: '#64748B', lineHeight: 1.5, flex: 1 }}&gt;&#13;&#10;                        存储可选 SQLite 全文检索，或 PostgreSQL 与 Chroma / Qdrant 向量索引。&#13;&#10;                    &lt;/Text&gt;&#13;&#10;                    &lt;Text style={{ fontSize: 16, color: '#64748B', lineHeight: 1.5, flex: 1 }}&gt;&#13;&#10;                        支持压缩整理与清理策略，长期运行不会无限膨胀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记忆是分层、可纠正、可清理的资产——它让 AI 的能力随合作时间累积，而不是每次会话从零开始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换个会话还认得你，靠的是结构化的记忆而不是更长的上下文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4762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一次性对话式</a:t>
            </a:r>
            <a:r>
              <a:rPr lang="en-US" sz="1650" b="1">
                <a:solidFill>
                  <a:srgbClr val="94A3B8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571500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4" name=""/>
          <p:cNvSpPr/>
          <p:nvPr/>
        </p:nvSpPr>
        <p:spPr>
          <a:xfrm rot="0" flipH="0" flipV="0">
            <a:off x="571500" y="2486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62000" y="2400300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会话结束即归零，换个窗口要从头交代部门、项目和上次的结论。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5715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62000" y="312420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上下文窗口塞得越满，早期信息越容易被挤出去。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571500" y="3638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62000" y="3552825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没有纠正机制，同样的误解会反复出现。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71500" y="4057650"/>
            <a:ext cx="4762500" cy="85725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23900" y="4210050"/>
            <a:ext cx="4457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结果：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每次都像一个刚入职的新同事，能力不随合作时间增长。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5619750" y="1752600"/>
            <a:ext cx="9525" cy="36576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915025" y="1752600"/>
            <a:ext cx="56959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三层记忆</a:t>
            </a:r>
            <a:r>
              <a:rPr lang="en-US" sz="16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多阶段召回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5915025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915025" y="2381250"/>
            <a:ext cx="1819275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038850" y="25050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Atom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原子事实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038850" y="2828925"/>
            <a:ext cx="1571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最小粒度的可核验条目，支持后续纠偏与更新。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7848600" y="2381250"/>
            <a:ext cx="1828800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972425" y="2505075"/>
            <a:ext cx="15811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Entity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实体画像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972425" y="2828925"/>
            <a:ext cx="1581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人、项目、系统的档案页，支持别名消歧。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9791700" y="2381250"/>
            <a:ext cx="1819275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915525" y="25050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Episode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情节经历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915525" y="2828925"/>
            <a:ext cx="1571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保留事件脉络，回答「当时是怎么定的」。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5943600" y="3600450"/>
            <a:ext cx="5695950" cy="819150"/>
          </a:xfrm>
          <a:prstGeom prst="roundRect">
            <a:avLst>
              <a:gd name="adj" fmla="val 9302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55" name=""/>
          <p:cNvSpPr/>
          <p:nvPr/>
        </p:nvSpPr>
        <p:spPr>
          <a:xfrm rot="0" flipH="0" flipV="0">
            <a:off x="5943600" y="3600450"/>
            <a:ext cx="5695950" cy="819150"/>
          </a:xfrm>
          <a:custGeom>
            <a:pathLst>
              <a:path w="598" h="86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1"/>
                </a:lnTo>
                <a:cubicBezTo>
                  <a:pt x="3" y="83"/>
                  <a:pt x="5" y="85"/>
                  <a:pt x="7" y="86"/>
                </a:cubicBezTo>
                <a:cubicBezTo>
                  <a:pt x="3" y="85"/>
                  <a:pt x="0" y="82"/>
                  <a:pt x="0" y="7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76950" y="3733800"/>
            <a:ext cx="5400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召回不是关键词匹配：抽取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候选提升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实体消解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生命周期整理，取用时再经过路由、重排、去重与预算控制，才进上下文。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5915025" y="4552950"/>
            <a:ext cx="27527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存储可选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全文检索，或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Chroma / Qdrant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向量索引。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0" y="4552950"/>
            <a:ext cx="27527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支持压缩整理与清理策略，长期运行不会无限膨胀。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记忆是分层、可纠正、可清理的资产——它让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的能力随合作时间累积，而不是每次会话从零开始。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2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答案带着出处：从一堆文档到一个可信答复&#13;&#10;        &lt;/Text&gt;&#13;&#10;        &lt;Box style={{ height: 1, background: '#E2E8F0', marginTop: 16 }} /&gt;&#13;&#10;&#13;&#10;        &lt;Box style={{ flex: 1, marginTop: 20 }}&gt;&#13;&#10;            {/* 七段链路 */}&#13;&#10;            &lt;Box style={{ flexDirection: 'row', alignItems: 'center' }}&gt;&#13;&#10;                &lt;Box style={{ width: 142, background: '#E8EEFB', borderWidth: 1, borderColor: '#C7D6F5', borderStyle: 'solid', borderRadius: 8, padding: 11, alignItems: 'center' }}&gt;&#13;&#10;                    &lt;Text style={{ fontSize: 15, fontWeight: '600', color: '#2563EB', lineHeight: 1.3 }}&gt;解析&lt;/Text&gt;&#13;&#10;                    &lt;Text style={{ fontSize: 13, color: '#64748B', lineHeight: 1.4 }}&gt;PDF / DOCX / XLSX / HTML&lt;/Text&gt;&#13;&#10;                &lt;/Box&gt;&#13;&#10;                &lt;Box style={{ width: 20, justifyContent: 'center', alignItems: 'center' }}&gt;&#13;&#10;                    &lt;svg width={20} height={14} viewBox='0 0 20 14'&gt;&lt;path d='M0 7 L12 7' stroke='#C7D6F5' strokeWidth='2' /&gt;&lt;path d='M12 2 L20 7 L12 12 Z' fill='#C7D6F5' /&gt;&lt;/svg&gt;&#13;&#10;                &lt;/Box&gt;&#13;&#10;                &lt;Box style={{ width: 142, background: '#E8EEFB', borderWidth: 1, borderColor: '#C7D6F5', borderStyle: 'solid', borderRadius: 8, padding: 11, alignItems: 'center' }}&gt;&#13;&#10;                    &lt;Text style={{ fontSize: 15, fontWeight: '600', color: '#2563EB', lineHeight: 1.3 }}&gt;OCR&lt;/Text&gt;&#13;&#10;                    &lt;Text style={{ fontSize: 13, color: '#64748B', lineHeight: 1.4 }}&gt;本地 rapidocr 或视觉模型&lt;/Text&gt;&#13;&#10;                &lt;/Box&gt;&#13;&#10;                &lt;Box style={{ width: 20, justifyContent: 'center', alignItems: 'center' }}&gt;&#13;&#10;                    &lt;svg width={20} height={14} viewBox='0 0 20 14'&gt;&lt;path d='M0 7 L12 7' stroke='#C7D6F5' strokeWidth='2' /&gt;&lt;path d='M12 2 L20 7 L12 12 Z' fill='#C7D6F5' /&gt;&lt;/svg&gt;&#13;&#10;                &lt;/Box&gt;&#13;&#10;                &lt;Box style={{ width: 142, background: '#E8EEFB', borderWidth: 1, borderColor: '#C7D6F5', borderStyle: 'solid', borderRadius: 8, padding: 11, alignItems: 'center' }}&gt;&#13;&#10;                    &lt;Text style={{ fontSize: 15, fontWeight: '600', color: '#2563EB', lineHeight: 1.3 }}&gt;分块&lt;/Text&gt;&#13;&#10;                    &lt;Text style={{ fontSize: 13, color: '#64748B', lineHeight: 1.4 }}&gt;800 字符 / 重叠 120&lt;/Text&gt;&#13;&#10;                &lt;/Box&gt;&#13;&#10;                &lt;Box style={{ width: 20, justifyContent: 'center', alignItems: 'center' }}&gt;&#13;&#10;                    &lt;svg width={20} height={14} viewBox='0 0 20 14'&gt;&lt;path d='M0 7 L12 7' stroke='#C7D6F5' strokeWidth='2' /&gt;&lt;path d='M12 2 L20 7 L12 12 Z' fill='#C7D6F5' /&gt;&lt;/svg&gt;&#13;&#10;                &lt;/Box&gt;&#13;&#10;                &lt;Box style={{ width: 142, background: '#E8EEFB', borderWidth: 1, borderColor: '#C7D6F5', borderStyle: 'solid', borderRadius: 8, padding: 11, alignItems: 'center' }}&gt;&#13;&#10;                    &lt;Text style={{ fontSize: 15, fontWeight: '600', color: '#2563EB', lineHeight: 1.3 }}&gt;向量化&lt;/Text&gt;&#13;&#10;                    &lt;Text style={{ fontSize: 13, color: '#64748B', lineHeight: 1.4 }}&gt;本地 ONNX 或远程端点&lt;/Text&gt;&#13;&#10;                &lt;/Box&gt;&#13;&#10;                &lt;Box style={{ width: 20, justifyContent: 'center', alignItems: 'center' }}&gt;&#13;&#10;                    &lt;svg width={20} height={14} viewBox='0 0 20 14'&gt;&lt;path d='M0 7 L12 7' stroke='#C7D6F5' strokeWidth='2' /&gt;&lt;path d='M12 2 L20 7 L12 12 Z' fill='#C7D6F5' /&gt;&lt;/svg&gt;&#13;&#10;                &lt;/Box&gt;&#13;&#10;                &lt;Box style={{ width: 142, background: '#E8EEFB', borderWidth: 1, borderColor: '#C7D6F5', borderStyle: 'solid', borderRadius: 8, padding: 11, alignItems: 'center' }}&gt;&#13;&#10;                    &lt;Text style={{ fontSize: 15, fontWeight: '600', color: '#2563EB', lineHeight: 1.3 }}&gt;索引&lt;/Text&gt;&#13;&#10;                    &lt;Text style={{ fontSize: 13, color: '#64748B', lineHeight: 1.4 }}&gt;每库一份 SQLite&lt;/Text&gt;&#13;&#10;                &lt;/Box&gt;&#13;&#10;                &lt;Box style={{ width: 20, justifyContent: 'center', alignItems: 'center' }}&gt;&#13;&#10;                    &lt;svg width={20} height={14} viewBox='0 0 20 14'&gt;&lt;path d='M0 7 L12 7' stroke='#C7D6F5' strokeWidth='2' /&gt;&lt;path d='M12 2 L20 7 L12 12 Z' fill='#C7D6F5' /&gt;&lt;/svg&gt;&#13;&#10;                &lt;/Box&gt;&#13;&#10;                &lt;Box style={{ width: 142, background: '#D6E4F9', borderRadius: 8, padding: 11, alignItems: 'center' }}&gt;&#13;&#10;                    &lt;Text style={{ fontSize: 15, fontWeight: '600', color: '#F59E0B', lineHeight: 1.3 }}&gt;检索&lt;/Text&gt;&#13;&#10;                    &lt;Text style={{ fontSize: 13, color: '#475569', lineHeight: 1.4 }}&gt;Top-K 8 / 预算 6000 字&lt;/Text&gt;&#13;&#10;                &lt;/Box&gt;&#13;&#10;                &lt;Box style={{ width: 20, justifyContent: 'center', alignItems: 'center' }}&gt;&#13;&#10;                    &lt;svg width={20} height={14} viewBox='0 0 20 14'&gt;&lt;path d='M0 7 L12 7' stroke='#F59E0B' strokeWidth='2' /&gt;&lt;path d='M12 2 L20 7 L12 12 Z' fill='#F59E0B' /&gt;&lt;/svg&gt;&#13;&#10;                &lt;/Box&gt;&#13;&#10;                &lt;Box style={{ width: 142, background: '#FFF7E9', borderWidth: 1, borderColor: '#F5D9A4', borderStyle: 'solid', borderRadius: 8, padding: 11, alignItems: 'center' }}&gt;&#13;&#10;                    &lt;Text style={{ fontSize: 15, fontWeight: '600', color: '#B45309', lineHeight: 1.3 }}&gt;引用溯源&lt;/Text&gt;&#13;&#10;                    &lt;Text style={{ fontSize: 13, color: '#92400E', lineHeight: 1.4 }}&gt;答案附来源标记&lt;/Text&gt;&#13;&#10;                &lt;/Box&gt;&#13;&#10;            &lt;/Box&gt;&#13;&#10;&#13;&#10;            {/* 三张证据卡 */}&#13;&#10;            &lt;Box style={{ flexDirection: 'row', gap: 20, marginTop: 22 }}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中文场景做了专门处理&lt;/Text&gt;&#13;&#10;                    &lt;Text style={{ fontSize: 16, color: '#475569', lineHeight: 1.5, marginTop: 8 }}&gt;&#13;&#10;                        编码自动在 UTF-8 与 GB18030 之间回退，.doc / .wps / .xls 等格式走格式转换服务，扫描件自动回退到 OCR。&#13;&#10;                    &lt;/Text&gt;&#13;&#10;                &lt;/Box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Embedding 可以不出内网&lt;/Text&gt;&#13;&#10;                    &lt;Text style={{ fontSize: 16, color: '#475569', lineHeight: 1.5, marginTop: 8 }}&gt;&#13;&#10;                        默认使用本地 ONNX 模型生成向量；若追求效果，也可切到已配置供应商的兼容端点，由企业按数据敏感度自行选择。&#13;&#10;                    &lt;/Text&gt;&#13;&#10;                &lt;/Box&gt;&#13;&#10;                &lt;Box style={{ flex: 1, background: '#F8FAFC', borderWidth: 1, borderColor: '#E2E8F0', borderStyle: 'solid', borderRadius: 10, padding: 16 }}&gt;&#13;&#10;                    &lt;Text style={{ fontSize: 18, fontWeight: '600', color: '#1E293B', lineHeight: 1.3 }}&gt;边界说在前面&lt;/Text&gt;&#13;&#10;                    &lt;Text style={{ fontSize: 16, color: '#475569', lineHeight: 1.5, marginTop: 8 }}&gt;&#13;&#10;                        当前为向量余弦检索，未做关键词混合检索；中小企业语料规模下召回质量足够，超大规模场景我们再评估索引升级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减少幻觉的关键不在于换个更大的模型，而在于让答案锚定企业自己的文档，并把出处一并交到使用者手上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答案带着出处：从一堆文档到一个可信答复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57150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104900" y="1838325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2563EB"/>
                </a:solidFill>
                <a:latin typeface="Microsoft YaHei"/>
                <a:ea typeface="Microsoft YaHei"/>
              </a:rPr>
              <a:t>解析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7627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PDF / DOCX / XLSX / HTML</a:t>
            </a:r>
            <a:endParaRPr/>
          </a:p>
        </p:txBody>
      </p:sp>
      <p:pic>
        <p:nvPicPr>
          <p:cNvPr id="1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924050" y="2095500"/>
            <a:ext cx="190500" cy="133350"/>
          </a:xfrm>
          <a:prstGeom prst="rect">
            <a:avLst/>
          </a:prstGeom>
          <a:ln/>
        </p:spPr>
      </p:pic>
      <p:sp>
        <p:nvSpPr>
          <p:cNvPr id="172" name=""/>
          <p:cNvSpPr/>
          <p:nvPr/>
        </p:nvSpPr>
        <p:spPr>
          <a:xfrm rot="0" flipH="0" flipV="0">
            <a:off x="21145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2638425" y="1838325"/>
            <a:ext cx="3143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2563EB"/>
                </a:solidFill>
                <a:latin typeface="Microsoft YaHei"/>
                <a:ea typeface="Microsoft YaHei"/>
              </a:rPr>
              <a:t>OCR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2193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rapidocr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或视觉模型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67100" y="2095500"/>
            <a:ext cx="190500" cy="13335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36576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191000" y="19431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2563EB"/>
                </a:solidFill>
                <a:latin typeface="Microsoft YaHei"/>
                <a:ea typeface="Microsoft YaHei"/>
              </a:rPr>
              <a:t>分块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771900" y="2171700"/>
            <a:ext cx="113347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800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字符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重叠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120</a:t>
            </a:r>
            <a:endParaRPr/>
          </a:p>
        </p:txBody>
      </p:sp>
      <p:pic>
        <p:nvPicPr>
          <p:cNvPr id="1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010150" y="2095500"/>
            <a:ext cx="190500" cy="133350"/>
          </a:xfrm>
          <a:prstGeom prst="rect">
            <a:avLst/>
          </a:prstGeom>
          <a:ln/>
        </p:spPr>
      </p:pic>
      <p:sp>
        <p:nvSpPr>
          <p:cNvPr id="180" name=""/>
          <p:cNvSpPr/>
          <p:nvPr/>
        </p:nvSpPr>
        <p:spPr>
          <a:xfrm rot="0" flipH="0" flipV="0">
            <a:off x="52006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667375" y="1838325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2563EB"/>
                </a:solidFill>
                <a:latin typeface="Microsoft YaHei"/>
                <a:ea typeface="Microsoft YaHei"/>
              </a:rPr>
              <a:t>向量化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3054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或远程端点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53200" y="2095500"/>
            <a:ext cx="190500" cy="13335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67437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277100" y="19431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2563EB"/>
                </a:solidFill>
                <a:latin typeface="Microsoft YaHei"/>
                <a:ea typeface="Microsoft YaHei"/>
              </a:rPr>
              <a:t>索引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962775" y="2171700"/>
            <a:ext cx="923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每库一份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SQLite</a:t>
            </a:r>
            <a:endParaRPr/>
          </a:p>
        </p:txBody>
      </p:sp>
      <p:pic>
        <p:nvPicPr>
          <p:cNvPr id="1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96250" y="2095500"/>
            <a:ext cx="190500" cy="133350"/>
          </a:xfrm>
          <a:prstGeom prst="rect">
            <a:avLst/>
          </a:prstGeom>
          <a:ln/>
        </p:spPr>
      </p:pic>
      <p:sp>
        <p:nvSpPr>
          <p:cNvPr id="188" name=""/>
          <p:cNvSpPr/>
          <p:nvPr/>
        </p:nvSpPr>
        <p:spPr>
          <a:xfrm rot="0" flipH="0" flipV="0">
            <a:off x="82867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820150" y="1838325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F59E0B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3915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Top-K 8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预算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6000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字</a:t>
            </a:r>
            <a:endParaRPr/>
          </a:p>
        </p:txBody>
      </p:sp>
      <p:pic>
        <p:nvPicPr>
          <p:cNvPr id="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639300" y="2095500"/>
            <a:ext cx="190500" cy="133350"/>
          </a:xfrm>
          <a:prstGeom prst="rect">
            <a:avLst/>
          </a:prstGeom>
          <a:ln/>
        </p:spPr>
      </p:pic>
      <p:sp>
        <p:nvSpPr>
          <p:cNvPr id="192" name=""/>
          <p:cNvSpPr/>
          <p:nvPr/>
        </p:nvSpPr>
        <p:spPr>
          <a:xfrm rot="0" flipH="0" flipV="0">
            <a:off x="98298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0220325" y="1943100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45309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0077450" y="217170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答案附来源标记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571500" y="2800350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23900" y="2952750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中文场景做了专门处理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3305175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编码自动在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UTF-8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GB18030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之间回退，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.doc / .wps / .xls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等格式走格式转换服务，扫描件自动回退到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OCR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4314825" y="2800350"/>
            <a:ext cx="356235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467225" y="2952750"/>
            <a:ext cx="32575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3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Embedding </a:t>
            </a: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可以不出内网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67225" y="3305175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默认使用本地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模型生成向量；若追求效果，也可切到已配置供应商的兼容端点，由企业按数据敏感度自行选择。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8067675" y="2800350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220075" y="2952750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边界说在前面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220075" y="3305175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当前为向量余弦检索，未做关键词混合检索；中小企业语料规模下召回质量足够，超大规模场景我们再评估索引升级。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减少幻觉的关键不在于换个更大的模型，而在于让答案锚定企业自己的文档，并把出处一并交到使用者手上。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07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能力不是一次性交付，而是可持续安装的资产&#13;&#10;        &lt;/Text&gt;&#13;&#10;        &lt;Box style={{ height: 1, background: '#E2E8F0', marginTop: 16 }} /&gt;&#13;&#10;&#13;&#10;        &lt;Box style={{ flex: 1, marginTop: 22, flexDirection: 'row', gap: 32 }}&gt;&#13;&#10;            {/* 左解释栏 */}&#13;&#10;            &lt;Box style={{ width: 300 }}&gt;&#13;&#10;                &lt;Text style={{ fontSize: 24, fontWeight: 'bold', color: '#1E293B', lineHeight: 1.3 }}&gt;三层可安装资产&lt;/Text&gt;&#13;&#10;                &lt;Box style={{ width: 48, height: 4, borderRadius: 2, background: '#F59E0B', marginTop: 14 }} /&gt;&#13;&#10;                &lt;Text style={{ fontSize: 17, color: '#475569', lineHeight: 1.5, marginTop: 16 }}&gt;&#13;&#10;                    底座负责稳定运行，能力层随业务需要叠加。新增一项能力不需要改动平台代码，也不需要重启已有 Agent。&#13;&#10;                &lt;/Text&gt;&#13;&#10;                &lt;Text style={{ fontSize: 17, color: '#475569', lineHeight: 1.5, marginTop: 14 }}&gt;&#13;&#10;                    第三方技能支持供应链扫描策略：关闭、告警或直接阻断，由企业安全策略决定。&#13;&#10;                &lt;/Text&gt;&#13;&#10;            &lt;/Box&gt;&#13;&#10;&#13;&#10;            {/* 右侧金字塔层级 */}&#13;&#10;            &lt;Box style={{ width: 828, justifyContent: 'center' }}&gt;&#13;&#10;                &lt;Box style={{ alignItems: 'center' }}&gt;&#13;&#10;                    &lt;Box style={{ width: 560, background: '#D6E4F9', borderRadius: 10, padding: 12, flexDirection: 'row', alignItems: 'center', gap: 18 }}&gt;&#13;&#10;                        &lt;Text style={{ fontSize: 40, fontWeight: 'bold', color: '#F59E0B', lineHeight: 1.1 }}&gt;24&lt;/Text&gt;&#13;&#10;                        &lt;Box&gt;&#13;&#10;                            &lt;Text style={{ fontSize: 19, fontWeight: '600', color: '#1E293B', lineHeight: 1.3 }}&gt;内置技能包（中英双语）&lt;/Text&gt;&#13;&#10;                            &lt;Text style={{ fontSize: 15, color: '#475569', lineHeight: 1.4 }}&gt;plan、powerpoint、nano-pdf、ocr-and-documents 等&lt;/Text&gt;&#13;&#10;                        &lt;/Box&gt;&#13;&#10;                    &lt;/Box&gt;&#13;&#10;                &lt;/Box&gt;&#13;&#10;                &lt;Box style={{ alignItems: 'center', marginTop: 10 }}&gt;&#13;&#10;                    &lt;Box style={{ width: 700, background: '#D6E4F9', borderRadius: 10, padding: 12, flexDirection: 'row', alignItems: 'center', gap: 18 }}&gt;&#13;&#10;                        &lt;Text style={{ fontSize: 40, fontWeight: 'bold', color: '#1E293B', lineHeight: 1.1 }}&gt;38&lt;/Text&gt;&#13;&#10;                        &lt;Box&gt;&#13;&#10;                            &lt;Text style={{ fontSize: 19, fontWeight: '600', color: '#1E293B', lineHeight: 1.3 }}&gt;内置插件，随安装注入&lt;/Text&gt;&#13;&#10;                            &lt;Text style={{ fontSize: 15, color: '#475569', lineHeight: 1.4 }}&gt;market-quotes、hot-topics、expense-tracker、qrcode 等&lt;/Text&gt;&#13;&#10;                        &lt;/Box&gt;&#13;&#10;                    &lt;/Box&gt;&#13;&#10;                &lt;/Box&gt;&#13;&#10;                &lt;Box style={{ alignItems: 'center', marginTop: 10 }}&gt;&#13;&#10;                    &lt;Box style={{ width: 828, background: '#E6F7F9', borderWidth: 1, borderColor: '#B6E3EA', borderStyle: 'solid', borderRadius: 10, padding: 12, flexDirection: 'row', alignItems: 'center', gap: 18 }}&gt;&#13;&#10;                        &lt;Text style={{ fontSize: 40, fontWeight: 'bold', color: '#0891B2', lineHeight: 1.1 }}&gt;∞&lt;/Text&gt;&#13;&#10;                        &lt;Box&gt;&#13;&#10;                            &lt;Text style={{ fontSize: 19, fontWeight: '600', color: '#1E293B', lineHeight: 1.3 }}&gt;SkillHub 在线市场与本地安装&lt;/Text&gt;&#13;&#10;                            &lt;Text style={{ fontSize: 15, color: '#475569', lineHeight: 1.4 }}&gt;在线检索、下载、归档打包、跨实例传输&lt;/Text&gt;&#13;&#10;                        &lt;/Box&gt;&#13;&#10;                    &lt;/Box&gt;&#13;&#10;                &lt;/Box&gt;&#13;&#10;                &lt;Box style={{ flexDirection: 'row', gap: 20, marginTop: 14 }}&gt;&#13;&#10;                    &lt;Box style={{ flex: 1, borderTopWidth: 1, borderTopColor: '#E2E8F0', borderTopStyle: 'solid', paddingTop: 12 }}&gt;&#13;&#10;                        &lt;Text style={{ fontSize: 16, color: '#64748B', lineHeight: 1.5 }}&gt;&#13;&#10;                            按 Agent 粒度启用，不同岗位拿不同技能集合。&#13;&#10;                        &lt;/Text&gt;&#13;&#10;                    &lt;/Box&gt;&#13;&#10;                    &lt;Box style={{ flex: 1, borderTopWidth: 1, borderTopColor: '#E2E8F0', borderTopStyle: 'solid', paddingTop: 12 }}&gt;&#13;&#10;                        &lt;Text style={{ fontSize: 16, color: '#64748B', lineHeight: 1.5 }}&gt;&#13;&#10;                            按场景过滤加载，只有相关技能进上下文。&#13;&#10;                        &lt;/Text&gt;&#13;&#10;                    &lt;/Box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采购一套产品的同时，也拿到一条可持续扩充能力的供应链——新增场景时先问「有没有现成技能」，而不是先排开发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能力不是一次性交付，而是可持续安装的资产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28575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三层可安装资产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571500" y="22479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571500" y="2438400"/>
            <a:ext cx="28575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底座负责稳定运行，能力层随业务需要叠加。新增一项能力不需要改动平台代码，也不需要重启已有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28575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第三方技能支持供应链扫描策略：关闭、告警或直接阻断，由企业安全策略决定。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010150" y="2076450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124450" y="2209800"/>
            <a:ext cx="47625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F59E0B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772150" y="2190750"/>
            <a:ext cx="3695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内置技能包（中英双语）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5772150" y="247650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plan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powerpoint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nano-pdf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ocr-and-documents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4343400" y="2933700"/>
            <a:ext cx="6667500" cy="762000"/>
          </a:xfrm>
          <a:prstGeom prst="roundRect">
            <a:avLst>
              <a:gd name="adj" fmla="val 1250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57700" y="3067050"/>
            <a:ext cx="47625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1E293B"/>
                </a:solidFill>
                <a:latin typeface="Microsoft YaHei"/>
                <a:ea typeface="Microsoft YaHei"/>
              </a:rPr>
              <a:t>38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5105400" y="3048000"/>
            <a:ext cx="3886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内置插件，随安装注入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105400" y="3333750"/>
            <a:ext cx="38862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market-quotes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hot-topics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expense-tracker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qrcode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3733800" y="3790950"/>
            <a:ext cx="7886700" cy="762000"/>
          </a:xfrm>
          <a:prstGeom prst="roundRect">
            <a:avLst>
              <a:gd name="adj" fmla="val 12500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48100" y="3924300"/>
            <a:ext cx="34290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sz="3000" b="1">
                <a:solidFill>
                  <a:srgbClr val="0891B2"/>
                </a:solidFill>
                <a:latin typeface="Microsoft YaHei"/>
                <a:ea typeface="Microsoft YaHei"/>
              </a:rPr>
              <a:t>∞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362450" y="3905250"/>
            <a:ext cx="25717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SkillHub </a:t>
            </a: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在线市场与本地安装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362450" y="4191000"/>
            <a:ext cx="2571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在线检索、下载、归档打包、跨实例传输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3733800" y="4686300"/>
            <a:ext cx="3848100" cy="409575"/>
          </a:xfrm>
          <a:custGeom>
            <a:pathLst>
              <a:path w="404" h="43">
                <a:moveTo>
                  <a:pt x="0" y="0"/>
                </a:moveTo>
                <a:lnTo>
                  <a:pt x="404" y="0"/>
                </a:lnTo>
                <a:lnTo>
                  <a:pt x="404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733800" y="4810125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按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粒度启用，不同岗位拿不同技能集合。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7772400" y="4686300"/>
            <a:ext cx="3848100" cy="409575"/>
          </a:xfrm>
          <a:custGeom>
            <a:pathLst>
              <a:path w="404" h="43">
                <a:moveTo>
                  <a:pt x="0" y="0"/>
                </a:moveTo>
                <a:lnTo>
                  <a:pt x="404" y="0"/>
                </a:lnTo>
                <a:lnTo>
                  <a:pt x="404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7772400" y="4810125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按场景过滤加载，只有相关技能进上下文。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采购一套产品的同时，也拿到一条可持续扩充能力的供应链——新增场景时先问「有没有现成技能」，而不是先排开发。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236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区别不在于会不会说，而在于能不能亲手做完&#13;&#10;        &lt;/Text&gt;&#13;&#10;        &lt;Box style={{ height: 1, background: '#E2E8F0', marginTop: 16 }} /&gt;&#13;&#10;&#13;&#10;        &lt;Box style={{ flex: 1, marginTop: 22, flexDirection: 'row', gap: 28 }}&gt;&#13;&#10;            {/* 左：执行面板 */}&#13;&#10;            &lt;Box style={{ width: 640, background: '#F8FAFC', borderWidth: 1, borderColor: '#E2E8F0', borderStyle: 'solid', borderRadius: 12, padding: 18 }}&gt;&#13;&#10;                &lt;Box style={{ flexDirection: 'row', alignItems: 'center', gap: 8 }}&gt;&#13;&#10;                    &lt;Box style={{ width: 10, height: 10, borderRadius: 5, background: '#F43F5E' }} /&gt;&#13;&#10;                    &lt;Box style={{ width: 10, height: 10, borderRadius: 5, background: '#F59E0B' }} /&gt;&#13;&#10;                    &lt;Box style={{ width: 10, height: 10, borderRadius: 5, background: '#22C55E' }} /&gt;&#13;&#10;                    &lt;Text style={{ fontSize: 15, color: '#64748B', lineHeight: 1.3, marginLeft: 8 }}&gt;agent @ workspace&lt;/Text&gt;&#13;&#10;                &lt;/Box&gt;&#13;&#10;                &lt;Box style={{ height: 1, background: '#E2E8F0', marginTop: 11 }} /&gt;&#13;&#10;                &lt;Box style={{ marginTop: 11 }}&gt;&#13;&#10;                    &lt;Text style={{ fontSize: 16, color: '#047857', lineHeight: 1.6 }}&gt;read_file　./季度报表.xlsx&lt;/Text&gt;&#13;&#10;                    &lt;Text style={{ fontSize: 16, color: '#334155', lineHeight: 1.6 }}&gt;grep　　　　&quot;逾期&quot; ./contracts/&lt;/Text&gt;&#13;&#10;                    &lt;Text style={{ fontSize: 16, color: '#475569', lineHeight: 1.6 }}&gt;execute　　 pytest -q&lt;/Text&gt;&#13;&#10;                    &lt;Text style={{ fontSize: 16, color: '#475569', lineHeight: 1.6 }}&gt;browser_use https://intranet/hr&lt;/Text&gt;&#13;&#10;                    &lt;Text style={{ fontSize: 16, color: '#475569', lineHeight: 1.6 }}&gt;search_knowledge &quot;差旅报销标准&quot;&lt;/Text&gt;&#13;&#10;                    &lt;Text style={{ fontSize: 16, color: '#475569', lineHeight: 1.6 }}&gt;send_file_to_user ./报表汇总.pdf&lt;/Text&gt;&#13;&#10;                &lt;/Box&gt;&#13;&#10;                &lt;Box style={{ height: 1, background: '#E2E8F0', marginTop: 11 }} /&gt;&#13;&#10;                &lt;Text style={{ fontSize: 15, color: '#475569', lineHeight: 1.5, marginTop: 12 }}&gt;&#13;&#10;                    每一行都是真实发生的动作：读文件、搜全文、跑命令、开浏览器、查知识库、生成素材、回传结果。&#13;&#10;                &lt;/Text&gt;&#13;&#10;            &lt;/Box&gt;&#13;&#10;&#13;&#10;            {/* 右：四组能力 */}&#13;&#10;            &lt;Box style={{ width: 492 }}&gt;&#13;&#10;                &lt;Box style={{ paddingBottom: 10, borderBottomWidth: 1, borderBottomColor: '#E2E8F0', borderBottomStyle: 'solid' }}&gt;&#13;&#10;                    &lt;Text style={{ fontSize: 21, fontWeight: '600', color: '#1E293B', lineHeight: 1.3 }}&gt;文件与命令&lt;/Text&gt;&#13;&#10;                    &lt;Text style={{ fontSize: 16, color: '#475569', lineHeight: 1.5, marginTop: 7 }}&gt;&#13;&#10;                        列目录、读写与增量编辑文件、全文检索、执行 Shell 命令——列目录、读写与增量编辑、全文检索、执行命令。&#13;&#10;                    &lt;/Text&gt;&#13;&#10;                &lt;/Box&gt;&#13;&#10;                &lt;Box style={{ paddingTop: 13, paddingBottom: 10, borderBottomWidth: 1, borderBottomColor: '#E2E8F0', borderBottomStyle: 'solid' }}&gt;&#13;&#10;                    &lt;Text style={{ fontSize: 21, fontWeight: '600', color: '#1E293B', lineHeight: 1.3 }}&gt;联网与验证&lt;/Text&gt;&#13;&#10;                    &lt;Text style={{ fontSize: 16, color: '#475569', lineHeight: 1.5, marginTop: 7 }}&gt;&#13;&#10;                        五个可选搜索后端、网页抓取与无头浏览器会话。&#13;&#10;                    &lt;/Text&gt;&#13;&#10;                &lt;/Box&gt;&#13;&#10;                &lt;Box style={{ paddingTop: 13, paddingBottom: 10, borderBottomWidth: 1, borderBottomColor: '#E2E8F0', borderBottomStyle: 'solid' }}&gt;&#13;&#10;                    &lt;Text style={{ fontSize: 21, fontWeight: '600', color: '#1E293B', lineHeight: 1.3 }}&gt;记忆与知识&lt;/Text&gt;&#13;&#10;                    &lt;Text style={{ fontSize: 16, color: '#475569', lineHeight: 1.5, marginTop: 7 }}&gt;&#13;&#10;                        记忆检索与保存、知识库检索由 Agent 自主调用。&#13;&#10;                    &lt;/Text&gt;&#13;&#10;                &lt;/Box&gt;&#13;&#10;                &lt;Box style={{ paddingTop: 10 }}&gt;&#13;&#10;                    &lt;Text style={{ fontSize: 21, fontWeight: '600', color: '#1E293B', lineHeight: 1.3 }}&gt;交付与排程&lt;/Text&gt;&#13;&#10;                    &lt;Text style={{ fontSize: 16, color: '#475569', lineHeight: 1.5, marginTop: 7 }}&gt;&#13;&#10;                        文件回传、素材生成、定时任务增删改查与立即执行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正因为这些动作真实发生，才必须配套审批、命令守卫与调用留痕——执行能力与安全治理在本产品中是一套设计，不是两张皮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区别不在于会不会说，而在于能不能亲手做完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571500" y="1752600"/>
            <a:ext cx="6096000" cy="3657600"/>
          </a:xfrm>
          <a:prstGeom prst="roundRect">
            <a:avLst>
              <a:gd name="adj" fmla="val 312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74295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91440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108585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333500" y="1924050"/>
            <a:ext cx="13525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>agent @ workspace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742950" y="2257425"/>
            <a:ext cx="57531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42950" y="237172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047857"/>
                </a:solidFill>
                <a:latin typeface="Microsoft YaHei"/>
                <a:ea typeface="Microsoft YaHei"/>
              </a:rPr>
              <a:t>read_file</a:t>
            </a:r>
            <a:r>
              <a:rPr lang="zh-CN" sz="1200">
                <a:solidFill>
                  <a:srgbClr val="047857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047857"/>
                </a:solidFill>
                <a:latin typeface="Microsoft YaHei"/>
                <a:ea typeface="Microsoft YaHei"/>
              </a:rPr>
              <a:t>./</a:t>
            </a:r>
            <a:r>
              <a:rPr lang="zh-CN" sz="1200">
                <a:solidFill>
                  <a:srgbClr val="047857"/>
                </a:solidFill>
                <a:latin typeface="Microsoft YaHei"/>
                <a:ea typeface="Microsoft YaHei"/>
              </a:rPr>
              <a:t>季度报表</a:t>
            </a:r>
            <a:r>
              <a:rPr lang="en-US" sz="1200">
                <a:solidFill>
                  <a:srgbClr val="047857"/>
                </a:solidFill>
                <a:latin typeface="Microsoft YaHei"/>
                <a:ea typeface="Microsoft YaHei"/>
              </a:rPr>
              <a:t>.xlsx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42950" y="266700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334155"/>
                </a:solidFill>
                <a:latin typeface="Microsoft YaHei"/>
                <a:ea typeface="Microsoft YaHei"/>
              </a:rPr>
              <a:t>grep</a:t>
            </a:r>
            <a:r>
              <a:rPr lang="zh-CN" sz="1200">
                <a:solidFill>
                  <a:srgbClr val="334155"/>
                </a:solidFill>
                <a:latin typeface="Microsoft YaHei"/>
                <a:ea typeface="Microsoft YaHei"/>
              </a:rPr>
              <a:t>　　　　</a:t>
            </a:r>
            <a:r>
              <a:rPr lang="en-US" sz="1200">
                <a:solidFill>
                  <a:srgbClr val="334155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334155"/>
                </a:solidFill>
                <a:latin typeface="Microsoft YaHei"/>
                <a:ea typeface="Microsoft YaHei"/>
              </a:rPr>
              <a:t>逾期</a:t>
            </a:r>
            <a:r>
              <a:rPr lang="en-US" sz="1200">
                <a:solidFill>
                  <a:srgbClr val="334155"/>
                </a:solidFill>
                <a:latin typeface="Microsoft YaHei"/>
                <a:ea typeface="Microsoft YaHei"/>
              </a:rPr>
              <a:t>" ./contracts/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42950" y="296227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execute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　　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pytest -q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42950" y="325755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browser_use https://intranet/hr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42950" y="355282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search_knowledge "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差旅报销标准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42950" y="384810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send_file_to_user ./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报表汇总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.pdf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742950" y="4248150"/>
            <a:ext cx="57531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42950" y="4371975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每一行都是真实发生的动作：读文件、搜全文、跑命令、开浏览器、查知识库、生成素材、回传结果。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934200" y="1752600"/>
            <a:ext cx="4686300" cy="1047750"/>
          </a:xfrm>
          <a:custGeom>
            <a:pathLst>
              <a:path w="492" h="110">
                <a:moveTo>
                  <a:pt x="0" y="109"/>
                </a:moveTo>
                <a:lnTo>
                  <a:pt x="492" y="109"/>
                </a:lnTo>
                <a:lnTo>
                  <a:pt x="492" y="110"/>
                </a:lnTo>
                <a:lnTo>
                  <a:pt x="0" y="110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934200" y="1752600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文件与命令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934200" y="2133600"/>
            <a:ext cx="4686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列目录、读写与增量编辑文件、全文检索、执行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命令——列目录、读写与增量编辑、全文检索、执行命令。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934200" y="2790825"/>
            <a:ext cx="4686300" cy="895350"/>
          </a:xfrm>
          <a:custGeom>
            <a:pathLst>
              <a:path w="492" h="94">
                <a:moveTo>
                  <a:pt x="0" y="93"/>
                </a:moveTo>
                <a:lnTo>
                  <a:pt x="492" y="93"/>
                </a:lnTo>
                <a:lnTo>
                  <a:pt x="492" y="94"/>
                </a:lnTo>
                <a:lnTo>
                  <a:pt x="0" y="94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934200" y="2914650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联网与验证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934200" y="3295650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五个可选搜索后端、网页抓取与无头浏览器会话。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934200" y="3676650"/>
            <a:ext cx="4686300" cy="895350"/>
          </a:xfrm>
          <a:custGeom>
            <a:pathLst>
              <a:path w="492" h="94">
                <a:moveTo>
                  <a:pt x="0" y="93"/>
                </a:moveTo>
                <a:lnTo>
                  <a:pt x="492" y="93"/>
                </a:lnTo>
                <a:lnTo>
                  <a:pt x="492" y="94"/>
                </a:lnTo>
                <a:lnTo>
                  <a:pt x="0" y="94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934200" y="3800475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记忆与知识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934200" y="418147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记忆检索与保存、知识库检索由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自主调用。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934200" y="4657725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交付与排程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934200" y="503872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文件回传、素材生成、定时任务增删改查与立即执行。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正因为这些动作真实发生，才必须配套审批、命令守卫与调用留痕——执行能力与安全治理在本产品中是一套设计，不是两张皮。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0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不只操作文件，还能操作机器本身&#13;&#10;        &lt;/Text&gt;&#13;&#10;        &lt;Box style={{ height: 1, background: '#E2E8F0', marginTop: 16 }} /&gt;&#13;&#10;&#13;&#10;        &lt;Box style={{ flex: 1, marginTop: 22 }}&gt;&#13;&#10;            &lt;Box style={{ flexDirection: 'row', gap: 20 }}&gt;&#13;&#10;                {/* 终端 AI+ */}&#13;&#10;                &lt;Box style={{ width: 640, background: '#D6E4F9', borderRadius: 12, padding: 17 }}&gt;&#13;&#10;                    &lt;Box style={{ flexDirection: 'row', alignItems: 'center', gap: 14 }}&gt;&#13;&#10;                        &lt;Box style={{ width: 40, height: 40, borderRadius: 8, background: '#E8EEFB', justifyContent: 'center', alignItems: 'center' }}&gt;&#13;&#10;                            &lt;FAIcon name='terminal' style={{ fill: '#0891B2', width: 22, height: 22 }} /&gt;&#13;&#10;                        &lt;/Box&gt;&#13;&#10;                        &lt;Text style={{ fontSize: 22, fontWeight: '600', color: '#1E293B', lineHeight: 1.3 }}&gt;终端 AI+&lt;/Text&gt;&#13;&#10;                    &lt;/Box&gt;&#13;&#10;                    &lt;Text style={{ fontSize: 16, color: '#475569', lineHeight: 1.5, marginTop: 12 }}&gt;&#13;&#10;                        浏览器内的交互式 Shell：命令由 AI 辅助生成与排错，执行前后都可见、可中断，不必离开控制台再开一个 SSH。&#13;&#10;                    &lt;/Text&gt;&#13;&#10;                    &lt;Text style={{ fontSize: 15, color: '#475569', lineHeight: 1.5, marginTop: 10 }}&gt;&#13;&#10;                        典型场景：服务排障、日志排查、脚本执行、环境初始化。&#13;&#10;                    &lt;/Text&gt;&#13;&#10;                &lt;/Box&gt;&#13;&#10;                {/* 浏览器 AI+ */}&#13;&#10;                &lt;Box style={{ width: 500, background: '#E8EEFB', borderWidth: 1, borderColor: '#C7D6F5', borderStyle: 'solid', borderRadius: 12, padding: 17 }}&gt;&#13;&#10;                    &lt;Box style={{ flexDirection: 'row', alignItems: 'center', gap: 14 }}&gt;&#13;&#10;                        &lt;Box style={{ width: 40, height: 40, borderRadius: 8, background: '#FFFFFF', justifyContent: 'center', alignItems: 'center' }}&gt;&#13;&#10;                            &lt;FAIcon name='globe' style={{ fill: '#2563EB', width: 22, height: 22 }} /&gt;&#13;&#10;                        &lt;/Box&gt;&#13;&#10;                        &lt;Text style={{ fontSize: 22, fontWeight: '600', color: '#1E293B', lineHeight: 1.3 }}&gt;浏览器 AI+&lt;/Text&gt;&#13;&#10;                    &lt;/Box&gt;&#13;&#10;                    &lt;Text style={{ fontSize: 16, color: '#475569', lineHeight: 1.5, marginTop: 12 }}&gt;&#13;&#10;                        基于 Chromium 的无头会话：网页自动化、截图核验、表单填报，还能把一次操作录制成可复用技能。&#13;&#10;                    &lt;/Text&gt;&#13;&#10;                    &lt;Text style={{ fontSize: 15, color: '#64748B', lineHeight: 1.5, marginTop: 10 }}&gt;&#13;&#10;                        典型场景：内部系统填报、竞品采集、批量后台操作。&#13;&#10;                    &lt;/Text&gt;&#13;&#10;                &lt;/Box&gt;&#13;&#10;            &lt;/Box&gt;&#13;&#10;&#13;&#10;            &lt;Box style={{ flexDirection: 'row', gap: 20, marginTop: 20 }}&gt;&#13;&#10;                {/* 远程桌面 */}&#13;&#10;                &lt;Box style={{ width: 500, background: '#F8FAFC', borderWidth: 1, borderColor: '#E2E8F0', borderStyle: 'solid', borderRadius: 12, padding: 17 }}&gt;&#13;&#10;                    &lt;Box style={{ flexDirection: 'row', alignItems: 'center', gap: 14 }}&gt;&#13;&#10;                        &lt;Box style={{ width: 40, height: 40, borderRadius: 8, background: '#E8EEFB', justifyContent: 'center', alignItems: 'center' }}&gt;&#13;&#10;                            &lt;FAIcon name='desktop' style={{ fill: '#2563EB', width: 22, height: 22 }} /&gt;&#13;&#10;                        &lt;/Box&gt;&#13;&#10;                        &lt;Text style={{ fontSize: 22, fontWeight: '600', color: '#1E293B', lineHeight: 1.3 }}&gt;远程桌面与移动端&lt;/Text&gt;&#13;&#10;                    &lt;/Box&gt;&#13;&#10;                    &lt;Text style={{ fontSize: 16, color: '#475569', lineHeight: 1.5, marginTop: 12 }}&gt;&#13;&#10;                        控制台内实时看屏与键鼠注入，跨 Linux / Windows / macOS；安卓设备可通过 adb 完成界面解析与手势操作。&#13;&#10;                    &lt;/Text&gt;&#13;&#10;                    &lt;Text style={{ fontSize: 15, color: '#64748B', lineHeight: 1.5, marginTop: 10 }}&gt;&#13;&#10;                        典型场景：远程运维、无人值守设备巡检。&#13;&#10;                    &lt;/Text&gt;&#13;&#10;                &lt;/Box&gt;&#13;&#10;                {/* 语音 */}&#13;&#10;                &lt;Box style={{ width: 640, background: '#FFF7E9', borderWidth: 1, borderColor: '#F5D9A4', borderStyle: 'solid', borderRadius: 12, padding: 17 }}&gt;&#13;&#10;                    &lt;Box style={{ flexDirection: 'row', alignItems: 'center', gap: 14 }}&gt;&#13;&#10;                        &lt;Box style={{ width: 40, height: 40, borderRadius: 8, background: '#FFFFFF', justifyContent: 'center', alignItems: 'center' }}&gt;&#13;&#10;                            &lt;FAIcon name='microphone' style={{ fill: '#B45309', width: 22, height: 22 }} /&gt;&#13;&#10;                        &lt;/Box&gt;&#13;&#10;                        &lt;Text style={{ fontSize: 22, fontWeight: '600', color: '#1E293B', lineHeight: 1.3 }}&gt;语音输入与播报&lt;/Text&gt;&#13;&#10;                    &lt;/Box&gt;&#13;&#10;                    &lt;Text style={{ fontSize: 16, color: '#475569', lineHeight: 1.5, marginTop: 12 }}&gt;&#13;&#10;                        语音转写与合成走兼容端点，也可接云厂商或本地方案；在车间、巡检、驾车等不便打字的场景同样可用。&#13;&#10;                    &lt;/Text&gt;&#13;&#10;                    &lt;Text style={{ fontSize: 15, color: '#92400E', lineHeight: 1.5, marginTop: 10 }}&gt;&#13;&#10;                        典型场景：现场作业记录、移动端快速下达任务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自托管带来的本质差异就在这里：AI 面对的是一台真实的机器，而不是一堆只能通过接口读写的远端数据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不只操作文件，还能操作机器本身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76" name=""/>
          <p:cNvSpPr/>
          <p:nvPr/>
        </p:nvSpPr>
        <p:spPr>
          <a:xfrm rot="0" flipH="0" flipV="0">
            <a:off x="571500" y="1752600"/>
            <a:ext cx="6096000" cy="1724025"/>
          </a:xfrm>
          <a:prstGeom prst="roundRect">
            <a:avLst>
              <a:gd name="adj" fmla="val 663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733425" y="1914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8EEFB"/>
          </a:solidFill>
          <a:ln/>
        </p:spPr>
        <p:txBody>
          <a:bodyPr/>
          <a:p/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000250"/>
            <a:ext cx="209550" cy="20955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247775" y="1943100"/>
            <a:ext cx="8763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终端</a:t>
            </a:r>
            <a:r>
              <a:rPr lang="en-US" sz="16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AI+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33425" y="2409825"/>
            <a:ext cx="5772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浏览器内的交互式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：命令由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辅助生成与排错，执行前后都可见、可中断，不必离开控制台再开一个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SSH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33425" y="3057525"/>
            <a:ext cx="57721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典型场景：服务排障、日志排查、脚本执行、环境初始化。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6858000" y="1752600"/>
            <a:ext cx="4762500" cy="1724025"/>
          </a:xfrm>
          <a:prstGeom prst="roundRect">
            <a:avLst>
              <a:gd name="adj" fmla="val 663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7019925" y="1914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05650" y="2000250"/>
            <a:ext cx="209550" cy="209550"/>
          </a:xfrm>
          <a:prstGeom prst="rect">
            <a:avLst/>
          </a:prstGeom>
          <a:ln/>
        </p:spPr>
      </p:pic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534275" y="1943100"/>
            <a:ext cx="10858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浏览器</a:t>
            </a:r>
            <a:r>
              <a:rPr lang="en-US" sz="16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AI+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019925" y="2409825"/>
            <a:ext cx="4438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Chromium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的无头会话：网页自动化、截图核验、表单填报，还能把一次操作录制成可复用技能。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019925" y="3057525"/>
            <a:ext cx="4438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典型场景：内部系统填报、竞品采集、批量后台操作。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571500" y="3667125"/>
            <a:ext cx="4762500" cy="1724025"/>
          </a:xfrm>
          <a:prstGeom prst="roundRect">
            <a:avLst>
              <a:gd name="adj" fmla="val 66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33425" y="3829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8EEFB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9150" y="3914775"/>
            <a:ext cx="209550" cy="2095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247775" y="3857625"/>
            <a:ext cx="16764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远程桌面与移动端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33425" y="4324350"/>
            <a:ext cx="4438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控制台内实时看屏与键鼠注入，跨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Linux / Windows / macOS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；安卓设备可通过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adb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完成界面解析与手势操作。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33425" y="4972050"/>
            <a:ext cx="4438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典型场景：远程运维、无人值守设备巡检。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5524500" y="3667125"/>
            <a:ext cx="6096000" cy="1724025"/>
          </a:xfrm>
          <a:prstGeom prst="roundRect">
            <a:avLst>
              <a:gd name="adj" fmla="val 663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295" name=""/>
          <p:cNvSpPr/>
          <p:nvPr/>
        </p:nvSpPr>
        <p:spPr>
          <a:xfrm rot="0" flipH="0" flipV="0">
            <a:off x="5686425" y="3829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2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72150" y="3914775"/>
            <a:ext cx="209550" cy="209550"/>
          </a:xfrm>
          <a:prstGeom prst="rect">
            <a:avLst/>
          </a:prstGeom>
          <a:ln/>
        </p:spPr>
      </p:pic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200775" y="3857625"/>
            <a:ext cx="14668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语音输入与播报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686425" y="4324350"/>
            <a:ext cx="5772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语音转写与合成走兼容端点，也可接云厂商或本地方案；在车间、巡检、驾车等不便打字的场景同样可用。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686425" y="4972050"/>
            <a:ext cx="57721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92400E"/>
                </a:solidFill>
                <a:latin typeface="Microsoft YaHei"/>
                <a:ea typeface="Microsoft YaHei"/>
              </a:rPr>
              <a:t>典型场景：现场作业记录、移动端快速下达任务。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自托管带来的本质差异就在这里：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面对的是一台真实的机器，而不是一堆只能通过接口读写的远端数据。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303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2 · ABILITY LANDSCAP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每一次越界动作，都可以被人叫停、修改或追问&#13;&#10;        &lt;/Text&gt;&#13;&#10;        &lt;Box style={{ height: 1, background: '#E2E8F0', marginTop: 16 }} /&gt;&#13;&#10;&#13;&#10;        &lt;Box style={{ flex: 1, marginTop: 20 }}&gt;&#13;&#10;            {/* 时间轴 */}&#13;&#10;            &lt;Box style={{ flexDirection: 'row', alignItems: 'flex-start' }}&gt;&#13;&#10;                &lt;Box style={{ width: 268 }}&gt;&#13;&#10;                    &lt;Box style={{ flexDirection: 'row', alignItems: 'center' }}&gt;&#13;&#10;                        &lt;Box style={{ width: 14, height: 14, borderRadius: 7, background: '#2563EB' }} /&gt;&#13;&#10;                        &lt;Box style={{ flex: 1, height: 2, background: '#E2E8F0' }} /&gt;&#13;&#10;                    &lt;/Box&gt;&#13;&#10;                    &lt;Text style={{ fontSize: 17, fontWeight: '600', color: '#2563EB', lineHeight: 1.3, marginTop: 12 }}&gt;事前定义&lt;/Text&gt;&#13;&#10;                    &lt;Text style={{ fontSize: 15, color: '#64748B', lineHeight: 1.5, marginTop: 6 }}&gt;&#13;&#10;                        写文件、改文件、执行命令与删除默认纳入审批清单，由管理员按 Agent 调整。&#13;&#10;                    &lt;/Text&gt;&#13;&#10;                &lt;/Box&gt;&#13;&#10;                &lt;Box style={{ width: 268 }}&gt;&#13;&#10;                    &lt;Box style={{ flexDirection: 'row', alignItems: 'center' }}&gt;&#13;&#10;                        &lt;Box style={{ width: 14, height: 14, borderRadius: 7, background: '#0891B2' }} /&gt;&#13;&#10;                        &lt;Box style={{ flex: 1, height: 2, background: '#E2E8F0' }} /&gt;&#13;&#10;                    &lt;/Box&gt;&#13;&#10;                    &lt;Text style={{ fontSize: 17, fontWeight: '600', color: '#0891B2', lineHeight: 1.3, marginTop: 12 }}&gt;事中暂停&lt;/Text&gt;&#13;&#10;                    &lt;Text style={{ fontSize: 15, color: '#64748B', lineHeight: 1.5, marginTop: 6 }}&gt;&#13;&#10;                        命中审批清单或命令守卫规则时，回合在此挂起，等待人工处置。&#13;&#10;                    &lt;/Text&gt;&#13;&#10;                &lt;/Box&gt;&#13;&#10;                &lt;Box style={{ width: 268 }}&gt;&#13;&#10;                    &lt;Box style={{ flexDirection: 'row', alignItems: 'center' }}&gt;&#13;&#10;                        &lt;Box style={{ width: 14, height: 14, borderRadius: 7, background: '#F59E0B' }} /&gt;&#13;&#10;                        &lt;Box style={{ flex: 1, height: 2, background: '#E2E8F0' }} /&gt;&#13;&#10;                    &lt;/Box&gt;&#13;&#10;                    &lt;Text style={{ fontSize: 17, fontWeight: '600', color: '#B45309', lineHeight: 1.3, marginTop: 12 }}&gt;人工决策&lt;/Text&gt;&#13;&#10;                    &lt;Text style={{ fontSize: 15, color: '#64748B', lineHeight: 1.5, marginTop: 6 }}&gt;&#13;&#10;                        通过、修改参数后通过、拒绝、或补充要求后继续，共四种处置。&#13;&#10;                    &lt;/Text&gt;&#13;&#10;                &lt;/Box&gt;&#13;&#10;                &lt;Box style={{ width: 296 }}&gt;&#13;&#10;                    &lt;Box style={{ flexDirection: 'row', alignItems: 'center' }}&gt;&#13;&#10;                        &lt;Box style={{ width: 14, height: 14, borderRadius: 7, background: '#2563EB' }} /&gt;&#13;&#10;                        &lt;Box style={{ flex: 1, height: 2, background: '#E2E8F0' }} /&gt;&#13;&#10;                    &lt;/Box&gt;&#13;&#10;                    &lt;Text style={{ fontSize: 17, fontWeight: '600', color: '#1E293B', lineHeight: 1.3, marginTop: 12 }}&gt;事后继续&lt;/Text&gt;&#13;&#10;                    &lt;Text style={{ fontSize: 15, color: '#64748B', lineHeight: 1.5, marginTop: 6 }}&gt;&#13;&#10;                        决策结果回写检查点，Agent 接着跑完剩余步骤，不会从头开始。&#13;&#10;                    &lt;/Text&gt;&#13;&#10;                &lt;/Box&gt;&#13;&#10;            &lt;/Box&gt;&#13;&#10;&#13;&#10;            {/* 四种决策 + 说明 */}&#13;&#10;            &lt;Box style={{ flexDirection: 'row', gap: 20, marginTop: 24 }}&gt;&#13;&#10;                &lt;Box style={{ width: 300, background: '#F8FAFC', borderWidth: 1, borderColor: '#E2E8F0', borderStyle: 'solid', borderRadius: 10, padding: 16 }}&gt;&#13;&#10;                    &lt;Text style={{ fontSize: 18, fontWeight: '600', color: '#1E293B', lineHeight: 1.3 }}&gt;四处入口，同一套审批&lt;/Text&gt;&#13;&#10;                    &lt;Text style={{ fontSize: 16, color: '#475569', lineHeight: 1.5, marginTop: 8 }}&gt;&#13;&#10;                        控制台、命令行、IM 与定时任务都能收到审批请求；在飞书、钉钉里也能直接点按钮处置。&#13;&#10;                    &lt;/Text&gt;&#13;&#10;                &lt;/Box&gt;&#13;&#10;                &lt;Box style={{ width: 300, background: '#F8FAFC', borderWidth: 1, borderColor: '#E2E8F0', borderStyle: 'solid', borderRadius: 10, padding: 16 }}&gt;&#13;&#10;                    &lt;Text style={{ fontSize: 18, fontWeight: '600', color: '#1E293B', lineHeight: 1.3 }}&gt;会话级放行，减少打扰&lt;/Text&gt;&#13;&#10;                    &lt;Text style={{ fontSize: 16, color: '#475569', lineHeight: 1.5, marginTop: 8 }}&gt;&#13;&#10;                        确认可信后可本次放行或整段会话放行指定工具，避免同类动作反复打断工作流。&#13;&#10;                    &lt;/Text&gt;&#13;&#10;                &lt;/Box&gt;&#13;&#10;                &lt;Box style={{ width: 500, background: '#D6E4F9', borderRadius: 10, padding: 16 }}&gt;&#13;&#10;                    &lt;Text style={{ fontSize: 18, fontWeight: '600', color: '#F59E0B', lineHeight: 1.3 }}&gt;为什么这决定能不能上线&lt;/Text&gt;&#13;&#10;                    &lt;Text style={{ fontSize: 16, color: '#475569', lineHeight: 1.5, marginTop: 8 }}&gt;&#13;&#10;                        绝大多数企业 AI 项目卡在「不敢授权」。审批机制把默认策略从「全禁止」变成「可控放行」，AI 才真正进入业务流程而不是停在建议层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自主执行与人工掌控并不矛盾：机器负责把活干完，人保留随时改主意和问清楚的权利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每一次越界动作，都可以被人叫停、修改或追问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5715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7048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715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事前定义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71500" y="2295525"/>
            <a:ext cx="25527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写文件、改文件、执行命令与删除默认纳入审批清单，由管理员按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调整。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1242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32575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1242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0891B2"/>
                </a:solidFill>
                <a:latin typeface="Microsoft YaHei"/>
                <a:ea typeface="Microsoft YaHei"/>
              </a:rPr>
              <a:t>事中暂停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3124200" y="2295525"/>
            <a:ext cx="2552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命中审批清单或命令守卫规则时，回合在此挂起，等待人工处置。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56769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18" name=""/>
          <p:cNvSpPr/>
          <p:nvPr/>
        </p:nvSpPr>
        <p:spPr>
          <a:xfrm rot="0" flipH="0" flipV="0">
            <a:off x="58102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6769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B45309"/>
                </a:solidFill>
                <a:latin typeface="Microsoft YaHei"/>
                <a:ea typeface="Microsoft YaHei"/>
              </a:rPr>
              <a:t>人工决策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676900" y="2295525"/>
            <a:ext cx="2552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通过、修改参数后通过、拒绝、或补充要求后继续，共四种处置。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82296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8362950" y="1790700"/>
            <a:ext cx="26860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229600" y="1981200"/>
            <a:ext cx="28194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事后继续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229600" y="2295525"/>
            <a:ext cx="2819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决策结果回写检查点，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Agent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接着跑完剩余步骤，不会从头开始。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571500" y="3295650"/>
            <a:ext cx="285750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23900" y="3448050"/>
            <a:ext cx="2552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四处入口，同一套审批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23900" y="3800475"/>
            <a:ext cx="2552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控制台、命令行、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与定时任务都能收到审批请求；在飞书、钉钉里也能直接点按钮处置。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619500" y="3295650"/>
            <a:ext cx="285750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771900" y="3448050"/>
            <a:ext cx="2552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会话级放行，减少打扰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771900" y="3800475"/>
            <a:ext cx="2552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确认可信后可本次放行或整段会话放行指定工具，避免同类动作反复打断工作流。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667500" y="3295650"/>
            <a:ext cx="4762500" cy="1485900"/>
          </a:xfrm>
          <a:prstGeom prst="roundRect">
            <a:avLst>
              <a:gd name="adj" fmla="val 641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819900" y="3448050"/>
            <a:ext cx="4457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F59E0B"/>
                </a:solidFill>
                <a:latin typeface="Microsoft YaHei"/>
                <a:ea typeface="Microsoft YaHei"/>
              </a:rPr>
              <a:t>为什么这决定能不能上线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19900" y="3800475"/>
            <a:ext cx="4457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绝大多数企业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项目卡在「不敢授权」。审批机制把默认策略从「全禁止」变成「可控放行」，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才真正进入业务流程而不是停在建议层。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33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自主执行与人工掌控并不矛盾：机器负责把活干完，人保留随时改主意和问清楚的权利。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37" name="" descr="&lt;Slide style={{ padding: 60, background: '#F4F6FB', position: 'relative' }}&gt;&#13;&#10;    &lt;Box style={{ position: 'absolute', right: 60, top: 130, width: 420, height: 460 }}&gt;&#13;&#10;        &lt;svg width={420} height={460} viewBox='0 0 420 460'&gt;&#13;&#10;            &lt;path d='M210 40 L350 110 L350 250 L210 320 L70 250 L70 110 Z' fill='none' stroke='#C7D6F5' strokeWidth='1' /&gt;&#13;&#10;            &lt;path d='M210 110 L300 160 L300 260 L210 310 L120 260 L120 160 Z' fill='none' stroke='#2563EB' strokeWidth='2' /&gt;&#13;&#10;            &lt;circle cx='210' cy='235' r='26' fill='#FFFFFF' stroke='#F59E0B' strokeWidth='3' /&gt;&#13;&#10;            &lt;circle cx='210' cy='235' r='8' fill='#F59E0B' /&gt;&#13;&#10;            &lt;circle cx='350' cy='110' r='6' fill='#0891B2' /&gt;&#13;&#10;            &lt;circle cx='70' cy='250' r='6' fill='#0891B2' /&gt;&#13;&#10;        &lt;/svg&gt;&#13;&#10;    &lt;/Box&gt;&#13;&#10;&#13;&#10;    &lt;Box style={{ position: 'absolute', left: 92, top: 168, width: 680 }}&gt;&#13;&#10;        &lt;Text style={{ fontSize: 180, fontWeight: 'bold', color: '#CBD9F0', lineHeight: 1.05 }}&gt;&#13;&#10;            03&#13;&#10;        &lt;/Text&gt;&#13;&#10;        &lt;Text style={{ fontSize: 64, fontWeight: 'bold', color: '#1E293B', lineHeight: 1.15, marginTop: 12 }}&gt;&#13;&#10;            安全与治理&#13;&#10;        &lt;/Text&gt;&#13;&#10;        &lt;Box style={{ width: 72, height: 6, borderRadius: 3, background: '#F59E0B', marginTop: 30 }} /&gt;&#13;&#10;        &lt;Text style={{ fontSize: 22, color: '#64748B', lineHeight: 1.5, marginTop: 26 }}&gt;&#13;&#10;            敢把 AI 放出去用，靠的是可验证的边界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B"/>
          </a:solidFill>
          <a:ln/>
        </p:spPr>
        <p:txBody>
          <a:bodyPr/>
          <a:p/>
        </p:txBody>
      </p:sp>
      <p:pic>
        <p:nvPicPr>
          <p:cNvPr id="3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CBD9F0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安全与治理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敢把</a:t>
            </a:r>
            <a:r>
              <a:rPr lang="en-US" sz="1650">
                <a:solidFill>
                  <a:srgbClr val="64748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放出去用，靠的是可验证的边界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371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3 · SECURITY &amp; GOVERNANC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五层防线：每一层都能打开看、按企业需要改&#13;&#10;        &lt;/Text&gt;&#13;&#10;        &lt;Box style={{ height: 1, background: '#E2E8F0', marginTop: 16 }} /&gt;&#13;&#10;&#13;&#10;        &lt;Box style={{ flex: 1, marginTop: 20 }}&gt;&#13;&#10;            &lt;Box style={{ flexDirection: 'row', alignItems: 'center', background: '#D6E4F9', borderRadius: 10, padding: 13, gap: 16 }}&gt;&#13;&#10;                &lt;Text style={{ fontSize: 22, fontWeight: 'bold', color: '#1E293B', lineHeight: 1.2 }}&gt;01&lt;/Text&gt;&#13;&#10;                &lt;Box style={{ width: 1, height: 30, background: '#93C5FD' }} /&gt;&#13;&#10;                &lt;Text style={{ fontSize: 19, fontWeight: '600', color: '#1E293B', lineHeight: 1.3, width: 300 }}&gt;身份与授权&lt;/Text&gt;&#13;&#10;                &lt;Text style={{ flex: 1, fontSize: 15, color: '#475569', lineHeight: 1.5 }}&gt;&#13;&#10;                    密码 / LDAP / SSO-OIDC / 邀请码，JWT 全站校验，按行隔离用户数据&#13;&#10;                &lt;/Text&gt;&#13;&#10;            &lt;/Box&gt;&#13;&#10;            &lt;Box style={{ flexDirection: 'row', alignItems: 'center', background: '#E8EEFB', borderWidth: 1, borderColor: '#C7D6F5', borderStyle: 'solid', borderRadius: 10, padding: 13, gap: 16, marginTop: 10 }}&gt;&#13;&#10;                &lt;Text style={{ fontSize: 22, fontWeight: 'bold', color: '#0891B2', lineHeight: 1.2 }}&gt;02&lt;/Text&gt;&#13;&#10;                &lt;Box style={{ width: 1, height: 30, background: '#C7D6F5' }} /&gt;&#13;&#10;                &lt;Text style={{ fontSize: 19, fontWeight: '600', color: '#1E293B', lineHeight: 1.3, width: 300 }}&gt;命令守卫&lt;/Text&gt;&#13;&#10;                &lt;Text style={{ flex: 1, fontSize: 15, color: '#475569', lineHeight: 1.5 }}&gt;&#13;&#10;                    20 条内建危险命令规则，可选拦截、告警或转人工审批，规则可自定义&#13;&#10;                &lt;/Text&gt;&#13;&#10;            &lt;/Box&gt;&#13;&#10;            &lt;Box style={{ flexDirection: 'row', alignItems: 'center', background: '#E8EEFB', borderWidth: 1, borderColor: '#C7D6F5', borderStyle: 'solid', borderRadius: 10, padding: 13, gap: 16, marginTop: 10 }}&gt;&#13;&#10;                &lt;Text style={{ fontSize: 22, fontWeight: 'bold', color: '#0891B2', lineHeight: 1.2 }}&gt;03&lt;/Text&gt;&#13;&#10;                &lt;Box style={{ width: 1, height: 30, background: '#C7D6F5' }} /&gt;&#13;&#10;                &lt;Text style={{ fontSize: 19, fontWeight: '600', color: '#1E293B', lineHeight: 1.3, width: 300 }}&gt;文件系统沙箱&lt;/Text&gt;&#13;&#10;                &lt;Text style={{ flex: 1, fontSize: 15, color: '#475569', lineHeight: 1.5 }}&gt;&#13;&#10;                    按操作与路径配置允许 / 拒绝，默认拦截 /etc、/root、.env、密钥与云凭证&#13;&#10;                &lt;/Text&gt;&#13;&#10;            &lt;/Box&gt;&#13;&#10;            &lt;Box style={{ flexDirection: 'row', alignItems: 'center', background: '#E8EEFB', borderWidth: 1, borderColor: '#C7D6F5', borderStyle: 'solid', borderRadius: 10, padding: 13, gap: 16, marginTop: 10 }}&gt;&#13;&#10;                &lt;Text style={{ fontSize: 22, fontWeight: 'bold', color: '#0891B2', lineHeight: 1.2 }}&gt;04&lt;/Text&gt;&#13;&#10;                &lt;Box style={{ width: 1, height: 30, background: '#C7D6F5' }} /&gt;&#13;&#10;                &lt;Text style={{ fontSize: 19, fontWeight: '600', color: '#1E293B', lineHeight: 1.3, width: 300 }}&gt;数据与出站&lt;/Text&gt;&#13;&#10;                &lt;Text style={{ flex: 1, fontSize: 15, color: '#475569', lineHeight: 1.5 }}&gt;&#13;&#10;                    四种脱敏策略作用于输入输出与工具结果，出站请求做 SSRF 校验&#13;&#10;                &lt;/Text&gt;&#13;&#10;            &lt;/Box&gt;&#13;&#10;            &lt;Box style={{ flexDirection: 'row', alignItems: 'center', background: '#FFF7E9', borderWidth: 1, borderColor: '#F5D9A4', borderStyle: 'solid', borderRadius: 10, padding: 13, gap: 16, marginTop: 10 }}&gt;&#13;&#10;                &lt;Text style={{ fontSize: 22, fontWeight: 'bold', color: '#B45309', lineHeight: 1.2 }}&gt;05&lt;/Text&gt;&#13;&#10;                &lt;Box style={{ width: 1, height: 30, background: '#F5D9A4' }} /&gt;&#13;&#10;                &lt;Text style={{ fontSize: 19, fontWeight: '600', color: '#1E293B', lineHeight: 1.3, width: 300 }}&gt;审计与备份&lt;/Text&gt;&#13;&#10;                &lt;Text style={{ flex: 1, fontSize: 15, color: '#92400E', lineHeight: 1.5 }}&gt;&#13;&#10;                    工具调用全量记入轨迹账本，支持自动备份与一键恢复&#13;&#10;                &lt;/Text&gt;&#13;&#10;            &lt;/Box&gt;&#13;&#10;        &lt;/Box&gt;&#13;&#10;&#13;&#10;        &lt;Box style={{ marginTop: 18, flexDirection: 'row', alignItems: 'center', background: '#F4F6FB', borderRadius: 8, padding: 14, gap: 16 }}&gt;&#13;&#10;            &lt;Box style={{ width: 4, height: 44, borderRadius: 2, background: '#2563EB' }} /&gt;&#13;&#10;            &lt;Text style={{ flex: 1, fontSize: 18, color: '#1E293B', lineHeight: 1.5 }}&gt;&#13;&#10;                安全不是一句承诺：这五层都是配置文件里看得见、改得动、有日志可查的具体机制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五层防线：每一层都能打开看、按企业需要改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571500" y="17335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95325" y="18573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1E293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1114425" y="1866900"/>
            <a:ext cx="9525" cy="285750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1276350" y="18669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身份与授权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286250" y="18859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密码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LDAP / SSO-OIDC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邀请码，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JWT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全站校验，按行隔离用户数据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571500" y="23812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95325" y="25050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891B2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1114425" y="2514600"/>
            <a:ext cx="9525" cy="28575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276350" y="25146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命令守卫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286250" y="25336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条内建危险命令规则，可选拦截、告警或转人工审批，规则可自定义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571500" y="30289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95325" y="31527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891B2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1114425" y="3162300"/>
            <a:ext cx="9525" cy="28575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1276350" y="31623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文件系统沙箱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286250" y="31813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按操作与路径配置允许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拒绝，默认拦截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/etc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/root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.env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、密钥与云凭证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571500" y="36766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95325" y="38004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891B2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1114425" y="3810000"/>
            <a:ext cx="9525" cy="285750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276350" y="38100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数据与出站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4286250" y="38290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四种脱敏策略作用于输入输出与工具结果，出站请求做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SSRF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校验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571500" y="43243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95325" y="44481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B4530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1114425" y="4457700"/>
            <a:ext cx="9525" cy="285750"/>
          </a:xfrm>
          <a:prstGeom prst="rect">
            <a:avLst/>
          </a:prstGeom>
          <a:solidFill>
            <a:srgbClr val="F5D9A4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276350" y="44577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审计与备份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286250" y="44767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92400E"/>
                </a:solidFill>
                <a:latin typeface="Microsoft YaHei"/>
                <a:ea typeface="Microsoft YaHei"/>
              </a:rPr>
              <a:t>工具调用全量记入轨迹账本，支持自动备份与一键恢复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03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E293B"/>
                </a:solidFill>
                <a:latin typeface="Microsoft YaHei"/>
                <a:ea typeface="Microsoft YaHei"/>
              </a:rPr>
              <a:t>安全不是一句承诺：这五层都是配置文件里看得见、改得动、有日志可查的具体机制。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5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3 · SECURITY &amp; GOVERNANC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危险动作在执行前被拦下，而不是事后追责&#13;&#10;        &lt;/Text&gt;&#13;&#10;        &lt;Box style={{ height: 1, background: '#E2E8F0', marginTop: 16 }} /&gt;&#13;&#10;&#13;&#10;        &lt;Box style={{ flex: 1, marginTop: 22, flexDirection: 'row', gap: 32 }}&gt;&#13;&#10;            {/* 左标题色块 */}&#13;&#10;            &lt;Box style={{ width: 320, background: '#D6E4F9', borderRadius: 12, padding: 22 }}&gt;&#13;&#10;                &lt;Text style={{ fontSize: 64, fontWeight: 'bold', color: '#F59E0B', lineHeight: 1.05 }}&gt;20&lt;/Text&gt;&#13;&#10;                &lt;Text style={{ fontSize: 21, fontWeight: '600', color: '#1E293B', lineHeight: 1.3, marginTop: 6 }}&gt;条内建危险命令规则&lt;/Text&gt;&#13;&#10;                &lt;Box style={{ width: 48, height: 4, borderRadius: 2, background: '#0891B2', marginTop: 14 }} /&gt;&#13;&#10;                &lt;Text style={{ fontSize: 16, color: '#475569', lineHeight: 1.5, marginTop: 14 }}&gt;&#13;&#10;                    覆盖删除与覆写、资源滥用、命令注入、提权、敏感文件与网络滥用六类威胁。&#13;&#10;                &lt;/Text&gt;&#13;&#10;                &lt;Text style={{ fontSize: 15, color: '#475569', lineHeight: 1.5, marginTop: 12 }}&gt;&#13;&#10;                    规则以 YAML 维护，支持校验、热加载，误伤时可一键恢复内置版本。&#13;&#10;                &lt;/Text&gt;&#13;&#10;            &lt;/Box&gt;&#13;&#10;&#13;&#10;            {/* 右侧内容 */}&#13;&#10;            &lt;Box style={{ width: 808 }}&gt;&#13;&#10;                {/* 判定链 */}&#13;&#10;                &lt;Box style={{ flexDirection: 'row', alignItems: 'center', background: '#F8FAFC', borderWidth: 1, borderColor: '#E2E8F0', borderStyle: 'solid', borderRadius: 10, padding: 14 }}&gt;&#13;&#10;                    &lt;Box style={{ width: 200, alignItems: 'center' }}&gt;&#13;&#10;                        &lt;Text style={{ fontSize: 17, fontWeight: '600', color: '#1E293B', lineHeight: 1.3 }}&gt;工具调用请求&lt;/Text&gt;&#13;&#10;                        &lt;Text style={{ fontSize: 14, color: '#64748B', lineHeight: 1.4 }}&gt;bash / execute 的 command&lt;/Text&gt;&#13;&#10;                    &lt;/Box&gt;&#13;&#10;                    &lt;Box style={{ width: 40, justifyContent: 'center', alignItems: 'center' }}&gt;&#13;&#10;                        &lt;svg width={40} height={16} viewBox='0 0 40 16'&gt;&lt;path d='M0 8 L28 8' stroke='#C7D6F5' strokeWidth='2' /&gt;&lt;path d='M28 2 L40 8 L28 14 Z' fill='#C7D6F5' /&gt;&lt;/svg&gt;&#13;&#10;                    &lt;/Box&gt;&#13;&#10;                    &lt;Box style={{ width: 200, alignItems: 'center' }}&gt;&#13;&#10;                        &lt;Text style={{ fontSize: 17, fontWeight: '600', color: '#1E293B', lineHeight: 1.3 }}&gt;规则引擎匹配&lt;/Text&gt;&#13;&#10;                        &lt;Text style={{ fontSize: 14, color: '#64748B', lineHeight: 1.4 }}&gt;YAML 规则 + 用户自定义&lt;/Text&gt;&#13;&#10;                    &lt;/Box&gt;&#13;&#10;                    &lt;Box style={{ width: 40, justifyContent: 'center', alignItems: 'center' }}&gt;&#13;&#10;                        &lt;svg width={40} height={16} viewBox='0 0 40 16'&gt;&lt;path d='M0 8 L28 8' stroke='#C7D6F5' strokeWidth='2' /&gt;&lt;path d='M28 2 L40 8 L28 14 Z' fill='#C7D6F5' /&gt;&lt;/svg&gt;&#13;&#10;                    &lt;/Box&gt;&#13;&#10;                    &lt;Box style={{ flex: 1, flexDirection: 'row', gap: 8 }}&gt;&#13;&#10;                        &lt;Box style={{ flex: 1, background: '#FEE2E2', borderRadius: 6, padding: 8, alignItems: 'center' }}&gt;&#13;&#10;                            &lt;Text style={{ fontSize: 15, fontWeight: '600', color: '#B91C1C', lineHeight: 1.3 }}&gt;拦截&lt;/Text&gt;&#13;&#10;                        &lt;/Box&gt;&#13;&#10;                        &lt;Box style={{ flex: 1, background: '#FFF7E9', borderRadius: 6, padding: 8, alignItems: 'center' }}&gt;&#13;&#10;                            &lt;Text style={{ fontSize: 15, fontWeight: '600', color: '#B45309', lineHeight: 1.3 }}&gt;告警&lt;/Text&gt;&#13;&#10;                        &lt;/Box&gt;&#13;&#10;                        &lt;Box style={{ flex: 1, background: '#E8EEFB', borderRadius: 6, padding: 8, alignItems: 'center' }}&gt;&#13;&#10;                            &lt;Text style={{ fontSize: 15, fontWeight: '600', color: '#2563EB', lineHeight: 1.3 }}&gt;转审批&lt;/Text&gt;&#13;&#10;                        &lt;/Box&gt;&#13;&#10;                    &lt;/Box&gt;&#13;&#10;                &lt;/Box&gt;&#13;&#10;&#13;&#10;                {/* 规则明细 */}&#13;&#10;                &lt;Box style={{ flexDirection: 'row', gap: 14, marginTop: 14 }}&gt;&#13;&#10;                    &lt;Box style={{ flex: 1, background: '#F4F6FB', borderRadius: 10, padding: 13 }}&gt;&#13;&#10;                        &lt;Text style={{ fontSize: 15, color: '#64748B', lineHeight: 1.4 }}&gt;代码执行类&lt;/Text&gt;&#13;&#10;                        &lt;Text style={{ fontSize: 24, fontWeight: '600', color: '#1E293B', lineHeight: 1.3, marginTop: 4 }}&gt;8 条&lt;/Text&gt;&#13;&#10;                    &lt;/Box&gt;&#13;&#10;                    &lt;Box style={{ flex: 1, background: '#F4F6FB', borderRadius: 10, padding: 13 }}&gt;&#13;&#10;                        &lt;Text style={{ fontSize: 15, color: '#64748B', lineHeight: 1.4 }}&gt;资源滥用类&lt;/Text&gt;&#13;&#10;                        &lt;Text style={{ fontSize: 24, fontWeight: '600', color: '#1E293B', lineHeight: 1.3, marginTop: 4 }}&gt;4 条&lt;/Text&gt;&#13;&#10;                    &lt;/Box&gt;&#13;&#10;                    &lt;Box style={{ flex: 1, background: '#F4F6FB', borderRadius: 10, padding: 13 }}&gt;&#13;&#10;                        &lt;Text style={{ fontSize: 15, color: '#64748B', lineHeight: 1.4 }}&gt;命令注入类&lt;/Text&gt;&#13;&#10;                        &lt;Text style={{ fontSize: 24, fontWeight: '600', color: '#1E293B', lineHeight: 1.3, marginTop: 4 }}&gt;3 条&lt;/Text&gt;&#13;&#10;                    &lt;/Box&gt;&#13;&#10;                    &lt;Box style={{ flex: 1, background: '#F4F6FB', borderRadius: 10, padding: 13 }}&gt;&#13;&#10;                        &lt;Text style={{ fontSize: 15, color: '#64748B', lineHeight: 1.4 }}&gt;提权与敏感文件&lt;/Text&gt;&#13;&#10;                        &lt;Text style={{ fontSize: 24, fontWeight: '600', color: '#1E293B', lineHeight: 1.3, marginTop: 4 }}&gt;各 2 条&lt;/Text&gt;&#13;&#10;                    &lt;/Box&gt;&#13;&#10;                    &lt;Box style={{ flex: 1, background: '#F4F6FB', borderRadius: 10, padding: 13 }}&gt;&#13;&#10;                        &lt;Text style={{ fontSize: 15, color: '#64748B', lineHeight: 1.4 }}&gt;等级分布&lt;/Text&gt;&#13;&#10;                        &lt;Text style={{ fontSize: 20, fontWeight: '600', color: '#1E293B', lineHeight: 1.3, marginTop: 4 }}&gt;高危 7 / 严重 13&lt;/Text&gt;&#13;&#10;                    &lt;/Box&gt;&#13;&#10;                &lt;/Box&gt;&#13;&#10;&#13;&#10;                {/* 文件系统沙箱 */}&#13;&#10;                &lt;Box style={{ flexDirection: 'row', gap: 16, marginTop: 14 }}&gt;&#13;&#10;                    &lt;Box style={{ flex: 1, background: '#FFFFFF', borderWidth: 1, borderColor: '#E2E8F0', borderStyle: 'solid', borderRadius: 10, padding: 14 }}&gt;&#13;&#10;                        &lt;Text style={{ fontSize: 17, fontWeight: '600', color: '#1E293B', lineHeight: 1.3 }}&gt;文件系统：按操作 × 路径授权&lt;/Text&gt;&#13;&#10;                        &lt;Text style={{ fontSize: 15, color: '#475569', lineHeight: 1.5, marginTop: 7 }}&gt;&#13;&#10;                            读、写、删除分别授权，首个匹配规则生效，可整体设为默认允许或默认拒绝。&#13;&#10;                        &lt;/Text&gt;&#13;&#10;                    &lt;/Box&gt;&#13;&#10;                    &lt;Box style={{ flex: 1, background: '#FFFFFF', borderWidth: 1, borderColor: '#E2E8F0', borderStyle: 'solid', borderRadius: 10, padding: 14 }}&gt;&#13;&#10;                        &lt;Text style={{ fontSize: 17, fontWeight: '600', color: '#1E293B', lineHeight: 1.3 }}&gt;默认已拦截的路径&lt;/Text&gt;&#13;&#10;                        &lt;Text style={{ fontSize: 15, color: '#475569', lineHeight: 1.5, marginTop: 7 }}&gt;&#13;&#10;                            /etc、/root、.env、SSH 私钥、云厂商凭证目录等，开箱即处于保护状态。&#13;&#10;                        &lt;/Text&gt;&#13;&#10;                    &lt;/Box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规则不是摆设：它把「哪些命令不能跑、哪些目录不能碰」变成可执行、可审计、可调整的企业策略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危险动作在执行前被拦下，而不是事后追责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11" name=""/>
          <p:cNvSpPr/>
          <p:nvPr/>
        </p:nvSpPr>
        <p:spPr>
          <a:xfrm rot="0" flipH="0" flipV="0">
            <a:off x="571500" y="1752600"/>
            <a:ext cx="3048000" cy="3657600"/>
          </a:xfrm>
          <a:prstGeom prst="roundRect">
            <a:avLst>
              <a:gd name="adj" fmla="val 375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81050" y="1962150"/>
            <a:ext cx="2628900" cy="7715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800" b="1">
                <a:solidFill>
                  <a:srgbClr val="F59E0B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781050" y="2790825"/>
            <a:ext cx="26289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条内建危险命令规则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781050" y="3238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81050" y="3409950"/>
            <a:ext cx="26289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覆盖删除与覆写、资源滥用、命令注入、提权、敏感文件与网络滥用六类威胁。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781050" y="4352925"/>
            <a:ext cx="2628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规则以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YAML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维护，支持校验、热加载，误伤时可一键恢复内置版本。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924300" y="1752600"/>
            <a:ext cx="7696200" cy="752475"/>
          </a:xfrm>
          <a:prstGeom prst="roundRect">
            <a:avLst>
              <a:gd name="adj" fmla="val 1265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4524375" y="1885950"/>
            <a:ext cx="9715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工具调用请求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4114800" y="2143125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bash / execute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的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command</a:t>
            </a:r>
            <a:endParaRPr/>
          </a:p>
        </p:txBody>
      </p:sp>
      <p:pic>
        <p:nvPicPr>
          <p:cNvPr id="4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62650" y="2057400"/>
            <a:ext cx="381000" cy="152400"/>
          </a:xfrm>
          <a:prstGeom prst="rect">
            <a:avLst/>
          </a:prstGeom>
          <a:ln/>
        </p:spPr>
      </p:pic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6810375" y="1885950"/>
            <a:ext cx="9715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规则引擎匹配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6543675" y="2143125"/>
            <a:ext cx="15144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YAML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规则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用户自定义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248650" y="2057400"/>
            <a:ext cx="381000" cy="1524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8629650" y="1943100"/>
            <a:ext cx="904875" cy="38100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8943975" y="20193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91C1C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426" name=""/>
          <p:cNvSpPr/>
          <p:nvPr/>
        </p:nvSpPr>
        <p:spPr>
          <a:xfrm rot="0" flipH="0" flipV="0">
            <a:off x="9610725" y="1943100"/>
            <a:ext cx="895350" cy="381000"/>
          </a:xfrm>
          <a:prstGeom prst="roundRect">
            <a:avLst>
              <a:gd name="adj" fmla="val 15000"/>
            </a:avLst>
          </a:prstGeom>
          <a:solidFill>
            <a:srgbClr val="FFF7E9"/>
          </a:solidFill>
          <a:ln/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9915525" y="20193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45309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10582275" y="1943100"/>
            <a:ext cx="904875" cy="381000"/>
          </a:xfrm>
          <a:prstGeom prst="roundRect">
            <a:avLst>
              <a:gd name="adj" fmla="val 15000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0820400" y="2019300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2563EB"/>
                </a:solidFill>
                <a:latin typeface="Microsoft YaHei"/>
                <a:ea typeface="Microsoft YaHei"/>
              </a:rPr>
              <a:t>转审批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3924300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048125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代码执行类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048125" y="3048000"/>
            <a:ext cx="11811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486400" y="2638425"/>
            <a:ext cx="1438275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610225" y="2762250"/>
            <a:ext cx="11906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资源滥用类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5610225" y="3048000"/>
            <a:ext cx="11906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7058025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7181850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命令注入类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181850" y="3048000"/>
            <a:ext cx="11811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8620125" y="2638425"/>
            <a:ext cx="1438275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743950" y="2762250"/>
            <a:ext cx="11906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提权与敏感文件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743950" y="3048000"/>
            <a:ext cx="11906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各</a:t>
            </a:r>
            <a:r>
              <a:rPr lang="en-US" sz="18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800" b="1">
                <a:solidFill>
                  <a:srgbClr val="1E293B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10191750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10315575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等级分布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0315575" y="3048000"/>
            <a:ext cx="1181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高危</a:t>
            </a:r>
            <a:r>
              <a:rPr lang="en-US" sz="15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7 / </a:t>
            </a: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严重</a:t>
            </a:r>
            <a:r>
              <a:rPr lang="en-US" sz="15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3924300" y="3905250"/>
            <a:ext cx="3771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4057650" y="4038600"/>
            <a:ext cx="35052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文件系统：按操作</a:t>
            </a: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路径授权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4057650" y="4362450"/>
            <a:ext cx="3505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读、写、删除分别授权，首个匹配规则生效，可整体设为默认允许或默认拒绝。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848600" y="3905250"/>
            <a:ext cx="3771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981950" y="4038600"/>
            <a:ext cx="35052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默认已拦截的路径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981950" y="4362450"/>
            <a:ext cx="3505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/etc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/root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.env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SSH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私钥、云厂商凭证目录等，开箱即处于保护状态。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52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规则不是摆设：它把「哪些命令不能跑、哪些目录不能碰」变成可执行、可审计、可调整的企业策略。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454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3 · SECURITY &amp; GOVERNANC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数据主权的开关，握在企业自己手里&#13;&#10;        &lt;/Text&gt;&#13;&#10;        &lt;Box style={{ height: 1, background: '#E2E8F0', marginTop: 16 }} /&gt;&#13;&#10;&#13;&#10;        &lt;Box style={{ flex: 1, marginTop: 22, flexDirection: 'row' }}&gt;&#13;&#10;            {/* 左：公有云 SaaS */}&#13;&#10;            &lt;Box style={{ width: 500 }}&gt;&#13;&#10;                &lt;Text style={{ fontSize: 22, fontWeight: '600', color: '#94A3B8', lineHeight: 1.3 }}&gt;公有云 AI 助手&lt;/Text&gt;&#13;&#10;                &lt;Box style={{ height: 3, width: 64, borderRadius: 2, background: '#CBD5E1', marginTop: 12 }} /&gt;&#13;&#10;                &lt;Box style={{ flexDirection: 'row', gap: 12, alignItems: 'flex-start', marginTop: 12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提示词与附件要出网，脱敏策略由厂商决定，企业难以逐条核验。&#13;&#10;                    &lt;/Text&gt;&#13;&#10;                &lt;/Box&gt;&#13;&#10;                &lt;Box style={{ flexDirection: 'row', gap: 12, alignItems: 'flex-start', marginTop: 11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向量、记忆与会话散落在厂商侧，迁移与导出通常受限于产品形态。&#13;&#10;                    &lt;/Text&gt;&#13;&#10;                &lt;/Box&gt;&#13;&#10;                &lt;Box style={{ flexDirection: 'row', gap: 12, alignItems: 'flex-start', marginTop: 11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合规举证依赖对方提供的承诺，审计时拿不到一手记录。&#13;&#10;                    &lt;/Text&gt;&#13;&#10;                &lt;/Box&gt;&#13;&#10;                &lt;Box style={{ marginTop: 18, background: '#F1F5F9', borderRadius: 10, padding: 12 }}&gt;&#13;&#10;                    &lt;Text style={{ fontSize: 16, color: '#64748B', lineHeight: 1.5 }}&gt;&#13;&#10;                        结论：能力上线快，但边界由他人定义，越到核心业务越难说服合规部门。&#13;&#10;                    &lt;/Text&gt;&#13;&#10;                &lt;/Box&gt;&#13;&#10;            &lt;/Box&gt;&#13;&#10;&#13;&#10;            &lt;Box style={{ width: 1, background: '#E2E8F0', marginLeft: 28, marginRight: 28 }} /&gt;&#13;&#10;&#13;&#10;            {/* 右：自托管 */}&#13;&#10;            &lt;Box style={{ width: 602 }}&gt;&#13;&#10;                &lt;Text style={{ fontSize: 22, fontWeight: '600', color: '#1E293B', lineHeight: 1.3 }}&gt;云顶数字工作台（自托管）&lt;/Text&gt;&#13;&#10;                &lt;Box style={{ height: 3, width: 64, borderRadius: 2, background: '#D6E4F9', marginTop: 12 }} /&gt;&#13;&#10;                &lt;Box style={{ flexDirection: 'row', gap: 14, marginTop: 16 }}&gt;&#13;&#10;                    &lt;Box style={{ flex: 1, background: '#E8EEFB', borderWidth: 1, borderColor: '#C7D6F5', borderStyle: 'solid', borderRadius: 10, padding: 11 }}&gt;&#13;&#10;                        &lt;Text style={{ fontSize: 17, fontWeight: '600', color: '#2563EB', lineHeight: 1.3 }}&gt;脱敏四策略&lt;/Text&gt;&#13;&#10;                        &lt;Text style={{ fontSize: 15, color: '#475569', lineHeight: 1.5, marginTop: 7 }}&gt;&#13;&#10;                            阻断、删除、掩码、哈希，可选作用于输入、输出与工具结果。&#13;&#10;                        &lt;/Text&gt;&#13;&#10;                    &lt;/Box&gt;&#13;&#10;                    &lt;Box style={{ flex: 1, background: '#E8EEFB', borderWidth: 1, borderColor: '#C7D6F5', borderStyle: 'solid', borderRadius: 10, padding: 11 }}&gt;&#13;&#10;                        &lt;Text style={{ fontSize: 17, fontWeight: '600', color: '#2563EB', lineHeight: 1.3 }}&gt;出站 SSRF 校验&lt;/Text&gt;&#13;&#10;                        &lt;Text style={{ fontSize: 15, color: '#475569', lineHeight: 1.5, marginTop: 7 }}&gt;&#13;&#10;                            对外请求先过目标校验，避免被诱导访问内网地址。&#13;&#10;                        &lt;/Text&gt;&#13;&#10;                    &lt;/Box&gt;&#13;&#10;                &lt;/Box&gt;&#13;&#10;                &lt;Box style={{ flexDirection: 'row', gap: 14, marginTop: 14 }}&gt;&#13;&#10;                    &lt;Box style={{ flex: 1, background: '#E8EEFB', borderWidth: 1, borderColor: '#C7D6F5', borderStyle: 'solid', borderRadius: 10, padding: 11 }}&gt;&#13;&#10;                        &lt;Text style={{ fontSize: 17, fontWeight: '600', color: '#2563EB', lineHeight: 1.3 }}&gt;本地推理可选&lt;/Text&gt;&#13;&#10;                        &lt;Text style={{ fontSize: 15, color: '#475569', lineHeight: 1.5, marginTop: 7 }}&gt;&#13;&#10;                            Ollama 本地模型与本地 ONNX 向量化，敏感场景可完全离线。&#13;&#10;                        &lt;/Text&gt;&#13;&#10;                    &lt;/Box&gt;&#13;&#10;                    &lt;Box style={{ flex: 1, background: '#E8EEFB', borderWidth: 1, borderColor: '#C7D6F5', borderStyle: 'solid', borderRadius: 10, padding: 11 }}&gt;&#13;&#10;                        &lt;Text style={{ fontSize: 17, fontWeight: '600', color: '#2563EB', lineHeight: 1.3 }}&gt;沙箱执行&lt;/Text&gt;&#13;&#10;                        &lt;Text style={{ fontSize: 15, color: '#475569', lineHeight: 1.5, marginTop: 7 }}&gt;&#13;&#10;                            命令可在 bubblewrap 沙箱 Shell 或容器后端中执行。&#13;&#10;                        &lt;/Text&gt;&#13;&#10;                    &lt;/Box&gt;&#13;&#10;                &lt;/Box&gt;&#13;&#10;                &lt;Box style={{ marginTop: 14, background: '#D6E4F9', borderRadius: 10, padding: 12 }}&gt;&#13;&#10;                    &lt;Text style={{ fontSize: 16, color: '#475569', lineHeight: 1.5 }}&gt;&#13;&#10;                        配置、会话、工作区与凭证统一落在安装目录；供应商、存储与通道均可替换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该上云的环节仍可上云，但该留内网的必须留得住——选择权在配置里，不在合同里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数据主权的开关，握在企业自己手里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4762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公有云</a:t>
            </a:r>
            <a:r>
              <a:rPr lang="en-US" sz="1650" b="1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461" name=""/>
          <p:cNvSpPr/>
          <p:nvPr/>
        </p:nvSpPr>
        <p:spPr>
          <a:xfrm rot="0" flipH="0" flipV="0">
            <a:off x="571500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462" name=""/>
          <p:cNvSpPr/>
          <p:nvPr/>
        </p:nvSpPr>
        <p:spPr>
          <a:xfrm rot="0" flipH="0" flipV="0">
            <a:off x="571500" y="242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762000" y="2343150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提示词与附件要出网，脱敏策略由厂商决定，企业难以逐条核验。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571500" y="3124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" y="3038475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向量、记忆与会话散落在厂商侧，迁移与导出通常受限于产品形态。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571500" y="3819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000" y="373380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合规举证依赖对方提供的承诺，审计时拿不到一手记录。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571500" y="4200525"/>
            <a:ext cx="4762500" cy="781050"/>
          </a:xfrm>
          <a:prstGeom prst="roundRect">
            <a:avLst>
              <a:gd name="adj" fmla="val 12195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685800" y="4314825"/>
            <a:ext cx="4533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结论：能力上线快，但边界由他人定义，越到核心业务越难说服合规部门。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5600700" y="1752600"/>
            <a:ext cx="9525" cy="36576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5876925" y="1752600"/>
            <a:ext cx="57340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云顶数字工作台（自托管）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5876925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473" name=""/>
          <p:cNvSpPr/>
          <p:nvPr/>
        </p:nvSpPr>
        <p:spPr>
          <a:xfrm rot="0" flipH="0" flipV="0">
            <a:off x="5876925" y="23812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5981700" y="24860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脱敏四策略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981700" y="28098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阻断、删除、掩码、哈希，可选作用于输入、输出与工具结果。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8810625" y="23812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915400" y="24860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出站</a:t>
            </a: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SSRF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校验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8915400" y="28098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对外请求先过目标校验，避免被诱导访问内网地址。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876925" y="35623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81700" y="36671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本地推理可选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981700" y="39909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Ollama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本地模型与本地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向量化，敏感场景可完全离线。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8810625" y="35623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915400" y="36671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沙箱执行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915400" y="39909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命令可在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bubblewrap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沙箱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或容器后端中执行。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5876925" y="4743450"/>
            <a:ext cx="5734050" cy="504825"/>
          </a:xfrm>
          <a:prstGeom prst="roundRect">
            <a:avLst>
              <a:gd name="adj" fmla="val 18868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5991225" y="4857750"/>
            <a:ext cx="55054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配置、会话、工作区与凭证统一落在安装目录；供应商、存储与通道均可替换。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48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该上云的环节仍可上云，但该留内网的必须留得住——选择权在配置里，不在合同里。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0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3 · SECURITY &amp; GOVERNANC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接进企业现有身份体系，而不是再建一套账号&#13;&#10;        &lt;/Text&gt;&#13;&#10;        &lt;Box style={{ height: 1, background: '#E2E8F0', marginTop: 16 }} /&gt;&#13;&#10;&#13;&#10;        &lt;Box style={{ flex: 1, marginTop: 20 }}&gt;&#13;&#10;            &lt;Box style={{ flexDirection: 'row', alignItems: 'stretch' }}&gt;&#13;&#10;                &lt;Box style={{ width: 268, background: '#E8EEFB', borderWidth: 1, borderColor: '#C7D6F5', borderStyle: 'solid', borderRadius: 10, padding: 14 }}&gt;&#13;&#10;                    &lt;Text style={{ fontSize: 16, fontWeight: '600', color: '#94A3B8', lineHeight: 1.3 }}&gt;阶段一&lt;/Text&gt;&#13;&#10;                    &lt;Text style={{ fontSize: 20, fontWeight: '600', color: '#1E293B', lineHeight: 1.3, marginTop: 6 }}&gt;登录方式&lt;/Text&gt;&#13;&#10;                    &lt;Text style={{ fontSize: 15, color: '#475569', lineHeight: 1.5, marginTop: 8 }}&gt;&#13;&#10;                        密码（argon2）、LDAP、SSO-OIDC（钉钉 / 飞书 / 企业微信 / 通用）、邀请码与验证码。&#13;&#10;                    &lt;/Text&gt;&#13;&#10;                &lt;/Box&gt;&#13;&#10;                &lt;Box style={{ width: 28, justifyContent: 'center', alignItems: 'center' }}&gt;&#13;&#10;                    &lt;svg width={28} height={18} viewBox='0 0 28 18'&gt;&lt;path d='M0 9 L18 9' stroke='#2563EB' strokeWidth='2' /&gt;&lt;path d='M18 2 L28 9 L18 16 Z' fill='#2563EB' /&gt;&lt;/svg&gt;&#13;&#10;                &lt;/Box&gt;&#13;&#10;                &lt;Box style={{ width: 268, background: '#E8EEFB', borderWidth: 1, borderColor: '#C7D6F5', borderStyle: 'solid', borderRadius: 10, padding: 14 }}&gt;&#13;&#10;                    &lt;Text style={{ fontSize: 16, fontWeight: '600', color: '#94A3B8', lineHeight: 1.3 }}&gt;阶段二&lt;/Text&gt;&#13;&#10;                    &lt;Text style={{ fontSize: 20, fontWeight: '600', color: '#1E293B', lineHeight: 1.3, marginTop: 6 }}&gt;令牌与会话&lt;/Text&gt;&#13;&#10;                    &lt;Text style={{ fontSize: 15, color: '#475569', lineHeight: 1.5, marginTop: 8 }}&gt;&#13;&#10;                        全站接口强制校验，未完成初始化时锁定管理接口，空闲会话自动踢出。&#13;&#10;                    &lt;/Text&gt;&#13;&#10;                &lt;/Box&gt;&#13;&#10;                &lt;Box style={{ width: 28, justifyContent: 'center', alignItems: 'center' }}&gt;&#13;&#10;                    &lt;svg width={28} height={18} viewBox='0 0 28 18'&gt;&lt;path d='M0 9 L18 9' stroke='#0891B2' strokeWidth='2' /&gt;&lt;path d='M18 2 L28 9 L18 16 Z' fill='#0891B2' /&gt;&lt;/svg&gt;&#13;&#10;                &lt;/Box&gt;&#13;&#10;                &lt;Box style={{ width: 268, background: '#D6E4F9', borderRadius: 10, padding: 14 }}&gt;&#13;&#10;                    &lt;Text style={{ fontSize: 16, fontWeight: '600', color: '#475569', lineHeight: 1.3 }}&gt;阶段三&lt;/Text&gt;&#13;&#10;                    &lt;Text style={{ fontSize: 20, fontWeight: '600', color: '#1E293B', lineHeight: 1.3, marginTop: 6 }}&gt;权限判定&lt;/Text&gt;&#13;&#10;                    &lt;Text style={{ fontSize: 15, color: '#475569', lineHeight: 1.5, marginTop: 8 }}&gt;&#13;&#10;                        模块级权限目录 + 角色模板，管理员取全集，成员按模块逐项授权。&#13;&#10;                    &lt;/Text&gt;&#13;&#10;                &lt;/Box&gt;&#13;&#10;                &lt;Box style={{ width: 28, justifyContent: 'center', alignItems: 'center' }}&gt;&#13;&#10;                    &lt;svg width={28} height={18} viewBox='0 0 28 18'&gt;&lt;path d='M0 9 L18 9' stroke='#F59E0B' strokeWidth='2' /&gt;&lt;path d='M18 2 L28 9 L18 16 Z' fill='#F59E0B' /&gt;&lt;/svg&gt;&#13;&#10;                &lt;/Box&gt;&#13;&#10;                &lt;Box style={{ width: 268, background: '#FFF7E9', borderWidth: 1, borderColor: '#F5D9A4', borderStyle: 'solid', borderRadius: 10, padding: 14 }}&gt;&#13;&#10;                    &lt;Text style={{ fontSize: 16, fontWeight: '600', color: '#B45309', lineHeight: 1.3 }}&gt;阶段四&lt;/Text&gt;&#13;&#10;                    &lt;Text style={{ fontSize: 20, fontWeight: '600', color: '#1E293B', lineHeight: 1.3, marginTop: 6 }}&gt;资源所有权&lt;/Text&gt;&#13;&#10;                    &lt;Text style={{ fontSize: 15, color: '#475569', lineHeight: 1.5, marginTop: 8 }}&gt;&#13;&#10;                        数据行按 user_id 校验归属，跨用户运维仅管理员可用且留痕。&#13;&#10;                    &lt;/Text&gt;&#13;&#10;                &lt;/Box&gt;&#13;&#10;            &lt;/Box&gt;&#13;&#10;&#13;&#10;            &lt;Box style={{ flexDirection: 'row', gap: 20, marginTop: 22 }}&gt;&#13;&#10;                &lt;Box style={{ flex: 1, background: '#F8FAFC', borderWidth: 1, borderColor: '#E2E8F0', borderStyle: 'solid', borderRadius: 10, padding: 15 }}&gt;&#13;&#10;                    &lt;Text style={{ fontSize: 18, fontWeight: '600', color: '#1E293B', lineHeight: 1.3 }}&gt;对 IT 部门意味着什么&lt;/Text&gt;&#13;&#10;                    &lt;Text style={{ fontSize: 16, color: '#475569', lineHeight: 1.5, marginTop: 8 }}&gt;&#13;&#10;                        账号生命周期沿用现有目录服务，离职即失效；不必为 AI 平台单独维护一份人员台账。&#13;&#10;                    &lt;/Text&gt;&#13;&#10;                &lt;/Box&gt;&#13;&#10;                &lt;Box style={{ flex: 1, background: '#F8FAFC', borderWidth: 1, borderColor: '#E2E8F0', borderStyle: 'solid', borderRadius: 10, padding: 15 }}&gt;&#13;&#10;                    &lt;Text style={{ fontSize: 18, fontWeight: '600', color: '#1E293B', lineHeight: 1.3 }}&gt;对业务团队意味着什么&lt;/Text&gt;&#13;&#10;                    &lt;Text style={{ fontSize: 16, color: '#475569', lineHeight: 1.5, marginTop: 8 }}&gt;&#13;&#10;                        成员只看到被授权的模块与自己的 Agent，跨团队协作通过共享专家与邀请实现。&#13;&#10;                    &lt;/Text&gt;&#13;&#10;                &lt;/Box&gt;&#13;&#10;                &lt;Box style={{ width: 340, background: '#F8FAFC', borderWidth: 1, borderColor: '#E2E8F0', borderStyle: 'solid', borderRadius: 10, padding: 15 }}&gt;&#13;&#10;                    &lt;Text style={{ fontSize: 18, fontWeight: '600', color: '#1E293B', lineHeight: 1.3 }}&gt;边界说明&lt;/Text&gt;&#13;&#10;                    &lt;Text style={{ fontSize: 16, color: '#475569', lineHeight: 1.5, marginTop: 8 }}&gt;&#13;&#10;                        当前未提供 SAML 登录，隔离粒度为用户与权限模块，不是租户级多租户模型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身份接入越贴近企业现状，AI 平台推广的阻力越小——这一点往往比模型能力更早决定项目成败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接进企业现有身份体系，而不是再建一套账号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496" name=""/>
          <p:cNvSpPr/>
          <p:nvPr/>
        </p:nvSpPr>
        <p:spPr>
          <a:xfrm rot="0" flipH="0" flipV="0">
            <a:off x="5715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048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阶段一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7048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登录方式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04850" y="2543175"/>
            <a:ext cx="22860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密码（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argon2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）、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LDAP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SSO-OIDC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（钉钉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飞书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企业微信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通用）、邀请码与验证码。</a:t>
            </a:r>
            <a:endParaRPr/>
          </a:p>
        </p:txBody>
      </p:sp>
      <p:pic>
        <p:nvPicPr>
          <p:cNvPr id="5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24200" y="2505075"/>
            <a:ext cx="266700" cy="171450"/>
          </a:xfrm>
          <a:prstGeom prst="rect">
            <a:avLst/>
          </a:prstGeom>
          <a:ln/>
        </p:spPr>
      </p:pic>
      <p:sp>
        <p:nvSpPr>
          <p:cNvPr id="501" name=""/>
          <p:cNvSpPr/>
          <p:nvPr/>
        </p:nvSpPr>
        <p:spPr>
          <a:xfrm rot="0" flipH="0" flipV="0">
            <a:off x="33909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5242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阶段二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35242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令牌与会话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5242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全站接口强制校验，未完成初始化时锁定管理接口，空闲会话自动踢出。</a:t>
            </a:r>
            <a:endParaRPr/>
          </a:p>
        </p:txBody>
      </p:sp>
      <p:pic>
        <p:nvPicPr>
          <p:cNvPr id="5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43600" y="2505075"/>
            <a:ext cx="266700" cy="171450"/>
          </a:xfrm>
          <a:prstGeom prst="rect">
            <a:avLst/>
          </a:prstGeom>
          <a:ln/>
        </p:spPr>
      </p:pic>
      <p:sp>
        <p:nvSpPr>
          <p:cNvPr id="506" name=""/>
          <p:cNvSpPr/>
          <p:nvPr/>
        </p:nvSpPr>
        <p:spPr>
          <a:xfrm rot="0" flipH="0" flipV="0">
            <a:off x="62103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63436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475569"/>
                </a:solidFill>
                <a:latin typeface="Microsoft YaHei"/>
                <a:ea typeface="Microsoft YaHei"/>
              </a:rPr>
              <a:t>阶段三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3436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权限判定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63436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模块级权限目录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角色模板，管理员取全集，成员按模块逐项授权。</a:t>
            </a:r>
            <a:endParaRPr/>
          </a:p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763000" y="2505075"/>
            <a:ext cx="266700" cy="171450"/>
          </a:xfrm>
          <a:prstGeom prst="rect">
            <a:avLst/>
          </a:prstGeom>
          <a:ln/>
        </p:spPr>
      </p:pic>
      <p:sp>
        <p:nvSpPr>
          <p:cNvPr id="511" name=""/>
          <p:cNvSpPr/>
          <p:nvPr/>
        </p:nvSpPr>
        <p:spPr>
          <a:xfrm rot="0" flipH="0" flipV="0">
            <a:off x="90297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91630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B45309"/>
                </a:solidFill>
                <a:latin typeface="Microsoft YaHei"/>
                <a:ea typeface="Microsoft YaHei"/>
              </a:rPr>
              <a:t>阶段四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91630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资源所有权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91630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数据行按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user_id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校验归属，跨用户运维仅管理员可用且留痕。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3657600"/>
            <a:ext cx="371475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714375" y="3800475"/>
            <a:ext cx="34290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对</a:t>
            </a:r>
            <a:r>
              <a:rPr lang="en-US" sz="13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IT </a:t>
            </a: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部门意味着什么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714375" y="4152900"/>
            <a:ext cx="3429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账号生命周期沿用现有目录服务，离职即失效；不必为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平台单独维护一份人员台账。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4476750" y="3657600"/>
            <a:ext cx="371475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4619625" y="3800475"/>
            <a:ext cx="34290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对业务团队意味着什么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4619625" y="4152900"/>
            <a:ext cx="3429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成员只看到被授权的模块与自己的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，跨团队协作通过共享专家与邀请实现。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8382000" y="3657600"/>
            <a:ext cx="323850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8524875" y="3800475"/>
            <a:ext cx="29527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边界说明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8524875" y="4152900"/>
            <a:ext cx="2952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当前未提供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SAML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登录，隔离粒度为用户与权限模块，不是租户级多租户模型。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身份接入越贴近企业现状，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平台推广的阻力越小——这一点往往比模型能力更早决定项目成败。</a:t>
            </a:r>
            <a:endParaRPr/>
          </a:p>
        </p:txBody>
      </p:sp>
    </p:spTree>
  </p:cSld>
</p:sld>
</file>

<file path=ppt/slides/slide2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27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3 · SECURITY &amp; GOVERNANCE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出问题能回放每一步，出问题之前能提前备份&#13;&#10;        &lt;/Text&gt;&#13;&#10;        &lt;Box style={{ height: 1, background: '#E2E8F0', marginTop: 16 }} /&gt;&#13;&#10;&#13;&#10;        &lt;Box style={{ flex: 1, marginTop: 20 }}&gt;&#13;&#10;            {/* 上图：轨迹账本链路 */}&#13;&#10;            &lt;Box style={{ background: '#F8FAFC', borderWidth: 1, borderColor: '#E2E8F0', borderStyle: 'solid', borderRadius: 12, padding: 16 }}&gt;&#13;&#10;                &lt;Text style={{ fontSize: 19, fontWeight: '600', color: '#1E293B', lineHeight: 1.3 }}&gt;轨迹账本：每一次工具调用都留痕&lt;/Text&gt;&#13;&#10;                &lt;Box style={{ flexDirection: 'row', alignItems: 'center', marginTop: 14 }}&gt;&#13;&#10;                    &lt;Box style={{ width: 320, background: '#FFFFFF', borderWidth: 1, borderColor: '#C7D6F5', borderStyle: 'solid', borderRadius: 8, padding: 12 }}&gt;&#13;&#10;                        &lt;Text style={{ fontSize: 16, fontWeight: '600', color: '#2563EB', lineHeight: 1.3 }}&gt;工具调用发生&lt;/Text&gt;&#13;&#10;                        &lt;Text style={{ fontSize: 14, color: '#64748B', lineHeight: 1.4 }}&gt;读文件、跑命令、开浏览器、查知识库&lt;/Text&gt;&#13;&#10;                    &lt;/Box&gt;&#13;&#10;                    &lt;Box style={{ width: 40, justifyContent: 'center', alignItems: 'center' }}&gt;&#13;&#10;                        &lt;svg width={40} height={16} viewBox='0 0 40 16'&gt;&lt;path d='M0 8 L28 8' stroke='#C7D6F5' strokeWidth='2' /&gt;&lt;path d='M28 2 L40 8 L28 14 Z' fill='#C7D6F5' /&gt;&lt;/svg&gt;&#13;&#10;                    &lt;/Box&gt;&#13;&#10;                    &lt;Box style={{ width: 320, background: '#D6E4F9', borderRadius: 8, padding: 12 }}&gt;&#13;&#10;                        &lt;Text style={{ fontSize: 16, fontWeight: '600', color: '#1E293B', lineHeight: 1.3 }}&gt;事件落库&lt;/Text&gt;&#13;&#10;                        &lt;Text style={{ fontSize: 14, color: '#475569', lineHeight: 1.4 }}&gt;调用、参数与结果写入轨迹事件表&lt;/Text&gt;&#13;&#10;                    &lt;/Box&gt;&#13;&#10;                    &lt;Box style={{ width: 40, justifyContent: 'center', alignItems: 'center' }}&gt;&#13;&#10;                        &lt;svg width={40} height={16} viewBox='0 0 40 16'&gt;&lt;path d='M0 8 L28 8' stroke='#F59E0B' strokeWidth='2' /&gt;&lt;path d='M28 2 L40 8 L28 14 Z' fill='#F59E0B' /&gt;&lt;/svg&gt;&#13;&#10;                    &lt;/Box&gt;&#13;&#10;                    &lt;Box style={{ flex: 1, background: '#FFF7E9', borderWidth: 1, borderColor: '#F5D9A4', borderStyle: 'solid', borderRadius: 8, padding: 12 }}&gt;&#13;&#10;                        &lt;Text style={{ fontSize: 16, fontWeight: '600', color: '#B45309', lineHeight: 1.3 }}&gt;三种检视视图&lt;/Text&gt;&#13;&#10;                        &lt;Text style={{ fontSize: 14, color: '#92400E', lineHeight: 1.4 }}&gt;调用清单、时间轴、明细与指标条&lt;/Text&gt;&#13;&#10;                    &lt;/Box&gt;&#13;&#10;                &lt;/Box&gt;&#13;&#10;            &lt;/Box&gt;&#13;&#10;&#13;&#10;            {/* 下图：备份四点 */}&#13;&#10;            &lt;Box style={{ flexDirection: 'row', gap: 18, marginTop: 16 }}&gt;&#13;&#10;                &lt;Box style={{ flex: 1, background: '#FFFFFF', borderWidth: 1, borderColor: '#E2E8F0', borderStyle: 'solid', borderRadius: 10, padding: 13 }}&gt;&#13;&#10;                    &lt;Text style={{ fontSize: 18, fontWeight: '600', color: '#1E293B', lineHeight: 1.3 }}&gt;自动备份可挂定时&lt;/Text&gt;&#13;&#10;                    &lt;Text style={{ fontSize: 15, color: '#475569', lineHeight: 1.5, marginTop: 7 }}&gt;&#13;&#10;                        备份作业本身可纳入定时任务周期执行，无需额外运维脚本。&#13;&#10;                    &lt;/Text&gt;&#13;&#10;                &lt;/Box&gt;&#13;&#10;                &lt;Box style={{ flex: 1, background: '#FFFFFF', borderWidth: 1, borderColor: '#E2E8F0', borderStyle: 'solid', borderRadius: 10, padding: 13 }}&gt;&#13;&#10;                    &lt;Text style={{ fontSize: 18, fontWeight: '600', color: '#1E293B', lineHeight: 1.3 }}&gt;覆盖控制面与工作区&lt;/Text&gt;&#13;&#10;                    &lt;Text style={{ fontSize: 15, color: '#475569', lineHeight: 1.5, marginTop: 7 }}&gt;&#13;&#10;                        支持数据库转储与工作区归档，PostgreSQL 场景走专用导出工具。&#13;&#10;                    &lt;/Text&gt;&#13;&#10;                &lt;/Box&gt;&#13;&#10;                &lt;Box style={{ flex: 1, background: '#FFFFFF', borderWidth: 1, borderColor: '#E2E8F0', borderStyle: 'solid', borderRadius: 10, padding: 13 }}&gt;&#13;&#10;                    &lt;Text style={{ fontSize: 18, fontWeight: '600', color: '#1E293B', lineHeight: 1.3 }}&gt;升级前一键导出&lt;/Text&gt;&#13;&#10;                    &lt;Text style={{ fontSize: 15, color: '#475569', lineHeight: 1.5, marginTop: 7 }}&gt;&#13;&#10;                        跨版本升级前可先备份再更新，服务模式下自动重启恢复运行。&#13;&#10;                    &lt;/Text&gt;&#13;&#10;                &lt;/Box&gt;&#13;&#10;                &lt;Box style={{ flex: 1, background: '#FFFFFF', borderWidth: 1, borderColor: '#E2E8F0', borderStyle: 'solid', borderRadius: 10, padding: 13 }}&gt;&#13;&#10;                    &lt;Text style={{ fontSize: 18, fontWeight: '600', color: '#1E293B', lineHeight: 1.3 }}&gt;轨迹不只是日志&lt;/Text&gt;&#13;&#10;                    &lt;Text style={{ fontSize: 15, color: '#475569', lineHeight: 1.5, marginTop: 7 }}&gt;&#13;&#10;                        可按会话回放完整过程，用于复盘、追责与效果度量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可回放、可恢复、可解释——这三项能力决定了 AI 能不能真正通过企业的内控与安全评审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出问题能回放每一步，出问题之前能提前备份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33" name=""/>
          <p:cNvSpPr/>
          <p:nvPr/>
        </p:nvSpPr>
        <p:spPr>
          <a:xfrm rot="0" flipH="0" flipV="0">
            <a:off x="571500" y="1733550"/>
            <a:ext cx="11049000" cy="1419225"/>
          </a:xfrm>
          <a:prstGeom prst="roundRect">
            <a:avLst>
              <a:gd name="adj" fmla="val 80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723900" y="1885950"/>
            <a:ext cx="10744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轨迹账本：每一次工具调用都留痕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723900" y="2305050"/>
            <a:ext cx="3048000" cy="695325"/>
          </a:xfrm>
          <a:prstGeom prst="roundRect">
            <a:avLst>
              <a:gd name="adj" fmla="val 10959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38200" y="2419350"/>
            <a:ext cx="2819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2563EB"/>
                </a:solidFill>
                <a:latin typeface="Microsoft YaHei"/>
                <a:ea typeface="Microsoft YaHei"/>
              </a:rPr>
              <a:t>工具调用发生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38200" y="2657475"/>
            <a:ext cx="28194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读文件、跑命令、开浏览器、查知识库</a:t>
            </a:r>
            <a:endParaRPr/>
          </a:p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71900" y="2581275"/>
            <a:ext cx="381000" cy="152400"/>
          </a:xfrm>
          <a:prstGeom prst="rect">
            <a:avLst/>
          </a:prstGeom>
          <a:ln/>
        </p:spPr>
      </p:pic>
      <p:sp>
        <p:nvSpPr>
          <p:cNvPr id="539" name=""/>
          <p:cNvSpPr/>
          <p:nvPr/>
        </p:nvSpPr>
        <p:spPr>
          <a:xfrm rot="0" flipH="0" flipV="0">
            <a:off x="4152900" y="2305050"/>
            <a:ext cx="3048000" cy="695325"/>
          </a:xfrm>
          <a:prstGeom prst="roundRect">
            <a:avLst>
              <a:gd name="adj" fmla="val 10959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4267200" y="2419350"/>
            <a:ext cx="2819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事件落库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4267200" y="2657475"/>
            <a:ext cx="28194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调用、参数与结果写入轨迹事件表</a:t>
            </a:r>
            <a:endParaRPr/>
          </a:p>
        </p:txBody>
      </p:sp>
      <p:pic>
        <p:nvPicPr>
          <p:cNvPr id="5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00900" y="2581275"/>
            <a:ext cx="381000" cy="152400"/>
          </a:xfrm>
          <a:prstGeom prst="rect">
            <a:avLst/>
          </a:prstGeom>
          <a:ln/>
        </p:spPr>
      </p:pic>
      <p:sp>
        <p:nvSpPr>
          <p:cNvPr id="543" name=""/>
          <p:cNvSpPr/>
          <p:nvPr/>
        </p:nvSpPr>
        <p:spPr>
          <a:xfrm rot="0" flipH="0" flipV="0">
            <a:off x="7581900" y="2305050"/>
            <a:ext cx="3886200" cy="695325"/>
          </a:xfrm>
          <a:prstGeom prst="roundRect">
            <a:avLst>
              <a:gd name="adj" fmla="val 10959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7696200" y="2419350"/>
            <a:ext cx="3657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B45309"/>
                </a:solidFill>
                <a:latin typeface="Microsoft YaHei"/>
                <a:ea typeface="Microsoft YaHei"/>
              </a:rPr>
              <a:t>三种检视视图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7696200" y="26574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调用清单、时间轴、明细与指标条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71500" y="3305175"/>
            <a:ext cx="2638425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695325" y="3429000"/>
            <a:ext cx="239077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自动备份可挂定时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695325" y="3771900"/>
            <a:ext cx="23907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备份作业本身可纳入定时任务周期执行，无需额外运维脚本。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381375" y="3305175"/>
            <a:ext cx="2628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3505200" y="34290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覆盖控制面与工作区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505200" y="37719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支持数据库转储与工作区归档，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PostgreSQL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场景走专用导出工具。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6181725" y="3305175"/>
            <a:ext cx="2638425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6305550" y="3429000"/>
            <a:ext cx="239077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升级前一键导出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6305550" y="3771900"/>
            <a:ext cx="23907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跨版本升级前可先备份再更新，服务模式下自动重启恢复运行。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8991600" y="3305175"/>
            <a:ext cx="2628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115425" y="34290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轨迹不只是日志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9115425" y="37719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可按会话回放完整过程，用于复盘、追责与效果度量。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可回放、可恢复、可解释——这三项能力决定了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能不能真正通过企业的内控与安全评审。</a:t>
            </a:r>
            <a:endParaRPr/>
          </a:p>
        </p:txBody>
      </p:sp>
    </p:spTree>
  </p:cSld>
</p:sld>
</file>

<file path=ppt/slides/slide2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61" name="" descr="&lt;Slide style={{ padding: 60, background: '#F4F6FB', position: 'relative' }}&gt;&#13;&#10;    &lt;Box style={{ position: 'absolute', right: 60, top: 130, width: 420, height: 460 }}&gt;&#13;&#10;        &lt;svg width={420} height={460} viewBox='0 0 420 460'&gt;&#13;&#10;            &lt;circle cx='210' cy='230' r='60' fill='#2563EB' opacity='0.18' /&gt;&#13;&#10;            &lt;circle cx='210' cy='230' r='26' fill='#F59E0B' /&gt;&#13;&#10;            &lt;line x1='210' y1='230' x2='60' y2='80' stroke='#0891B2' strokeWidth='2' /&gt;&#13;&#10;            &lt;line x1='210' y1='230' x2='360' y2='80' stroke='#0891B2' strokeWidth='2' /&gt;&#13;&#10;            &lt;line x1='210' y1='230' x2='60' y2='380' stroke='#93C5FD' strokeWidth='2' /&gt;&#13;&#10;            &lt;line x1='210' y1='230' x2='360' y2='380' stroke='#93C5FD' strokeWidth='2' /&gt;&#13;&#10;            &lt;circle cx='60' cy='80' r='10' fill='#0891B2' /&gt;&#13;&#10;            &lt;circle cx='360' cy='80' r='10' fill='#0891B2' /&gt;&#13;&#10;            &lt;circle cx='60' cy='380' r='10' fill='#2563EB' /&gt;&#13;&#10;            &lt;circle cx='360' cy='380' r='10' fill='#2563EB' /&gt;&#13;&#10;        &lt;/svg&gt;&#13;&#10;    &lt;/Box&gt;&#13;&#10;&#13;&#10;    &lt;Box style={{ position: 'absolute', left: 92, top: 168, width: 680 }}&gt;&#13;&#10;        &lt;Text style={{ fontSize: 180, fontWeight: 'bold', color: '#CBD9F0', lineHeight: 1.05 }}&gt;&#13;&#10;            04&#13;&#10;        &lt;/Text&gt;&#13;&#10;        &lt;Text style={{ fontSize: 64, fontWeight: 'bold', color: '#1E293B', lineHeight: 1.15, marginTop: 12 }}&gt;&#13;&#10;            连接与集成&#13;&#10;        &lt;/Text&gt;&#13;&#10;        &lt;Box style={{ width: 72, height: 6, borderRadius: 3, background: '#F59E0B', marginTop: 30 }} /&gt;&#13;&#10;        &lt;Text style={{ fontSize: 22, color: '#64748B', lineHeight: 1.5, marginTop: 26 }}&gt;&#13;&#10;            不是新建孤岛，而是接进既有系统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B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CBD9F0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连接与集成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不是新建孤岛，而是接进既有系统</a:t>
            </a:r>
            <a:endParaRPr/>
          </a:p>
        </p:txBody>
      </p:sp>
    </p:spTree>
  </p:cSld>
</p:sld>
</file>

<file path=ppt/slides/slide26.xml><?xml version="1.0" encoding="utf-8"?>
<p:sld xmlns:p="http://schemas.openxmlformats.org/presentationml/2006/main" xmlns:a="http://schemas.openxmlformats.org/drawingml/2006/main">
  <p:cSld>
    <p:spTree>
      <p:nvGrpSpPr>
        <p:cNvPr id="56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4 · INTEGRATION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日常在用的系统，开箱就能接&#13;&#10;        &lt;/Text&gt;&#13;&#10;        &lt;Box style={{ height: 1, background: '#E2E8F0', marginTop: 16 }} /&gt;&#13;&#10;&#13;&#10;        &lt;Box style={{ flex: 1, marginTop: 22, flexDirection: 'row', gap: 32 }}&gt;&#13;&#10;            {/* 巨型数字 */}&#13;&#10;            &lt;Box style={{ width: 380, background: '#D6E4F9', borderRadius: 12, padding: 22 }}&gt;&#13;&#10;                &lt;Text style={{ fontSize: 96, fontWeight: 'bold', color: '#F59E0B', lineHeight: 1.05 }}&gt;47&lt;/Text&gt;&#13;&#10;                &lt;Text style={{ fontSize: 21, fontWeight: '600', color: '#1E293B', lineHeight: 1.3, marginTop: 4 }}&gt;个企业系统连接器&lt;/Text&gt;&#13;&#10;                &lt;Box style={{ height: 1, background: '#93C5FD', marginTop: 16 }} /&gt;&#13;&#10;                &lt;Text style={{ fontSize: 15, color: '#475569', lineHeight: 1.5, marginTop: 14 }}&gt;&#13;&#10;                    43 个已可用、4 个即将上线；接入模式为远程 17、网关 16、内建 13、stdio 1。&#13;&#10;                &lt;/Text&gt;&#13;&#10;                &lt;Text style={{ fontSize: 15, color: '#475569', lineHeight: 1.5, marginTop: 12 }}&gt;&#13;&#10;                    认证覆盖 API Key、OAuth2、个人令牌与自定义字段，授权流程内建。&#13;&#10;                &lt;/Text&gt;&#13;&#10;            &lt;/Box&gt;&#13;&#10;&#13;&#10;            {/* 分类分布 */}&#13;&#10;            &lt;Box style={{ width: 748 }}&gt;&#13;&#10;                &lt;Box style={{ flexDirection: 'row', gap: 12 }}&gt;&#13;&#10;                    &lt;Box style={{ flex: 1, background: '#E8EEFB', borderWidth: 1, borderColor: '#C7D6F5', borderStyle: 'solid', borderRadius: 9, padding: 11 }}&gt;&#13;&#10;                        &lt;Text style={{ fontSize: 16, fontWeight: '600', color: '#1E293B', lineHeight: 1.3 }}&gt;办公文档 · 10&lt;/Text&gt;&#13;&#10;                        &lt;Text style={{ fontSize: 14, color: '#64748B', lineHeight: 1.4 }}&gt;腾讯文档 / 会议 / 微云 / 有道 / Notion&lt;/Text&gt;&#13;&#10;                    &lt;/Box&gt;&#13;&#10;                    &lt;Box style={{ flex: 1, background: '#E8EEFB', borderWidth: 1, borderColor: '#C7D6F5', borderStyle: 'solid', borderRadius: 9, padding: 11 }}&gt;&#13;&#10;                        &lt;Text style={{ fontSize: 16, fontWeight: '600', color: '#1E293B', lineHeight: 1.3 }}&gt;知识沉淀 · 8&lt;/Text&gt;&#13;&#10;                        &lt;Text style={{ fontSize: 14, color: '#64748B', lineHeight: 1.4 }}&gt;腾讯 IMA / 乐享 / 语雀 / Obsidian&lt;/Text&gt;&#13;&#10;                    &lt;/Box&gt;&#13;&#10;                    &lt;Box style={{ flex: 1, background: '#E8EEFB', borderWidth: 1, borderColor: '#C7D6F5', borderStyle: 'solid', borderRadius: 9, padding: 11 }}&gt;&#13;&#10;                        &lt;Text style={{ fontSize: 16, fontWeight: '600', color: '#1E293B', lineHeight: 1.3 }}&gt;效率协作 · 7&lt;/Text&gt;&#13;&#10;                        &lt;Text style={{ fontSize: 14, color: '#64748B', lineHeight: 1.4 }}&gt;邮箱 / 滴答清单 / 办公套件 / 腾讯问卷&lt;/Text&gt;&#13;&#10;                    &lt;/Box&gt;&#13;&#10;                &lt;/Box&gt;&#13;&#10;                &lt;Box style={{ flexDirection: 'row', gap: 12, marginTop: 12 }}&gt;&#13;&#10;                    &lt;Box style={{ flex: 1, background: '#F8FAFC', borderWidth: 1, borderColor: '#E2E8F0', borderStyle: 'solid', borderRadius: 9, padding: 11 }}&gt;&#13;&#10;                        &lt;Text style={{ fontSize: 16, fontWeight: '600', color: '#1E293B', lineHeight: 1.3 }}&gt;出行差旅 · 5&lt;/Text&gt;&#13;&#10;                        &lt;Text style={{ fontSize: 14, color: '#64748B', lineHeight: 1.4 }}&gt;飞猪 / 携程 / 美团 / 滴滴 / 百度地图&lt;/Text&gt;&#13;&#10;                    &lt;/Box&gt;&#13;&#10;                    &lt;Box style={{ flex: 1, background: '#F8FAFC', borderWidth: 1, borderColor: '#E2E8F0', borderStyle: 'solid', borderRadius: 9, padding: 11 }}&gt;&#13;&#10;                        &lt;Text style={{ fontSize: 16, fontWeight: '600', color: '#1E293B', lineHeight: 1.3 }}&gt;媒体内容 · 4&lt;/Text&gt;&#13;&#10;                        &lt;Text style={{ fontSize: 14, color: '#64748B', lineHeight: 1.4 }}&gt;腾讯新闻 / 微信读书 / QQ 音乐 / RSS&lt;/Text&gt;&#13;&#10;                    &lt;/Box&gt;&#13;&#10;                    &lt;Box style={{ flex: 1, background: '#F8FAFC', borderWidth: 1, borderColor: '#E2E8F0', borderStyle: 'solid', borderRadius: 9, padding: 11 }}&gt;&#13;&#10;                        &lt;Text style={{ fontSize: 16, fontWeight: '600', color: '#1E293B', lineHeight: 1.3 }}&gt;研发与项目 · 4&lt;/Text&gt;&#13;&#10;                        &lt;Text style={{ fontSize: 14, color: '#64748B', lineHeight: 1.4 }}&gt;GitHub / Jira / Linear / TAPD&lt;/Text&gt;&#13;&#10;                    &lt;/Box&gt;&#13;&#10;                &lt;/Box&gt;&#13;&#10;                &lt;Box style={{ flexDirection: 'row', gap: 12, marginTop: 12 }}&gt;&#13;&#10;                    &lt;Box style={{ flex: 1, background: '#FFF7E9', borderWidth: 1, borderColor: '#F5D9A4', borderStyle: 'solid', borderRadius: 9, padding: 11 }}&gt;&#13;&#10;                        &lt;Text style={{ fontSize: 16, fontWeight: '600', color: '#1E293B', lineHeight: 1.3 }}&gt;专业数据 · 5&lt;/Text&gt;&#13;&#10;                        &lt;Text style={{ fontSize: 14, color: '#64748B', lineHeight: 1.4 }}&gt;企查查 / 天眼查 / 元典 / 法规 / 金融数据&lt;/Text&gt;&#13;&#10;                    &lt;/Box&gt;&#13;&#10;                    &lt;Box style={{ flex: 2, background: '#F4F6FB', borderWidth: 1, borderColor: '#E2E8F0', borderStyle: 'solid', borderRadius: 9, padding: 11 }}&gt;&#13;&#10;                        &lt;Text style={{ fontSize: 16, fontWeight: '600', color: '#1E293B', lineHeight: 1.3 }}&gt;自定义 MCP 与内部系统&lt;/Text&gt;&#13;&#10;                        &lt;Text style={{ fontSize: 14, color: '#64748B', lineHeight: 1.4 }}&gt;支持按 MCP 协议登记企业自有服务，内部系统也能成为 Agent 的工具&lt;/Text&gt;&#13;&#10;                    &lt;/Box&gt;&#13;&#10;                &lt;/Box&gt;&#13;&#10;                &lt;Text style={{ fontSize: 16, color: '#475569', lineHeight: 1.5, marginTop: 16 }}&gt;&#13;&#10;                    连接器按 Agent 绑定：客服 Agent 接工单与知识库，研发 Agent 接仓库与项目工具，权限边界随角色走。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主流办公与业务系统的接入已无需自研——省下的不是几个接口的工作量，而是整套授权、刷新与运维的长期成本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57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日常在用的系统，开箱就能接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571500" y="1752600"/>
            <a:ext cx="3619500" cy="3657600"/>
          </a:xfrm>
          <a:prstGeom prst="roundRect">
            <a:avLst>
              <a:gd name="adj" fmla="val 3158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781050" y="1962150"/>
            <a:ext cx="3200400" cy="11525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7200" b="1">
                <a:solidFill>
                  <a:srgbClr val="F59E0B"/>
                </a:solidFill>
                <a:latin typeface="Microsoft YaHei"/>
                <a:ea typeface="Microsoft YaHei"/>
              </a:rPr>
              <a:t>47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781050" y="315277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个企业系统连接器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781050" y="3619500"/>
            <a:ext cx="32004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781050" y="3762375"/>
            <a:ext cx="3200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43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个已可用、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个即将上线；接入模式为远程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17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、网关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16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、内建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13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stdio 1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781050" y="4391025"/>
            <a:ext cx="3200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认证覆盖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API Key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OAuth2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、个人令牌与自定义字段，授权流程内建。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495800" y="1752600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4600575" y="1857375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办公文档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10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4600575" y="2095500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腾讯文档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会议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微云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有道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Notion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6905625" y="1752600"/>
            <a:ext cx="2305050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7010400" y="1857375"/>
            <a:ext cx="20955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知识沉淀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8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7010400" y="2095500"/>
            <a:ext cx="2095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IMA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乐享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语雀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Obsidian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9324975" y="1752600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429750" y="1857375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效率协作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7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9429750" y="2095500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邮箱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滴答清单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办公套件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腾讯问卷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4495800" y="2771775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4600575" y="2876550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出行差旅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5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600575" y="3114675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飞猪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携程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美团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滴滴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百度地图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6905625" y="2771775"/>
            <a:ext cx="2305050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7010400" y="2876550"/>
            <a:ext cx="20955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媒体内容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4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7010400" y="3114675"/>
            <a:ext cx="20955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腾讯新闻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微信读书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QQ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音乐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RSS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9324975" y="2771775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9429750" y="2876550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研发与项目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4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9429750" y="3114675"/>
            <a:ext cx="20859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GitHub / Jira / Linear / TAPD</a:t>
            </a:r>
            <a:endParaRPr/>
          </a:p>
        </p:txBody>
      </p:sp>
      <p:sp>
        <p:nvSpPr>
          <p:cNvPr id="598" name=""/>
          <p:cNvSpPr/>
          <p:nvPr/>
        </p:nvSpPr>
        <p:spPr>
          <a:xfrm rot="0" flipH="0" flipV="0">
            <a:off x="4495800" y="3790950"/>
            <a:ext cx="2333625" cy="904875"/>
          </a:xfrm>
          <a:prstGeom prst="roundRect">
            <a:avLst>
              <a:gd name="adj" fmla="val 9474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600575" y="3895725"/>
            <a:ext cx="21240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专业数据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· 5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4600575" y="4133850"/>
            <a:ext cx="21240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企查查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天眼查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元典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法规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金融数据</a:t>
            </a:r>
            <a:endParaRPr/>
          </a:p>
        </p:txBody>
      </p:sp>
      <p:sp>
        <p:nvSpPr>
          <p:cNvPr id="601" name=""/>
          <p:cNvSpPr/>
          <p:nvPr/>
        </p:nvSpPr>
        <p:spPr>
          <a:xfrm rot="0" flipH="0" flipV="0">
            <a:off x="6943725" y="3790950"/>
            <a:ext cx="4676775" cy="904875"/>
          </a:xfrm>
          <a:prstGeom prst="roundRect">
            <a:avLst>
              <a:gd name="adj" fmla="val 9474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7048500" y="3895725"/>
            <a:ext cx="44672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自定义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与内部系统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7048500" y="4133850"/>
            <a:ext cx="44672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支持按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协议登记企业自有服务，内部系统也能成为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的工具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4495800" y="4848225"/>
            <a:ext cx="7124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连接器按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绑定：客服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接工单与知识库，研发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接仓库与项目工具，权限边界随角色走。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主流办公与业务系统的接入已无需自研——省下的不是几个接口的工作量，而是整套授权、刷新与运维的长期成本。</a:t>
            </a:r>
            <a:endParaRPr/>
          </a:p>
        </p:txBody>
      </p:sp>
    </p:spTree>
  </p:cSld>
</p:sld>
</file>

<file path=ppt/slides/slide27.xml><?xml version="1.0" encoding="utf-8"?>
<p:sld xmlns:p="http://schemas.openxmlformats.org/presentationml/2006/main" xmlns:a="http://schemas.openxmlformats.org/drawingml/2006/main">
  <p:cSld>
    <p:spTree>
      <p:nvGrpSpPr>
        <p:cNvPr id="60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4 · INTEGRATION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员工不需要学新工具：在已经在用的聊天框里派活&#13;&#10;        &lt;/Text&gt;&#13;&#10;        &lt;Box style={{ height: 1, background: '#E2E8F0', marginTop: 16 }} /&gt;&#13;&#10;&#13;&#10;        &lt;Box style={{ flex: 1, marginTop: 22, flexDirection: 'row', gap: 32 }}&gt;&#13;&#10;            {/* 左：通道清单 */}&#13;&#10;            &lt;Box style={{ width: 520 }}&gt;&#13;&#10;                &lt;Box style={{ background: '#F8FAFC', borderWidth: 1, borderColor: '#E2E8F0', borderStyle: 'solid', borderRadius: 12, padding: 16 }}&gt;&#13;&#10;                    &lt;Text style={{ fontSize: 19, fontWeight: '600', color: '#1E293B', lineHeight: 1.3 }}&gt;10 个 IM 通道，同一条处理管线&lt;/Text&gt;&#13;&#10;                    &lt;Box style={{ flexDirection: 'row', gap: 10, marginTop: 14 }}&gt;&#13;&#10;                        &lt;Box style={{ flex: 1, background: '#E8EEFB', borderRadius: 8, padding: 10, alignItems: 'center' }}&gt;&#13;&#10;                            &lt;Text style={{ fontSize: 16, color: '#1E293B', lineHeight: 1.3 }}&gt;飞书&lt;/Text&gt;&#13;&#10;                        &lt;/Box&gt;&#13;&#10;                        &lt;Box style={{ flex: 1, background: '#E8EEFB', borderRadius: 8, padding: 10, alignItems: 'center' }}&gt;&#13;&#10;                            &lt;Text style={{ fontSize: 16, color: '#1E293B', lineHeight: 1.3 }}&gt;钉钉&lt;/Text&gt;&#13;&#10;                        &lt;/Box&gt;&#13;&#10;                        &lt;Box style={{ flex: 1, background: '#E8EEFB', borderRadius: 8, padding: 10, alignItems: 'center' }}&gt;&#13;&#10;                            &lt;Text style={{ fontSize: 16, color: '#1E293B', lineHeight: 1.3 }}&gt;企业微信&lt;/Text&gt;&#13;&#10;                        &lt;/Box&gt;&#13;&#10;                    &lt;/Box&gt;&#13;&#10;                    &lt;Box style={{ flexDirection: 'row', gap: 10, marginTop: 10 }}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微信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QQ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腾讯元宝&lt;/Text&gt;&#13;&#10;                        &lt;/Box&gt;&#13;&#10;                    &lt;/Box&gt;&#13;&#10;                    &lt;Box style={{ flexDirection: 'row', gap: 10, marginTop: 10 }}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Telegram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Discord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E293B', lineHeight: 1.3 }}&gt;小艺&lt;/Text&gt;&#13;&#10;                        &lt;/Box&gt;&#13;&#10;                    &lt;/Box&gt;&#13;&#10;                    &lt;Box style={{ flexDirection: 'row', gap: 10, marginTop: 10 }}&gt;&#13;&#10;                        &lt;Box style={{ flex: 1, background: '#FFF7E9', borderWidth: 1, borderColor: '#F5D9A4', borderStyle: 'solid', borderRadius: 8, padding: 10, alignItems: 'center' }}&gt;&#13;&#10;                            &lt;Text style={{ fontSize: 16, color: '#1E293B', lineHeight: 1.3 }}&gt;MQTT（IoT）&lt;/Text&gt;&#13;&#10;                        &lt;/Box&gt;&#13;&#10;                        &lt;Box style={{ flex: 2, background: '#F4F6FB', borderRadius: 8, padding: 10, alignItems: 'center' }}&gt;&#13;&#10;                            &lt;Text style={{ fontSize: 16, color: '#64748B', lineHeight: 1.3 }}&gt;插件可扩展更多通道&lt;/Text&gt;&#13;&#10;                        &lt;/Box&gt;&#13;&#10;                    &lt;/Box&gt;&#13;&#10;                &lt;/Box&gt;&#13;&#10;            &lt;/Box&gt;&#13;&#10;&#13;&#10;            {/* 右：场景与机制 */}&#13;&#10;            &lt;Box style={{ width: 608 }}&gt;&#13;&#10;                &lt;Box style={{ paddingBottom: 11, borderBottomWidth: 1, borderBottomColor: '#E2E8F0', borderBottomStyle: 'solid' }}&gt;&#13;&#10;                    &lt;Text style={{ fontSize: 21, fontWeight: '600', color: '#1E293B', lineHeight: 1.3 }}&gt;接入方式：扫码或机器人自助创建&lt;/Text&gt;&#13;&#10;                    &lt;Text style={{ fontSize: 16, color: '#475569', lineHeight: 1.5, marginTop: 8 }}&gt;&#13;&#10;                        主流平台支持扫码绑定与机器人自助创建。&#13;&#10;                    &lt;/Text&gt;&#13;&#10;                &lt;/Box&gt;&#13;&#10;                &lt;Box style={{ paddingTop: 14, paddingBottom: 11, borderBottomWidth: 1, borderBottomColor: '#E2E8F0', borderBottomStyle: 'solid' }}&gt;&#13;&#10;                    &lt;Text style={{ fontSize: 21, fontWeight: '600', color: '#1E293B', lineHeight: 1.3 }}&gt;群里也能用：单聊与群聊分别成会话&lt;/Text&gt;&#13;&#10;                    &lt;Text style={{ fontSize: 16, color: '#475569', lineHeight: 1.5, marginTop: 8 }}&gt;&#13;&#10;                        会话键按平台区分，群聊上下文不会串到私聊。&#13;&#10;                    &lt;/Text&gt;&#13;&#10;                &lt;/Box&gt;&#13;&#10;                &lt;Box style={{ paddingTop: 14, paddingBottom: 11, borderBottomWidth: 1, borderBottomColor: '#E2E8F0', borderBottomStyle: 'solid' }}&gt;&#13;&#10;                    &lt;Text style={{ fontSize: 21, fontWeight: '600', color: '#1E293B', lineHeight: 1.3 }}&gt;主动触达：不只是被动应答&lt;/Text&gt;&#13;&#10;                    &lt;Text style={{ fontSize: 16, color: '#475569', lineHeight: 1.5, marginTop: 8 }}&gt;&#13;&#10;                        定时任务与主动关怀可把日报与预警推到指定会话。&#13;&#10;                    &lt;/Text&gt;&#13;&#10;                &lt;/Box&gt;&#13;&#10;                &lt;Box style={{ paddingTop: 11 }}&gt;&#13;&#10;                    &lt;Text style={{ fontSize: 21, fontWeight: '600', color: '#1E293B', lineHeight: 1.3 }}&gt;边界说明&lt;/Text&gt;&#13;&#10;                    &lt;Text style={{ fontSize: 16, color: '#475569', lineHeight: 1.5, marginTop: 8 }}&gt;&#13;&#10;                        未提供 WhatsApp 与 Teams 通道；Slack 为连接器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推广 AI 最大的成本往往不是技术，而是改变人的习惯——把它放进现有的协作工具里，这一步就省掉了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员工不需要学新工具：在已经在用的聊天框里派活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571500" y="1752600"/>
            <a:ext cx="4953000" cy="2724150"/>
          </a:xfrm>
          <a:prstGeom prst="roundRect">
            <a:avLst>
              <a:gd name="adj" fmla="val 41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723900" y="1905000"/>
            <a:ext cx="4648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个</a:t>
            </a: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IM </a:t>
            </a: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通道，同一条处理管线</a:t>
            </a:r>
            <a:endParaRPr/>
          </a:p>
        </p:txBody>
      </p:sp>
      <p:sp>
        <p:nvSpPr>
          <p:cNvPr id="616" name=""/>
          <p:cNvSpPr/>
          <p:nvPr/>
        </p:nvSpPr>
        <p:spPr>
          <a:xfrm rot="0" flipH="0" flipV="0">
            <a:off x="72390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1314450" y="241935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飞书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230505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2895600" y="241935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钉钉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388620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4324350" y="2419350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企业微信</a:t>
            </a:r>
            <a:endParaRPr/>
          </a:p>
        </p:txBody>
      </p:sp>
      <p:sp>
        <p:nvSpPr>
          <p:cNvPr id="622" name=""/>
          <p:cNvSpPr/>
          <p:nvPr/>
        </p:nvSpPr>
        <p:spPr>
          <a:xfrm rot="0" flipH="0" flipV="0">
            <a:off x="72390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314450" y="2943225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微信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230505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2924175" y="2943225"/>
            <a:ext cx="257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>QQ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388620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4324350" y="2943225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腾讯元宝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72390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1133475" y="3467100"/>
            <a:ext cx="6667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>Telegram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230505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2771775" y="3467100"/>
            <a:ext cx="561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>Discord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388620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4476750" y="346710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小艺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23900" y="3895725"/>
            <a:ext cx="1514475" cy="428625"/>
          </a:xfrm>
          <a:prstGeom prst="roundRect">
            <a:avLst>
              <a:gd name="adj" fmla="val 17778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90600" y="3990975"/>
            <a:ext cx="9810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>MQTT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1E293B"/>
                </a:solidFill>
                <a:latin typeface="Microsoft YaHei"/>
                <a:ea typeface="Microsoft YaHei"/>
              </a:rPr>
              <a:t>IoT</a:t>
            </a:r>
            <a:r>
              <a:rPr lang="zh-CN" sz="1200">
                <a:solidFill>
                  <a:srgbClr val="1E293B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2333625" y="3895725"/>
            <a:ext cx="3038475" cy="428625"/>
          </a:xfrm>
          <a:prstGeom prst="roundRect">
            <a:avLst>
              <a:gd name="adj" fmla="val 17778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3171825" y="3990975"/>
            <a:ext cx="1371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插件可扩展更多通道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5829300" y="1752600"/>
            <a:ext cx="5791200" cy="790575"/>
          </a:xfrm>
          <a:custGeom>
            <a:pathLst>
              <a:path w="608" h="83">
                <a:moveTo>
                  <a:pt x="0" y="82"/>
                </a:moveTo>
                <a:lnTo>
                  <a:pt x="608" y="82"/>
                </a:lnTo>
                <a:lnTo>
                  <a:pt x="608" y="83"/>
                </a:lnTo>
                <a:lnTo>
                  <a:pt x="0" y="83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5829300" y="17526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接入方式：扫码或机器人自助创建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5829300" y="21431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主流平台支持扫码绑定与机器人自助创建。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5829300" y="2533650"/>
            <a:ext cx="5791200" cy="923925"/>
          </a:xfrm>
          <a:custGeom>
            <a:pathLst>
              <a:path w="608" h="97">
                <a:moveTo>
                  <a:pt x="0" y="96"/>
                </a:moveTo>
                <a:lnTo>
                  <a:pt x="608" y="96"/>
                </a:lnTo>
                <a:lnTo>
                  <a:pt x="608" y="97"/>
                </a:lnTo>
                <a:lnTo>
                  <a:pt x="0" y="97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5829300" y="26670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群里也能用：单聊与群聊分别成会话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5829300" y="30575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会话键按平台区分，群聊上下文不会串到私聊。</a:t>
            </a:r>
            <a:endParaRPr/>
          </a:p>
        </p:txBody>
      </p:sp>
      <p:sp>
        <p:nvSpPr>
          <p:cNvPr id="644" name=""/>
          <p:cNvSpPr/>
          <p:nvPr/>
        </p:nvSpPr>
        <p:spPr>
          <a:xfrm rot="0" flipH="0" flipV="0">
            <a:off x="5829300" y="3448050"/>
            <a:ext cx="5791200" cy="923925"/>
          </a:xfrm>
          <a:custGeom>
            <a:pathLst>
              <a:path w="608" h="97">
                <a:moveTo>
                  <a:pt x="0" y="96"/>
                </a:moveTo>
                <a:lnTo>
                  <a:pt x="608" y="96"/>
                </a:lnTo>
                <a:lnTo>
                  <a:pt x="608" y="97"/>
                </a:lnTo>
                <a:lnTo>
                  <a:pt x="0" y="97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5829300" y="35814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主动触达：不只是被动应答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5829300" y="39719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定时任务与主动关怀可把日报与预警推到指定会话。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5829300" y="4467225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E293B"/>
                </a:solidFill>
                <a:latin typeface="Microsoft YaHei"/>
                <a:ea typeface="Microsoft YaHei"/>
              </a:rPr>
              <a:t>边界说明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829300" y="4857750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未提供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WhatsApp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Teams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通道；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Slack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为连接器。</a:t>
            </a:r>
            <a:endParaRPr/>
          </a:p>
        </p:txBody>
      </p:sp>
      <p:sp>
        <p:nvSpPr>
          <p:cNvPr id="649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50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推广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最大的成本往往不是技术，而是改变人的习惯——把它放进现有的协作工具里，这一步就省掉了。</a:t>
            </a:r>
            <a:endParaRPr/>
          </a:p>
        </p:txBody>
      </p:sp>
    </p:spTree>
  </p:cSld>
</p:sld>
</file>

<file path=ppt/slides/slide2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52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4 · INTEGRATION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既是对等协作者，也是被调用的服务&#13;&#10;        &lt;/Text&gt;&#13;&#10;        &lt;Box style={{ height: 1, background: '#E2E8F0', marginTop: 16 }} /&gt;&#13;&#10;&#13;&#10;        &lt;Box style={{ flex: 1, marginTop: 22, flexDirection: 'row', gap: 24 }}&gt;&#13;&#10;            {/* 出站方向 */}&#13;&#10;            &lt;Box style={{ flex: 1, background: '#E6F7F9', borderWidth: 1, borderColor: '#B6E3EA', borderStyle: 'solid', borderRadius: 12, padding: 18 }}&gt;&#13;&#10;                &lt;Text style={{ fontSize: 21, fontWeight: '600', color: '#0891B2', lineHeight: 1.3 }}&gt;我们调用外部&lt;/Text&gt;&#13;&#10;                &lt;Text style={{ fontSize: 15, color: '#64748B', lineHeight: 1.5, marginTop: 8 }}&gt;&#13;&#10;                    把任务交给更合适的工具完成&#13;&#10;                &lt;/Text&gt;&#13;&#10;                &lt;Box style={{ height: 1, background: '#B6E3EA', marginTop: 14 }} /&gt;&#13;&#10;                &lt;Box style={{ flexDirection: 'row', gap: 12, alignItems: 'flex-start', marginTop: 14 }}&gt;&#13;&#10;                    &lt;Text style={{ fontSize: 15, fontWeight: '600', color: '#1E293B', lineHeight: 1.4, width: 76 }}&gt;ACP 出站&lt;/Text&gt;&#13;&#10;                    &lt;Text style={{ flex: 1, fontSize: 15, color: '#475569', lineHeight: 1.5 }}&gt;&#13;&#10;                        把编码任务委派给 OpenCode、CodeBuddy、Claude Code、Codex 等外部编程 Agent。&#13;&#10;                    &lt;/Text&gt;&#13;&#10;                &lt;/Box&gt;&#13;&#10;                &lt;Box style={{ flexDirection: 'row', gap: 12, alignItems: 'flex-start', marginTop: 12 }}&gt;&#13;&#10;                    &lt;Text style={{ fontSize: 15, fontWeight: '600', color: '#1E293B', lineHeight: 1.4, width: 76 }}&gt;MCP 出站&lt;/Text&gt;&#13;&#10;                    &lt;Text style={{ flex: 1, fontSize: 15, color: '#475569', lineHeight: 1.5 }}&gt;&#13;&#10;                        作为 MCP 客户端连接外部 MCP 服务，完整支持会话协商与协议版本。&#13;&#10;                    &lt;/Text&gt;&#13;&#10;                &lt;/Box&gt;&#13;&#10;                &lt;Box style={{ flexDirection: 'row', gap: 12, alignItems: 'flex-start', marginTop: 12 }}&gt;&#13;&#10;                    &lt;Text style={{ fontSize: 15, fontWeight: '600', color: '#1E293B', lineHeight: 1.4, width: 76 }}&gt;权限协商&lt;/Text&gt;&#13;&#10;                    &lt;Text style={{ flex: 1, fontSize: 15, color: '#475569', lineHeight: 1.5 }}&gt;&#13;&#10;                        外部 Agent 请求权限时回传至本平台审批链路，由同一套策略决定放行。&#13;&#10;                    &lt;/Text&gt;&#13;&#10;                &lt;/Box&gt;&#13;&#10;            &lt;/Box&gt;&#13;&#10;&#13;&#10;            {/* 中枢 */}&#13;&#10;            &lt;Box style={{ width: 200, justifyContent: 'center', alignItems: 'center' }}&gt;&#13;&#10;                &lt;Box style={{ width: 150, height: 150, borderRadius: 75, background: '#EFF6FF', borderWidth: 1, borderColor: '#2563EB', justifyContent: 'center', alignItems: 'center' }}&gt;&#13;&#10;                    &lt;Text style={{ fontSize: 19, fontWeight: 'bold', color: '#1E293B', lineHeight: 1.3, textAlign: 'center' }}&gt;云顶数字&lt;br /&gt;工作台&lt;/Text&gt;&#13;&#10;                &lt;/Box&gt;&#13;&#10;                &lt;Box style={{ flexDirection: 'row', gap: 10, marginTop: 14, alignItems: 'center' }}&gt;&#13;&#10;                    &lt;svg width={30} height={14} viewBox='0 0 30 14'&gt;&lt;path d='M30 7 L10 7' stroke='#F59E0B' strokeWidth='2' /&gt;&lt;path d='M10 1 L0 7 L10 13 Z' fill='#F59E0B' /&gt;&lt;/svg&gt;&#13;&#10;                    &lt;svg width={30} height={14} viewBox='0 0 30 14'&gt;&lt;path d='M0 7 L20 7' stroke='#0891B2' strokeWidth='2' /&gt;&lt;path d='M20 1 L30 7 L20 13 Z' fill='#0891B2' /&gt;&lt;/svg&gt;&#13;&#10;                &lt;/Box&gt;&#13;&#10;                &lt;Text style={{ fontSize: 14, color: '#64748B', lineHeight: 1.4, marginTop: 8, textAlign: 'center' }}&gt;双向协议&lt;/Text&gt;&#13;&#10;            &lt;/Box&gt;&#13;&#10;&#13;&#10;            {/* 入站方向 */}&#13;&#10;            &lt;Box style={{ flex: 1, background: '#FFF7E9', borderWidth: 1, borderColor: '#F5D9A4', borderStyle: 'solid', borderRadius: 12, padding: 18 }}&gt;&#13;&#10;                &lt;Text style={{ fontSize: 21, fontWeight: '600', color: '#B45309', lineHeight: 1.3 }}&gt;外部调用我们&lt;/Text&gt;&#13;&#10;                &lt;Text style={{ fontSize: 15, color: '#64748B', lineHeight: 1.5, marginTop: 8 }}&gt;&#13;&#10;                    让既有工具链直接用上本平台能力&#13;&#10;                &lt;/Text&gt;&#13;&#10;                &lt;Box style={{ height: 1, background: '#F5D9A4', marginTop: 14 }} /&gt;&#13;&#10;                &lt;Box style={{ flexDirection: 'row', gap: 12, alignItems: 'flex-start', marginTop: 14 }}&gt;&#13;&#10;                    &lt;Text style={{ fontSize: 15, fontWeight: '600', color: '#1E293B', lineHeight: 1.4, width: 76 }}&gt;ACP 入站&lt;/Text&gt;&#13;&#10;                    &lt;Text style={{ flex: 1, fontSize: 15, color: '#475569', lineHeight: 1.5 }}&gt;&#13;&#10;                        一条命令对外提供 stdio ACP 服务，供 Zed、OpenCode 等 IDE 与终端工具直接使用。&#13;&#10;                    &lt;/Text&gt;&#13;&#10;                &lt;/Box&gt;&#13;&#10;                &lt;Box style={{ flexDirection: 'row', gap: 12, alignItems: 'flex-start', marginTop: 12 }}&gt;&#13;&#10;                    &lt;Text style={{ fontSize: 15, fontWeight: '600', color: '#1E293B', lineHeight: 1.4, width: 76 }}&gt;MCP 入站&lt;/Text&gt;&#13;&#10;                    &lt;Text style={{ flex: 1, fontSize: 15, color: '#475569', lineHeight: 1.5 }}&gt;&#13;&#10;                        把已配置的专家对外暴露为 MCP 工具，其他 Agent 可直接调用企业内的专家。&#13;&#10;                    &lt;/Text&gt;&#13;&#10;                &lt;/Box&gt;&#13;&#10;                &lt;Box style={{ flexDirection: 'row', gap: 12, alignItems: 'flex-start', marginTop: 12 }}&gt;&#13;&#10;                    &lt;Text style={{ fontSize: 15, fontWeight: '600', color: '#1E293B', lineHeight: 1.4, width: 76 }}&gt;开放接口&lt;/Text&gt;&#13;&#10;                    &lt;Text style={{ flex: 1, fontSize: 15, color: '#475569', lineHeight: 1.5 }}&gt;&#13;&#10;                        55 组 REST 路由、WebSocket 与 SSE 事件流，供程序化集成。&#13;&#10;                    &lt;/Text&gt;&#13;&#10;                &lt;/Box&gt;&#13;&#10;            &lt;/Box&gt;&#13;&#10;        &lt;/Box&gt;&#13;&#10;&#13;&#10;        &lt;Box style={{ marginTop: 18, flexDirection: 'row', alignItems: 'center', background: '#F4F6FB', borderRadius: 8, padding: 14, gap: 16 }}&gt;&#13;&#10;            &lt;Box style={{ width: 4, height: 44, borderRadius: 2, background: '#2563EB' }} /&gt;&#13;&#10;            &lt;Text style={{ flex: 1, fontSize: 18, color: '#1E293B', lineHeight: 1.5 }}&gt;&#13;&#10;                开放意味着不被绑定：企业可以把本平台接进现有工具链，也可以在更好的工具出现时把任务委派出去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既是对等协作者，也是被调用的服务</a:t>
            </a:r>
            <a:endParaRPr/>
          </a:p>
        </p:txBody>
      </p:sp>
      <p:sp>
        <p:nvSpPr>
          <p:cNvPr id="65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58" name=""/>
          <p:cNvSpPr/>
          <p:nvPr/>
        </p:nvSpPr>
        <p:spPr>
          <a:xfrm rot="0" flipH="0" flipV="0">
            <a:off x="571500" y="1752600"/>
            <a:ext cx="4343400" cy="3676650"/>
          </a:xfrm>
          <a:prstGeom prst="roundRect">
            <a:avLst>
              <a:gd name="adj" fmla="val 3109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42950" y="1924050"/>
            <a:ext cx="40005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0891B2"/>
                </a:solidFill>
                <a:latin typeface="Microsoft YaHei"/>
                <a:ea typeface="Microsoft YaHei"/>
              </a:rPr>
              <a:t>我们调用外部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742950" y="2314575"/>
            <a:ext cx="40005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把任务交给更合适的工具完成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42950" y="2705100"/>
            <a:ext cx="4000500" cy="9525"/>
          </a:xfrm>
          <a:prstGeom prst="rect">
            <a:avLst/>
          </a:prstGeom>
          <a:solidFill>
            <a:srgbClr val="B6E3EA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42950" y="284797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ACP </a:t>
            </a: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出站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1581150" y="284797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把编码任务委派给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OpenCode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CodeBuddy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Claude Code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Codex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等外部编程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42950" y="347662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出站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1581150" y="347662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作为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客户端连接外部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服务，完整支持会话协商与协议版本。</a:t>
            </a:r>
            <a:endParaRPr/>
          </a:p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42950" y="410527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权限协商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1581150" y="410527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外部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请求权限时回传至本平台审批链路，由同一套策略决定放行。</a:t>
            </a:r>
            <a:endParaRPr/>
          </a:p>
        </p:txBody>
      </p:sp>
      <p:sp>
        <p:nvSpPr>
          <p:cNvPr id="668" name=""/>
          <p:cNvSpPr/>
          <p:nvPr/>
        </p:nvSpPr>
        <p:spPr>
          <a:xfrm rot="0" flipH="0" flipV="0">
            <a:off x="5381625" y="2590800"/>
            <a:ext cx="1428750" cy="142875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734050" y="3019425"/>
            <a:ext cx="723900" cy="571500"/>
          </a:xfrm>
          <a:prstGeom prst="rect"/>
        </p:spPr>
        <p:txBody>
          <a:bodyPr wrap="none" lIns="0" tIns="0" rIns="0" bIns="0"/>
          <a:p>
            <a:pPr algn="ctr"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云顶数字</a:t>
            </a:r>
            <a:endParaRPr/>
          </a:p>
          <a:p>
            <a:pPr algn="ctr"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工作台</a:t>
            </a:r>
            <a:endParaRPr/>
          </a:p>
        </p:txBody>
      </p:sp>
      <p:pic>
        <p:nvPicPr>
          <p:cNvPr id="6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62625" y="4152900"/>
            <a:ext cx="285750" cy="133350"/>
          </a:xfrm>
          <a:prstGeom prst="rect">
            <a:avLst/>
          </a:prstGeom>
          <a:ln/>
        </p:spPr>
      </p:pic>
      <p:pic>
        <p:nvPicPr>
          <p:cNvPr id="6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143625" y="4152900"/>
            <a:ext cx="285750" cy="133350"/>
          </a:xfrm>
          <a:prstGeom prst="rect">
            <a:avLst/>
          </a:prstGeom>
          <a:ln/>
        </p:spPr>
      </p:pic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829300" y="4362450"/>
            <a:ext cx="5334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双向协议</a:t>
            </a:r>
            <a:endParaRPr/>
          </a:p>
        </p:txBody>
      </p:sp>
      <p:sp>
        <p:nvSpPr>
          <p:cNvPr id="673" name=""/>
          <p:cNvSpPr/>
          <p:nvPr/>
        </p:nvSpPr>
        <p:spPr>
          <a:xfrm rot="0" flipH="0" flipV="0">
            <a:off x="7277100" y="1752600"/>
            <a:ext cx="4343400" cy="3676650"/>
          </a:xfrm>
          <a:prstGeom prst="roundRect">
            <a:avLst>
              <a:gd name="adj" fmla="val 3109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7448550" y="1924050"/>
            <a:ext cx="40005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B45309"/>
                </a:solidFill>
                <a:latin typeface="Microsoft YaHei"/>
                <a:ea typeface="Microsoft YaHei"/>
              </a:rPr>
              <a:t>外部调用我们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7448550" y="2314575"/>
            <a:ext cx="40005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让既有工具链直接用上本平台能力</a:t>
            </a:r>
            <a:endParaRPr/>
          </a:p>
        </p:txBody>
      </p:sp>
      <p:sp>
        <p:nvSpPr>
          <p:cNvPr id="676" name=""/>
          <p:cNvSpPr/>
          <p:nvPr/>
        </p:nvSpPr>
        <p:spPr>
          <a:xfrm rot="0" flipH="0" flipV="0">
            <a:off x="7448550" y="2705100"/>
            <a:ext cx="4000500" cy="9525"/>
          </a:xfrm>
          <a:prstGeom prst="rect">
            <a:avLst/>
          </a:prstGeom>
          <a:solidFill>
            <a:srgbClr val="F5D9A4"/>
          </a:solidFill>
          <a:ln/>
        </p:spPr>
        <p:txBody>
          <a:bodyPr/>
          <a:p/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7448550" y="284797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ACP </a:t>
            </a: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入站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8286750" y="284797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一条命令对外提供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stdio ACP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服务，供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Zed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OpenCode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与终端工具直接使用。</a:t>
            </a:r>
            <a:endParaRPr/>
          </a:p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7448550" y="347662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MCP </a:t>
            </a: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入站</a:t>
            </a:r>
            <a:endParaRPr/>
          </a:p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8286750" y="347662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把已配置的专家对外暴露为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工具，其他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可直接调用企业内的专家。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448550" y="4105275"/>
            <a:ext cx="7239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 b="1">
                <a:solidFill>
                  <a:srgbClr val="1E293B"/>
                </a:solidFill>
                <a:latin typeface="Microsoft YaHei"/>
                <a:ea typeface="Microsoft YaHei"/>
              </a:rPr>
              <a:t>开放接口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8286750" y="4105275"/>
            <a:ext cx="316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55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组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REST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路由、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WebSocket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SSE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事件流，供程序化集成。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84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E293B"/>
                </a:solidFill>
                <a:latin typeface="Microsoft YaHei"/>
                <a:ea typeface="Microsoft YaHei"/>
              </a:rPr>
              <a:t>开放意味着不被绑定：企业可以把本平台接进现有工具链，也可以在更好的工具出现时把任务委派出去。</a:t>
            </a:r>
            <a:endParaRPr/>
          </a:p>
        </p:txBody>
      </p:sp>
    </p:spTree>
  </p:cSld>
</p:sld>
</file>

<file path=ppt/slides/slide29.xml><?xml version="1.0" encoding="utf-8"?>
<p:sld xmlns:p="http://schemas.openxmlformats.org/presentationml/2006/main" xmlns:a="http://schemas.openxmlformats.org/drawingml/2006/main">
  <p:cSld>
    <p:spTree>
      <p:nvGrpSpPr>
        <p:cNvPr id="686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4 · INTEGRATION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换模型是配置项，不是一个重构项目&#13;&#10;        &lt;/Text&gt;&#13;&#10;        &lt;Box style={{ height: 1, background: '#E2E8F0', marginTop: 16 }} /&gt;&#13;&#10;&#13;&#10;        &lt;Box style={{ flex: 1, marginTop: 22, flexDirection: 'row', gap: 18 }}&gt;&#13;&#10;            {/* 主卡 */}&#13;&#10;            &lt;Box style={{ width: 480, background: '#D6E4F9', borderRadius: 12, padding: 20 }}&gt;&#13;&#10;                &lt;Box style={{ flexDirection: 'row', alignItems: 'flex-end', gap: 20 }}&gt;&#13;&#10;                    &lt;Box&gt;&#13;&#10;                        &lt;Text style={{ fontSize: 60, fontWeight: 'bold', color: '#F59E0B', lineHeight: 1.05 }}&gt;40&lt;/Text&gt;&#13;&#10;                        &lt;Text style={{ fontSize: 17, color: '#475569', lineHeight: 1.4, marginTop: 2 }}&gt;供应商模板&lt;/Text&gt;&#13;&#10;                    &lt;/Box&gt;&#13;&#10;                    &lt;Box&gt;&#13;&#10;                        &lt;Text style={{ fontSize: 60, fontWeight: 'bold', color: '#1E293B', lineHeight: 1.05 }}&gt;390&lt;/Text&gt;&#13;&#10;                        &lt;Text style={{ fontSize: 17, color: '#475569', lineHeight: 1.4, marginTop: 2 }}&gt;内置模型条目&lt;/Text&gt;&#13;&#10;                    &lt;/Box&gt;&#13;&#10;                &lt;/Box&gt;&#13;&#10;                &lt;Box style={{ height: 1, background: '#93C5FD', marginTop: 16 }} /&gt;&#13;&#10;                &lt;Text style={{ fontSize: 15, color: '#475569', lineHeight: 1.5, marginTop: 14 }}&gt;&#13;&#10;                    已覆盖 OpenAI、Anthropic、Gemini、Groq、DeepSeek、DashScope（含国际与美国站）、智谱、Moonshot、MiniMax、火山引擎、硅基流动、ModelScope 等。&#13;&#10;                &lt;/Text&gt;&#13;&#10;                &lt;Text style={{ fontSize: 15, color: '#475569', lineHeight: 1.5, marginTop: 10 }}&gt;&#13;&#10;                    逐模型适配推理强度档位，并内置故障转移与 Token 配额中间件。&#13;&#10;                &lt;/Text&gt;&#13;&#10;            &lt;/Box&gt;&#13;&#10;&#13;&#10;            {/* 中卡 */}&#13;&#10;            &lt;Box style={{ width: 380, background: '#E8EEFB', borderWidth: 1, borderColor: '#C7D6F5', borderStyle: 'solid', borderRadius: 12, padding: 20 }}&gt;&#13;&#10;                &lt;Text style={{ fontSize: 52, fontWeight: 'bold', color: '#2563EB', lineHeight: 1.05 }}&gt;37/40&lt;/Text&gt;&#13;&#10;                &lt;Text style={{ fontSize: 19, fontWeight: '600', color: '#1E293B', lineHeight: 1.3, marginTop: 6 }}&gt;为 OpenAI 兼容协议&lt;/Text&gt;&#13;&#10;                &lt;Text style={{ fontSize: 15, color: '#475569', lineHeight: 1.5, marginTop: 12 }}&gt;&#13;&#10;                    任何提供兼容端点的服务商——包括企业自建网关与私有化部署的模型——都能直接登记使用。&#13;&#10;                &lt;/Text&gt;&#13;&#10;                &lt;Box style={{ height: 1, background: '#C7D6F5', marginTop: 14 }} /&gt;&#13;&#10;                &lt;Text style={{ fontSize: 15, color: '#475569', lineHeight: 1.5, marginTop: 12 }}&gt;&#13;&#10;                    支持按实例、按 Agent、按线程、按单轮四个层级选择模型，成本与效果分别调优。&#13;&#10;                &lt;/Text&gt;&#13;&#10;            &lt;/Box&gt;&#13;&#10;&#13;&#10;            {/* 右卡 */}&#13;&#10;            &lt;Box style={{ width: 264, background: '#E6F7F9', borderWidth: 1, borderColor: '#B6E3EA', borderStyle: 'solid', borderRadius: 12, padding: 18 }}&gt;&#13;&#10;                &lt;Text style={{ fontSize: 44, fontWeight: 'bold', color: '#0891B2', lineHeight: 1.05 }}&gt;本地&lt;/Text&gt;&#13;&#10;                &lt;Text style={{ fontSize: 19, fontWeight: '600', color: '#1E293B', lineHeight: 1.3, marginTop: 6 }}&gt;推理与向量化&lt;/Text&gt;&#13;&#10;                &lt;Text style={{ fontSize: 15, color: '#475569', lineHeight: 1.5, marginTop: 12 }}&gt;&#13;&#10;                    Ollama 本地模型管理，配合本地 ONNX 向量模型，敏感场景可完全离线运行。&#13;&#10;                &lt;/Text&gt;&#13;&#10;                &lt;Text style={{ fontSize: 15, color: '#475569', lineHeight: 1.5, marginTop: 12 }}&gt;&#13;&#10;                    推理强度与采样参数可按专家单独配置。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模型迭代速度远快于企业 IT 周期——把模型选择做成运行时配置，才能在不改业务的前提下持续换更好的脑子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68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换模型是配置项，不是一个重构项目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571500" y="1752600"/>
            <a:ext cx="4572000" cy="3657600"/>
          </a:xfrm>
          <a:prstGeom prst="roundRect">
            <a:avLst>
              <a:gd name="adj" fmla="val 3125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809625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F59E0B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762000" y="2686050"/>
            <a:ext cx="8096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供应商模板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1762125" y="1943100"/>
            <a:ext cx="1066800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1E293B"/>
                </a:solidFill>
                <a:latin typeface="Microsoft YaHei"/>
                <a:ea typeface="Microsoft YaHei"/>
              </a:rPr>
              <a:t>390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1762125" y="2686050"/>
            <a:ext cx="10668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内置模型条目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762000" y="3114675"/>
            <a:ext cx="41910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762000" y="3257550"/>
            <a:ext cx="41910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已覆盖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OpenAI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Anthropic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Gemini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Groq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DeepSeek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DashScope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（含国际与美国站）、智谱、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Moonshot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MiniMax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、火山引擎、硅基流动、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ModelScope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等。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762000" y="4124325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逐模型适配推理强度档位，并内置故障转移与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Token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配额中间件。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5314950" y="1752600"/>
            <a:ext cx="3619500" cy="3657600"/>
          </a:xfrm>
          <a:prstGeom prst="roundRect">
            <a:avLst>
              <a:gd name="adj" fmla="val 3158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5505450" y="1943100"/>
            <a:ext cx="3238500" cy="6286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900" b="1">
                <a:solidFill>
                  <a:srgbClr val="2563EB"/>
                </a:solidFill>
                <a:latin typeface="Microsoft YaHei"/>
                <a:ea typeface="Microsoft YaHei"/>
              </a:rPr>
              <a:t>37/40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5505450" y="2628900"/>
            <a:ext cx="3238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为</a:t>
            </a: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OpenAI </a:t>
            </a: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兼容协议</a:t>
            </a:r>
            <a:endParaRPr/>
          </a:p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5505450" y="3028950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任何提供兼容端点的服务商——包括企业自建网关与私有化部署的模型——都能直接登记使用。</a:t>
            </a:r>
            <a:endParaRPr/>
          </a:p>
        </p:txBody>
      </p:sp>
      <p:sp>
        <p:nvSpPr>
          <p:cNvPr id="704" name=""/>
          <p:cNvSpPr/>
          <p:nvPr/>
        </p:nvSpPr>
        <p:spPr>
          <a:xfrm rot="0" flipH="0" flipV="0">
            <a:off x="5505450" y="3676650"/>
            <a:ext cx="323850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5505450" y="3800475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支持按实例、按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、按线程、按单轮四个层级选择模型，成本与效果分别调优。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9105900" y="1752600"/>
            <a:ext cx="2514600" cy="3657600"/>
          </a:xfrm>
          <a:prstGeom prst="roundRect">
            <a:avLst>
              <a:gd name="adj" fmla="val 4545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9277350" y="1924050"/>
            <a:ext cx="2171700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zh-CN" sz="3300" b="1">
                <a:solidFill>
                  <a:srgbClr val="0891B2"/>
                </a:solidFill>
                <a:latin typeface="Microsoft YaHei"/>
                <a:ea typeface="Microsoft YaHei"/>
              </a:rPr>
              <a:t>本地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277350" y="2514600"/>
            <a:ext cx="2171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推理与向量化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9277350" y="2914650"/>
            <a:ext cx="21717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Ollama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本地模型管理，配合本地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向量模型，敏感场景可完全离线运行。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9277350" y="3800475"/>
            <a:ext cx="2171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推理强度与采样参数可按专家单独配置。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712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模型迭代速度远快于企业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IT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周期——把模型选择做成运行时配置，才能在不改业务的前提下持续换更好的脑子。</a:t>
            </a:r>
            <a:endParaRPr/>
          </a:p>
        </p:txBody>
      </p:sp>
    </p:spTree>
  </p:cSld>
</p:sld>
</file>

<file path=ppt/slides/slide3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21" name="" descr="&lt;Slide style={{ padding: 60, background: '#F4F6FB', position: 'relative' }}&gt;&#13;&#10;    &lt;Box style={{ position: 'absolute', right: 60, top: 130, width: 420, height: 460 }}&gt;&#13;&#10;        &lt;svg width={420} height={460} viewBox='0 0 420 460'&gt;&#13;&#10;            &lt;rect x='90' y='60' width='240' height='70' rx='10' fill='#2563EB' opacity='0.18' /&gt;&#13;&#10;            &lt;rect x='90' y='160' width='240' height='70' rx='10' fill='#2563EB' opacity='0.3' /&gt;&#13;&#10;            &lt;rect x='90' y='260' width='240' height='70' rx='10' fill='#2563EB' opacity='0.45' /&gt;&#13;&#10;            &lt;rect x='90' y='360' width='240' height='50' rx='10' fill='none' stroke='#F59E0B' strokeWidth='2' /&gt;&#13;&#10;            &lt;circle cx='330' cy='95' r='7' fill='#0891B2' /&gt;&#13;&#10;            &lt;circle cx='330' cy='195' r='7' fill='#0891B2' /&gt;&#13;&#10;            &lt;circle cx='330' cy='295' r='7' fill='#0891B2' /&gt;&#13;&#10;        &lt;/svg&gt;&#13;&#10;    &lt;/Box&gt;&#13;&#10;&#13;&#10;    &lt;Box style={{ position: 'absolute', left: 92, top: 168, width: 680 }}&gt;&#13;&#10;        &lt;Text style={{ fontSize: 180, fontWeight: 'bold', color: '#CBD9F0', lineHeight: 1.05 }}&gt;&#13;&#10;            05&#13;&#10;        &lt;/Text&gt;&#13;&#10;        &lt;Text style={{ fontSize: 64, fontWeight: 'bold', color: '#1E293B', lineHeight: 1.15, marginTop: 12 }}&gt;&#13;&#10;            落地与保障&#13;&#10;        &lt;/Text&gt;&#13;&#10;        &lt;Box style={{ width: 72, height: 6, borderRadius: 3, background: '#F59E0B', marginTop: 30 }} /&gt;&#13;&#10;        &lt;Text style={{ fontSize: 22, color: '#64748B', lineHeight: 1.5, marginTop: 26 }}&gt;&#13;&#10;            从一条命令开始，到全公司持续运行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4F6FB"/>
          </a:solidFill>
          <a:ln/>
        </p:spPr>
        <p:txBody>
          <a:bodyPr/>
          <a:p/>
        </p:txBody>
      </p:sp>
      <p:pic>
        <p:nvPicPr>
          <p:cNvPr id="7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CBD9F0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E293B"/>
                </a:solidFill>
                <a:latin typeface="Microsoft YaHei"/>
                <a:ea typeface="Microsoft YaHei"/>
              </a:rPr>
              <a:t>落地与保障</a:t>
            </a:r>
            <a:endParaRPr/>
          </a:p>
        </p:txBody>
      </p:sp>
      <p:sp>
        <p:nvSpPr>
          <p:cNvPr id="726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64748B"/>
                </a:solidFill>
                <a:latin typeface="Microsoft YaHei"/>
                <a:ea typeface="Microsoft YaHei"/>
              </a:rPr>
              <a:t>从一条命令开始，到全公司持续运行</a:t>
            </a:r>
            <a:endParaRPr/>
          </a:p>
        </p:txBody>
      </p:sp>
    </p:spTree>
  </p:cSld>
</p:sld>
</file>

<file path=ppt/slides/slide31.xml><?xml version="1.0" encoding="utf-8"?>
<p:sld xmlns:p="http://schemas.openxmlformats.org/presentationml/2006/main" xmlns:a="http://schemas.openxmlformats.org/drawingml/2006/main">
  <p:cSld>
    <p:spTree>
      <p:nvGrpSpPr>
        <p:cNvPr id="72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控制面与数据面分离：规模变了，不用换产品&#13;&#10;        &lt;/Text&gt;&#13;&#10;        &lt;Box style={{ height: 1, background: '#E2E8F0', marginTop: 16 }} /&gt;&#13;&#10;&#13;&#10;        &lt;Box style={{ flex: 1, marginTop: 22 }}&gt;&#13;&#10;            {/* 控制面 */}&#13;&#10;            &lt;Box style={{ flexDirection: 'row', gap: 20, alignItems: 'stretch' }}&gt;&#13;&#10;                &lt;Box style={{ width: 150, background: '#D6E4F9', borderRadius: 10, padding: 14, justifyContent: 'center' }}&gt;&#13;&#10;                    &lt;Text style={{ fontSize: 19, fontWeight: '600', color: '#1E293B', lineHeight: 1.3 }}&gt;控制面&lt;/Text&gt;&#13;&#10;                    &lt;Text style={{ fontSize: 14, color: '#475569', lineHeight: 1.4, marginTop: 4 }}&gt;账号与配置&lt;/Text&gt;&#13;&#10;                &lt;/Box&gt;&#13;&#10;                &lt;Box style={{ flex: 1, background: '#F8FAFC', borderWidth: 1, borderColor: '#E2E8F0', borderStyle: 'solid', borderRadius: 10, padding: 14 }}&gt;&#13;&#10;                    &lt;Box style={{ flexDirection: 'row', gap: 14 }}&gt;&#13;&#10;                        &lt;Box style={{ flex: 1, background: '#E8EEFB', borderWidth: 1, borderColor: '#C7D6F5', borderStyle: 'solid', borderRadius: 8, padding: 11 }}&gt;&#13;&#10;                            &lt;Text style={{ fontSize: 17, fontWeight: '600', color: '#2563EB', lineHeight: 1.3 }}&gt;SQLite（默认）&lt;/Text&gt;&#13;&#10;                            &lt;Text style={{ fontSize: 14, color: '#64748B', lineHeight: 1.4 }}&gt;WAL 模式，单机即可跑&lt;/Text&gt;&#13;&#10;                        &lt;/Box&gt;&#13;&#10;                        &lt;Box style={{ flex: 1, background: '#E8EEFB', borderWidth: 1, borderColor: '#C7D6F5', borderStyle: 'solid', borderRadius: 8, padding: 11 }}&gt;&#13;&#10;                            &lt;Text style={{ fontSize: 17, fontWeight: '600', color: '#2563EB', lineHeight: 1.3 }}&gt;PostgreSQL（可选）&lt;/Text&gt;&#13;&#10;                            &lt;Text style={{ fontSize: 14, color: '#64748B', lineHeight: 1.4 }}&gt;连接池与高并发行&lt;/Text&gt;&#13;&#10;                        &lt;/Box&gt;&#13;&#10;                    &lt;/Box&gt;&#13;&#10;                    &lt;Text style={{ fontSize: 15, color: '#475569', lineHeight: 1.5, marginTop: 11 }}&gt;&#13;&#10;                        21 个版本化迁移，SQLite 与 PostgreSQL 双份脚本同步演进——从单机试点升级到集中部署，数据结构无需推倒重来。&#13;&#10;                    &lt;/Text&gt;&#13;&#10;                &lt;/Box&gt;&#13;&#10;            &lt;/Box&gt;&#13;&#10;&#13;&#10;            {/* 数据面 */}&#13;&#10;            &lt;Box style={{ flexDirection: 'row', gap: 20, alignItems: 'stretch', marginTop: 16 }}&gt;&#13;&#10;                &lt;Box style={{ width: 150, background: '#D6E4F9', borderRadius: 10, padding: 14, justifyContent: 'center' }}&gt;&#13;&#10;                    &lt;Text style={{ fontSize: 19, fontWeight: '600', color: '#1E293B', lineHeight: 1.3 }}&gt;数据面&lt;/Text&gt;&#13;&#10;                    &lt;Text style={{ fontSize: 14, color: '#475569', lineHeight: 1.4, marginTop: 4 }}&gt;Agent 工作区&lt;/Text&gt;&#13;&#10;                &lt;/Box&gt;&#13;&#10;                &lt;Box style={{ flex: 1, background: '#F8FAFC', borderWidth: 1, borderColor: '#E2E8F0', borderStyle: 'solid', borderRadius: 10, padding: 14 }}&gt;&#13;&#10;                    &lt;Box style={{ flexDirection: 'row', gap: 10 }}&gt;&#13;&#10;                        &lt;Box style={{ flex: 1, background: '#FFFFFF', borderWidth: 1, borderColor: '#E2E8F0', borderStyle: 'solid', borderRadius: 8, padding: 10, alignItems: 'center' }}&gt;&#13;&#10;                            &lt;Text style={{ fontSize: 15, color: '#1E293B', lineHeight: 1.3 }}&gt;本地磁盘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5, color: '#1E293B', lineHeight: 1.3 }}&gt;Docker 沙箱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5, color: '#1E293B', lineHeight: 1.3 }}&gt;OpenSandbox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5, color: '#1E293B', lineHeight: 1.3 }}&gt;PostgreSQL&lt;/Text&gt;&#13;&#10;                        &lt;/Box&gt;&#13;&#10;                    &lt;/Box&gt;&#13;&#10;                    &lt;Box style={{ flexDirection: 'row', gap: 10, marginTop: 10 }}&gt;&#13;&#10;                        &lt;Box style={{ flex: 1, background: '#E6F7F9', borderWidth: 1, borderColor: '#B6E3EA', borderStyle: 'solid', borderRadius: 8, padding: 10, alignItems: 'center' }}&gt;&#13;&#10;                            &lt;Text style={{ fontSize: 15, color: '#1E293B', lineHeight: 1.3 }}&gt;腾讯云 COS&lt;/Text&gt;&#13;&#10;                        &lt;/Box&gt;&#13;&#10;                        &lt;Box style={{ flex: 1, background: '#E6F7F9', borderWidth: 1, borderColor: '#B6E3EA', borderStyle: 'solid', borderRadius: 8, padding: 10, alignItems: 'center' }}&gt;&#13;&#10;                            &lt;Text style={{ fontSize: 15, color: '#1E293B', lineHeight: 1.3 }}&gt;阿里云 OSS&lt;/Text&gt;&#13;&#10;                        &lt;/Box&gt;&#13;&#10;                        &lt;Box style={{ flex: 1, background: '#E6F7F9', borderWidth: 1, borderColor: '#B6E3EA', borderStyle: 'solid', borderRadius: 8, padding: 10, alignItems: 'center' }}&gt;&#13;&#10;                            &lt;Text style={{ fontSize: 15, color: '#1E293B', lineHeight: 1.3 }}&gt;华为云 OBS&lt;/Text&gt;&#13;&#10;                        &lt;/Box&gt;&#13;&#10;                        &lt;Box style={{ flex: 1, background: '#E6F7F9', borderWidth: 1, borderColor: '#B6E3EA', borderStyle: 'solid', borderRadius: 8, padding: 10, alignItems: 'center' }}&gt;&#13;&#10;                            &lt;Text style={{ fontSize: 15, color: '#1E293B', lineHeight: 1.3 }}&gt;通用 S3&lt;/Text&gt;&#13;&#10;                        &lt;/Box&gt;&#13;&#10;                    &lt;/Box&gt;&#13;&#10;                    &lt;Text style={{ fontSize: 15, color: '#475569', lineHeight: 1.5, marginTop: 11 }}&gt;&#13;&#10;                        工作区文件不直接落控制面：可以留在本地、放进沙箱，也可以托管到企业已有的对象存储，合规策略随存储位置走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今天一台笔记本跑 SQLite，明天一台服务器跑 PostgreSQL 加对象存储——产品形态不变，运维复杂度才可控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73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控制面与数据面分离：规模变了，不用换产品</a:t>
            </a:r>
            <a:endParaRPr/>
          </a:p>
        </p:txBody>
      </p:sp>
      <p:sp>
        <p:nvSpPr>
          <p:cNvPr id="73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734" name=""/>
          <p:cNvSpPr/>
          <p:nvPr/>
        </p:nvSpPr>
        <p:spPr>
          <a:xfrm rot="0" flipH="0" flipV="0">
            <a:off x="571500" y="1752600"/>
            <a:ext cx="1428750" cy="1323975"/>
          </a:xfrm>
          <a:prstGeom prst="roundRect">
            <a:avLst>
              <a:gd name="adj" fmla="val 7194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704850" y="2143125"/>
            <a:ext cx="11620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控制面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704850" y="2466975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账号与配置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2190750" y="1752600"/>
            <a:ext cx="9429750" cy="1323975"/>
          </a:xfrm>
          <a:prstGeom prst="roundRect">
            <a:avLst>
              <a:gd name="adj" fmla="val 719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38" name=""/>
          <p:cNvSpPr/>
          <p:nvPr/>
        </p:nvSpPr>
        <p:spPr>
          <a:xfrm rot="0" flipH="0" flipV="0">
            <a:off x="2324100" y="1885950"/>
            <a:ext cx="4514850" cy="695325"/>
          </a:xfrm>
          <a:prstGeom prst="roundRect">
            <a:avLst>
              <a:gd name="adj" fmla="val 1095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428875" y="1990725"/>
            <a:ext cx="43053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>SQLite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（默认）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2428875" y="2247900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WAL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模式，单机即可跑</a:t>
            </a:r>
            <a:endParaRPr/>
          </a:p>
        </p:txBody>
      </p:sp>
      <p:sp>
        <p:nvSpPr>
          <p:cNvPr id="741" name=""/>
          <p:cNvSpPr/>
          <p:nvPr/>
        </p:nvSpPr>
        <p:spPr>
          <a:xfrm rot="0" flipH="0" flipV="0">
            <a:off x="6972300" y="1885950"/>
            <a:ext cx="4514850" cy="695325"/>
          </a:xfrm>
          <a:prstGeom prst="roundRect">
            <a:avLst>
              <a:gd name="adj" fmla="val 1095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7077075" y="1990725"/>
            <a:ext cx="43053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>PostgreSQL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（可选）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7077075" y="2247900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连接池与高并发行</a:t>
            </a:r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2324100" y="2686050"/>
            <a:ext cx="9163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个版本化迁移，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双份脚本同步演进——从单机试点升级到集中部署，数据结构无需推倒重来。</a:t>
            </a:r>
            <a:endParaRPr/>
          </a:p>
        </p:txBody>
      </p:sp>
      <p:sp>
        <p:nvSpPr>
          <p:cNvPr id="745" name=""/>
          <p:cNvSpPr/>
          <p:nvPr/>
        </p:nvSpPr>
        <p:spPr>
          <a:xfrm rot="0" flipH="0" flipV="0">
            <a:off x="571500" y="3228975"/>
            <a:ext cx="1428750" cy="1562100"/>
          </a:xfrm>
          <a:prstGeom prst="roundRect">
            <a:avLst>
              <a:gd name="adj" fmla="val 6667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704850" y="3733800"/>
            <a:ext cx="11620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数据面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704850" y="4057650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Agent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工作区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2190750" y="3228975"/>
            <a:ext cx="9429750" cy="1562100"/>
          </a:xfrm>
          <a:prstGeom prst="roundRect">
            <a:avLst>
              <a:gd name="adj" fmla="val 60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2324100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3152775" y="3457575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本地磁盘</a:t>
            </a:r>
            <a:endParaRPr/>
          </a:p>
        </p:txBody>
      </p:sp>
      <p:sp>
        <p:nvSpPr>
          <p:cNvPr id="751" name=""/>
          <p:cNvSpPr/>
          <p:nvPr/>
        </p:nvSpPr>
        <p:spPr>
          <a:xfrm rot="0" flipH="0" flipV="0">
            <a:off x="4638675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5343525" y="3457575"/>
            <a:ext cx="8191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 xml:space="preserve">Docker </a:t>
            </a: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沙箱</a:t>
            </a:r>
            <a:endParaRPr/>
          </a:p>
        </p:txBody>
      </p:sp>
      <p:sp>
        <p:nvSpPr>
          <p:cNvPr id="753" name=""/>
          <p:cNvSpPr/>
          <p:nvPr/>
        </p:nvSpPr>
        <p:spPr>
          <a:xfrm rot="0" flipH="0" flipV="0">
            <a:off x="6953250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7581900" y="3457575"/>
            <a:ext cx="9715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>OpenSandbox</a:t>
            </a:r>
            <a:endParaRPr/>
          </a:p>
        </p:txBody>
      </p:sp>
      <p:sp>
        <p:nvSpPr>
          <p:cNvPr id="755" name=""/>
          <p:cNvSpPr/>
          <p:nvPr/>
        </p:nvSpPr>
        <p:spPr>
          <a:xfrm rot="0" flipH="0" flipV="0">
            <a:off x="9267825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9982200" y="34575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>PostgreSQL</a:t>
            </a:r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2324100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048000" y="3971925"/>
            <a:ext cx="7715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腾讯云</a:t>
            </a: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 xml:space="preserve"> COS</a:t>
            </a:r>
            <a:endParaRPr/>
          </a:p>
        </p:txBody>
      </p:sp>
      <p:sp>
        <p:nvSpPr>
          <p:cNvPr id="759" name=""/>
          <p:cNvSpPr/>
          <p:nvPr/>
        </p:nvSpPr>
        <p:spPr>
          <a:xfrm rot="0" flipH="0" flipV="0">
            <a:off x="4638675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5372100" y="3971925"/>
            <a:ext cx="7524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阿里云</a:t>
            </a: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 xml:space="preserve"> OSS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953250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7686675" y="397192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华为云</a:t>
            </a: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 xml:space="preserve"> OBS</a:t>
            </a:r>
            <a:endParaRPr/>
          </a:p>
        </p:txBody>
      </p:sp>
      <p:sp>
        <p:nvSpPr>
          <p:cNvPr id="763" name=""/>
          <p:cNvSpPr/>
          <p:nvPr/>
        </p:nvSpPr>
        <p:spPr>
          <a:xfrm rot="0" flipH="0" flipV="0">
            <a:off x="9267825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0134600" y="3971925"/>
            <a:ext cx="4953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通用</a:t>
            </a:r>
            <a:r>
              <a:rPr lang="en-US" sz="1125">
                <a:solidFill>
                  <a:srgbClr val="1E293B"/>
                </a:solidFill>
                <a:latin typeface="Microsoft YaHei"/>
                <a:ea typeface="Microsoft YaHei"/>
              </a:rPr>
              <a:t xml:space="preserve"> S3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2324100" y="4400550"/>
            <a:ext cx="9163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工作区文件不直接落控制面：可以留在本地、放进沙箱，也可以托管到企业已有的对象存储，合规策略随存储位置走。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今天一台笔记本跑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SQLite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，明天一台服务器跑</a:t>
            </a:r>
            <a:r>
              <a:rPr lang="en-US" sz="1425">
                <a:solidFill>
                  <a:srgbClr val="1E293B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加对象存储——产品形态不变，运维复杂度才可控。</a:t>
            </a:r>
            <a:endParaRPr/>
          </a:p>
        </p:txBody>
      </p:sp>
    </p:spTree>
  </p:cSld>
</p:sld>
</file>

<file path=ppt/slides/slide32.xml><?xml version="1.0" encoding="utf-8"?>
<p:sld xmlns:p="http://schemas.openxmlformats.org/presentationml/2006/main" xmlns:a="http://schemas.openxmlformats.org/drawingml/2006/main">
  <p:cSld>
    <p:spTree>
      <p:nvGrpSpPr>
        <p:cNvPr id="769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从一台笔记本到一台 NAS，都有对应的跑法&#13;&#10;        &lt;/Text&gt;&#13;&#10;        &lt;Box style={{ height: 1, background: '#E2E8F0', marginTop: 16 }} /&gt;&#13;&#10;&#13;&#10;        &lt;Box style={{ flex: 1, marginTop: 22, flexDirection: 'row', gap: 20, alignItems: 'flex-end' }}&gt;&#13;&#10;            &lt;Box style={{ width: 216, justifyContent: 'flex-end' }}&gt;&#13;&#10;                &lt;Box style={{ background: '#E8EEFB', borderWidth: 1, borderColor: '#C7D6F5', borderStyle: 'solid', borderRadius: 10, padding: 14, height: 156 }}&gt;&#13;&#10;                    &lt;Text style={{ fontSize: 15, fontWeight: '600', color: '#94A3B8', lineHeight: 1.3 }}&gt;方式一&lt;/Text&gt;&#13;&#10;                    &lt;Text style={{ fontSize: 19, fontWeight: '600', color: '#1E293B', lineHeight: 1.3, marginTop: 6 }}&gt;一键脚本安装&lt;/Text&gt;&#13;&#10;                    &lt;Text style={{ fontSize: 14, color: '#64748B', lineHeight: 1.5, marginTop: 8 }}&gt;&#13;&#10;                        Linux / macOS / Windows 各自一条命令，自动创建隔离的 Python 3.12 环境。&#13;&#10;                    &lt;/Text&gt;&#13;&#10;                &lt;/Box&gt;&#13;&#10;            &lt;/Box&gt;&#13;&#10;            &lt;Box style={{ width: 216, justifyContent: 'flex-end' }}&gt;&#13;&#10;                &lt;Box style={{ background: '#E8EEFB', borderWidth: 1, borderColor: '#C7D6F5', borderStyle: 'solid', borderRadius: 10, padding: 14, height: 196 }}&gt;&#13;&#10;                    &lt;Text style={{ fontSize: 15, fontWeight: '600', color: '#94A3B8', lineHeight: 1.3 }}&gt;方式二&lt;/Text&gt;&#13;&#10;                    &lt;Text style={{ fontSize: 19, fontWeight: '600', color: '#1E293B', lineHeight: 1.3, marginTop: 6 }}&gt;Docker Compose&lt;/Text&gt;&#13;&#10;                    &lt;Text style={{ fontSize: 14, color: '#64748B', lineHeight: 1.5, marginTop: 8 }}&gt;&#13;&#10;                        官方编排文件开箱可用，另有国内镜像加速版与 PostgreSQL 版，生产环境推荐。&#13;&#10;                    &lt;/Text&gt;&#13;&#10;                &lt;/Box&gt;&#13;&#10;            &lt;/Box&gt;&#13;&#10;            &lt;Box style={{ width: 216, justifyContent: 'flex-end' }}&gt;&#13;&#10;                &lt;Box style={{ background: '#E8EEFB', borderWidth: 1, borderColor: '#C7D6F5', borderStyle: 'solid', borderRadius: 10, padding: 14, height: 236 }}&gt;&#13;&#10;                    &lt;Text style={{ fontSize: 15, fontWeight: '600', color: '#94A3B8', lineHeight: 1.3 }}&gt;方式三&lt;/Text&gt;&#13;&#10;                    &lt;Text style={{ fontSize: 19, fontWeight: '600', color: '#1E293B', lineHeight: 1.3, marginTop: 6 }}&gt;注册为系统服务&lt;/Text&gt;&#13;&#10;                    &lt;Text style={{ fontSize: 14, color: '#64748B', lineHeight: 1.5, marginTop: 8 }}&gt;&#13;&#10;                        支持 systemd、launchd 与 Windows 服务，开机自启；内置自更新，升级后自动重启恢复。&#13;&#10;                    &lt;/Text&gt;&#13;&#10;                &lt;/Box&gt;&#13;&#10;            &lt;/Box&gt;&#13;&#10;            &lt;Box style={{ width: 216, justifyContent: 'flex-end' }}&gt;&#13;&#10;                &lt;Box style={{ background: '#D6E4F9', borderRadius: 10, padding: 14, height: 276 }}&gt;&#13;&#10;                    &lt;Text style={{ fontSize: 15, fontWeight: '600', color: '#475569', lineHeight: 1.3 }}&gt;方式四&lt;/Text&gt;&#13;&#10;                    &lt;Text style={{ fontSize: 19, fontWeight: '600', color: '#1E293B', lineHeight: 1.3, marginTop: 6 }}&gt;桌面客户端与 NAS&lt;/Text&gt;&#13;&#10;                    &lt;Text style={{ fontSize: 14, color: '#475569', lineHeight: 1.5, marginTop: 8 }}&gt;&#13;&#10;                        Windows / macOS / Linux 原生安装包，飞牛 FnOS 另提供原生与容器两种包；图形界面即可完成安装，不需要终端。&#13;&#10;                    &lt;/Text&gt;&#13;&#10;                &lt;/Box&gt;&#13;&#10;            &lt;/Box&gt;&#13;&#10;            &lt;Box style={{ width: 216, justifyContent: 'flex-end' }}&gt;&#13;&#10;                &lt;Box style={{ background: '#FFF7E9', borderWidth: 1, borderColor: '#F5D9A4', borderStyle: 'solid', borderRadius: 10, padding: 14, height: 316 }}&gt;&#13;&#10;                    &lt;Text style={{ fontSize: 15, fontWeight: '600', color: '#B45309', lineHeight: 1.3 }}&gt;方式五&lt;/Text&gt;&#13;&#10;                    &lt;Text style={{ fontSize: 19, fontWeight: '600', color: '#1E293B', lineHeight: 1.3, marginTop: 6 }}&gt;随时随地的访问&lt;/Text&gt;&#13;&#10;                    &lt;Text style={{ fontSize: 14, color: '#92400E', lineHeight: 1.5, marginTop: 8 }}&gt;&#13;&#10;                        控制台支持 PWA 安装与移动端适配，配合内建 ACME 自动签发证书，可安全地对外提供 HTTPS 访问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上线路径不依赖任何云厂商：试点可以在一台电脑上完成，规模扩大时再迁到容器与集群，配置与数据可平滑带走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从一台笔记本到一台</a:t>
            </a:r>
            <a:r>
              <a:rPr lang="en-US" sz="25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NAS</a:t>
            </a: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，都有对应的跑法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571500" y="3924300"/>
            <a:ext cx="2057400" cy="1485900"/>
          </a:xfrm>
          <a:prstGeom prst="roundRect">
            <a:avLst>
              <a:gd name="adj" fmla="val 641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704850" y="4057650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94A3B8"/>
                </a:solidFill>
                <a:latin typeface="Microsoft YaHei"/>
                <a:ea typeface="Microsoft YaHei"/>
              </a:rPr>
              <a:t>方式一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704850" y="4343400"/>
            <a:ext cx="1790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一键脚本安装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704850" y="4705350"/>
            <a:ext cx="1790700" cy="723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Linux / macOS / Windows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各自一条命令，自动创建隔离的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Python 3.12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环境。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2819400" y="3543300"/>
            <a:ext cx="2057400" cy="1866900"/>
          </a:xfrm>
          <a:prstGeom prst="roundRect">
            <a:avLst>
              <a:gd name="adj" fmla="val 510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2952750" y="3676650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94A3B8"/>
                </a:solidFill>
                <a:latin typeface="Microsoft YaHei"/>
                <a:ea typeface="Microsoft YaHei"/>
              </a:rPr>
              <a:t>方式二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2952750" y="3962400"/>
            <a:ext cx="1790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>Docker Compose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2952750" y="4324350"/>
            <a:ext cx="1790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官方编排文件开箱可用，另有国内镜像加速版与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版，生产环境推荐。</a:t>
            </a:r>
            <a:endParaRPr/>
          </a:p>
        </p:txBody>
      </p:sp>
      <p:sp>
        <p:nvSpPr>
          <p:cNvPr id="783" name=""/>
          <p:cNvSpPr/>
          <p:nvPr/>
        </p:nvSpPr>
        <p:spPr>
          <a:xfrm rot="0" flipH="0" flipV="0">
            <a:off x="5067300" y="3162300"/>
            <a:ext cx="2057400" cy="2247900"/>
          </a:xfrm>
          <a:prstGeom prst="roundRect">
            <a:avLst>
              <a:gd name="adj" fmla="val 463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5200650" y="3295650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94A3B8"/>
                </a:solidFill>
                <a:latin typeface="Microsoft YaHei"/>
                <a:ea typeface="Microsoft YaHei"/>
              </a:rPr>
              <a:t>方式三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5200650" y="3581400"/>
            <a:ext cx="1790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注册为系统服务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5200650" y="3943350"/>
            <a:ext cx="1790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支持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systemd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launchd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服务，开机自启；内置自更新，升级后自动重启恢复。</a:t>
            </a:r>
            <a:endParaRPr/>
          </a:p>
        </p:txBody>
      </p:sp>
      <p:sp>
        <p:nvSpPr>
          <p:cNvPr id="787" name=""/>
          <p:cNvSpPr/>
          <p:nvPr/>
        </p:nvSpPr>
        <p:spPr>
          <a:xfrm rot="0" flipH="0" flipV="0">
            <a:off x="7315200" y="2781300"/>
            <a:ext cx="2057400" cy="2628900"/>
          </a:xfrm>
          <a:prstGeom prst="roundRect">
            <a:avLst>
              <a:gd name="adj" fmla="val 463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448550" y="2914650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475569"/>
                </a:solidFill>
                <a:latin typeface="Microsoft YaHei"/>
                <a:ea typeface="Microsoft YaHei"/>
              </a:rPr>
              <a:t>方式四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200400"/>
            <a:ext cx="1790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桌面客户端与</a:t>
            </a: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NAS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62350"/>
            <a:ext cx="17907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Windows / macOS / Linux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原生安装包，飞牛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FnOS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另提供原生与容器两种包；图形界面即可完成安装，不需要终端。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9563100" y="2400300"/>
            <a:ext cx="2057400" cy="3009900"/>
          </a:xfrm>
          <a:prstGeom prst="roundRect">
            <a:avLst>
              <a:gd name="adj" fmla="val 463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9696450" y="2533650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45309"/>
                </a:solidFill>
                <a:latin typeface="Microsoft YaHei"/>
                <a:ea typeface="Microsoft YaHei"/>
              </a:rPr>
              <a:t>方式五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9696450" y="2819400"/>
            <a:ext cx="1790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随时随地的访问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9696450" y="3181350"/>
            <a:ext cx="17907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控制台支持</a:t>
            </a:r>
            <a:r>
              <a:rPr lang="en-US" sz="1050">
                <a:solidFill>
                  <a:srgbClr val="92400E"/>
                </a:solidFill>
                <a:latin typeface="Microsoft YaHei"/>
                <a:ea typeface="Microsoft YaHei"/>
              </a:rPr>
              <a:t xml:space="preserve"> PWA </a:t>
            </a: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安装与移动端适配，配合内建</a:t>
            </a:r>
            <a:r>
              <a:rPr lang="en-US" sz="1050">
                <a:solidFill>
                  <a:srgbClr val="92400E"/>
                </a:solidFill>
                <a:latin typeface="Microsoft YaHei"/>
                <a:ea typeface="Microsoft YaHei"/>
              </a:rPr>
              <a:t xml:space="preserve"> ACME </a:t>
            </a: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自动签发证书，可安全地对外提供</a:t>
            </a:r>
            <a:r>
              <a:rPr lang="en-US" sz="1050">
                <a:solidFill>
                  <a:srgbClr val="92400E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访问。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796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上线路径不依赖任何云厂商：试点可以在一台电脑上完成，规模扩大时再迁到容器与集群，配置与数据可平滑带走。</a:t>
            </a:r>
            <a:endParaRPr/>
          </a:p>
        </p:txBody>
      </p:sp>
    </p:spTree>
  </p:cSld>
</p:sld>
</file>

<file path=ppt/slides/slide33.xml><?xml version="1.0" encoding="utf-8"?>
<p:sld xmlns:p="http://schemas.openxmlformats.org/presentationml/2006/main" xmlns:a="http://schemas.openxmlformats.org/drawingml/2006/main">
  <p:cSld>
    <p:spTree>
      <p:nvGrpSpPr>
        <p:cNvPr id="79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交付的不是演示界面，而是工程化打磨的操作台&#13;&#10;        &lt;/Text&gt;&#13;&#10;        &lt;Box style={{ height: 1, background: '#E2E8F0', marginTop: 16 }} /&gt;&#13;&#10;&#13;&#10;        &lt;Box style={{ flex: 1, marginTop: 22, flexDirection: 'row', gap: 28 }}&gt;&#13;&#10;            {/* 左：控制台结构 */}&#13;&#10;            &lt;Box style={{ width: 760 }}&gt;&#13;&#10;                &lt;Box style={{ background: '#F8FAFC', borderWidth: 1, borderColor: '#E2E8F0', borderStyle: 'solid', borderRadius: 12, padding: 14 }}&gt;&#13;&#10;                    &lt;Text style={{ fontSize: 18, fontWeight: '600', color: '#1E293B', lineHeight: 1.3 }}&gt;控制台四个分区，约 20 个一级页面&lt;/Text&gt;&#13;&#10;                    &lt;Box style={{ flexDirection: 'row', gap: 10, marginTop: 12 }}&gt;&#13;&#10;                        &lt;Box style={{ flex: 1, background: '#E8EEFB', borderRadius: 8, padding: 10 }}&gt;&#13;&#10;                            &lt;Text style={{ fontSize: 14, fontWeight: '600', color: '#2563EB', lineHeight: 1.3 }}&gt;常用&lt;/Text&gt;&#13;&#10;                            &lt;Text style={{ fontSize: 13, color: '#475569', lineHeight: 1.4 }}&gt;对话 / 专家 / 定时任务 / Token 用量&lt;/Text&gt;&#13;&#10;                        &lt;/Box&gt;&#13;&#10;                        &lt;Box style={{ flex: 1, background: '#FFFFFF', borderWidth: 1, borderColor: '#E2E8F0', borderStyle: 'solid', borderRadius: 8, padding: 10 }}&gt;&#13;&#10;                            &lt;Text style={{ fontSize: 14, fontWeight: '600', color: '#2563EB', lineHeight: 1.3 }}&gt;个性化&lt;/Text&gt;&#13;&#10;                            &lt;Text style={{ fontSize: 13, color: '#475569', lineHeight: 1.4 }}&gt;技能 / 子智能体 / 工具 / 插件 / 记忆 / 通道&lt;/Text&gt;&#13;&#10;                        &lt;/Box&gt;&#13;&#10;                        &lt;Box style={{ flex: 1, background: '#FFFFFF', borderWidth: 1, borderColor: '#E2E8F0', borderStyle: 'solid', borderRadius: 8, padding: 10 }}&gt;&#13;&#10;                            &lt;Text style={{ fontSize: 14, fontWeight: '600', color: '#2563EB', lineHeight: 1.3 }}&gt;控制&lt;/Text&gt;&#13;&#10;                            &lt;Text style={{ fontSize: 13, color: '#475569', lineHeight: 1.4 }}&gt;工作台 / 终端 / 浏览器 / 远程桌面 / ACP&lt;/Text&gt;&#13;&#10;                        &lt;/Box&gt;&#13;&#10;                        &lt;Box style={{ flex: 1, background: '#FFFFFF', borderWidth: 1, borderColor: '#E2E8F0', borderStyle: 'solid', borderRadius: 8, padding: 10 }}&gt;&#13;&#10;                            &lt;Text style={{ fontSize: 14, fontWeight: '600', color: '#2563EB', lineHeight: 1.3 }}&gt;管理&lt;/Text&gt;&#13;&#10;                            &lt;Text style={{ fontSize: 13, color: '#475569', lineHeight: 1.4 }}&gt;用户 / 模型 / 存储 / 安全 / 高级设置&lt;/Text&gt;&#13;&#10;                        &lt;/Box&gt;&#13;&#10;                    &lt;/Box&gt;&#13;&#10;                    &lt;Box style={{ height: 1, background: '#E2E8F0', marginTop: 12 }} /&gt;&#13;&#10;                    &lt;Text style={{ fontSize: 16, fontWeight: '600', color: '#1E293B', lineHeight: 1.3, marginTop: 12 }}&gt;对话区能承载的内容&lt;/Text&gt;&#13;&#10;                    &lt;Box style={{ flexDirection: 'row', gap: 8, marginTop: 10 }}&gt;&#13;&#10;                        &lt;Box style={{ background: '#D6E4F9', borderRadius: 6, padding: 7 }}&gt;&#13;&#10;                            &lt;Text style={{ fontSize: 13, color: '#1E293B', lineHeight: 1.3 }}&gt;推理过程&lt;/Text&gt;&#13;&#10;                        &lt;/Box&gt;&#13;&#10;                        &lt;Box style={{ background: '#E8EEFB', borderRadius: 6, padding: 7 }}&gt;&#13;&#10;                            &lt;Text style={{ fontSize: 13, color: '#1E293B', lineHeight: 1.3 }}&gt;工具调用卡&lt;/Text&gt;&#13;&#10;                        &lt;/Box&gt;&#13;&#10;                        &lt;Box style={{ background: '#E8EEFB', borderRadius: 6, padding: 7 }}&gt;&#13;&#10;                            &lt;Text style={{ fontSize: 13, color: '#1E293B', lineHeight: 1.3 }}&gt;审批卡&lt;/Text&gt;&#13;&#10;                        &lt;/Box&gt;&#13;&#10;                        &lt;Box style={{ background: '#E8EEFB', borderRadius: 6, padding: 7 }}&gt;&#13;&#10;                            &lt;Text style={{ fontSize: 13, color: '#1E293B', lineHeight: 1.3 }}&gt;待办清单&lt;/Text&gt;&#13;&#10;                        &lt;/Box&gt;&#13;&#10;                        &lt;Box style={{ background: '#E8EEFB', borderRadius: 6, padding: 7 }}&gt;&#13;&#10;                            &lt;Text style={{ fontSize: 13, color: '#1E293B', lineHeight: 1.3 }}&gt;引用溯源&lt;/Text&gt;&#13;&#10;                        &lt;/Box&gt;&#13;&#10;                        &lt;Box style={{ background: '#E8EEFB', borderRadius: 6, padding: 7 }}&gt;&#13;&#10;                            &lt;Text style={{ fontSize: 13, color: '#1E293B', lineHeight: 1.3 }}&gt;多 Agent 分角色&lt;/Text&gt;&#13;&#10;                        &lt;/Box&gt;&#13;&#10;                        &lt;Box style={{ background: '#FFF7E9', borderRadius: 6, padding: 7 }}&gt;&#13;&#10;                            &lt;Text style={{ fontSize: 13, color: '#B45309', lineHeight: 1.3 }}&gt;轨迹检视&lt;/Text&gt;&#13;&#10;                        &lt;/Box&gt;&#13;&#10;                    &lt;/Box&gt;&#13;&#10;                    &lt;Text style={{ fontSize: 15, color: '#475569', lineHeight: 1.5, marginTop: 12 }}&gt;&#13;&#10;                        对话基于 WebSocket 双向流式，随时可停止、可中途插话；支持明暗主题、中英双语、PWA 安装与移动端适配。&#13;&#10;                    &lt;/Text&gt;&#13;&#10;                &lt;/Box&gt;&#13;&#10;            &lt;/Box&gt;&#13;&#10;&#13;&#10;            {/* 右：规模与体验 */}&#13;&#10;            &lt;Box style={{ width: 372 }}&gt;&#13;&#10;                &lt;Box style={{ background: '#D6E4F9', borderRadius: 12, padding: 18 }}&gt;&#13;&#10;                    &lt;Text style={{ fontSize: 15, color: '#475569', lineHeight: 1.4 }}&gt;前端工程规模&lt;/Text&gt;&#13;&#10;                    &lt;Text style={{ fontSize: 40, fontWeight: 'bold', color: '#F59E0B', lineHeight: 1.1, marginTop: 6 }}&gt;200,684&lt;/Text&gt;&#13;&#10;                    &lt;Text style={{ fontSize: 15, color: '#475569', lineHeight: 1.4 }}&gt;行 TypeScript / TSX&lt;/Text&gt;&#13;&#10;                    &lt;Box style={{ height: 1, background: '#93C5FD', marginTop: 14 }} /&gt;&#13;&#10;                    &lt;Box style={{ flexDirection: 'row', marginTop: 12 }}&gt;&#13;&#10;                        &lt;Box style={{ flex: 1 }}&gt;&#13;&#10;                            &lt;Text style={{ fontSize: 26, fontWeight: 'bold', color: '#1E293B', lineHeight: 1.2 }}&gt;1,033&lt;/Text&gt;&#13;&#10;                            &lt;Text style={{ fontSize: 14, color: '#475569', lineHeight: 1.4 }}&gt;源文件&lt;/Text&gt;&#13;&#10;                        &lt;/Box&gt;&#13;&#10;                        &lt;Box style={{ flex: 1 }}&gt;&#13;&#10;                            &lt;Text style={{ fontSize: 26, fontWeight: 'bold', color: '#1E293B', lineHeight: 1.2 }}&gt;267&lt;/Text&gt;&#13;&#10;                            &lt;Text style={{ fontSize: 14, color: '#475569', lineHeight: 1.4 }}&gt;测试文件&lt;/Text&gt;&#13;&#10;                        &lt;/Box&gt;&#13;&#10;                    &lt;/Box&gt;&#13;&#10;                &lt;/Box&gt;&#13;&#10;                &lt;Box style={{ background: '#F4F6FB', borderRadius: 10, padding: 14, marginTop: 14 }}&gt;&#13;&#10;                    &lt;Text style={{ fontSize: 16, color: '#475569', lineHeight: 1.5 }}&gt;&#13;&#10;                        React 18 + TypeScript 5.8 + Vite 6 + Ant Design 5，构建产物随安装包一并分发，无需单独部署前端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评估一套平台时，界面往往是最诚实的证据：功能是否真的可用、过程是否真的可控，打开控制台就看得出来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交付的不是演示界面，而是工程化打磨的操作台</a:t>
            </a:r>
            <a:endParaRPr/>
          </a:p>
        </p:txBody>
      </p:sp>
      <p:sp>
        <p:nvSpPr>
          <p:cNvPr id="80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571500" y="1752600"/>
            <a:ext cx="7239000" cy="3009900"/>
          </a:xfrm>
          <a:prstGeom prst="roundRect">
            <a:avLst>
              <a:gd name="adj" fmla="val 379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69723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控制台四个分区，约</a:t>
            </a:r>
            <a:r>
              <a:rPr lang="en-US" sz="13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个一级页面</a:t>
            </a:r>
            <a:endParaRPr/>
          </a:p>
        </p:txBody>
      </p:sp>
      <p:sp>
        <p:nvSpPr>
          <p:cNvPr id="806" name=""/>
          <p:cNvSpPr/>
          <p:nvPr/>
        </p:nvSpPr>
        <p:spPr>
          <a:xfrm rot="0" flipH="0" flipV="0">
            <a:off x="704850" y="2276475"/>
            <a:ext cx="1676400" cy="819150"/>
          </a:xfrm>
          <a:prstGeom prst="roundRect">
            <a:avLst>
              <a:gd name="adj" fmla="val 9302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800100" y="2371725"/>
            <a:ext cx="14859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 b="1">
                <a:solidFill>
                  <a:srgbClr val="2563EB"/>
                </a:solidFill>
                <a:latin typeface="Microsoft YaHei"/>
                <a:ea typeface="Microsoft YaHei"/>
              </a:rPr>
              <a:t>常用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800100" y="2581275"/>
            <a:ext cx="14859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对话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专家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定时任务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Token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用量</a:t>
            </a:r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2476500" y="2276475"/>
            <a:ext cx="16668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2571750" y="2371725"/>
            <a:ext cx="14763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 b="1">
                <a:solidFill>
                  <a:srgbClr val="2563EB"/>
                </a:solidFill>
                <a:latin typeface="Microsoft YaHei"/>
                <a:ea typeface="Microsoft YaHei"/>
              </a:rPr>
              <a:t>个性化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2571750" y="2581275"/>
            <a:ext cx="1476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技能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子智能体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工具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插件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记忆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通道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4238625" y="2276475"/>
            <a:ext cx="167640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4333875" y="2371725"/>
            <a:ext cx="14859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 b="1">
                <a:solidFill>
                  <a:srgbClr val="2563EB"/>
                </a:solidFill>
                <a:latin typeface="Microsoft YaHei"/>
                <a:ea typeface="Microsoft YaHei"/>
              </a:rPr>
              <a:t>控制</a:t>
            </a:r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4333875" y="2581275"/>
            <a:ext cx="14859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工作台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终端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浏览器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远程桌面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ACP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6010275" y="2276475"/>
            <a:ext cx="1666875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6105525" y="2371725"/>
            <a:ext cx="14763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 b="1">
                <a:solidFill>
                  <a:srgbClr val="2563EB"/>
                </a:solidFill>
                <a:latin typeface="Microsoft YaHei"/>
                <a:ea typeface="Microsoft YaHei"/>
              </a:rPr>
              <a:t>管理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6105525" y="2581275"/>
            <a:ext cx="14763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用户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模型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存储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安全</a:t>
            </a:r>
            <a:r>
              <a:rPr lang="en-US" sz="97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高级设置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704850" y="3209925"/>
            <a:ext cx="69723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704850" y="3333750"/>
            <a:ext cx="6972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对话区能承载的内容</a:t>
            </a:r>
            <a:endParaRPr/>
          </a:p>
        </p:txBody>
      </p:sp>
      <p:sp>
        <p:nvSpPr>
          <p:cNvPr id="820" name=""/>
          <p:cNvSpPr/>
          <p:nvPr/>
        </p:nvSpPr>
        <p:spPr>
          <a:xfrm rot="0" flipH="0" flipV="0">
            <a:off x="704850" y="3667125"/>
            <a:ext cx="628650" cy="333375"/>
          </a:xfrm>
          <a:prstGeom prst="roundRect">
            <a:avLst>
              <a:gd name="adj" fmla="val 17143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771525" y="3733800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推理过程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1409700" y="3667125"/>
            <a:ext cx="752475" cy="333375"/>
          </a:xfrm>
          <a:prstGeom prst="roundRect">
            <a:avLst>
              <a:gd name="adj" fmla="val 17143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476375" y="3733800"/>
            <a:ext cx="619125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工具调用卡</a:t>
            </a:r>
            <a:endParaRPr/>
          </a:p>
        </p:txBody>
      </p:sp>
      <p:sp>
        <p:nvSpPr>
          <p:cNvPr id="824" name=""/>
          <p:cNvSpPr/>
          <p:nvPr/>
        </p:nvSpPr>
        <p:spPr>
          <a:xfrm rot="0" flipH="0" flipV="0">
            <a:off x="2238375" y="3667125"/>
            <a:ext cx="504825" cy="333375"/>
          </a:xfrm>
          <a:prstGeom prst="roundRect">
            <a:avLst>
              <a:gd name="adj" fmla="val 17143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2305050" y="3733800"/>
            <a:ext cx="371475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审批卡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2819400" y="3667125"/>
            <a:ext cx="628650" cy="333375"/>
          </a:xfrm>
          <a:prstGeom prst="roundRect">
            <a:avLst>
              <a:gd name="adj" fmla="val 17143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2886075" y="3733800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待办清单</a:t>
            </a:r>
            <a:endParaRPr/>
          </a:p>
        </p:txBody>
      </p:sp>
      <p:sp>
        <p:nvSpPr>
          <p:cNvPr id="828" name=""/>
          <p:cNvSpPr/>
          <p:nvPr/>
        </p:nvSpPr>
        <p:spPr>
          <a:xfrm rot="0" flipH="0" flipV="0">
            <a:off x="3524250" y="3667125"/>
            <a:ext cx="628650" cy="333375"/>
          </a:xfrm>
          <a:prstGeom prst="roundRect">
            <a:avLst>
              <a:gd name="adj" fmla="val 17143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590925" y="3733800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4229100" y="3667125"/>
            <a:ext cx="1066800" cy="333375"/>
          </a:xfrm>
          <a:prstGeom prst="roundRect">
            <a:avLst>
              <a:gd name="adj" fmla="val 17143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4295775" y="3733800"/>
            <a:ext cx="933450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多</a:t>
            </a:r>
            <a:r>
              <a:rPr lang="en-US" sz="975">
                <a:solidFill>
                  <a:srgbClr val="1E293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975">
                <a:solidFill>
                  <a:srgbClr val="1E293B"/>
                </a:solidFill>
                <a:latin typeface="Microsoft YaHei"/>
                <a:ea typeface="Microsoft YaHei"/>
              </a:rPr>
              <a:t>分角色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5372100" y="3667125"/>
            <a:ext cx="628650" cy="333375"/>
          </a:xfrm>
          <a:prstGeom prst="roundRect">
            <a:avLst>
              <a:gd name="adj" fmla="val 17143"/>
            </a:avLst>
          </a:prstGeom>
          <a:solidFill>
            <a:srgbClr val="FFF7E9"/>
          </a:solidFill>
          <a:ln/>
        </p:spPr>
        <p:txBody>
          <a:bodyPr/>
          <a:p/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5438775" y="3733800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975">
                <a:solidFill>
                  <a:srgbClr val="B45309"/>
                </a:solidFill>
                <a:latin typeface="Microsoft YaHei"/>
                <a:ea typeface="Microsoft YaHei"/>
              </a:rPr>
              <a:t>轨迹检视</a:t>
            </a:r>
            <a:endParaRPr/>
          </a:p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4850" y="4114800"/>
            <a:ext cx="6972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对话基于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WebSocket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双向流式，随时可停止、可中途插话；支持明暗主题、中英双语、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PWA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安装与移动端适配。</a:t>
            </a:r>
            <a:endParaRPr/>
          </a:p>
        </p:txBody>
      </p:sp>
      <p:sp>
        <p:nvSpPr>
          <p:cNvPr id="835" name=""/>
          <p:cNvSpPr/>
          <p:nvPr/>
        </p:nvSpPr>
        <p:spPr>
          <a:xfrm rot="0" flipH="0" flipV="0">
            <a:off x="8077200" y="1752600"/>
            <a:ext cx="3543300" cy="2247900"/>
          </a:xfrm>
          <a:prstGeom prst="roundRect">
            <a:avLst>
              <a:gd name="adj" fmla="val 5085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8248650" y="1924050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前端工程规模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8248650" y="2228850"/>
            <a:ext cx="320040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F59E0B"/>
                </a:solidFill>
                <a:latin typeface="Microsoft YaHei"/>
                <a:ea typeface="Microsoft YaHei"/>
              </a:rPr>
              <a:t>200,684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8248650" y="2733675"/>
            <a:ext cx="32004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TypeScript / TSX</a:t>
            </a:r>
            <a:endParaRPr/>
          </a:p>
        </p:txBody>
      </p:sp>
      <p:sp>
        <p:nvSpPr>
          <p:cNvPr id="839" name=""/>
          <p:cNvSpPr/>
          <p:nvPr/>
        </p:nvSpPr>
        <p:spPr>
          <a:xfrm rot="0" flipH="0" flipV="0">
            <a:off x="8248650" y="3114675"/>
            <a:ext cx="32004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8248650" y="3238500"/>
            <a:ext cx="1600200" cy="3619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950" b="1">
                <a:solidFill>
                  <a:srgbClr val="1E293B"/>
                </a:solidFill>
                <a:latin typeface="Microsoft YaHei"/>
                <a:ea typeface="Microsoft YaHei"/>
              </a:rPr>
              <a:t>1,033</a:t>
            </a:r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8248650" y="3600450"/>
            <a:ext cx="1600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源文件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9848850" y="3238500"/>
            <a:ext cx="1600200" cy="3619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950" b="1">
                <a:solidFill>
                  <a:srgbClr val="1E293B"/>
                </a:solidFill>
                <a:latin typeface="Microsoft YaHei"/>
                <a:ea typeface="Microsoft YaHei"/>
              </a:rPr>
              <a:t>267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9848850" y="3600450"/>
            <a:ext cx="1600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测试文件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8077200" y="4133850"/>
            <a:ext cx="3543300" cy="1095375"/>
          </a:xfrm>
          <a:prstGeom prst="roundRect">
            <a:avLst>
              <a:gd name="adj" fmla="val 8696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8210550" y="4267200"/>
            <a:ext cx="32766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>React 18 + TypeScript 5.8 + Vite 6 + Ant Design 5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，构建产物随安装包一并分发，无需单独部署前端。</a:t>
            </a:r>
            <a:endParaRPr/>
          </a:p>
        </p:txBody>
      </p:sp>
      <p:sp>
        <p:nvSpPr>
          <p:cNvPr id="846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47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评估一套平台时，界面往往是最诚实的证据：功能是否真的可用、过程是否真的可控，打开控制台就看得出来。</a:t>
            </a:r>
            <a:endParaRPr/>
          </a:p>
        </p:txBody>
      </p:sp>
    </p:spTree>
  </p:cSld>
</p:sld>
</file>

<file path=ppt/slides/slide3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49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场景一｜智能客服：答复有出处，背景记得住&#13;&#10;        &lt;/Text&gt;&#13;&#10;        &lt;Box style={{ height: 1, background: '#E2E8F0', marginTop: 16 }} /&gt;&#13;&#10;&#13;&#10;        &lt;Box style={{ flex: 1, marginTop: 20 }}&gt;&#13;&#10;            &lt;Box style={{ flexDirection: 'row', alignItems: 'stretch' }}&gt;&#13;&#10;                &lt;Box style={{ width: 212, background: '#E8EEFB', borderWidth: 1, borderColor: '#C7D6F5', borderStyle: 'solid', borderRadius: 10, padding: 13 }}&gt;&#13;&#10;                    &lt;Text style={{ fontSize: 15, fontWeight: '600', color: '#94A3B8', lineHeight: 1.3 }}&gt;01&lt;/Text&gt;&#13;&#10;                    &lt;Text style={{ fontSize: 19, fontWeight: '600', color: '#1E293B', lineHeight: 1.3, marginTop: 5 }}&gt;客户提问&lt;/Text&gt;&#13;&#10;                    &lt;Text style={{ fontSize: 15, color: '#64748B', lineHeight: 1.5, marginTop: 7 }}&gt;&#13;&#10;                        问题从企业微信、飞书或钉钉进入，与控制台共用同一条管线。&#13;&#10;                    &lt;/Text&gt;&#13;&#10;                &lt;/Box&gt;&#13;&#10;                &lt;Box style={{ width: 26, justifyContent: 'center', alignItems: 'center' }}&gt;&#13;&#10;                    &lt;svg width={26} height={18} viewBox='0 0 26 18'&gt;&lt;path d='M0 9 L16 9' stroke='#2563EB' strokeWidth='2' /&gt;&lt;path d='M16 2 L26 9 L16 16 Z' fill='#2563EB' /&gt;&lt;/svg&gt;&#13;&#10;                &lt;/Box&gt;&#13;&#10;                &lt;Box style={{ width: 212, background: '#D6E4F9', borderRadius: 10, padding: 13 }}&gt;&#13;&#10;                    &lt;Text style={{ fontSize: 15, fontWeight: '600', color: '#475569', lineHeight: 1.3 }}&gt;02&lt;/Text&gt;&#13;&#10;                    &lt;Text style={{ fontSize: 19, fontWeight: '600', color: '#1E293B', lineHeight: 1.3, marginTop: 5 }}&gt;知识库检索&lt;/Text&gt;&#13;&#10;                    &lt;Text style={{ fontSize: 15, color: '#475569', lineHeight: 1.5, marginTop: 7 }}&gt;&#13;&#10;                        在私有文档中检索相关片段，答案附带来源标记可回溯。&#13;&#10;                    &lt;/Text&gt;&#13;&#10;                &lt;/Box&gt;&#13;&#10;                &lt;Box style={{ width: 26, justifyContent: 'center', alignItems: 'center' }}&gt;&#13;&#10;                    &lt;svg width={26} height={18} viewBox='0 0 26 18'&gt;&lt;path d='M0 9 L16 9' stroke='#0891B2' strokeWidth='2' /&gt;&lt;path d='M16 2 L26 9 L16 16 Z' fill='#0891B2' /&gt;&lt;/svg&gt;&#13;&#10;                &lt;/Box&gt;&#13;&#10;                &lt;Box style={{ width: 212, background: '#E8EEFB', borderWidth: 1, borderColor: '#C7D6F5', borderStyle: 'solid', borderRadius: 10, padding: 13 }}&gt;&#13;&#10;                    &lt;Text style={{ fontSize: 15, fontWeight: '600', color: '#94A3B8', lineHeight: 1.3 }}&gt;03&lt;/Text&gt;&#13;&#10;                    &lt;Text style={{ fontSize: 19, fontWeight: '600', color: '#1E293B', lineHeight: 1.3, marginTop: 5 }}&gt;带出处作答&lt;/Text&gt;&#13;&#10;                    &lt;Text style={{ fontSize: 15, color: '#64748B', lineHeight: 1.5, marginTop: 7 }}&gt;&#13;&#10;                        答案直接回传原会话，客户与坐席都能看到引用来源。&#13;&#10;                    &lt;/Text&gt;&#13;&#10;                &lt;/Box&gt;&#13;&#10;                &lt;Box style={{ width: 26, justifyContent: 'center', alignItems: 'center' }}&gt;&#13;&#10;                    &lt;svg width={26} height={18} viewBox='0 0 26 18'&gt;&lt;path d='M0 9 L16 9' stroke='#F59E0B' strokeWidth='2' /&gt;&lt;path d='M16 2 L26 9 L16 16 Z' fill='#F59E0B' /&gt;&lt;/svg&gt;&#13;&#10;                &lt;/Box&gt;&#13;&#10;                &lt;Box style={{ width: 212, background: '#FFF7E9', borderWidth: 1, borderColor: '#F5D9A4', borderStyle: 'solid', borderRadius: 10, padding: 13 }}&gt;&#13;&#10;                    &lt;Text style={{ fontSize: 15, fontWeight: '600', color: '#B45309', lineHeight: 1.3 }}&gt;04&lt;/Text&gt;&#13;&#10;                    &lt;Text style={{ fontSize: 19, fontWeight: '600', color: '#1E293B', lineHeight: 1.3, marginTop: 5 }}&gt;不知则转人工&lt;/Text&gt;&#13;&#10;                    &lt;Text style={{ fontSize: 15, color: '#64748B', lineHeight: 1.5, marginTop: 7 }}&gt;&#13;&#10;                        缺信息时主动反问，超范围时升级人工并保留完整上下文。&#13;&#10;                    &lt;/Text&gt;&#13;&#10;                &lt;/Box&gt;&#13;&#10;                &lt;Box style={{ width: 26, justifyContent: 'center', alignItems: 'center' }}&gt;&#13;&#10;                    &lt;svg width={26} height={18} viewBox='0 0 26 18'&gt;&lt;path d='M0 9 L16 9' stroke='#F59E0B' strokeWidth='2' /&gt;&lt;path d='M16 2 L26 9 L16 16 Z' fill='#F59E0B' /&gt;&lt;/svg&gt;&#13;&#10;                &lt;/Box&gt;&#13;&#10;                &lt;Box style={{ width: 212, background: '#E8EEFB', borderWidth: 1, borderColor: '#C7D6F5', borderStyle: 'solid', borderRadius: 10, padding: 13 }}&gt;&#13;&#10;                    &lt;Text style={{ fontSize: 15, fontWeight: '600', color: '#94A3B8', lineHeight: 1.3 }}&gt;05&lt;/Text&gt;&#13;&#10;                    &lt;Text style={{ fontSize: 19, fontWeight: '600', color: '#1E293B', lineHeight: 1.3, marginTop: 5 }}&gt;沉淀为记忆&lt;/Text&gt;&#13;&#10;                    &lt;Text style={{ fontSize: 15, color: '#64748B', lineHeight: 1.5, marginTop: 7 }}&gt;&#13;&#10;                        本次结论进入长期记忆，下次不必重讲背景。&#13;&#10;                    &lt;/Text&gt;&#13;&#10;                &lt;/Box&gt;&#13;&#10;            &lt;/Box&gt;&#13;&#10;&#13;&#10;            &lt;Box style={{ flexDirection: 'row', gap: 20, marginTop: 22 }}&gt;&#13;&#10;                &lt;Box style={{ flex: 1, background: '#F4F6FB', borderRadius: 10, padding: 15 }}&gt;&#13;&#10;                    &lt;Text style={{ fontSize: 18, fontWeight: '600', color: '#1E293B', lineHeight: 1.3 }}&gt;减少来回切换&lt;/Text&gt;&#13;&#10;                    &lt;Text style={{ fontSize: 15, color: '#475569', lineHeight: 1.5, marginTop: 8 }}&gt;&#13;&#10;                        坐席不必在工单、知识库与聊天窗口之间跳转，答复与出处在同一处呈现。&#13;&#10;                    &lt;/Text&gt;&#13;&#10;                &lt;/Box&gt;&#13;&#10;                &lt;Box style={{ flex: 1, background: '#F4F6FB', borderRadius: 10, padding: 15 }}&gt;&#13;&#10;                    &lt;Text style={{ fontSize: 18, fontWeight: '600', color: '#1E293B', lineHeight: 1.3 }}&gt;口径统一&lt;/Text&gt;&#13;&#10;                    &lt;Text style={{ fontSize: 15, color: '#475569', lineHeight: 1.5, marginTop: 8 }}&gt;&#13;&#10;                        答案来自同一份受控文档，避免不同坐席给出互相矛盾的说法。&#13;&#10;                    &lt;/Text&gt;&#13;&#10;                &lt;/Box&gt;&#13;&#10;                &lt;Box style={{ flex: 1, background: '#F4F6FB', borderRadius: 10, padding: 15 }}&gt;&#13;&#10;                    &lt;Text style={{ fontSize: 18, fontWeight: '600', color: '#1E293B', lineHeight: 1.3 }}&gt;上下文延续&lt;/Text&gt;&#13;&#10;                    &lt;Text style={{ fontSize: 15, color: '#475569', lineHeight: 1.5, marginTop: 8 }}&gt;&#13;&#10;                        客户二次咨询时带着上次结论继续，不需要从头复述问题。&#13;&#10;                    &lt;/Text&gt;&#13;&#10;                &lt;/Box&gt;&#13;&#10;                &lt;Box style={{ flex: 1, background: '#D6E4F9', borderRadius: 10, padding: 15 }}&gt;&#13;&#10;                    &lt;Text style={{ fontSize: 18, fontWeight: '600', color: '#F59E0B', lineHeight: 1.3 }}&gt;数据留在本地&lt;/Text&gt;&#13;&#10;                    &lt;Text style={{ fontSize: 15, color: '#1E293B', lineHeight: 1.5, marginTop: 8 }}&gt;&#13;&#10;                        客户对话与语料都不出内网，便于通过合规审查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36, borderRadius: 2, background: '#2563EB' }} /&gt;&#13;&#10;            &lt;Text style={{ flex: 1, fontSize: 19, color: '#1E293B', lineHeight: 1.5 }}&gt;&#13;&#10;                客服场景的价值不在「回答得快」，而在「答得准、说得清出处、记得住前情」——三者缺一，客户体验都回不去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852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场景一｜智能客服：答复有出处，背景记得住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855" name=""/>
          <p:cNvSpPr/>
          <p:nvPr/>
        </p:nvSpPr>
        <p:spPr>
          <a:xfrm rot="0" flipH="0" flipV="0">
            <a:off x="571500" y="1733550"/>
            <a:ext cx="2019300" cy="1647825"/>
          </a:xfrm>
          <a:prstGeom prst="roundRect">
            <a:avLst>
              <a:gd name="adj" fmla="val 578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695325" y="18573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94A3B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857" name="" descr="{&quot;isTemplate&quot;:true,&quot;type&quot;:&quot;text&quot;}"/>
          <p:cNvSpPr txBox="1"/>
          <p:nvPr/>
        </p:nvSpPr>
        <p:spPr>
          <a:xfrm rot="0" flipH="0" flipV="0">
            <a:off x="695325" y="2133600"/>
            <a:ext cx="17716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客户提问</a:t>
            </a:r>
            <a:endParaRPr/>
          </a:p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695325" y="2486025"/>
            <a:ext cx="17716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问题从企业微信、飞书或钉钉进入，与控制台共用同一条管线。</a:t>
            </a:r>
            <a:endParaRPr/>
          </a:p>
        </p:txBody>
      </p:sp>
      <p:pic>
        <p:nvPicPr>
          <p:cNvPr id="8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581275" y="2476500"/>
            <a:ext cx="247650" cy="171450"/>
          </a:xfrm>
          <a:prstGeom prst="rect">
            <a:avLst/>
          </a:prstGeom>
          <a:ln/>
        </p:spPr>
      </p:pic>
      <p:sp>
        <p:nvSpPr>
          <p:cNvPr id="860" name=""/>
          <p:cNvSpPr/>
          <p:nvPr/>
        </p:nvSpPr>
        <p:spPr>
          <a:xfrm rot="0" flipH="0" flipV="0">
            <a:off x="2828925" y="1733550"/>
            <a:ext cx="2019300" cy="1647825"/>
          </a:xfrm>
          <a:prstGeom prst="roundRect">
            <a:avLst>
              <a:gd name="adj" fmla="val 5780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2952750" y="18573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47556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2952750" y="2133600"/>
            <a:ext cx="17716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知识库检索</a:t>
            </a:r>
            <a:endParaRPr/>
          </a:p>
        </p:txBody>
      </p:sp>
      <p:sp>
        <p:nvSpPr>
          <p:cNvPr id="863" name="" descr="{&quot;isTemplate&quot;:true,&quot;type&quot;:&quot;text&quot;}"/>
          <p:cNvSpPr txBox="1"/>
          <p:nvPr/>
        </p:nvSpPr>
        <p:spPr>
          <a:xfrm rot="0" flipH="0" flipV="0">
            <a:off x="2952750" y="2486025"/>
            <a:ext cx="17716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在私有文档中检索相关片段，答案附带来源标记可回溯。</a:t>
            </a:r>
            <a:endParaRPr/>
          </a:p>
        </p:txBody>
      </p:sp>
      <p:pic>
        <p:nvPicPr>
          <p:cNvPr id="8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838700" y="2476500"/>
            <a:ext cx="247650" cy="171450"/>
          </a:xfrm>
          <a:prstGeom prst="rect">
            <a:avLst/>
          </a:prstGeom>
          <a:ln/>
        </p:spPr>
      </p:pic>
      <p:sp>
        <p:nvSpPr>
          <p:cNvPr id="865" name=""/>
          <p:cNvSpPr/>
          <p:nvPr/>
        </p:nvSpPr>
        <p:spPr>
          <a:xfrm rot="0" flipH="0" flipV="0">
            <a:off x="5086350" y="1733550"/>
            <a:ext cx="2019300" cy="1647825"/>
          </a:xfrm>
          <a:prstGeom prst="roundRect">
            <a:avLst>
              <a:gd name="adj" fmla="val 578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5210175" y="18573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94A3B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5210175" y="2133600"/>
            <a:ext cx="17716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带出处作答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5210175" y="2486025"/>
            <a:ext cx="1771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答案直接回传原会话，客户与坐席都能看到引用来源。</a:t>
            </a:r>
            <a:endParaRPr/>
          </a:p>
        </p:txBody>
      </p:sp>
      <p:pic>
        <p:nvPicPr>
          <p:cNvPr id="8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105650" y="2476500"/>
            <a:ext cx="247650" cy="171450"/>
          </a:xfrm>
          <a:prstGeom prst="rect">
            <a:avLst/>
          </a:prstGeom>
          <a:ln/>
        </p:spPr>
      </p:pic>
      <p:sp>
        <p:nvSpPr>
          <p:cNvPr id="870" name=""/>
          <p:cNvSpPr/>
          <p:nvPr/>
        </p:nvSpPr>
        <p:spPr>
          <a:xfrm rot="0" flipH="0" flipV="0">
            <a:off x="7353300" y="1733550"/>
            <a:ext cx="2019300" cy="1647825"/>
          </a:xfrm>
          <a:prstGeom prst="roundRect">
            <a:avLst>
              <a:gd name="adj" fmla="val 578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7477125" y="18573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B4530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7477125" y="2133600"/>
            <a:ext cx="17716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不知则转人工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7477125" y="2486025"/>
            <a:ext cx="17716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缺信息时主动反问，超范围时升级人工并保留完整上下文。</a:t>
            </a:r>
            <a:endParaRPr/>
          </a:p>
        </p:txBody>
      </p:sp>
      <p:pic>
        <p:nvPicPr>
          <p:cNvPr id="8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363075" y="2476500"/>
            <a:ext cx="247650" cy="171450"/>
          </a:xfrm>
          <a:prstGeom prst="rect">
            <a:avLst/>
          </a:prstGeom>
          <a:ln/>
        </p:spPr>
      </p:pic>
      <p:sp>
        <p:nvSpPr>
          <p:cNvPr id="875" name=""/>
          <p:cNvSpPr/>
          <p:nvPr/>
        </p:nvSpPr>
        <p:spPr>
          <a:xfrm rot="0" flipH="0" flipV="0">
            <a:off x="9610725" y="1733550"/>
            <a:ext cx="2019300" cy="1647825"/>
          </a:xfrm>
          <a:prstGeom prst="roundRect">
            <a:avLst>
              <a:gd name="adj" fmla="val 578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9734550" y="18573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94A3B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9734550" y="2133600"/>
            <a:ext cx="17716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E293B"/>
                </a:solidFill>
                <a:latin typeface="Microsoft YaHei"/>
                <a:ea typeface="Microsoft YaHei"/>
              </a:rPr>
              <a:t>沉淀为记忆</a:t>
            </a:r>
            <a:endParaRPr/>
          </a:p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9734550" y="2486025"/>
            <a:ext cx="1771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本次结论进入长期记忆，下次不必重讲背景。</a:t>
            </a:r>
            <a:endParaRPr/>
          </a:p>
        </p:txBody>
      </p:sp>
      <p:sp>
        <p:nvSpPr>
          <p:cNvPr id="879" name=""/>
          <p:cNvSpPr/>
          <p:nvPr/>
        </p:nvSpPr>
        <p:spPr>
          <a:xfrm rot="0" flipH="0" flipV="0">
            <a:off x="571500" y="3590925"/>
            <a:ext cx="2619375" cy="1409700"/>
          </a:xfrm>
          <a:prstGeom prst="roundRect">
            <a:avLst>
              <a:gd name="adj" fmla="val 6757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714375" y="3733800"/>
            <a:ext cx="23336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减少来回切换</a:t>
            </a:r>
            <a:endParaRPr/>
          </a:p>
        </p:txBody>
      </p:sp>
      <p:sp>
        <p:nvSpPr>
          <p:cNvPr id="881" name="" descr="{&quot;isTemplate&quot;:true,&quot;type&quot;:&quot;text&quot;}"/>
          <p:cNvSpPr txBox="1"/>
          <p:nvPr/>
        </p:nvSpPr>
        <p:spPr>
          <a:xfrm rot="0" flipH="0" flipV="0">
            <a:off x="714375" y="4086225"/>
            <a:ext cx="233362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坐席不必在工单、知识库与聊天窗口之间跳转，答复与出处在同一处呈现。</a:t>
            </a:r>
            <a:endParaRPr/>
          </a:p>
        </p:txBody>
      </p:sp>
      <p:sp>
        <p:nvSpPr>
          <p:cNvPr id="882" name=""/>
          <p:cNvSpPr/>
          <p:nvPr/>
        </p:nvSpPr>
        <p:spPr>
          <a:xfrm rot="0" flipH="0" flipV="0">
            <a:off x="3381375" y="3590925"/>
            <a:ext cx="2619375" cy="1409700"/>
          </a:xfrm>
          <a:prstGeom prst="roundRect">
            <a:avLst>
              <a:gd name="adj" fmla="val 6757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524250" y="3733800"/>
            <a:ext cx="23336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口径统一</a:t>
            </a:r>
            <a:endParaRPr/>
          </a:p>
        </p:txBody>
      </p:sp>
      <p:sp>
        <p:nvSpPr>
          <p:cNvPr id="884" name="" descr="{&quot;isTemplate&quot;:true,&quot;type&quot;:&quot;text&quot;}"/>
          <p:cNvSpPr txBox="1"/>
          <p:nvPr/>
        </p:nvSpPr>
        <p:spPr>
          <a:xfrm rot="0" flipH="0" flipV="0">
            <a:off x="3524250" y="4086225"/>
            <a:ext cx="2333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答案来自同一份受控文档，避免不同坐席给出互相矛盾的说法。</a:t>
            </a:r>
            <a:endParaRPr/>
          </a:p>
        </p:txBody>
      </p:sp>
      <p:sp>
        <p:nvSpPr>
          <p:cNvPr id="885" name=""/>
          <p:cNvSpPr/>
          <p:nvPr/>
        </p:nvSpPr>
        <p:spPr>
          <a:xfrm rot="0" flipH="0" flipV="0">
            <a:off x="6191250" y="3590925"/>
            <a:ext cx="2619375" cy="1409700"/>
          </a:xfrm>
          <a:prstGeom prst="roundRect">
            <a:avLst>
              <a:gd name="adj" fmla="val 6757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6334125" y="3733800"/>
            <a:ext cx="23336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上下文延续</a:t>
            </a:r>
            <a:endParaRPr/>
          </a:p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6334125" y="4086225"/>
            <a:ext cx="2333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客户二次咨询时带着上次结论继续，不需要从头复述问题。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9001125" y="3590925"/>
            <a:ext cx="2619375" cy="1409700"/>
          </a:xfrm>
          <a:prstGeom prst="roundRect">
            <a:avLst>
              <a:gd name="adj" fmla="val 6757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9144000" y="3733800"/>
            <a:ext cx="23336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F59E0B"/>
                </a:solidFill>
                <a:latin typeface="Microsoft YaHei"/>
                <a:ea typeface="Microsoft YaHei"/>
              </a:rPr>
              <a:t>数据留在本地</a:t>
            </a:r>
            <a:endParaRPr/>
          </a:p>
        </p:txBody>
      </p:sp>
      <p:sp>
        <p:nvSpPr>
          <p:cNvPr id="890" name="" descr="{&quot;isTemplate&quot;:true,&quot;type&quot;:&quot;text&quot;}"/>
          <p:cNvSpPr txBox="1"/>
          <p:nvPr/>
        </p:nvSpPr>
        <p:spPr>
          <a:xfrm rot="0" flipH="0" flipV="0">
            <a:off x="9144000" y="4086225"/>
            <a:ext cx="2333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1E293B"/>
                </a:solidFill>
                <a:latin typeface="Microsoft YaHei"/>
                <a:ea typeface="Microsoft YaHei"/>
              </a:rPr>
              <a:t>客户对话与语料都不出内网，便于通过合规审查。</a:t>
            </a:r>
            <a:endParaRPr/>
          </a:p>
        </p:txBody>
      </p:sp>
      <p:sp>
        <p:nvSpPr>
          <p:cNvPr id="891" name=""/>
          <p:cNvSpPr/>
          <p:nvPr/>
        </p:nvSpPr>
        <p:spPr>
          <a:xfrm rot="0" flipH="0" flipV="0">
            <a:off x="571500" y="5638800"/>
            <a:ext cx="11049000" cy="647700"/>
          </a:xfrm>
          <a:prstGeom prst="roundRect">
            <a:avLst>
              <a:gd name="adj" fmla="val 11765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892" name=""/>
          <p:cNvSpPr/>
          <p:nvPr/>
        </p:nvSpPr>
        <p:spPr>
          <a:xfrm rot="0" flipH="0" flipV="0">
            <a:off x="723900" y="5791200"/>
            <a:ext cx="38100" cy="3429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914400" y="580072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客服场景的价值不在「回答得快」，而在「答得准、说得清出处、记得住前情」——三者缺一，客户体验都回不去。</a:t>
            </a:r>
            <a:endParaRPr/>
          </a:p>
        </p:txBody>
      </p:sp>
    </p:spTree>
  </p:cSld>
</p:sld>
</file>

<file path=ppt/slides/slide35.xml><?xml version="1.0" encoding="utf-8"?>
<p:sld xmlns:p="http://schemas.openxmlformats.org/presentationml/2006/main" xmlns:a="http://schemas.openxmlformats.org/drawingml/2006/main">
  <p:cSld>
    <p:spTree>
      <p:nvGrpSpPr>
        <p:cNvPr id="894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场景二｜研发提效：从补全代码到受控执行&#13;&#10;        &lt;/Text&gt;&#13;&#10;        &lt;Box style={{ height: 1, background: '#E2E8F0', marginTop: 16 }} /&gt;&#13;&#10;&#13;&#10;        &lt;Box style={{ flex: 1, marginTop: 22, flexDirection: 'row' }}&gt;&#13;&#10;            {/* 左：单点补全 */}&#13;&#10;            &lt;Box style={{ width: 500 }}&gt;&#13;&#10;                &lt;Text style={{ fontSize: 22, fontWeight: '600', color: '#94A3B8', lineHeight: 1.3 }}&gt;通用编码助手&lt;/Text&gt;&#13;&#10;                &lt;Box style={{ height: 3, width: 64, borderRadius: 2, background: '#CBD5E1', marginTop: 12 }} /&gt;&#13;&#10;                &lt;Box style={{ flexDirection: 'row', gap: 12, alignItems: 'flex-start', marginTop: 16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能力集中在编辑器内的补全与建议，跨出编辑器就断开。&#13;&#10;                    &lt;/Text&gt;&#13;&#10;                &lt;/Box&gt;&#13;&#10;                &lt;Box style={{ flexDirection: 'row', gap: 12, alignItems: 'flex-start', marginTop: 14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跑测试、查日志、改配置要靠人手动完成，工具链割裂。&#13;&#10;                    &lt;/Text&gt;&#13;&#10;                &lt;/Box&gt;&#13;&#10;                &lt;Box style={{ flexDirection: 'row', gap: 12, alignItems: 'flex-start', marginTop: 14 }}&gt;&#13;&#10;                    &lt;Box style={{ width: 8, height: 8, borderRadius: 4, background: '#CBD5E1', marginTop: 9 }} /&gt;&#13;&#10;                    &lt;Text style={{ flex: 1, fontSize: 17, color: '#64748B', lineHeight: 1.5 }}&gt;&#13;&#10;                        执行权限由个人机器决定，团队难以统一策略与留痕。&#13;&#10;                    &lt;/Text&gt;&#13;&#10;                &lt;/Box&gt;&#13;&#10;                &lt;Box style={{ marginTop: 18, background: '#F1F5F9', borderRadius: 10, padding: 14 }}&gt;&#13;&#10;                    &lt;Text style={{ fontSize: 16, color: '#64748B', lineHeight: 1.5 }}&gt;&#13;&#10;                        结果：个人效率提升明显，但团队无法把它纳入统一的工程规范与审计。&#13;&#10;                    &lt;/Text&gt;&#13;&#10;                &lt;/Box&gt;&#13;&#10;            &lt;/Box&gt;&#13;&#10;&#13;&#10;            &lt;Box style={{ width: 1, background: '#E2E8F0', marginLeft: 28, marginRight: 28 }} /&gt;&#13;&#10;&#13;&#10;            {/* 右：受控执行 */}&#13;&#10;            &lt;Box style={{ width: 602 }}&gt;&#13;&#10;                &lt;Text style={{ fontSize: 22, fontWeight: '600', color: '#1E293B', lineHeight: 1.3 }}&gt;云顶数字工作台&lt;/Text&gt;&#13;&#10;                &lt;Box style={{ height: 3, width: 64, borderRadius: 2, background: '#D6E4F9', marginTop: 12 }} /&gt;&#13;&#10;                &lt;Box style={{ flexDirection: 'row', gap: 12, marginTop: 14 }}&gt;&#13;&#10;                    &lt;Box style={{ flex: 1, background: '#E8EEFB', borderWidth: 1, borderColor: '#C7D6F5', borderStyle: 'solid', borderRadius: 10, padding: 12 }}&gt;&#13;&#10;                        &lt;Text style={{ fontSize: 17, fontWeight: '600', color: '#2563EB', lineHeight: 1.3 }}&gt;ACP 入站&lt;/Text&gt;&#13;&#10;                        &lt;Text style={{ fontSize: 14, color: '#475569', lineHeight: 1.5, marginTop: 6 }}&gt;&#13;&#10;                            在 IDE 与终端里直接调用本机 Agent。&#13;&#10;                        &lt;/Text&gt;&#13;&#10;                    &lt;/Box&gt;&#13;&#10;                    &lt;Box style={{ flex: 1, background: '#E8EEFB', borderWidth: 1, borderColor: '#C7D6F5', borderStyle: 'solid', borderRadius: 10, padding: 12 }}&gt;&#13;&#10;                        &lt;Text style={{ fontSize: 17, fontWeight: '600', color: '#2563EB', lineHeight: 1.3 }}&gt;ACP 出站&lt;/Text&gt;&#13;&#10;                        &lt;Text style={{ fontSize: 14, color: '#475569', lineHeight: 1.5, marginTop: 6 }}&gt;&#13;&#10;                            复杂任务可委派给外部编程 Agent。&#13;&#10;                        &lt;/Text&gt;&#13;&#10;                    &lt;/Box&gt;&#13;&#10;                &lt;/Box&gt;&#13;&#10;                &lt;Box style={{ flexDirection: 'row', gap: 12, marginTop: 12 }}&gt;&#13;&#10;                    &lt;Box style={{ flex: 1, background: '#F8FAFC', borderWidth: 1, borderColor: '#E2E8F0', borderStyle: 'solid', borderRadius: 10, padding: 12 }}&gt;&#13;&#10;                        &lt;Text style={{ fontSize: 17, fontWeight: '600', color: '#1E293B', lineHeight: 1.3 }}&gt;命令守卫 + 审批&lt;/Text&gt;&#13;&#10;                        &lt;Text style={{ fontSize: 14, color: '#475569', lineHeight: 1.5, marginTop: 6 }}&gt;&#13;&#10;                            危险命令执行前被拦截或转审批。&#13;&#10;                        &lt;/Text&gt;&#13;&#10;                    &lt;/Box&gt;&#13;&#10;                    &lt;Box style={{ flex: 1, background: '#F8FAFC', borderWidth: 1, borderColor: '#E2E8F0', borderStyle: 'solid', borderRadius: 10, padding: 12 }}&gt;&#13;&#10;                        &lt;Text style={{ fontSize: 17, fontWeight: '600', color: '#1E293B', lineHeight: 1.3 }}&gt;轨迹留痕&lt;/Text&gt;&#13;&#10;                        &lt;Text style={{ fontSize: 14, color: '#475569', lineHeight: 1.5, marginTop: 6 }}&gt;&#13;&#10;                            每次命令与文件改动可回放。&#13;&#10;                        &lt;/Text&gt;&#13;&#10;                    &lt;/Box&gt;&#13;&#10;                &lt;/Box&gt;&#13;&#10;                &lt;Box style={{ marginTop: 12, background: '#D6E4F9', borderRadius: 10, padding: 14 }}&gt;&#13;&#10;                    &lt;Text style={{ fontSize: 16, color: '#475569', lineHeight: 1.5 }}&gt;&#13;&#10;                        差别不在写得多快，而在能不能被信任地执行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给开发者一个更聪明的输入框，不如给团队一个受管控的执行者——前者提升个人手感，后者改变交付方式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89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场景二｜研发提效：从补全代码到受控执行</a:t>
            </a:r>
            <a:endParaRPr/>
          </a:p>
        </p:txBody>
      </p:sp>
      <p:sp>
        <p:nvSpPr>
          <p:cNvPr id="89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4762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通用编码助手</a:t>
            </a:r>
            <a:endParaRPr/>
          </a:p>
        </p:txBody>
      </p:sp>
      <p:sp>
        <p:nvSpPr>
          <p:cNvPr id="901" name=""/>
          <p:cNvSpPr/>
          <p:nvPr/>
        </p:nvSpPr>
        <p:spPr>
          <a:xfrm rot="0" flipH="0" flipV="0">
            <a:off x="571500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902" name=""/>
          <p:cNvSpPr/>
          <p:nvPr/>
        </p:nvSpPr>
        <p:spPr>
          <a:xfrm rot="0" flipH="0" flipV="0">
            <a:off x="571500" y="24669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762000" y="238125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能力集中在编辑器内的补全与建议，跨出编辑器就断开。</a:t>
            </a:r>
            <a:endParaRPr/>
          </a:p>
        </p:txBody>
      </p:sp>
      <p:sp>
        <p:nvSpPr>
          <p:cNvPr id="904" name=""/>
          <p:cNvSpPr/>
          <p:nvPr/>
        </p:nvSpPr>
        <p:spPr>
          <a:xfrm rot="0" flipH="0" flipV="0">
            <a:off x="571500" y="2895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762000" y="2809875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跑测试、查日志、改配置要靠人手动完成，工具链割裂。</a:t>
            </a:r>
            <a:endParaRPr/>
          </a:p>
        </p:txBody>
      </p:sp>
      <p:sp>
        <p:nvSpPr>
          <p:cNvPr id="906" name=""/>
          <p:cNvSpPr/>
          <p:nvPr/>
        </p:nvSpPr>
        <p:spPr>
          <a:xfrm rot="0" flipH="0" flipV="0">
            <a:off x="571500" y="33242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907" name="" descr="{&quot;isTemplate&quot;:true,&quot;type&quot;:&quot;text&quot;}"/>
          <p:cNvSpPr txBox="1"/>
          <p:nvPr/>
        </p:nvSpPr>
        <p:spPr>
          <a:xfrm rot="0" flipH="0" flipV="0">
            <a:off x="762000" y="323850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执行权限由个人机器决定，团队难以统一策略与留痕。</a:t>
            </a:r>
            <a:endParaRPr/>
          </a:p>
        </p:txBody>
      </p:sp>
      <p:sp>
        <p:nvSpPr>
          <p:cNvPr id="908" name=""/>
          <p:cNvSpPr/>
          <p:nvPr/>
        </p:nvSpPr>
        <p:spPr>
          <a:xfrm rot="0" flipH="0" flipV="0">
            <a:off x="571500" y="3705225"/>
            <a:ext cx="4762500" cy="819150"/>
          </a:xfrm>
          <a:prstGeom prst="roundRect">
            <a:avLst>
              <a:gd name="adj" fmla="val 11628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704850" y="3838575"/>
            <a:ext cx="44958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结果：个人效率提升明显，但团队无法把它纳入统一的工程规范与审计。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600700" y="1752600"/>
            <a:ext cx="9525" cy="36576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5876925" y="1752600"/>
            <a:ext cx="57340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云顶数字工作台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5876925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913" name=""/>
          <p:cNvSpPr/>
          <p:nvPr/>
        </p:nvSpPr>
        <p:spPr>
          <a:xfrm rot="0" flipH="0" flipV="0">
            <a:off x="5876925" y="2362200"/>
            <a:ext cx="2809875" cy="790575"/>
          </a:xfrm>
          <a:prstGeom prst="roundRect">
            <a:avLst>
              <a:gd name="adj" fmla="val 12048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5991225" y="2476500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ACP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入站</a:t>
            </a:r>
            <a:endParaRPr/>
          </a:p>
        </p:txBody>
      </p:sp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5991225" y="2790825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在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IDE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与终端里直接调用本机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16" name=""/>
          <p:cNvSpPr/>
          <p:nvPr/>
        </p:nvSpPr>
        <p:spPr>
          <a:xfrm rot="0" flipH="0" flipV="0">
            <a:off x="8801100" y="2362200"/>
            <a:ext cx="2809875" cy="790575"/>
          </a:xfrm>
          <a:prstGeom prst="roundRect">
            <a:avLst>
              <a:gd name="adj" fmla="val 12048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917" name="" descr="{&quot;isTemplate&quot;:true,&quot;type&quot;:&quot;text&quot;}"/>
          <p:cNvSpPr txBox="1"/>
          <p:nvPr/>
        </p:nvSpPr>
        <p:spPr>
          <a:xfrm rot="0" flipH="0" flipV="0">
            <a:off x="8915400" y="2476500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ACP </a:t>
            </a:r>
            <a:r>
              <a:rPr lang="zh-CN" sz="1275" b="1">
                <a:solidFill>
                  <a:srgbClr val="2563EB"/>
                </a:solidFill>
                <a:latin typeface="Microsoft YaHei"/>
                <a:ea typeface="Microsoft YaHei"/>
              </a:rPr>
              <a:t>出站</a:t>
            </a:r>
            <a:endParaRPr/>
          </a:p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8915400" y="2790825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复杂任务可委派给外部编程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19" name=""/>
          <p:cNvSpPr/>
          <p:nvPr/>
        </p:nvSpPr>
        <p:spPr>
          <a:xfrm rot="0" flipH="0" flipV="0">
            <a:off x="5876925" y="3267075"/>
            <a:ext cx="2809875" cy="790575"/>
          </a:xfrm>
          <a:prstGeom prst="roundRect">
            <a:avLst>
              <a:gd name="adj" fmla="val 1204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20" name="" descr="{&quot;isTemplate&quot;:true,&quot;type&quot;:&quot;text&quot;}"/>
          <p:cNvSpPr txBox="1"/>
          <p:nvPr/>
        </p:nvSpPr>
        <p:spPr>
          <a:xfrm rot="0" flipH="0" flipV="0">
            <a:off x="5991225" y="33813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命令守卫</a:t>
            </a:r>
            <a:r>
              <a:rPr lang="en-US" sz="1275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审批</a:t>
            </a:r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991225" y="3695700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危险命令执行前被拦截或转审批。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8801100" y="3267075"/>
            <a:ext cx="2809875" cy="790575"/>
          </a:xfrm>
          <a:prstGeom prst="roundRect">
            <a:avLst>
              <a:gd name="adj" fmla="val 1204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915400" y="33813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E293B"/>
                </a:solidFill>
                <a:latin typeface="Microsoft YaHei"/>
                <a:ea typeface="Microsoft YaHei"/>
              </a:rPr>
              <a:t>轨迹留痕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8915400" y="3695700"/>
            <a:ext cx="25812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每次命令与文件改动可回放。</a:t>
            </a:r>
            <a:endParaRPr/>
          </a:p>
        </p:txBody>
      </p:sp>
      <p:sp>
        <p:nvSpPr>
          <p:cNvPr id="925" name=""/>
          <p:cNvSpPr/>
          <p:nvPr/>
        </p:nvSpPr>
        <p:spPr>
          <a:xfrm rot="0" flipH="0" flipV="0">
            <a:off x="5876925" y="4171950"/>
            <a:ext cx="5734050" cy="542925"/>
          </a:xfrm>
          <a:prstGeom prst="roundRect">
            <a:avLst>
              <a:gd name="adj" fmla="val 17544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926" name="" descr="{&quot;isTemplate&quot;:true,&quot;type&quot;:&quot;text&quot;}"/>
          <p:cNvSpPr txBox="1"/>
          <p:nvPr/>
        </p:nvSpPr>
        <p:spPr>
          <a:xfrm rot="0" flipH="0" flipV="0">
            <a:off x="6010275" y="4305300"/>
            <a:ext cx="54673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差别不在写得多快，而在能不能被信任地执行。</a:t>
            </a:r>
            <a:endParaRPr/>
          </a:p>
        </p:txBody>
      </p:sp>
      <p:sp>
        <p:nvSpPr>
          <p:cNvPr id="92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给开发者一个更聪明的输入框，不如给团队一个受管控的执行者——前者提升个人手感，后者改变交付方式。</a:t>
            </a:r>
            <a:endParaRPr/>
          </a:p>
        </p:txBody>
      </p:sp>
    </p:spTree>
  </p:cSld>
</p:sld>
</file>

<file path=ppt/slides/slide36.xml><?xml version="1.0" encoding="utf-8"?>
<p:sld xmlns:p="http://schemas.openxmlformats.org/presentationml/2006/main" xmlns:a="http://schemas.openxmlformats.org/drawingml/2006/main">
  <p:cSld>
    <p:spTree>
      <p:nvGrpSpPr>
        <p:cNvPr id="930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场景三｜自动化运营：重复的事交给定时任务&#13;&#10;        &lt;/Text&gt;&#13;&#10;        &lt;Box style={{ height: 1, background: '#E2E8F0', marginTop: 16 }} /&gt;&#13;&#10;&#13;&#10;        &lt;Box style={{ flex: 1, marginTop: 22 }}&gt;&#13;&#10;            &lt;Box style={{ flexDirection: 'row', gap: 20 }}&gt;&#13;&#10;                &lt;Box style={{ width: 390, background: '#D6E4F9', borderRadius: 12, padding: 16 }}&gt;&#13;&#10;                    &lt;Text style={{ fontSize: 20, fontWeight: '600', color: '#1E293B', lineHeight: 1.3 }}&gt;日报与周报自动出稿&lt;/Text&gt;&#13;&#10;                    &lt;Text style={{ fontSize: 15, color: '#475569', lineHeight: 1.5, marginTop: 9 }}&gt;&#13;&#10;                        按 cron / 间隔 / 指定时间触发，读数据、生成摘要并推送到指定会话或邮箱，无需人工值守。&#13;&#10;                    &lt;/Text&gt;&#13;&#10;                &lt;/Box&gt;&#13;&#10;                &lt;Box style={{ width: 372, background: '#E8EEFB', borderWidth: 1, borderColor: '#C7D6F5', borderStyle: 'solid', borderRadius: 12, padding: 16 }}&gt;&#13;&#10;                    &lt;Text style={{ fontSize: 20, fontWeight: '600', color: '#1E293B', lineHeight: 1.3 }}&gt;数据看板与预警&lt;/Text&gt;&#13;&#10;                    &lt;Text style={{ fontSize: 15, color: '#475569', lineHeight: 1.5, marginTop: 9 }}&gt;&#13;&#10;                        定时拉取业务数据生成图表，指标异常时主动推送提醒，把事后发现变成提前预警。&#13;&#10;                    &lt;/Text&gt;&#13;&#10;                &lt;/Box&gt;&#13;&#10;                &lt;Box style={{ width: 352, background: '#E6F7F9', borderWidth: 1, borderColor: '#B6E3EA', borderStyle: 'solid', borderRadius: 12, padding: 16 }}&gt;&#13;&#10;                    &lt;Text style={{ fontSize: 20, fontWeight: '600', color: '#1E293B', lineHeight: 1.3 }}&gt;网页操作录成技能&lt;/Text&gt;&#13;&#10;                    &lt;Text style={{ fontSize: 15, color: '#475569', lineHeight: 1.5, marginTop: 9 }}&gt;&#13;&#10;                        一次浏览器操作可录制为可复用技能，之后按关键词触发回放，批量后台操作不再重复手工。&#13;&#10;                    &lt;/Text&gt;&#13;&#10;                &lt;/Box&gt;&#13;&#10;            &lt;/Box&gt;&#13;&#10;            &lt;Box style={{ flexDirection: 'row', gap: 20, marginTop: 18 }}&gt;&#13;&#10;                &lt;Box style={{ width: 352, background: '#FFF7E9', borderWidth: 1, borderColor: '#F5D9A4', borderStyle: 'solid', borderRadius: 12, padding: 16 }}&gt;&#13;&#10;                    &lt;Text style={{ fontSize: 20, fontWeight: '600', color: '#1E293B', lineHeight: 1.3 }}&gt;主动关怀推送&lt;/Text&gt;&#13;&#10;                    &lt;Text style={{ fontSize: 15, color: '#92400E', lineHeight: 1.5, marginTop: 9 }}&gt;&#13;&#10;                        读取记忆生成提醒内容并主动推送，适用于续约、回款、保修到期等时间点驱动的场景。&#13;&#10;                    &lt;/Text&gt;&#13;&#10;                &lt;/Box&gt;&#13;&#10;                &lt;Box style={{ width: 372, background: '#F8FAFC', borderWidth: 1, borderColor: '#E2E8F0', borderStyle: 'solid', borderRadius: 12, padding: 16 }}&gt;&#13;&#10;                    &lt;Text style={{ fontSize: 20, fontWeight: '600', color: '#1E293B', lineHeight: 1.3 }}&gt;团队知识沉淀&lt;/Text&gt;&#13;&#10;                    &lt;Text style={{ fontSize: 15, color: '#475569', lineHeight: 1.5, marginTop: 9 }}&gt;&#13;&#10;                        文档入库后统一检索与共享，经验不再散落在个人电脑里，新人提问即可得到带出处的回答。&#13;&#10;                    &lt;/Text&gt;&#13;&#10;                &lt;/Box&gt;&#13;&#10;                &lt;Box style={{ width: 390, background: '#F8FAFC', borderWidth: 1, borderColor: '#E2E8F0', borderStyle: 'solid', borderRadius: 12, padding: 16 }}&gt;&#13;&#10;                    &lt;Text style={{ fontSize: 20, fontWeight: '600', color: '#1E293B', lineHeight: 1.3 }}&gt;远程运维与巡检&lt;/Text&gt;&#13;&#10;                    &lt;Text style={{ fontSize: 15, color: '#475569', lineHeight: 1.5, marginTop: 9 }}&gt;&#13;&#10;                        终端、浏览器与远程桌面组合，完成服务排障、设备巡检与无人值守环境下的异常处理。&#13;&#10;                    &lt;/Text&gt;&#13;&#10;                &lt;/Box&gt;&#13;&#10;            &lt;/Box&gt;&#13;&#10;            &lt;Text style={{ fontSize: 16, color: '#64748B', lineHeight: 1.5, marginTop: 16 }}&gt;&#13;&#10;                以上六类场景共用同一套组件：定时任务触发 → 同一条消息管线 → 同一套工具与审批 → 同一份轨迹留痕。&#13;&#10;            &lt;/Text&gt;&#13;&#10;        &lt;/Box&gt;&#13;&#10;&#13;&#10;        &lt;Box style={{ marginTop: 20, flexDirection: 'row', alignItems: 'center', background: '#F4F6FB', borderRadius: 8, padding: 16, gap: 16 }}&gt;&#13;&#10;            &lt;Box style={{ width: 4, height: 36, borderRadius: 2, background: '#2563EB' }} /&gt;&#13;&#10;            &lt;Text style={{ flex: 1, fontSize: 19, color: '#1E293B', lineHeight: 1.5 }}&gt;&#13;&#10;                自动化的真正收益不是省几次点击，而是让「该做但没人做」的事稳定发生——巡检、提醒、复盘从此不再依赖人的记性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场景三｜自动化运营：重复的事交给定时任务</a:t>
            </a:r>
            <a:endParaRPr/>
          </a:p>
        </p:txBody>
      </p:sp>
      <p:sp>
        <p:nvSpPr>
          <p:cNvPr id="93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36" name=""/>
          <p:cNvSpPr/>
          <p:nvPr/>
        </p:nvSpPr>
        <p:spPr>
          <a:xfrm rot="0" flipH="0" flipV="0">
            <a:off x="571500" y="1752600"/>
            <a:ext cx="3714750" cy="1209675"/>
          </a:xfrm>
          <a:prstGeom prst="roundRect">
            <a:avLst>
              <a:gd name="adj" fmla="val 9449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723900" y="1905000"/>
            <a:ext cx="34099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日报与周报自动出稿</a:t>
            </a:r>
            <a:endParaRPr/>
          </a:p>
        </p:txBody>
      </p:sp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723900" y="2295525"/>
            <a:ext cx="3409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cron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间隔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指定时间触发，读数据、生成摘要并推送到指定会话或邮箱，无需人工值守。</a:t>
            </a:r>
            <a:endParaRPr/>
          </a:p>
        </p:txBody>
      </p:sp>
      <p:sp>
        <p:nvSpPr>
          <p:cNvPr id="939" name=""/>
          <p:cNvSpPr/>
          <p:nvPr/>
        </p:nvSpPr>
        <p:spPr>
          <a:xfrm rot="0" flipH="0" flipV="0">
            <a:off x="4476750" y="1752600"/>
            <a:ext cx="3543300" cy="1209675"/>
          </a:xfrm>
          <a:prstGeom prst="roundRect">
            <a:avLst>
              <a:gd name="adj" fmla="val 944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4629150" y="1905000"/>
            <a:ext cx="32385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数据看板与预警</a:t>
            </a:r>
            <a:endParaRPr/>
          </a:p>
        </p:txBody>
      </p:sp>
      <p:sp>
        <p:nvSpPr>
          <p:cNvPr id="941" name="" descr="{&quot;isTemplate&quot;:true,&quot;type&quot;:&quot;text&quot;}"/>
          <p:cNvSpPr txBox="1"/>
          <p:nvPr/>
        </p:nvSpPr>
        <p:spPr>
          <a:xfrm rot="0" flipH="0" flipV="0">
            <a:off x="4629150" y="2295525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定时拉取业务数据生成图表，指标异常时主动推送提醒，把事后发现变成提前预警。</a:t>
            </a:r>
            <a:endParaRPr/>
          </a:p>
        </p:txBody>
      </p:sp>
      <p:sp>
        <p:nvSpPr>
          <p:cNvPr id="942" name=""/>
          <p:cNvSpPr/>
          <p:nvPr/>
        </p:nvSpPr>
        <p:spPr>
          <a:xfrm rot="0" flipH="0" flipV="0">
            <a:off x="8210550" y="1752600"/>
            <a:ext cx="3352800" cy="1209675"/>
          </a:xfrm>
          <a:prstGeom prst="roundRect">
            <a:avLst>
              <a:gd name="adj" fmla="val 9449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362950" y="1905000"/>
            <a:ext cx="304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网页操作录成技能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8362950" y="2295525"/>
            <a:ext cx="3048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一次浏览器操作可录制为可复用技能，之后按关键词触发回放，批量后台操作不再重复手工。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571500" y="3133725"/>
            <a:ext cx="3352800" cy="1209675"/>
          </a:xfrm>
          <a:prstGeom prst="roundRect">
            <a:avLst>
              <a:gd name="adj" fmla="val 9449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723900" y="3286125"/>
            <a:ext cx="304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主动关怀推送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723900" y="3676650"/>
            <a:ext cx="3048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92400E"/>
                </a:solidFill>
                <a:latin typeface="Microsoft YaHei"/>
                <a:ea typeface="Microsoft YaHei"/>
              </a:rPr>
              <a:t>读取记忆生成提醒内容并主动推送，适用于续约、回款、保修到期等时间点驱动的场景。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4114800" y="3133725"/>
            <a:ext cx="3543300" cy="1209675"/>
          </a:xfrm>
          <a:prstGeom prst="roundRect">
            <a:avLst>
              <a:gd name="adj" fmla="val 944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4267200" y="3286125"/>
            <a:ext cx="32385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团队知识沉淀</a:t>
            </a:r>
            <a:endParaRPr/>
          </a:p>
        </p:txBody>
      </p:sp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4267200" y="3676650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文档入库后统一检索与共享，经验不再散落在个人电脑里，新人提问即可得到带出处的回答。</a:t>
            </a:r>
            <a:endParaRPr/>
          </a:p>
        </p:txBody>
      </p:sp>
      <p:sp>
        <p:nvSpPr>
          <p:cNvPr id="951" name=""/>
          <p:cNvSpPr/>
          <p:nvPr/>
        </p:nvSpPr>
        <p:spPr>
          <a:xfrm rot="0" flipH="0" flipV="0">
            <a:off x="7848600" y="3133725"/>
            <a:ext cx="3714750" cy="1209675"/>
          </a:xfrm>
          <a:prstGeom prst="roundRect">
            <a:avLst>
              <a:gd name="adj" fmla="val 944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8001000" y="3286125"/>
            <a:ext cx="34099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远程运维与巡检</a:t>
            </a:r>
            <a:endParaRPr/>
          </a:p>
        </p:txBody>
      </p:sp>
      <p:sp>
        <p:nvSpPr>
          <p:cNvPr id="953" name="" descr="{&quot;isTemplate&quot;:true,&quot;type&quot;:&quot;text&quot;}"/>
          <p:cNvSpPr txBox="1"/>
          <p:nvPr/>
        </p:nvSpPr>
        <p:spPr>
          <a:xfrm rot="0" flipH="0" flipV="0">
            <a:off x="8001000" y="3676650"/>
            <a:ext cx="3409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终端、浏览器与远程桌面组合，完成服务排障、设备巡检与无人值守环境下的异常处理。</a:t>
            </a:r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571500" y="4495800"/>
            <a:ext cx="11049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以上六类场景共用同一套组件：定时任务触发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同一条消息管线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同一套工具与审批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同一份轨迹留痕。</a:t>
            </a:r>
            <a:endParaRPr/>
          </a:p>
        </p:txBody>
      </p:sp>
      <p:sp>
        <p:nvSpPr>
          <p:cNvPr id="955" name=""/>
          <p:cNvSpPr/>
          <p:nvPr/>
        </p:nvSpPr>
        <p:spPr>
          <a:xfrm rot="0" flipH="0" flipV="0">
            <a:off x="571500" y="5638800"/>
            <a:ext cx="11049000" cy="647700"/>
          </a:xfrm>
          <a:prstGeom prst="roundRect">
            <a:avLst>
              <a:gd name="adj" fmla="val 11765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956" name=""/>
          <p:cNvSpPr/>
          <p:nvPr/>
        </p:nvSpPr>
        <p:spPr>
          <a:xfrm rot="0" flipH="0" flipV="0">
            <a:off x="723900" y="5791200"/>
            <a:ext cx="38100" cy="3429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914400" y="580072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自动化的真正收益不是省几次点击，而是让「该做但没人做」的事稳定发生——巡检、提醒、复盘从此不再依赖人的记性。</a:t>
            </a:r>
            <a:endParaRPr/>
          </a:p>
        </p:txBody>
      </p:sp>
    </p:spTree>
  </p:cSld>
</p:sld>
</file>

<file path=ppt/slides/slide37.xml><?xml version="1.0" encoding="utf-8"?>
<p:sld xmlns:p="http://schemas.openxmlformats.org/presentationml/2006/main" xmlns:a="http://schemas.openxmlformats.org/drawingml/2006/main">
  <p:cSld>
    <p:spTree>
      <p:nvGrpSpPr>
        <p:cNvPr id="95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选择一套平台，本质是选择它能被维护多久&#13;&#10;        &lt;/Text&gt;&#13;&#10;        &lt;Box style={{ height: 1, background: '#E2E8F0', marginTop: 16 }} /&gt;&#13;&#10;&#13;&#10;        &lt;Box style={{ flex: 1, marginTop: 24, flexDirection: 'row', gap: 24 }}&gt;&#13;&#10;            &lt;Box style={{ width: 460, background: '#D6E4F9', borderRadius: 12, padding: 20 }}&gt;&#13;&#10;                &lt;Text style={{ fontSize: 15, color: '#475569', lineHeight: 1.4 }}&gt;自研代码总量&lt;/Text&gt;&#13;&#10;                &lt;Text style={{ fontSize: 92, fontWeight: 'bold', color: '#1E293B', lineHeight: 1.05 }}&gt;341,291&lt;/Text&gt;&#13;&#10;                &lt;Text style={{ fontSize: 17, color: '#475569', lineHeight: 1.5, marginTop: 8 }}&gt;&#13;&#10;                    行 Python 代码：主包 162,502 行，运行时 75,936 行，记忆引擎 59,110 行，网关 29,092 行，浏览器 14,651 行。&#13;&#10;                &lt;/Text&gt;&#13;&#10;                &lt;Box style={{ height: 1, background: '#93C5FD', marginTop: 18 }} /&gt;&#13;&#10;                &lt;Text style={{ fontSize: 16, color: '#475569', lineHeight: 1.5, marginTop: 14 }}&gt;&#13;&#10;                    这个体量意味着功能不是贴上去的壳：每一层都有独立演进的历史与测试覆盖。&#13;&#10;                &lt;/Text&gt;&#13;&#10;            &lt;/Box&gt;&#13;&#10;            &lt;Box style={{ width: 320, background: '#E8EEFB', borderWidth: 1, borderColor: '#C7D6F5', borderStyle: 'solid', borderRadius: 12, padding: 20 }}&gt;&#13;&#10;                &lt;Text style={{ fontSize: 15, color: '#64748B', lineHeight: 1.4 }}&gt;质量门槛&lt;/Text&gt;&#13;&#10;                &lt;Text style={{ fontSize: 92, fontWeight: 'bold', color: '#2563EB', lineHeight: 1.05 }}&gt;797&lt;/Text&gt;&#13;&#10;                &lt;Text style={{ fontSize: 17, color: '#475569', lineHeight: 1.5, marginTop: 8 }}&gt;&#13;&#10;                    个测试文件，覆盖后端、运行时、网关、浏览器与记忆引擎。&#13;&#10;                &lt;/Text&gt;&#13;&#10;                &lt;Box style={{ height: 1, background: '#C7D6F5', marginTop: 18 }} /&gt;&#13;&#10;                &lt;Text style={{ fontSize: 16, color: '#475569', lineHeight: 1.5, marginTop: 14 }}&gt;&#13;&#10;                    格式、静态检查、类型检查与测试构成提交前的统一门槛。&#13;&#10;                &lt;/Text&gt;&#13;&#10;            &lt;/Box&gt;&#13;&#10;            &lt;Box style={{ width: 332, background: '#E6F7F9', borderWidth: 1, borderColor: '#B6E3EA', borderStyle: 'solid', borderRadius: 12, padding: 20 }}&gt;&#13;&#10;                &lt;Text style={{ fontSize: 15, color: '#64748B', lineHeight: 1.4 }}&gt;许可与上游&lt;/Text&gt;&#13;&#10;                &lt;Text style={{ fontSize: 72, fontWeight: 'bold', color: '#0891B2', lineHeight: 1.05 }}&gt;MIT&lt;/Text&gt;&#13;&#10;                &lt;Text style={{ fontSize: 17, color: '#475569', lineHeight: 1.5, marginTop: 8 }}&gt;&#13;&#10;                    开源许可，无传染性约束；基于 Octop 生态，承诺与上游子组件版本同步。&#13;&#10;                &lt;/Text&gt;&#13;&#10;                &lt;Box style={{ height: 1, background: '#B6E3EA', marginTop: 18 }} /&gt;&#13;&#10;                &lt;Text style={{ fontSize: 16, color: '#475569', lineHeight: 1.5, marginTop: 14 }}&gt;&#13;&#10;                    企业可自行审计、二次开发与私有化分发，不受授权条款掣肘。&#13;&#10;                &lt;/Text&gt;&#13;&#10;            &lt;/Box&gt;&#13;&#10;        &lt;/Box&gt;&#13;&#10;&#13;&#10;        &lt;Box style={{ marginTop: 20, flexDirection: 'row', alignItems: 'center', background: '#F4F6FB', borderRadius: 8, padding: 14, gap: 16 }}&gt;&#13;&#10;            &lt;Box style={{ width: 4, height: 44, borderRadius: 2, background: '#2563EB' }} /&gt;&#13;&#10;            &lt;Text style={{ flex: 1, fontSize: 18, color: '#1E293B', lineHeight: 1.5 }}&gt;&#13;&#10;                可审计的代码体量、可核验的测试密度、明确的开源协议——这三项决定了这套平台三年后还能不能继续演进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96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选择一套平台，本质是选择它能被维护多久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64" name=""/>
          <p:cNvSpPr/>
          <p:nvPr/>
        </p:nvSpPr>
        <p:spPr>
          <a:xfrm rot="0" flipH="0" flipV="0">
            <a:off x="571500" y="1771650"/>
            <a:ext cx="4381500" cy="3638550"/>
          </a:xfrm>
          <a:prstGeom prst="roundRect">
            <a:avLst>
              <a:gd name="adj" fmla="val 3141"/>
            </a:avLst>
          </a:prstGeom>
          <a:solidFill>
            <a:srgbClr val="D6E4F9"/>
          </a:solidFill>
          <a:ln/>
        </p:spPr>
        <p:txBody>
          <a:bodyPr/>
          <a:p/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762000" y="1962150"/>
            <a:ext cx="40005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自研代码总量</a:t>
            </a:r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762000" y="2209800"/>
            <a:ext cx="4000500" cy="1104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6900" b="1">
                <a:solidFill>
                  <a:srgbClr val="1E293B"/>
                </a:solidFill>
                <a:latin typeface="Microsoft YaHei"/>
                <a:ea typeface="Microsoft YaHei"/>
              </a:rPr>
              <a:t>341,291</a:t>
            </a:r>
            <a:endParaRPr/>
          </a:p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762000" y="3390900"/>
            <a:ext cx="40005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代码：主包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162,502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行，运行时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75,936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行，记忆引擎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59,110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行，网关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29,092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行，浏览器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14,651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行。</a:t>
            </a:r>
            <a:endParaRPr/>
          </a:p>
        </p:txBody>
      </p:sp>
      <p:sp>
        <p:nvSpPr>
          <p:cNvPr id="968" name=""/>
          <p:cNvSpPr/>
          <p:nvPr/>
        </p:nvSpPr>
        <p:spPr>
          <a:xfrm rot="0" flipH="0" flipV="0">
            <a:off x="762000" y="4438650"/>
            <a:ext cx="4000500" cy="9525"/>
          </a:xfrm>
          <a:prstGeom prst="rect">
            <a:avLst/>
          </a:prstGeom>
          <a:solidFill>
            <a:srgbClr val="93C5FD"/>
          </a:solidFill>
          <a:ln/>
        </p:spPr>
        <p:txBody>
          <a:bodyPr/>
          <a:p/>
        </p:txBody>
      </p:sp>
      <p:sp>
        <p:nvSpPr>
          <p:cNvPr id="969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4000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这个体量意味着功能不是贴上去的壳：每一层都有独立演进的历史与测试覆盖。</a:t>
            </a:r>
            <a:endParaRPr/>
          </a:p>
        </p:txBody>
      </p:sp>
      <p:sp>
        <p:nvSpPr>
          <p:cNvPr id="970" name=""/>
          <p:cNvSpPr/>
          <p:nvPr/>
        </p:nvSpPr>
        <p:spPr>
          <a:xfrm rot="0" flipH="0" flipV="0">
            <a:off x="5181600" y="1771650"/>
            <a:ext cx="3048000" cy="3638550"/>
          </a:xfrm>
          <a:prstGeom prst="roundRect">
            <a:avLst>
              <a:gd name="adj" fmla="val 375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971" name="" descr="{&quot;isTemplate&quot;:true,&quot;type&quot;:&quot;text&quot;}"/>
          <p:cNvSpPr txBox="1"/>
          <p:nvPr/>
        </p:nvSpPr>
        <p:spPr>
          <a:xfrm rot="0" flipH="0" flipV="0">
            <a:off x="5372100" y="1962150"/>
            <a:ext cx="2667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质量门槛</a:t>
            </a:r>
            <a:endParaRPr/>
          </a:p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5372100" y="2209800"/>
            <a:ext cx="2667000" cy="1104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6900" b="1">
                <a:solidFill>
                  <a:srgbClr val="2563EB"/>
                </a:solidFill>
                <a:latin typeface="Microsoft YaHei"/>
                <a:ea typeface="Microsoft YaHei"/>
              </a:rPr>
              <a:t>797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5372100" y="3390900"/>
            <a:ext cx="2667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个测试文件，覆盖后端、运行时、网关、浏览器与记忆引擎。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5372100" y="4152900"/>
            <a:ext cx="266700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5372100" y="4295775"/>
            <a:ext cx="2667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格式、静态检查、类型检查与测试构成提交前的统一门槛。</a:t>
            </a:r>
            <a:endParaRPr/>
          </a:p>
        </p:txBody>
      </p:sp>
      <p:sp>
        <p:nvSpPr>
          <p:cNvPr id="976" name=""/>
          <p:cNvSpPr/>
          <p:nvPr/>
        </p:nvSpPr>
        <p:spPr>
          <a:xfrm rot="0" flipH="0" flipV="0">
            <a:off x="8458200" y="1771650"/>
            <a:ext cx="3162300" cy="3638550"/>
          </a:xfrm>
          <a:prstGeom prst="roundRect">
            <a:avLst>
              <a:gd name="adj" fmla="val 3614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977" name="" descr="{&quot;isTemplate&quot;:true,&quot;type&quot;:&quot;text&quot;}"/>
          <p:cNvSpPr txBox="1"/>
          <p:nvPr/>
        </p:nvSpPr>
        <p:spPr>
          <a:xfrm rot="0" flipH="0" flipV="0">
            <a:off x="8648700" y="1962150"/>
            <a:ext cx="27813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许可与上游</a:t>
            </a:r>
            <a:endParaRPr/>
          </a:p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8648700" y="2209800"/>
            <a:ext cx="2781300" cy="8667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5400" b="1">
                <a:solidFill>
                  <a:srgbClr val="0891B2"/>
                </a:solidFill>
                <a:latin typeface="Microsoft YaHei"/>
                <a:ea typeface="Microsoft YaHei"/>
              </a:rPr>
              <a:t>MIT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8648700" y="3152775"/>
            <a:ext cx="2781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开源许可，无传染性约束；基于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Octop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生态，承诺与上游子组件版本同步。</a:t>
            </a:r>
            <a:endParaRPr/>
          </a:p>
        </p:txBody>
      </p:sp>
      <p:sp>
        <p:nvSpPr>
          <p:cNvPr id="980" name=""/>
          <p:cNvSpPr/>
          <p:nvPr/>
        </p:nvSpPr>
        <p:spPr>
          <a:xfrm rot="0" flipH="0" flipV="0">
            <a:off x="8648700" y="4200525"/>
            <a:ext cx="2781300" cy="9525"/>
          </a:xfrm>
          <a:prstGeom prst="rect">
            <a:avLst/>
          </a:prstGeom>
          <a:solidFill>
            <a:srgbClr val="B6E3EA"/>
          </a:solidFill>
          <a:ln/>
        </p:spPr>
        <p:txBody>
          <a:bodyPr/>
          <a:p/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8648700" y="4343400"/>
            <a:ext cx="2781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企业可自行审计、二次开发与私有化分发，不受授权条款掣肘。</a:t>
            </a:r>
            <a:endParaRPr/>
          </a:p>
        </p:txBody>
      </p:sp>
      <p:sp>
        <p:nvSpPr>
          <p:cNvPr id="982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983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84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1E293B"/>
                </a:solidFill>
                <a:latin typeface="Microsoft YaHei"/>
                <a:ea typeface="Microsoft YaHei"/>
              </a:rPr>
              <a:t>可审计的代码体量、可核验的测试密度、明确的开源协议——这三项决定了这套平台三年后还能不能继续演进。</a:t>
            </a:r>
            <a:endParaRPr/>
          </a:p>
        </p:txBody>
      </p:sp>
    </p:spTree>
  </p:cSld>
</p:sld>
</file>

<file path=ppt/slides/slide38.xml><?xml version="1.0" encoding="utf-8"?>
<p:sld xmlns:p="http://schemas.openxmlformats.org/presentationml/2006/main" xmlns:a="http://schemas.openxmlformats.org/drawingml/2006/main">
  <p:cSld>
    <p:spTree>
      <p:nvGrpSpPr>
        <p:cNvPr id="985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路线图：已经做到的、正在做的、打算做的&#13;&#10;        &lt;/Text&gt;&#13;&#10;        &lt;Box style={{ height: 1, background: '#E2E8F0', marginTop: 16 }} /&gt;&#13;&#10;&#13;&#10;        &lt;Box style={{ flex: 1, marginTop: 22 }}&gt;&#13;&#10;            &lt;Box style={{ flexDirection: 'row', alignItems: 'center' }}&gt;&#13;&#10;                &lt;Box style={{ width: 150, background: '#E8EEFB', borderWidth: 1, borderColor: '#C7D6F5', borderStyle: 'solid', borderRadius: 8, padding: 12, alignItems: 'center', justifyContent: 'center' }}&gt;&#13;&#10;                    &lt;Text style={{ fontSize: 18, fontWeight: '600', color: '#2563EB', lineHeight: 1.3 }}&gt;已完成&lt;/Text&gt;&#13;&#10;                    &lt;Text style={{ fontSize: 14, color: '#64748B', lineHeight: 1.3, marginTop: 4 }}&gt;已可交付&lt;/Text&gt;&#13;&#10;                &lt;/Box&gt;&#13;&#10;                &lt;Box style={{ flex: 1, flexDirection: 'row', gap: 10, marginLeft: 16 }}&gt;&#13;&#10;                    &lt;Box style={{ flex: 1, background: '#F8FAFC', borderWidth: 1, borderColor: '#E2E8F0', borderStyle: 'solid', borderRadius: 8, padding: 11, alignItems: 'center' }}&gt;&#13;&#10;                        &lt;Text style={{ fontSize: 16, fontWeight: '600', color: '#1E293B', lineHeight: 1.3 }}&gt;资源共享池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fontWeight: '600', color: '#1E293B', lineHeight: 1.3 }}&gt;专家共享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fontWeight: '600', color: '#1E293B', lineHeight: 1.3 }}&gt;桌面客户端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fontWeight: '600', color: '#1E293B', lineHeight: 1.3 }}&gt;IM 通道集成&lt;/Text&gt;&#13;&#10;                    &lt;/Box&gt;&#13;&#10;                &lt;/Box&gt;&#13;&#10;            &lt;/Box&gt;&#13;&#10;&#13;&#10;            &lt;Box style={{ flexDirection: 'row', alignItems: 'center', marginTop: 14 }}&gt;&#13;&#10;                &lt;Box style={{ width: 150, background: '#FFF7E9', borderWidth: 1, borderColor: '#F5D9A4', borderStyle: 'solid', borderRadius: 8, padding: 12, alignItems: 'center', justifyContent: 'center' }}&gt;&#13;&#10;                    &lt;Text style={{ fontSize: 18, fontWeight: '600', color: '#B45309', lineHeight: 1.3 }}&gt;进行中&lt;/Text&gt;&#13;&#10;                    &lt;Text style={{ fontSize: 14, color: '#92400E', lineHeight: 1.3, marginTop: 4 }}&gt;可用但仍在打磨&lt;/Text&gt;&#13;&#10;                &lt;/Box&gt;&#13;&#10;                &lt;Box style={{ flex: 1, flexDirection: 'row', gap: 10, marginLeft: 16 }}&gt;&#13;&#10;                    &lt;Box style={{ flex: 1, background: '#FFFDF6', borderWidth: 1, borderColor: '#F5D9A4', borderStyle: 'solid', borderRadius: 8, padding: 11, alignItems: 'center' }}&gt;&#13;&#10;                        &lt;Text style={{ fontSize: 16, fontWeight: '600', color: '#1E293B', lineHeight: 1.3 }}&gt;AgentTeams（Beta）&lt;/Text&gt;&#13;&#10;                    &lt;/Box&gt;&#13;&#10;                    &lt;Box style={{ flex: 1, background: '#FFFDF6', borderWidth: 1, borderColor: '#F5D9A4', borderStyle: 'solid', borderRadius: 8, padding: 11, alignItems: 'center' }}&gt;&#13;&#10;                        &lt;Text style={{ fontSize: 16, fontWeight: '600', color: '#1E293B', lineHeight: 1.3 }}&gt;移动端客户端（内测）&lt;/Text&gt;&#13;&#10;                    &lt;/Box&gt;&#13;&#10;                &lt;/Box&gt;&#13;&#10;            &lt;/Box&gt;&#13;&#10;&#13;&#10;            &lt;Box style={{ flexDirection: 'row', alignItems: 'center', marginTop: 14 }}&gt;&#13;&#10;                &lt;Box style={{ width: 150, background: '#F1F5F9', borderWidth: 1, borderColor: '#CBD5E1', borderStyle: 'solid', borderRadius: 8, padding: 12, alignItems: 'center', justifyContent: 'center' }}&gt;&#13;&#10;                    &lt;Text style={{ fontSize: 18, fontWeight: '600', color: '#475569', lineHeight: 1.3 }}&gt;规划中&lt;/Text&gt;&#13;&#10;                    &lt;Text style={{ fontSize: 14, color: '#64748B', lineHeight: 1.3, marginTop: 4 }}&gt;方向明确，未承诺时间&lt;/Text&gt;&#13;&#10;                &lt;/Box&gt;&#13;&#10;                &lt;Box style={{ flex: 1, flexDirection: 'row', gap: 10, marginLeft: 16 }}&gt;&#13;&#10;                    &lt;Box style={{ flex: 1, background: '#F8FAFC', borderWidth: 1, borderColor: '#E2E8F0', borderStyle: 'solid', borderRadius: 8, padding: 11, alignItems: 'center' }}&gt;&#13;&#10;                        &lt;Text style={{ fontSize: 16, color: '#475569', lineHeight: 1.3 }}&gt;自进化能力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color: '#475569', lineHeight: 1.3 }}&gt;企业知识大脑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color: '#475569', lineHeight: 1.3 }}&gt;插件市场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color: '#475569', lineHeight: 1.3 }}&gt;对话式控制面&lt;/Text&gt;&#13;&#10;                    &lt;/Box&gt;&#13;&#10;                    &lt;Box style={{ flex: 1, background: '#F8FAFC', borderWidth: 1, borderColor: '#E2E8F0', borderStyle: 'solid', borderRadius: 8, padding: 11, alignItems: 'center' }}&gt;&#13;&#10;                        &lt;Text style={{ fontSize: 16, color: '#475569', lineHeight: 1.3 }}&gt;云边端一体&lt;/Text&gt;&#13;&#10;                    &lt;/Box&gt;&#13;&#10;                &lt;/Box&gt;&#13;&#10;            &lt;/Box&gt;&#13;&#10;&#13;&#10;            &lt;Text style={{ fontSize: 16, color: '#64748B', lineHeight: 1.5, marginTop: 18 }}&gt;&#13;&#10;                规划项只说明方向，不承诺交付时间；评估时请以「已完成」与「进行中」的实测能力为准。&#13;&#10;            &lt;/Text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成熟度的判断依据不是路线图有多长，而是「已完成」那一栏能当场演示多少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98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98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路线图：已经做到的、正在做的、打算做的</a:t>
            </a:r>
            <a:endParaRPr/>
          </a:p>
        </p:txBody>
      </p:sp>
      <p:sp>
        <p:nvSpPr>
          <p:cNvPr id="99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991" name=""/>
          <p:cNvSpPr/>
          <p:nvPr/>
        </p:nvSpPr>
        <p:spPr>
          <a:xfrm rot="0" flipH="0" flipV="0">
            <a:off x="571500" y="1752600"/>
            <a:ext cx="1428750" cy="752475"/>
          </a:xfrm>
          <a:prstGeom prst="roundRect">
            <a:avLst>
              <a:gd name="adj" fmla="val 101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1028700" y="186690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2563EB"/>
                </a:solidFill>
                <a:latin typeface="Microsoft YaHei"/>
                <a:ea typeface="Microsoft YaHei"/>
              </a:rPr>
              <a:t>已完成</a:t>
            </a:r>
            <a:endParaRPr/>
          </a:p>
        </p:txBody>
      </p:sp>
      <p:sp>
        <p:nvSpPr>
          <p:cNvPr id="993" name="" descr="{&quot;isTemplate&quot;:true,&quot;type&quot;:&quot;text&quot;}"/>
          <p:cNvSpPr txBox="1"/>
          <p:nvPr/>
        </p:nvSpPr>
        <p:spPr>
          <a:xfrm rot="0" flipH="0" flipV="0">
            <a:off x="1019175" y="2181225"/>
            <a:ext cx="5334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已可交付</a:t>
            </a:r>
            <a:endParaRPr/>
          </a:p>
        </p:txBody>
      </p:sp>
      <p:sp>
        <p:nvSpPr>
          <p:cNvPr id="994" name=""/>
          <p:cNvSpPr/>
          <p:nvPr/>
        </p:nvSpPr>
        <p:spPr>
          <a:xfrm rot="0" flipH="0" flipV="0">
            <a:off x="2152650" y="1905000"/>
            <a:ext cx="229552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2924175" y="2009775"/>
            <a:ext cx="762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资源共享池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4543425" y="1905000"/>
            <a:ext cx="229552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97" name="" descr="{&quot;isTemplate&quot;:true,&quot;type&quot;:&quot;text&quot;}"/>
          <p:cNvSpPr txBox="1"/>
          <p:nvPr/>
        </p:nvSpPr>
        <p:spPr>
          <a:xfrm rot="0" flipH="0" flipV="0">
            <a:off x="5391150" y="2009775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专家共享</a:t>
            </a:r>
            <a:endParaRPr/>
          </a:p>
        </p:txBody>
      </p:sp>
      <p:sp>
        <p:nvSpPr>
          <p:cNvPr id="998" name=""/>
          <p:cNvSpPr/>
          <p:nvPr/>
        </p:nvSpPr>
        <p:spPr>
          <a:xfrm rot="0" flipH="0" flipV="0">
            <a:off x="6934200" y="1905000"/>
            <a:ext cx="229552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7705725" y="2009775"/>
            <a:ext cx="762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桌面客户端</a:t>
            </a:r>
            <a:endParaRPr/>
          </a:p>
        </p:txBody>
      </p:sp>
      <p:sp>
        <p:nvSpPr>
          <p:cNvPr id="1000" name=""/>
          <p:cNvSpPr/>
          <p:nvPr/>
        </p:nvSpPr>
        <p:spPr>
          <a:xfrm rot="0" flipH="0" flipV="0">
            <a:off x="9324975" y="1905000"/>
            <a:ext cx="229552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01" name="" descr="{&quot;isTemplate&quot;:true,&quot;type&quot;:&quot;text&quot;}"/>
          <p:cNvSpPr txBox="1"/>
          <p:nvPr/>
        </p:nvSpPr>
        <p:spPr>
          <a:xfrm rot="0" flipH="0" flipV="0">
            <a:off x="10039350" y="2009775"/>
            <a:ext cx="8667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通道集成</a:t>
            </a:r>
            <a:endParaRPr/>
          </a:p>
        </p:txBody>
      </p:sp>
      <p:sp>
        <p:nvSpPr>
          <p:cNvPr id="1002" name=""/>
          <p:cNvSpPr/>
          <p:nvPr/>
        </p:nvSpPr>
        <p:spPr>
          <a:xfrm rot="0" flipH="0" flipV="0">
            <a:off x="571500" y="2638425"/>
            <a:ext cx="1428750" cy="752475"/>
          </a:xfrm>
          <a:prstGeom prst="roundRect">
            <a:avLst>
              <a:gd name="adj" fmla="val 10127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003" name="" descr="{&quot;isTemplate&quot;:true,&quot;type&quot;:&quot;text&quot;}"/>
          <p:cNvSpPr txBox="1"/>
          <p:nvPr/>
        </p:nvSpPr>
        <p:spPr>
          <a:xfrm rot="0" flipH="0" flipV="0">
            <a:off x="1028700" y="2752725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B45309"/>
                </a:solidFill>
                <a:latin typeface="Microsoft YaHei"/>
                <a:ea typeface="Microsoft YaHei"/>
              </a:rPr>
              <a:t>进行中</a:t>
            </a:r>
            <a:endParaRPr/>
          </a:p>
        </p:txBody>
      </p:sp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819150" y="3067050"/>
            <a:ext cx="9334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可用但仍在打磨</a:t>
            </a:r>
            <a:endParaRPr/>
          </a:p>
        </p:txBody>
      </p:sp>
      <p:sp>
        <p:nvSpPr>
          <p:cNvPr id="1005" name=""/>
          <p:cNvSpPr/>
          <p:nvPr/>
        </p:nvSpPr>
        <p:spPr>
          <a:xfrm rot="0" flipH="0" flipV="0">
            <a:off x="2152650" y="2790825"/>
            <a:ext cx="4686300" cy="447675"/>
          </a:xfrm>
          <a:prstGeom prst="roundRect">
            <a:avLst>
              <a:gd name="adj" fmla="val 17021"/>
            </a:avLst>
          </a:prstGeom>
          <a:solidFill>
            <a:srgbClr val="FFFDF6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006" name="" descr="{&quot;isTemplate&quot;:true,&quot;type&quot;:&quot;text&quot;}"/>
          <p:cNvSpPr txBox="1"/>
          <p:nvPr/>
        </p:nvSpPr>
        <p:spPr>
          <a:xfrm rot="0" flipH="0" flipV="0">
            <a:off x="3695700" y="2895600"/>
            <a:ext cx="16002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>AgentTeams</a:t>
            </a: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（</a:t>
            </a:r>
            <a:r>
              <a:rPr lang="en-US" sz="1200" b="1">
                <a:solidFill>
                  <a:srgbClr val="1E293B"/>
                </a:solidFill>
                <a:latin typeface="Microsoft YaHei"/>
                <a:ea typeface="Microsoft YaHei"/>
              </a:rPr>
              <a:t>Beta</a:t>
            </a: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07" name=""/>
          <p:cNvSpPr/>
          <p:nvPr/>
        </p:nvSpPr>
        <p:spPr>
          <a:xfrm rot="0" flipH="0" flipV="0">
            <a:off x="6934200" y="2790825"/>
            <a:ext cx="4686300" cy="447675"/>
          </a:xfrm>
          <a:prstGeom prst="roundRect">
            <a:avLst>
              <a:gd name="adj" fmla="val 17021"/>
            </a:avLst>
          </a:prstGeom>
          <a:solidFill>
            <a:srgbClr val="FFFDF6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1008" name="" descr="{&quot;isTemplate&quot;:true,&quot;type&quot;:&quot;text&quot;}"/>
          <p:cNvSpPr txBox="1"/>
          <p:nvPr/>
        </p:nvSpPr>
        <p:spPr>
          <a:xfrm rot="0" flipH="0" flipV="0">
            <a:off x="8515350" y="2895600"/>
            <a:ext cx="1524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E293B"/>
                </a:solidFill>
                <a:latin typeface="Microsoft YaHei"/>
                <a:ea typeface="Microsoft YaHei"/>
              </a:rPr>
              <a:t>移动端客户端（内测）</a:t>
            </a:r>
            <a:endParaRPr/>
          </a:p>
        </p:txBody>
      </p:sp>
      <p:sp>
        <p:nvSpPr>
          <p:cNvPr id="1009" name=""/>
          <p:cNvSpPr/>
          <p:nvPr/>
        </p:nvSpPr>
        <p:spPr>
          <a:xfrm rot="0" flipH="0" flipV="0">
            <a:off x="571500" y="3524250"/>
            <a:ext cx="1428750" cy="962025"/>
          </a:xfrm>
          <a:prstGeom prst="roundRect">
            <a:avLst>
              <a:gd name="adj" fmla="val 792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1028700" y="363855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475569"/>
                </a:solidFill>
                <a:latin typeface="Microsoft YaHei"/>
                <a:ea typeface="Microsoft YaHei"/>
              </a:rPr>
              <a:t>规划中</a:t>
            </a:r>
            <a:endParaRPr/>
          </a:p>
        </p:txBody>
      </p:sp>
      <p:sp>
        <p:nvSpPr>
          <p:cNvPr id="1011" name="" descr="{&quot;isTemplate&quot;:true,&quot;type&quot;:&quot;text&quot;}"/>
          <p:cNvSpPr txBox="1"/>
          <p:nvPr/>
        </p:nvSpPr>
        <p:spPr>
          <a:xfrm rot="0" flipH="0" flipV="0">
            <a:off x="685800" y="3952875"/>
            <a:ext cx="120015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方向明确，未承诺时间</a:t>
            </a:r>
            <a:endParaRPr/>
          </a:p>
        </p:txBody>
      </p:sp>
      <p:sp>
        <p:nvSpPr>
          <p:cNvPr id="1012" name=""/>
          <p:cNvSpPr/>
          <p:nvPr/>
        </p:nvSpPr>
        <p:spPr>
          <a:xfrm rot="0" flipH="0" flipV="0">
            <a:off x="2152650" y="3781425"/>
            <a:ext cx="181927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3" name="" descr="{&quot;isTemplate&quot;:true,&quot;type&quot;:&quot;text&quot;}"/>
          <p:cNvSpPr txBox="1"/>
          <p:nvPr/>
        </p:nvSpPr>
        <p:spPr>
          <a:xfrm rot="0" flipH="0" flipV="0">
            <a:off x="2686050" y="3886200"/>
            <a:ext cx="762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自进化能力</a:t>
            </a:r>
            <a:endParaRPr/>
          </a:p>
        </p:txBody>
      </p:sp>
      <p:sp>
        <p:nvSpPr>
          <p:cNvPr id="1014" name=""/>
          <p:cNvSpPr/>
          <p:nvPr/>
        </p:nvSpPr>
        <p:spPr>
          <a:xfrm rot="0" flipH="0" flipV="0">
            <a:off x="4067175" y="3781425"/>
            <a:ext cx="181927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4524375" y="3886200"/>
            <a:ext cx="914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企业知识大脑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5981700" y="3781425"/>
            <a:ext cx="1809750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7" name="" descr="{&quot;isTemplate&quot;:true,&quot;type&quot;:&quot;text&quot;}"/>
          <p:cNvSpPr txBox="1"/>
          <p:nvPr/>
        </p:nvSpPr>
        <p:spPr>
          <a:xfrm rot="0" flipH="0" flipV="0">
            <a:off x="6581775" y="3886200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插件市场</a:t>
            </a:r>
            <a:endParaRPr/>
          </a:p>
        </p:txBody>
      </p:sp>
      <p:sp>
        <p:nvSpPr>
          <p:cNvPr id="1018" name=""/>
          <p:cNvSpPr/>
          <p:nvPr/>
        </p:nvSpPr>
        <p:spPr>
          <a:xfrm rot="0" flipH="0" flipV="0">
            <a:off x="7886700" y="3781425"/>
            <a:ext cx="181927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8343900" y="3886200"/>
            <a:ext cx="914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对话式控制面</a:t>
            </a:r>
            <a:endParaRPr/>
          </a:p>
        </p:txBody>
      </p:sp>
      <p:sp>
        <p:nvSpPr>
          <p:cNvPr id="1020" name=""/>
          <p:cNvSpPr/>
          <p:nvPr/>
        </p:nvSpPr>
        <p:spPr>
          <a:xfrm rot="0" flipH="0" flipV="0">
            <a:off x="9801225" y="3781425"/>
            <a:ext cx="1819275" cy="447675"/>
          </a:xfrm>
          <a:prstGeom prst="roundRect">
            <a:avLst>
              <a:gd name="adj" fmla="val 1702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21" name="" descr="{&quot;isTemplate&quot;:true,&quot;type&quot;:&quot;text&quot;}"/>
          <p:cNvSpPr txBox="1"/>
          <p:nvPr/>
        </p:nvSpPr>
        <p:spPr>
          <a:xfrm rot="0" flipH="0" flipV="0">
            <a:off x="10334625" y="3886200"/>
            <a:ext cx="762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云边端一体</a:t>
            </a:r>
            <a:endParaRPr/>
          </a:p>
        </p:txBody>
      </p:sp>
      <p:sp>
        <p:nvSpPr>
          <p:cNvPr id="1022" name="" descr="{&quot;isTemplate&quot;:true,&quot;type&quot;:&quot;text&quot;}"/>
          <p:cNvSpPr txBox="1"/>
          <p:nvPr/>
        </p:nvSpPr>
        <p:spPr>
          <a:xfrm rot="0" flipH="0" flipV="0">
            <a:off x="571500" y="4657725"/>
            <a:ext cx="11049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规划项只说明方向，不承诺交付时间；评估时请以「已完成」与「进行中」的实测能力为准。</a:t>
            </a:r>
            <a:endParaRPr/>
          </a:p>
        </p:txBody>
      </p:sp>
      <p:sp>
        <p:nvSpPr>
          <p:cNvPr id="102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02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成熟度的判断依据不是路线图有多长，而是「已完成」那一栏能当场演示多少。</a:t>
            </a:r>
            <a:endParaRPr/>
          </a:p>
        </p:txBody>
      </p:sp>
    </p:spTree>
  </p:cSld>
</p:sld>
</file>

<file path=ppt/slides/slide39.xml><?xml version="1.0" encoding="utf-8"?>
<p:sld xmlns:p="http://schemas.openxmlformats.org/presentationml/2006/main" xmlns:a="http://schemas.openxmlformats.org/drawingml/2006/main">
  <p:cSld>
    <p:spTree>
      <p:nvGrpSpPr>
        <p:cNvPr id="1026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三条路径：从一台机器到全公司共用&#13;&#10;        &lt;/Text&gt;&#13;&#10;        &lt;Box style={{ height: 1, background: '#E2E8F0', marginTop: 16 }} /&gt;&#13;&#10;&#13;&#10;        &lt;Box style={{ flex: 1, marginTop: 22, flexDirection: 'row', gap: 20 }}&gt;&#13;&#10;            &lt;Box style={{ width: 374, background: '#F8FAFC', borderWidth: 1, borderColor: '#E2E8F0', borderStyle: 'solid', borderRadius: 12, padding: 18 }}&gt;&#13;&#10;                &lt;Text style={{ fontSize: 16, fontWeight: '600', color: '#94A3B8', lineHeight: 1.3 }}&gt;路径一&lt;/Text&gt;&#13;&#10;                &lt;Text style={{ fontSize: 22, fontWeight: '600', color: '#1E293B', lineHeight: 1.3, marginTop: 6 }}&gt;自助验证&lt;/Text&gt;&#13;&#10;                &lt;Box style={{ width: 40, height: 3, borderRadius: 2, background: '#2563EB', marginTop: 12 }} /&gt;&#13;&#10;                &lt;Text style={{ fontSize: 15, color: '#475569', lineHeight: 1.5, marginTop: 12 }}&gt;&#13;&#10;                    在一台笔记本上跑通一个场景：pip 安装或一键脚本，SQLite 起步，不需要任何中间件。&#13;&#10;                &lt;/Text&gt;&#13;&#10;                &lt;Box style={{ height: 1, background: '#E2E8F0', marginTop: 14 }} /&gt;&#13;&#10;                &lt;Text style={{ fontSize: 15, color: '#64748B', lineHeight: 1.5, marginTop: 12 }}&gt;&#13;&#10;                    适合：技术负责人做 1–2 周的可行性验证，成本几乎为零。&#13;&#10;                &lt;/Text&gt;&#13;&#10;            &lt;/Box&gt;&#13;&#10;            &lt;Box style={{ width: 354, background: '#E8EEFB', borderWidth: 1, borderColor: '#C7D6F5', borderStyle: 'solid', borderRadius: 12, padding: 18 }}&gt;&#13;&#10;                &lt;Text style={{ fontSize: 16, fontWeight: '600', color: '#94A3B8', lineHeight: 1.3 }}&gt;路径二&lt;/Text&gt;&#13;&#10;                &lt;Text style={{ fontSize: 22, fontWeight: '600', color: '#1E293B', lineHeight: 1.3, marginTop: 6 }}&gt;团队部署&lt;/Text&gt;&#13;&#10;                &lt;Box style={{ width: 40, height: 3, borderRadius: 2, background: '#2563EB', marginTop: 12 }} /&gt;&#13;&#10;                &lt;Text style={{ fontSize: 15, color: '#475569', lineHeight: 1.5, marginTop: 12 }}&gt;&#13;&#10;                    Docker Compose 起步，切 PostgreSQL 控制面，注册为系统服务，用内建 ACME 签发 HTTPS 证书。&#13;&#10;                &lt;/Text&gt;&#13;&#10;                &lt;Box style={{ height: 1, background: '#C7D6F5', marginTop: 14 }} /&gt;&#13;&#10;                &lt;Text style={{ fontSize: 15, color: '#64748B', lineHeight: 1.5, marginTop: 12 }}&gt;&#13;&#10;                    适合：一个部门稳定使用，需要多用户、备份与对外访问。&#13;&#10;                &lt;/Text&gt;&#13;&#10;            &lt;/Box&gt;&#13;&#10;            &lt;Box style={{ width: 374, background: '#F8FAFC', borderWidth: 1, borderColor: '#E2E8F0', borderStyle: 'solid', borderRadius: 12, padding: 18 }}&gt;&#13;&#10;                &lt;Text style={{ fontSize: 16, fontWeight: '600', color: '#94A3B8', lineHeight: 1.3 }}&gt;路径三&lt;/Text&gt;&#13;&#10;                &lt;Text style={{ fontSize: 22, fontWeight: '600', color: '#1E293B', lineHeight: 1.3, marginTop: 6 }}&gt;规模推广&lt;/Text&gt;&#13;&#10;                &lt;Box style={{ width: 40, height: 3, borderRadius: 2, background: '#F59E0B', marginTop: 12 }} /&gt;&#13;&#10;                &lt;Text style={{ fontSize: 15, color: '#475569', lineHeight: 1.5, marginTop: 12 }}&gt;&#13;&#10;                    桌面客户端与 NAS 包分发到终端，接 IM 通道，把专家与知识库沉淀为可复用的组织资产。&#13;&#10;                &lt;/Text&gt;&#13;&#10;                &lt;Box style={{ height: 1, background: '#E2E8F0', marginTop: 14 }} /&gt;&#13;&#10;                &lt;Text style={{ fontSize: 15, color: '#64748B', lineHeight: 1.5, marginTop: 12 }}&gt;&#13;&#10;                    适合：全公司共用一台实例，按用户隔离数据与智能体资产。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三条路径共用同一份配置与数据：试点时积累的专家、知识库与记忆，扩大规模时可以直接带走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2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102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3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三条路径：从一台机器到全公司共用</a:t>
            </a:r>
            <a:endParaRPr/>
          </a:p>
        </p:txBody>
      </p:sp>
      <p:sp>
        <p:nvSpPr>
          <p:cNvPr id="103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32" name=""/>
          <p:cNvSpPr/>
          <p:nvPr/>
        </p:nvSpPr>
        <p:spPr>
          <a:xfrm rot="0" flipH="0" flipV="0">
            <a:off x="571500" y="1752600"/>
            <a:ext cx="3562350" cy="3657600"/>
          </a:xfrm>
          <a:prstGeom prst="roundRect">
            <a:avLst>
              <a:gd name="adj" fmla="val 320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33" name="" descr="{&quot;isTemplate&quot;:true,&quot;type&quot;:&quot;text&quot;}"/>
          <p:cNvSpPr txBox="1"/>
          <p:nvPr/>
        </p:nvSpPr>
        <p:spPr>
          <a:xfrm rot="0" flipH="0" flipV="0">
            <a:off x="742950" y="192405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路径一</a:t>
            </a:r>
            <a:endParaRPr/>
          </a:p>
        </p:txBody>
      </p:sp>
      <p:sp>
        <p:nvSpPr>
          <p:cNvPr id="1034" name="" descr="{&quot;isTemplate&quot;:true,&quot;type&quot;:&quot;text&quot;}"/>
          <p:cNvSpPr txBox="1"/>
          <p:nvPr/>
        </p:nvSpPr>
        <p:spPr>
          <a:xfrm rot="0" flipH="0" flipV="0">
            <a:off x="742950" y="2219325"/>
            <a:ext cx="32194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自助验证</a:t>
            </a:r>
            <a:endParaRPr/>
          </a:p>
        </p:txBody>
      </p:sp>
      <p:sp>
        <p:nvSpPr>
          <p:cNvPr id="1035" name=""/>
          <p:cNvSpPr/>
          <p:nvPr/>
        </p:nvSpPr>
        <p:spPr>
          <a:xfrm rot="0" flipH="0" flipV="0">
            <a:off x="742950" y="2667000"/>
            <a:ext cx="38100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36" name="" descr="{&quot;isTemplate&quot;:true,&quot;type&quot;:&quot;text&quot;}"/>
          <p:cNvSpPr txBox="1"/>
          <p:nvPr/>
        </p:nvSpPr>
        <p:spPr>
          <a:xfrm rot="0" flipH="0" flipV="0">
            <a:off x="742950" y="2809875"/>
            <a:ext cx="3219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在一台笔记本上跑通一个场景：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pip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安装或一键脚本，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起步，不需要任何中间件。</a:t>
            </a:r>
            <a:endParaRPr/>
          </a:p>
        </p:txBody>
      </p:sp>
      <p:sp>
        <p:nvSpPr>
          <p:cNvPr id="1037" name=""/>
          <p:cNvSpPr/>
          <p:nvPr/>
        </p:nvSpPr>
        <p:spPr>
          <a:xfrm rot="0" flipH="0" flipV="0">
            <a:off x="742950" y="3457575"/>
            <a:ext cx="321945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742950" y="3581400"/>
            <a:ext cx="3219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适合：技术负责人做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1–2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周的可行性验证，成本几乎为零。</a:t>
            </a:r>
            <a:endParaRPr/>
          </a:p>
        </p:txBody>
      </p:sp>
      <p:sp>
        <p:nvSpPr>
          <p:cNvPr id="1039" name=""/>
          <p:cNvSpPr/>
          <p:nvPr/>
        </p:nvSpPr>
        <p:spPr>
          <a:xfrm rot="0" flipH="0" flipV="0">
            <a:off x="4324350" y="1752600"/>
            <a:ext cx="3371850" cy="3657600"/>
          </a:xfrm>
          <a:prstGeom prst="roundRect">
            <a:avLst>
              <a:gd name="adj" fmla="val 339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1040" name="" descr="{&quot;isTemplate&quot;:true,&quot;type&quot;:&quot;text&quot;}"/>
          <p:cNvSpPr txBox="1"/>
          <p:nvPr/>
        </p:nvSpPr>
        <p:spPr>
          <a:xfrm rot="0" flipH="0" flipV="0">
            <a:off x="4495800" y="1924050"/>
            <a:ext cx="30289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路径二</a:t>
            </a:r>
            <a:endParaRPr/>
          </a:p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4495800" y="2219325"/>
            <a:ext cx="30289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团队部署</a:t>
            </a:r>
            <a:endParaRPr/>
          </a:p>
        </p:txBody>
      </p:sp>
      <p:sp>
        <p:nvSpPr>
          <p:cNvPr id="1042" name=""/>
          <p:cNvSpPr/>
          <p:nvPr/>
        </p:nvSpPr>
        <p:spPr>
          <a:xfrm rot="0" flipH="0" flipV="0">
            <a:off x="4495800" y="2667000"/>
            <a:ext cx="381000" cy="28575"/>
          </a:xfrm>
          <a:prstGeom prst="roundRect">
            <a:avLst>
              <a:gd name="adj" fmla="val 66667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43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0289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Docker Compose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起步，切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控制面，注册为系统服务，用内建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ACME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签发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证书。</a:t>
            </a:r>
            <a:endParaRPr/>
          </a:p>
        </p:txBody>
      </p:sp>
      <p:sp>
        <p:nvSpPr>
          <p:cNvPr id="1044" name=""/>
          <p:cNvSpPr/>
          <p:nvPr/>
        </p:nvSpPr>
        <p:spPr>
          <a:xfrm rot="0" flipH="0" flipV="0">
            <a:off x="4495800" y="3714750"/>
            <a:ext cx="302895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045" name="" descr="{&quot;isTemplate&quot;:true,&quot;type&quot;:&quot;text&quot;}"/>
          <p:cNvSpPr txBox="1"/>
          <p:nvPr/>
        </p:nvSpPr>
        <p:spPr>
          <a:xfrm rot="0" flipH="0" flipV="0">
            <a:off x="4495800" y="3838575"/>
            <a:ext cx="3028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适合：一个部门稳定使用，需要多用户、备份与对外访问。</a:t>
            </a:r>
            <a:endParaRPr/>
          </a:p>
        </p:txBody>
      </p:sp>
      <p:sp>
        <p:nvSpPr>
          <p:cNvPr id="1046" name=""/>
          <p:cNvSpPr/>
          <p:nvPr/>
        </p:nvSpPr>
        <p:spPr>
          <a:xfrm rot="0" flipH="0" flipV="0">
            <a:off x="7886700" y="1752600"/>
            <a:ext cx="3562350" cy="3657600"/>
          </a:xfrm>
          <a:prstGeom prst="roundRect">
            <a:avLst>
              <a:gd name="adj" fmla="val 320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8058150" y="192405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路径三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8058150" y="2219325"/>
            <a:ext cx="32194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E293B"/>
                </a:solidFill>
                <a:latin typeface="Microsoft YaHei"/>
                <a:ea typeface="Microsoft YaHei"/>
              </a:rPr>
              <a:t>规模推广</a:t>
            </a:r>
            <a:endParaRPr/>
          </a:p>
        </p:txBody>
      </p:sp>
      <p:sp>
        <p:nvSpPr>
          <p:cNvPr id="1049" name=""/>
          <p:cNvSpPr/>
          <p:nvPr/>
        </p:nvSpPr>
        <p:spPr>
          <a:xfrm rot="0" flipH="0" flipV="0">
            <a:off x="8058150" y="2667000"/>
            <a:ext cx="381000" cy="28575"/>
          </a:xfrm>
          <a:prstGeom prst="roundRect">
            <a:avLst>
              <a:gd name="adj" fmla="val 66667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050" name="" descr="{&quot;isTemplate&quot;:true,&quot;type&quot;:&quot;text&quot;}"/>
          <p:cNvSpPr txBox="1"/>
          <p:nvPr/>
        </p:nvSpPr>
        <p:spPr>
          <a:xfrm rot="0" flipH="0" flipV="0">
            <a:off x="8058150" y="2809875"/>
            <a:ext cx="3219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桌面客户端与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NAS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包分发到终端，接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IM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通道，把专家与知识库沉淀为可复用的组织资产。</a:t>
            </a:r>
            <a:endParaRPr/>
          </a:p>
        </p:txBody>
      </p:sp>
      <p:sp>
        <p:nvSpPr>
          <p:cNvPr id="1051" name=""/>
          <p:cNvSpPr/>
          <p:nvPr/>
        </p:nvSpPr>
        <p:spPr>
          <a:xfrm rot="0" flipH="0" flipV="0">
            <a:off x="8058150" y="3457575"/>
            <a:ext cx="321945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8058150" y="3581400"/>
            <a:ext cx="32194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适合：全公司共用一台实例，按用户隔离数据与智能体资产。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05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5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三条路径共用同一份配置与数据：试点时积累的专家、知识库与记忆，扩大规模时可以直接带走。</a:t>
            </a:r>
            <a:endParaRPr/>
          </a:p>
        </p:txBody>
      </p:sp>
    </p:spTree>
  </p:cSld>
</p:sld>
</file>

<file path=ppt/slides/slide4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93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5 · DEPLOYMENT&lt;/Text&gt;&#13;&#10;            &lt;Box style={{ width: 44, height: 4, borderRadius: 2, background: '#2563EB' }} /&gt;&#13;&#10;        &lt;/Box&gt;&#13;&#10;        &lt;Text style={{ fontSize: 34, fontWeight: 'bold', color: '#1E293B', marginTop: 16, lineHeight: 1.2 }}&gt;&#13;&#10;            今天就跑起来：四个入口与一个二维码&#13;&#10;        &lt;/Text&gt;&#13;&#10;        &lt;Box style={{ height: 1, background: '#E2E8F0', marginTop: 16 }} /&gt;&#13;&#10;&#13;&#10;        &lt;Box style={{ flex: 1, marginTop: 22, flexDirection: 'row', gap: 32 }}&gt;&#13;&#10;            &lt;Box style={{ width: 720 }}&gt;&#13;&#10;                &lt;Box style={{ paddingBottom: 12, borderBottomWidth: 1, borderBottomColor: '#E2E8F0', borderBottomStyle: 'solid' }}&gt;&#13;&#10;                    &lt;Text style={{ fontSize: 20, fontWeight: '600', color: '#1E293B', lineHeight: 1.3 }}&gt;开源仓库&lt;/Text&gt;&#13;&#10;                    &lt;Text style={{ fontSize: 16, color: '#475569', lineHeight: 1.5, marginTop: 6 }}&gt;&#13;&#10;                        github.com/njydsz/ydsz-worker —— MIT 许可，可自行审计与二次开发&#13;&#10;                    &lt;/Text&gt;&#13;&#10;                &lt;/Box&gt;&#13;&#10;                &lt;Box style={{ paddingTop: 12, paddingBottom: 12, borderBottomWidth: 1, borderBottomColor: '#E2E8F0', borderBottomStyle: 'solid' }}&gt;&#13;&#10;                    &lt;Text style={{ fontSize: 20, fontWeight: '600', color: '#1E293B', lineHeight: 1.3 }}&gt;Python 包&lt;/Text&gt;&#13;&#10;                    &lt;Text style={{ fontSize: 16, color: '#475569', lineHeight: 1.5, marginTop: 6 }}&gt;&#13;&#10;                        pip install ydsz-worker —— 已发布在 PyPI，纳入既有 Python 环境即可&#13;&#10;                    &lt;/Text&gt;&#13;&#10;                &lt;/Box&gt;&#13;&#10;                &lt;Box style={{ paddingTop: 12, paddingBottom: 12, borderBottomWidth: 1, borderBottomColor: '#E2E8F0', borderBottomStyle: 'solid' }}&gt;&#13;&#10;                    &lt;Text style={{ fontSize: 20, fontWeight: '600', color: '#1E293B', lineHeight: 1.3 }}&gt;桌面客户端&lt;/Text&gt;&#13;&#10;                    &lt;Text style={{ fontSize: 16, color: '#475569', lineHeight: 1.5, marginTop: 6 }}&gt;&#13;&#10;                        Releases 页提供 Windows / macOS / Linux 安装包，飞牛 NAS 另有两种包&#13;&#10;                    &lt;/Text&gt;&#13;&#10;                &lt;/Box&gt;&#13;&#10;                &lt;Box style={{ paddingTop: 12 }}&gt;&#13;&#10;                    &lt;Text style={{ fontSize: 20, fontWeight: '600', color: '#1E293B', lineHeight: 1.3 }}&gt;文档与接口&lt;/Text&gt;&#13;&#10;                    &lt;Text style={{ fontSize: 16, color: '#475569', lineHeight: 1.5, marginTop: 6 }}&gt;&#13;&#10;                        CLI 参考、API 参考与配置说明随仓库分发，交互式接口文档可在本地控制台开启&#13;&#10;                    &lt;/Text&gt;&#13;&#10;                &lt;/Box&gt;&#13;&#10;            &lt;/Box&gt;&#13;&#10;&#13;&#10;            &lt;Box style={{ width: 408, background: '#F4F6FB', borderRadius: 12, padding: 20, alignItems: 'center', justifyContent: 'center' }}&gt;&#13;&#10;                &lt;Box style={{ background: '#FFFFFF', borderRadius: 10, padding: 14, borderWidth: 1, borderColor: '#E2E8F0', borderStyle: 'solid' }}&gt;&#13;&#10;                    &lt;QRCode&#13;&#10;                        text='https://github.com/njydsz/ydsz-worker'&#13;&#10;                        width={188}&#13;&#10;                        darkColor='#0F172A'&#13;&#10;                        lightColor='#FFFFFF'&#13;&#10;                        errorCorrectionLevel='Q'&#13;&#10;                    /&gt;&#13;&#10;                &lt;/Box&gt;&#13;&#10;                &lt;Text style={{ fontSize: 18, fontWeight: '600', color: '#1E293B', lineHeight: 1.4, marginTop: 16, textAlign: 'center' }}&gt;&#13;&#10;                    扫码查看源码与最新版本&#13;&#10;                &lt;/Text&gt;&#13;&#10;                &lt;Text style={{ fontSize: 15, color: '#64748B', lineHeight: 1.5, marginTop: 10, textAlign: 'center' }}&gt;&#13;&#10;                    开源仓库即最完整的文档；部署与二次开发问题可在仓库 Issue 中提出&#13;&#10;                &lt;/Text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2563EB' }} /&gt;&#13;&#10;            &lt;Text style={{ flex: 1, fontSize: 19, color: '#1E293B', lineHeight: 1.5 }}&gt;&#13;&#10;                不需要先签合同再验证：装好跑通一个场景，再决定要不要扩大到全公司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95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1096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09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E293B"/>
                </a:solidFill>
                <a:latin typeface="Microsoft YaHei"/>
                <a:ea typeface="Microsoft YaHei"/>
              </a:rPr>
              <a:t>今天就跑起来：四个入口与一个二维码</a:t>
            </a:r>
            <a:endParaRPr/>
          </a:p>
        </p:txBody>
      </p:sp>
      <p:sp>
        <p:nvSpPr>
          <p:cNvPr id="1098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1099" name=""/>
          <p:cNvSpPr/>
          <p:nvPr/>
        </p:nvSpPr>
        <p:spPr>
          <a:xfrm rot="0" flipH="0" flipV="0">
            <a:off x="571500" y="1752600"/>
            <a:ext cx="6858000" cy="771525"/>
          </a:xfrm>
          <a:custGeom>
            <a:pathLst>
              <a:path w="720" h="81">
                <a:moveTo>
                  <a:pt x="0" y="80"/>
                </a:moveTo>
                <a:lnTo>
                  <a:pt x="720" y="80"/>
                </a:lnTo>
                <a:lnTo>
                  <a:pt x="720" y="81"/>
                </a:lnTo>
                <a:lnTo>
                  <a:pt x="0" y="8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685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开源仓库</a:t>
            </a:r>
            <a:endParaRPr/>
          </a:p>
        </p:txBody>
      </p:sp>
      <p:sp>
        <p:nvSpPr>
          <p:cNvPr id="1101" name="" descr="{&quot;isTemplate&quot;:true,&quot;type&quot;:&quot;text&quot;}"/>
          <p:cNvSpPr txBox="1"/>
          <p:nvPr/>
        </p:nvSpPr>
        <p:spPr>
          <a:xfrm rot="0" flipH="0" flipV="0">
            <a:off x="571500" y="2114550"/>
            <a:ext cx="6858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github.com/njydsz/ydsz-worker —— MIT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许可，可自行审计与二次开发</a:t>
            </a:r>
            <a:endParaRPr/>
          </a:p>
        </p:txBody>
      </p:sp>
      <p:sp>
        <p:nvSpPr>
          <p:cNvPr id="1102" name=""/>
          <p:cNvSpPr/>
          <p:nvPr/>
        </p:nvSpPr>
        <p:spPr>
          <a:xfrm rot="0" flipH="0" flipV="0">
            <a:off x="571500" y="2514600"/>
            <a:ext cx="6858000" cy="885825"/>
          </a:xfrm>
          <a:custGeom>
            <a:pathLst>
              <a:path w="720" h="93">
                <a:moveTo>
                  <a:pt x="0" y="92"/>
                </a:moveTo>
                <a:lnTo>
                  <a:pt x="720" y="92"/>
                </a:lnTo>
                <a:lnTo>
                  <a:pt x="720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03" name="" descr="{&quot;isTemplate&quot;:true,&quot;type&quot;:&quot;text&quot;}"/>
          <p:cNvSpPr txBox="1"/>
          <p:nvPr/>
        </p:nvSpPr>
        <p:spPr>
          <a:xfrm rot="0" flipH="0" flipV="0">
            <a:off x="571500" y="2628900"/>
            <a:ext cx="685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包</a:t>
            </a:r>
            <a:endParaRPr/>
          </a:p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571500" y="2990850"/>
            <a:ext cx="6858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pip install ydsz-worker ——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已发布在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PyPI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，纳入既有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环境即可</a:t>
            </a:r>
            <a:endParaRPr/>
          </a:p>
        </p:txBody>
      </p:sp>
      <p:sp>
        <p:nvSpPr>
          <p:cNvPr id="1105" name=""/>
          <p:cNvSpPr/>
          <p:nvPr/>
        </p:nvSpPr>
        <p:spPr>
          <a:xfrm rot="0" flipH="0" flipV="0">
            <a:off x="571500" y="3390900"/>
            <a:ext cx="6858000" cy="885825"/>
          </a:xfrm>
          <a:custGeom>
            <a:pathLst>
              <a:path w="720" h="93">
                <a:moveTo>
                  <a:pt x="0" y="92"/>
                </a:moveTo>
                <a:lnTo>
                  <a:pt x="720" y="92"/>
                </a:lnTo>
                <a:lnTo>
                  <a:pt x="720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685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桌面客户端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6858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Releases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页提供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Windows / macOS / Linux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安装包，飞牛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NAS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另有两种包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571500" y="4381500"/>
            <a:ext cx="6858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E293B"/>
                </a:solidFill>
                <a:latin typeface="Microsoft YaHei"/>
                <a:ea typeface="Microsoft YaHei"/>
              </a:rPr>
              <a:t>文档与接口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571500" y="4743450"/>
            <a:ext cx="6858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CLI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参考、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参考与配置说明随仓库分发，交互式接口文档可在本地控制台开启</a:t>
            </a:r>
            <a:endParaRPr/>
          </a:p>
        </p:txBody>
      </p:sp>
      <p:sp>
        <p:nvSpPr>
          <p:cNvPr id="1110" name=""/>
          <p:cNvSpPr/>
          <p:nvPr/>
        </p:nvSpPr>
        <p:spPr>
          <a:xfrm rot="0" flipH="0" flipV="0">
            <a:off x="7734300" y="1752600"/>
            <a:ext cx="3886200" cy="3657600"/>
          </a:xfrm>
          <a:prstGeom prst="roundRect">
            <a:avLst>
              <a:gd name="adj" fmla="val 3125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111" name=""/>
          <p:cNvSpPr/>
          <p:nvPr/>
        </p:nvSpPr>
        <p:spPr>
          <a:xfrm rot="0" flipH="0" flipV="0">
            <a:off x="8648700" y="2028825"/>
            <a:ext cx="205740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112" name="" descr="QR Code: https://github.com/njydsz/ydsz-worke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782050" y="2162175"/>
            <a:ext cx="1790699" cy="1790699"/>
          </a:xfrm>
          <a:prstGeom prst="rect">
            <a:avLst/>
          </a:prstGeom>
          <a:ln/>
        </p:spPr>
      </p:pic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8734425" y="4238625"/>
            <a:ext cx="1885950" cy="295275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1350" b="1">
                <a:solidFill>
                  <a:srgbClr val="1E293B"/>
                </a:solidFill>
                <a:latin typeface="Microsoft YaHei"/>
                <a:ea typeface="Microsoft YaHei"/>
              </a:rPr>
              <a:t>扫码查看源码与最新版本</a:t>
            </a:r>
            <a:endParaRPr/>
          </a:p>
        </p:txBody>
      </p:sp>
      <p:sp>
        <p:nvSpPr>
          <p:cNvPr id="1114" name="" descr="{&quot;isTemplate&quot;:true,&quot;type&quot;:&quot;text&quot;}"/>
          <p:cNvSpPr txBox="1"/>
          <p:nvPr/>
        </p:nvSpPr>
        <p:spPr>
          <a:xfrm rot="0" flipH="0" flipV="0">
            <a:off x="7924800" y="4629150"/>
            <a:ext cx="3505200" cy="5143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开源仓库即最完整的文档；部署与二次开发问题可在仓库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Issue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中提出</a:t>
            </a:r>
            <a:endParaRPr/>
          </a:p>
        </p:txBody>
      </p:sp>
      <p:sp>
        <p:nvSpPr>
          <p:cNvPr id="1115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1116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E293B"/>
                </a:solidFill>
                <a:latin typeface="Microsoft YaHei"/>
                <a:ea typeface="Microsoft YaHei"/>
              </a:rPr>
              <a:t>不需要先签合同再验证：装好跑通一个场景，再决定要不要扩大到全公司。</a:t>
            </a:r>
            <a:endParaRPr/>
          </a:p>
        </p:txBody>
      </p:sp>
    </p:spTree>
  </p:cSld>
</p:sld>
</file>

<file path=ppt/slides/slide4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118" name="" descr="&lt;Slide style={{ padding: 0, position: 'relative', background: 'linear-gradient(115deg, #FFFFFF 0%, #F4F6FB 55%, #E4ECF9 100%)' }}&gt;&#13;&#10;    {/* 右侧节点图 */}&#13;&#10;    &lt;Box style={{ position: 'absolute', right: 40, top: 90, width: 640, height: 540 }}&gt;&#13;&#10;        &lt;svg width={640} height={540} viewBox='0 0 640 540'&gt;&#13;&#10;            &lt;g stroke='#C7D6F5' strokeWidth='1' opacity='0.9'&gt;&#13;&#10;                &lt;line x1='80' y1='60' x2='240' y2='180' /&gt;&#13;&#10;                &lt;line x1='240' y1='180' x2='420' y2='120' /&gt;&#13;&#10;                &lt;line x1='240' y1='180' x2='400' y2='330' /&gt;&#13;&#10;                &lt;line x1='400' y1='330' x2='560' y2='260' /&gt;&#13;&#10;                &lt;line x1='400' y1='330' x2='300' y2='470' /&gt;&#13;&#10;                &lt;line x1='300' y1='470' x2='520' y2='440' /&gt;&#13;&#10;                &lt;line x1='420' y1='120' x2='560' y2='260' /&gt;&#13;&#10;            &lt;/g&gt;&#13;&#10;            &lt;circle cx='80' cy='60' r='7' fill='#0891B2' /&gt;&#13;&#10;            &lt;circle cx='240' cy='180' r='12' fill='#2563EB' /&gt;&#13;&#10;            &lt;circle cx='420' cy='120' r='7' fill='#0891B2' /&gt;&#13;&#10;            &lt;circle cx='400' cy='330' r='16' fill='#F59E0B' /&gt;&#13;&#10;            &lt;circle cx='560' cy='260' r='8' fill='#93C5FD' /&gt;&#13;&#10;            &lt;circle cx='300' cy='470' r='9' fill='#0891B2' /&gt;&#13;&#10;            &lt;circle cx='520' cy='440' r='7' fill='#93C5FD' /&gt;&#13;&#10;        &lt;/svg&gt;&#13;&#10;    &lt;/Box&gt;&#13;&#10;&#13;&#10;    {/* 收束金句 */}&#13;&#10;    &lt;Box style={{ position: 'absolute', left: 92, top: 140, width: 720 }}&gt;&#13;&#10;        &lt;Box style={{ width: 72, height: 6, borderRadius: 3, background: '#F59E0B' }} /&gt;&#13;&#10;        &lt;Text style={{ fontSize: 46, fontWeight: 'bold', color: '#1E293B', lineHeight: 1.35, marginTop: 30 }}&gt;&#13;&#10;            让 AI 不只回答问题，&lt;br /&gt;而是把活真正干完。&#13;&#10;        &lt;/Text&gt;&#13;&#10;        &lt;Text style={{ fontSize: 20, color: '#64748B', lineHeight: 1.5, marginTop: 20 }}&gt;&#13;&#10;            云顶数字工作台 · 会思考，会干活，陪企业成长的智能伙伴&#13;&#10;        &lt;/Text&gt;&#13;&#10;    &lt;/Box&gt;&#13;&#10;&#13;&#10;    {/* 行动路径 + 落款 */}&#13;&#10;    &lt;Box style={{ position: 'absolute', left: 92, bottom: 110, width: 720 }}&gt;&#13;&#10;        &lt;Box style={{ height: 1, background: '#C7D6F5' }} /&gt;&#13;&#10;        &lt;Box style={{ flexDirection: 'row', gap: 24, marginTop: 20 }}&gt;&#13;&#10;            &lt;Box style={{ width: 200 }}&gt;&#13;&#10;                &lt;Text style={{ fontSize: 15, color: '#64748B', lineHeight: 1.4 }}&gt;第一步&lt;/Text&gt;&#13;&#10;                &lt;Text style={{ fontSize: 19, fontWeight: '600', color: '#1E293B', lineHeight: 1.4, marginTop: 4 }}&gt;ydsz-worker init&lt;/Text&gt;&#13;&#10;            &lt;/Box&gt;&#13;&#10;            &lt;Box style={{ width: 200 }}&gt;&#13;&#10;                &lt;Text style={{ fontSize: 15, color: '#64748B', lineHeight: 1.4 }}&gt;第二步&lt;/Text&gt;&#13;&#10;                &lt;Text style={{ fontSize: 19, fontWeight: '600', color: '#1E293B', lineHeight: 1.4, marginTop: 4 }}&gt;ydsz-worker run&lt;/Text&gt;&#13;&#10;            &lt;/Box&gt;&#13;&#10;            &lt;Box style={{ width: 250 }}&gt;&#13;&#10;                &lt;Text style={{ fontSize: 15, color: '#64748B', lineHeight: 1.4 }}&gt;第三步&lt;/Text&gt;&#13;&#10;                &lt;Text style={{ fontSize: 19, fontWeight: '600', color: '#2563EB', lineHeight: 1.4, marginTop: 4 }}&gt;打开 127.0.0.1:8088&lt;/Text&gt;&#13;&#10;            &lt;/Box&gt;&#13;&#10;        &lt;/Box&gt;&#13;&#10;        &lt;Text style={{ fontSize: 15, color: '#64748B', lineHeight: 1.5, marginTop: 18 }}&gt;&#13;&#10;            开源仓库 github.com/njydsz/ydsz-worker · MIT 许可 · v26.10.20 · 2026 年 10 月&#13;&#10;        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55000">
                <a:srgbClr val="F4F6FB"/>
              </a:gs>
              <a:gs pos="100000">
                <a:srgbClr val="E4ECF9"/>
              </a:gs>
            </a:gsLst>
            <a:lin ang="1500000" scaled="1"/>
          </a:gradFill>
          <a:ln/>
        </p:spPr>
        <p:txBody>
          <a:bodyPr/>
          <a:p/>
        </p:txBody>
      </p:sp>
      <p:pic>
        <p:nvPicPr>
          <p:cNvPr id="11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0" y="857250"/>
            <a:ext cx="6096000" cy="5143500"/>
          </a:xfrm>
          <a:prstGeom prst="rect">
            <a:avLst/>
          </a:prstGeom>
          <a:ln/>
        </p:spPr>
      </p:pic>
      <p:sp>
        <p:nvSpPr>
          <p:cNvPr id="1121" name=""/>
          <p:cNvSpPr/>
          <p:nvPr/>
        </p:nvSpPr>
        <p:spPr>
          <a:xfrm rot="0" flipH="0" flipV="0">
            <a:off x="876300" y="13335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22" name="" descr="{&quot;isTemplate&quot;:true,&quot;type&quot;:&quot;text&quot;}"/>
          <p:cNvSpPr txBox="1"/>
          <p:nvPr/>
        </p:nvSpPr>
        <p:spPr>
          <a:xfrm rot="0" flipH="0" flipV="0">
            <a:off x="876300" y="1676400"/>
            <a:ext cx="6858000" cy="14287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450" b="1">
                <a:solidFill>
                  <a:srgbClr val="1E293B"/>
                </a:solidFill>
                <a:latin typeface="Microsoft YaHei"/>
                <a:ea typeface="Microsoft YaHei"/>
              </a:rPr>
              <a:t>让</a:t>
            </a:r>
            <a:r>
              <a:rPr lang="en-US" sz="3450" b="1">
                <a:solidFill>
                  <a:srgbClr val="1E293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3450" b="1">
                <a:solidFill>
                  <a:srgbClr val="1E293B"/>
                </a:solidFill>
                <a:latin typeface="Microsoft YaHei"/>
                <a:ea typeface="Microsoft YaHei"/>
              </a:rPr>
              <a:t>不只回答问题，</a:t>
            </a:r>
            <a:endParaRPr/>
          </a:p>
          <a:p>
            <a:pPr>
              <a:lnSpc>
                <a:spcPct val="135000"/>
              </a:lnSpc>
            </a:pPr>
            <a:r>
              <a:rPr lang="zh-CN" sz="3450" b="1">
                <a:solidFill>
                  <a:srgbClr val="1E293B"/>
                </a:solidFill>
                <a:latin typeface="Microsoft YaHei"/>
                <a:ea typeface="Microsoft YaHei"/>
              </a:rPr>
              <a:t>而是把活真正干完。</a:t>
            </a:r>
            <a:endParaRPr/>
          </a:p>
        </p:txBody>
      </p:sp>
      <p:sp>
        <p:nvSpPr>
          <p:cNvPr id="1123" name="" descr="{&quot;isTemplate&quot;:true,&quot;type&quot;:&quot;text&quot;}"/>
          <p:cNvSpPr txBox="1"/>
          <p:nvPr/>
        </p:nvSpPr>
        <p:spPr>
          <a:xfrm rot="0" flipH="0" flipV="0">
            <a:off x="876300" y="3295650"/>
            <a:ext cx="6858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云顶数字工作台</a:t>
            </a:r>
            <a:r>
              <a:rPr lang="en-US" sz="150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会思考，会干活，陪企业成长的智能伙伴</a:t>
            </a:r>
            <a:endParaRPr/>
          </a:p>
        </p:txBody>
      </p:sp>
      <p:sp>
        <p:nvSpPr>
          <p:cNvPr id="1124" name=""/>
          <p:cNvSpPr/>
          <p:nvPr/>
        </p:nvSpPr>
        <p:spPr>
          <a:xfrm rot="0" flipH="0" flipV="0">
            <a:off x="876300" y="4591050"/>
            <a:ext cx="685800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876300" y="4791075"/>
            <a:ext cx="1905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第一步</a:t>
            </a:r>
            <a:endParaRPr/>
          </a:p>
        </p:txBody>
      </p:sp>
      <p:sp>
        <p:nvSpPr>
          <p:cNvPr id="1126" name="" descr="{&quot;isTemplate&quot;:true,&quot;type&quot;:&quot;text&quot;}"/>
          <p:cNvSpPr txBox="1"/>
          <p:nvPr/>
        </p:nvSpPr>
        <p:spPr>
          <a:xfrm rot="0" flipH="0" flipV="0">
            <a:off x="876300" y="5076825"/>
            <a:ext cx="19050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>ydsz-worker init</a:t>
            </a:r>
            <a:endParaRPr/>
          </a:p>
        </p:txBody>
      </p:sp>
      <p:sp>
        <p:nvSpPr>
          <p:cNvPr id="1127" name="" descr="{&quot;isTemplate&quot;:true,&quot;type&quot;:&quot;text&quot;}"/>
          <p:cNvSpPr txBox="1"/>
          <p:nvPr/>
        </p:nvSpPr>
        <p:spPr>
          <a:xfrm rot="0" flipH="0" flipV="0">
            <a:off x="3009900" y="4791075"/>
            <a:ext cx="1905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第二步</a:t>
            </a:r>
            <a:endParaRPr/>
          </a:p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3009900" y="5076825"/>
            <a:ext cx="19050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425" b="1">
                <a:solidFill>
                  <a:srgbClr val="1E293B"/>
                </a:solidFill>
                <a:latin typeface="Microsoft YaHei"/>
                <a:ea typeface="Microsoft YaHei"/>
              </a:rPr>
              <a:t>ydsz-worker run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5143500" y="4791075"/>
            <a:ext cx="23812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第三步</a:t>
            </a:r>
            <a:endParaRPr/>
          </a:p>
        </p:txBody>
      </p:sp>
      <p:sp>
        <p:nvSpPr>
          <p:cNvPr id="1130" name="" descr="{&quot;isTemplate&quot;:true,&quot;type&quot;:&quot;text&quot;}"/>
          <p:cNvSpPr txBox="1"/>
          <p:nvPr/>
        </p:nvSpPr>
        <p:spPr>
          <a:xfrm rot="0" flipH="0" flipV="0">
            <a:off x="5143500" y="5076825"/>
            <a:ext cx="238125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2563EB"/>
                </a:solidFill>
                <a:latin typeface="Microsoft YaHei"/>
                <a:ea typeface="Microsoft YaHei"/>
              </a:rPr>
              <a:t>打开</a:t>
            </a:r>
            <a:r>
              <a:rPr lang="en-US" sz="1425" b="1">
                <a:solidFill>
                  <a:srgbClr val="2563EB"/>
                </a:solidFill>
                <a:latin typeface="Microsoft YaHei"/>
                <a:ea typeface="Microsoft YaHei"/>
              </a:rPr>
              <a:t xml:space="preserve"> 127.0.0.1:8088</a:t>
            </a:r>
            <a:endParaRPr/>
          </a:p>
        </p:txBody>
      </p:sp>
      <p:sp>
        <p:nvSpPr>
          <p:cNvPr id="1131" name="" descr="{&quot;isTemplate&quot;:true,&quot;type&quot;:&quot;text&quot;}"/>
          <p:cNvSpPr txBox="1"/>
          <p:nvPr/>
        </p:nvSpPr>
        <p:spPr>
          <a:xfrm rot="0" flipH="0" flipV="0">
            <a:off x="876300" y="5553075"/>
            <a:ext cx="6858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开源仓库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github.com/njydsz/ydsz-worker · MIT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许可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v26.10.20 · 2026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年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2026-10-30T10:05:14Z</dcterms:created>
  <dcterms:modified xsi:type="dcterms:W3CDTF">2026-10-30T10:05:14Z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{"AIGC":{"Label":"1","ContentProducer":"00119111010856365494821B355","ProduceID":"01a186acaa707d36a53fc03491fc3634","ReservedCode1":"","ContentPropagator":"00119111010856365494821B355","PropagateID":"01a186acaa707d36a53fc03491fc3634","ReservedCode2":""}}</vt:lpwstr>
  </property>
</Properties>
</file>