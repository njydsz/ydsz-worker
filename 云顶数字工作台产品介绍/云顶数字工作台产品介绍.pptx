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9.xml" ContentType="application/vnd.openxmlformats-officedocument.presentationml.slide+xml"/>
  <Override PartName="/ppt/slides/slide29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22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tableStyles.xml" ContentType="application/vnd.openxmlformats-officedocument.presentationml.tableStyles+xml"/>
  <Override PartName="/ppt/slides/slide16.xml" ContentType="application/vnd.openxmlformats-officedocument.presentationml.slide+xml"/>
  <Override PartName="/ppt/slides/slide30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24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6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3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29" Type="http://schemas.openxmlformats.org/officeDocument/2006/relationships/slide" Target="slides/slide29.xml" /><Relationship Id="rId10" Type="http://schemas.openxmlformats.org/officeDocument/2006/relationships/slide" Target="slides/slide10.xml" /><Relationship Id="rId0" Type="http://schemas.openxmlformats.org/officeDocument/2006/relationships/slideMaster" Target="slideMasters/slideMaster1.xml" /><Relationship Id="rId15" Type="http://schemas.openxmlformats.org/officeDocument/2006/relationships/slide" Target="slides/slide15.xml" /><Relationship Id="rId1" Type="http://schemas.openxmlformats.org/officeDocument/2006/relationships/slide" Target="slides/slide1.xml" /><Relationship Id="rId18" Type="http://schemas.openxmlformats.org/officeDocument/2006/relationships/slide" Target="slides/slide18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22" Type="http://schemas.openxmlformats.org/officeDocument/2006/relationships/slide" Target="slides/slide22.xml" /><Relationship Id="rId12" Type="http://schemas.openxmlformats.org/officeDocument/2006/relationships/slide" Target="slides/slide12.xml" /><Relationship Id="rId13" Type="http://schemas.openxmlformats.org/officeDocument/2006/relationships/slide" Target="slides/slide13.xml" /><Relationship Id="rId33" Type="http://schemas.openxmlformats.org/officeDocument/2006/relationships/tableStyles" Target="tableStyles.xml" /><Relationship Id="rId16" Type="http://schemas.openxmlformats.org/officeDocument/2006/relationships/slide" Target="slides/slide16.xml" /><Relationship Id="rId30" Type="http://schemas.openxmlformats.org/officeDocument/2006/relationships/slide" Target="slides/slide30.xml" /><Relationship Id="rId17" Type="http://schemas.openxmlformats.org/officeDocument/2006/relationships/slide" Target="slides/slide17.xml" /><Relationship Id="rId19" Type="http://schemas.openxmlformats.org/officeDocument/2006/relationships/slide" Target="slides/slide19.xml" /><Relationship Id="rId2" Type="http://schemas.openxmlformats.org/officeDocument/2006/relationships/slide" Target="slides/slide2.xml" /><Relationship Id="rId20" Type="http://schemas.openxmlformats.org/officeDocument/2006/relationships/slide" Target="slides/slide20.xml" /><Relationship Id="rId21" Type="http://schemas.openxmlformats.org/officeDocument/2006/relationships/slide" Target="slides/slide21.xml" /><Relationship Id="rId23" Type="http://schemas.openxmlformats.org/officeDocument/2006/relationships/slide" Target="slides/slide23.xml" /><Relationship Id="rId24" Type="http://schemas.openxmlformats.org/officeDocument/2006/relationships/slide" Target="slides/slide24.xml" /><Relationship Id="rId25" Type="http://schemas.openxmlformats.org/officeDocument/2006/relationships/slide" Target="slides/slide25.xml" /><Relationship Id="rId26" Type="http://schemas.openxmlformats.org/officeDocument/2006/relationships/slide" Target="slides/slide26.xml" /><Relationship Id="rId8" Type="http://schemas.openxmlformats.org/officeDocument/2006/relationships/slide" Target="slides/slide8.xml" /><Relationship Id="rId27" Type="http://schemas.openxmlformats.org/officeDocument/2006/relationships/slide" Target="slides/slide27.xml" /><Relationship Id="rId34" Type="http://schemas.openxmlformats.org/officeDocument/2006/relationships/viewProps" Target="viewProps.xml" /><Relationship Id="rId28" Type="http://schemas.openxmlformats.org/officeDocument/2006/relationships/slide" Target="slides/slide28.xml" /><Relationship Id="rId3" Type="http://schemas.openxmlformats.org/officeDocument/2006/relationships/slide" Target="slides/slide3.xml" /><Relationship Id="rId5" Type="http://schemas.openxmlformats.org/officeDocument/2006/relationships/slide" Target="slides/slide5.xml" /><Relationship Id="rId31" Type="http://schemas.openxmlformats.org/officeDocument/2006/relationships/notesMaster" Target="notesMasters/notesMaster1.xml" /><Relationship Id="rId9" Type="http://schemas.openxmlformats.org/officeDocument/2006/relationships/slide" Target="slides/slide9.xml" /><Relationship Id="rId32" Type="http://schemas.openxmlformats.org/officeDocument/2006/relationships/presProps" Target="presProps.xml" /><Relationship Id="rId4" Type="http://schemas.openxmlformats.org/officeDocument/2006/relationships/slide" Target="slides/slide4.xml" /><Relationship Id="rId6" Type="http://schemas.openxmlformats.org/officeDocument/2006/relationships/slide" Target="slides/slide6.xml" /><Relationship Id="rId7" Type="http://schemas.openxmlformats.org/officeDocument/2006/relationships/slide" Target="slides/slide7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svg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1.svg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2.svg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.svg" /><Relationship Id="rId2" Type="http://schemas.openxmlformats.org/officeDocument/2006/relationships/image" Target="media/image3.sv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5.svg" /><Relationship Id="rId3" Type="http://schemas.openxmlformats.org/officeDocument/2006/relationships/image" Target="media/image6.svg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7.svg" /><Relationship Id="rId2" Type="http://schemas.openxmlformats.org/officeDocument/2006/relationships/image" Target="media/image8.svg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0.svg" /><Relationship Id="rId1" Type="http://schemas.openxmlformats.org/officeDocument/2006/relationships/image" Target="media/image9.svg" /><Relationship Id="rId3" Type="http://schemas.openxmlformats.org/officeDocument/2006/relationships/image" Target="media/image11.svg" /><Relationship Id="rId4" Type="http://schemas.openxmlformats.org/officeDocument/2006/relationships/image" Target="media/image12.svg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svg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4.svg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3" Type="http://schemas.openxmlformats.org/officeDocument/2006/relationships/image" Target="media/image17.svg" /><Relationship Id="rId1" Type="http://schemas.openxmlformats.org/officeDocument/2006/relationships/image" Target="media/image15.svg" /><Relationship Id="rId2" Type="http://schemas.openxmlformats.org/officeDocument/2006/relationships/image" Target="media/image16.svg" 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8.svg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svg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20.svg" /></Relationships>
</file>

<file path=ppt/slides/_rels/slide3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2275A"/>
              </a:gs>
              <a:gs pos="48000">
                <a:srgbClr val="101F45"/>
              </a:gs>
              <a:gs pos="100000">
                <a:srgbClr val="0A2A6E"/>
              </a:gs>
            </a:gsLst>
            <a:lin ang="18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762500" y="0"/>
            <a:ext cx="7429500" cy="6858000"/>
          </a:xfrm>
          <a:prstGeom prst="rect">
            <a:avLst/>
          </a:prstGeom>
          <a:ln/>
        </p:spPr>
      </p:pic>
      <p:sp>
        <p:nvSpPr>
          <p:cNvPr id="4" name=""/>
          <p:cNvSpPr/>
          <p:nvPr/>
        </p:nvSpPr>
        <p:spPr>
          <a:xfrm rot="0" flipH="0" flipV="0">
            <a:off x="876300" y="16002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876300" y="1981200"/>
            <a:ext cx="6096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 spc="450">
                <a:solidFill>
                  <a:srgbClr val="7FB2E5"/>
                </a:solidFill>
                <a:latin typeface="Microsoft YaHei"/>
                <a:ea typeface="Microsoft YaHei"/>
              </a:rPr>
              <a:t>YDSZ WORKER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876300" y="2533650"/>
            <a:ext cx="6096000" cy="8763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950" b="1">
                <a:solidFill>
                  <a:srgbClr val="FFFFFF"/>
                </a:solidFill>
                <a:latin typeface="Microsoft YaHei"/>
                <a:ea typeface="Microsoft YaHei"/>
              </a:rPr>
              <a:t>云顶数字工作台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876300" y="3657600"/>
            <a:ext cx="6096000" cy="4857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2250">
                <a:solidFill>
                  <a:srgbClr val="CBD9F0"/>
                </a:solidFill>
                <a:latin typeface="Microsoft YaHei"/>
                <a:ea typeface="Microsoft YaHei"/>
              </a:rPr>
              <a:t>会思考，会干活，陪企业成长的智能伙伴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876300" y="4524375"/>
            <a:ext cx="5334000" cy="9525"/>
          </a:xfrm>
          <a:prstGeom prst="rect">
            <a:avLst/>
          </a:prstGeom>
          <a:solidFill>
            <a:srgbClr val="33507F"/>
          </a:solidFill>
          <a:ln/>
        </p:spPr>
        <p:txBody>
          <a:bodyPr/>
          <a:p>
            <a:pPr/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876300" y="4743450"/>
            <a:ext cx="6096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9AB4DB"/>
                </a:solidFill>
                <a:latin typeface="Microsoft YaHei"/>
                <a:ea typeface="Microsoft YaHei"/>
              </a:rPr>
              <a:t>自托管</a:t>
            </a:r>
            <a:r>
              <a:rPr lang="en-US" sz="1500">
                <a:solidFill>
                  <a:srgbClr val="9AB4D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9AB4DB"/>
                </a:solidFill>
                <a:latin typeface="Microsoft YaHei"/>
                <a:ea typeface="Microsoft YaHei"/>
              </a:rPr>
              <a:t>多用户</a:t>
            </a:r>
            <a:r>
              <a:rPr lang="en-US" sz="1500">
                <a:solidFill>
                  <a:srgbClr val="9AB4DB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9AB4DB"/>
                </a:solidFill>
                <a:latin typeface="Microsoft YaHei"/>
                <a:ea typeface="Microsoft YaHei"/>
              </a:rPr>
              <a:t>多智能体企业级</a:t>
            </a:r>
            <a:r>
              <a:rPr lang="en-US" sz="1500">
                <a:solidFill>
                  <a:srgbClr val="9AB4D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9AB4DB"/>
                </a:solidFill>
                <a:latin typeface="Microsoft YaHei"/>
                <a:ea typeface="Microsoft YaHei"/>
              </a:rPr>
              <a:t>助手平台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876300" y="589597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产品对外介绍</a:t>
            </a:r>
            <a:endParaRPr/>
          </a:p>
        </p:txBody>
      </p:sp>
      <p:sp>
        <p:nvSpPr>
          <p:cNvPr id="11" name=""/>
          <p:cNvSpPr/>
          <p:nvPr/>
        </p:nvSpPr>
        <p:spPr>
          <a:xfrm rot="0" flipH="0" flipV="0">
            <a:off x="2057400" y="5905500"/>
            <a:ext cx="9525" cy="152400"/>
          </a:xfrm>
          <a:prstGeom prst="rect">
            <a:avLst/>
          </a:prstGeom>
          <a:solidFill>
            <a:srgbClr val="33507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447925" y="5895975"/>
            <a:ext cx="914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版本</a:t>
            </a:r>
            <a:r>
              <a:rPr lang="en-US" sz="1050">
                <a:solidFill>
                  <a:srgbClr val="7EA3D6"/>
                </a:solidFill>
                <a:latin typeface="Microsoft YaHei"/>
                <a:ea typeface="Microsoft YaHei"/>
              </a:rPr>
              <a:t xml:space="preserve"> v26.10.20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3743325" y="5905500"/>
            <a:ext cx="9525" cy="152400"/>
          </a:xfrm>
          <a:prstGeom prst="rect">
            <a:avLst/>
          </a:prstGeom>
          <a:solidFill>
            <a:srgbClr val="33507F"/>
          </a:solidFill>
          <a:ln/>
        </p:spPr>
        <p:txBody>
          <a:bodyPr/>
          <a:p>
            <a:pPr/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133850" y="5895975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EA3D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年</a:t>
            </a:r>
            <a:r>
              <a:rPr lang="en-US" sz="1050">
                <a:solidFill>
                  <a:srgbClr val="7EA3D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3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46" name=""/>
          <p:cNvSpPr/>
          <p:nvPr/>
        </p:nvSpPr>
        <p:spPr>
          <a:xfrm rot="0" flipH="0" flipV="0">
            <a:off x="571500" y="57150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3810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12275A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71500" y="1933575"/>
            <a:ext cx="3810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spc="450">
                <a:solidFill>
                  <a:srgbClr val="94A3B8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571500" y="2524125"/>
            <a:ext cx="28575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571500" y="2743200"/>
            <a:ext cx="3810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五个章节，依次为产品定位、能力全景、安全治理、连接集成与落地保障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4762500" y="5715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4762500" y="9144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D4ED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5619750" y="9525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2275A"/>
                </a:solidFill>
                <a:latin typeface="Microsoft YaHei"/>
                <a:ea typeface="Microsoft YaHei"/>
              </a:rPr>
              <a:t>认识云顶：定位与价值</a:t>
            </a:r>
            <a:endParaRPr/>
          </a:p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10953750" y="10096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3</a:t>
            </a:r>
            <a:endParaRPr/>
          </a:p>
        </p:txBody>
      </p:sp>
      <p:sp>
        <p:nvSpPr>
          <p:cNvPr id="355" name=""/>
          <p:cNvSpPr/>
          <p:nvPr/>
        </p:nvSpPr>
        <p:spPr>
          <a:xfrm rot="0" flipH="0" flipV="0">
            <a:off x="4762500" y="16383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4762500" y="19812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D4ED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5619750" y="20193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2275A"/>
                </a:solidFill>
                <a:latin typeface="Microsoft YaHei"/>
                <a:ea typeface="Microsoft YaHei"/>
              </a:rPr>
              <a:t>能力全景：从理解到执行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0953750" y="20764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8</a:t>
            </a:r>
            <a:endParaRPr/>
          </a:p>
        </p:txBody>
      </p:sp>
      <p:sp>
        <p:nvSpPr>
          <p:cNvPr id="359" name=""/>
          <p:cNvSpPr/>
          <p:nvPr/>
        </p:nvSpPr>
        <p:spPr>
          <a:xfrm rot="0" flipH="0" flipV="0">
            <a:off x="4762500" y="27051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4762500" y="30480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D4ED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5619750" y="30861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2275A"/>
                </a:solidFill>
                <a:latin typeface="Microsoft YaHei"/>
                <a:ea typeface="Microsoft YaHei"/>
              </a:rPr>
              <a:t>安全与治理：可验证的边界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10953750" y="31432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18</a:t>
            </a:r>
            <a:endParaRPr/>
          </a:p>
        </p:txBody>
      </p:sp>
      <p:sp>
        <p:nvSpPr>
          <p:cNvPr id="363" name=""/>
          <p:cNvSpPr/>
          <p:nvPr/>
        </p:nvSpPr>
        <p:spPr>
          <a:xfrm rot="0" flipH="0" flipV="0">
            <a:off x="4762500" y="37719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4762500" y="41148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D4ED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65" name="" descr="{&quot;isTemplate&quot;:true,&quot;type&quot;:&quot;text&quot;}"/>
          <p:cNvSpPr txBox="1"/>
          <p:nvPr/>
        </p:nvSpPr>
        <p:spPr>
          <a:xfrm rot="0" flipH="0" flipV="0">
            <a:off x="5619750" y="41529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2275A"/>
                </a:solidFill>
                <a:latin typeface="Microsoft YaHei"/>
                <a:ea typeface="Microsoft YaHei"/>
              </a:rPr>
              <a:t>连接与集成：接入既有系统</a:t>
            </a:r>
            <a:endParaRPr/>
          </a:p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10953750" y="42100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24</a:t>
            </a:r>
            <a:endParaRPr/>
          </a:p>
        </p:txBody>
      </p:sp>
      <p:sp>
        <p:nvSpPr>
          <p:cNvPr id="367" name=""/>
          <p:cNvSpPr/>
          <p:nvPr/>
        </p:nvSpPr>
        <p:spPr>
          <a:xfrm rot="0" flipH="0" flipV="0">
            <a:off x="4762500" y="4838700"/>
            <a:ext cx="6858000" cy="1066800"/>
          </a:xfrm>
          <a:custGeom>
            <a:pathLst>
              <a:path w="720" h="112">
                <a:moveTo>
                  <a:pt x="0" y="111"/>
                </a:moveTo>
                <a:lnTo>
                  <a:pt x="720" y="111"/>
                </a:lnTo>
                <a:lnTo>
                  <a:pt x="720" y="112"/>
                </a:lnTo>
                <a:lnTo>
                  <a:pt x="0" y="112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4762500" y="5181600"/>
            <a:ext cx="8572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D4ED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69" name="" descr="{&quot;isTemplate&quot;:true,&quot;type&quot;:&quot;text&quot;}"/>
          <p:cNvSpPr txBox="1"/>
          <p:nvPr/>
        </p:nvSpPr>
        <p:spPr>
          <a:xfrm rot="0" flipH="0" flipV="0">
            <a:off x="5619750" y="5219700"/>
            <a:ext cx="53340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2275A"/>
                </a:solidFill>
                <a:latin typeface="Microsoft YaHei"/>
                <a:ea typeface="Microsoft YaHei"/>
              </a:rPr>
              <a:t>落地与保障：部署到持续运行</a:t>
            </a:r>
            <a:endParaRPr/>
          </a:p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10953750" y="5276850"/>
            <a:ext cx="666750" cy="190500"/>
          </a:xfrm>
          <a:prstGeom prst="rect"/>
        </p:spPr>
        <p:txBody>
          <a:bodyPr wrap="none" lIns="0" tIns="0" rIns="0" bIns="0"/>
          <a:p>
            <a:pPr algn="r"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P 29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68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143000"/>
            <a:ext cx="4000500" cy="4572000"/>
          </a:xfrm>
          <a:prstGeom prst="rect">
            <a:avLst/>
          </a:prstGeom>
          <a:ln/>
        </p:spPr>
      </p:pic>
      <p:sp>
        <p:nvSpPr>
          <p:cNvPr id="690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1F3C7A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91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认识云顶</a:t>
            </a:r>
            <a:endParaRPr/>
          </a:p>
        </p:txBody>
      </p:sp>
      <p:sp>
        <p:nvSpPr>
          <p:cNvPr id="692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693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9AB4DB"/>
                </a:solidFill>
                <a:latin typeface="Microsoft YaHei"/>
                <a:ea typeface="Microsoft YaHei"/>
              </a:rPr>
              <a:t>产品定位、价值主张与能力边界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37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738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739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三道断层，卡住了企业</a:t>
            </a:r>
            <a:r>
              <a:rPr lang="en-US" sz="255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的最后一公里</a:t>
            </a:r>
            <a:endParaRPr/>
          </a:p>
        </p:txBody>
      </p:sp>
      <p:sp>
        <p:nvSpPr>
          <p:cNvPr id="740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741" name=""/>
          <p:cNvSpPr/>
          <p:nvPr/>
        </p:nvSpPr>
        <p:spPr>
          <a:xfrm rot="0" flipH="0" flipV="0">
            <a:off x="571500" y="1752600"/>
            <a:ext cx="1600200" cy="1219200"/>
          </a:xfrm>
          <a:prstGeom prst="roundRect">
            <a:avLst>
              <a:gd name="adj" fmla="val 781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42" name=""/>
          <p:cNvSpPr/>
          <p:nvPr/>
        </p:nvSpPr>
        <p:spPr>
          <a:xfrm rot="0" flipH="0" flipV="0">
            <a:off x="1162050" y="1885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CE7FB"/>
          </a:solidFill>
          <a:ln/>
        </p:spPr>
        <p:txBody>
          <a:bodyPr/>
          <a:p>
            <a:pPr/>
            <a:endParaRPr/>
          </a:p>
        </p:txBody>
      </p:sp>
      <p:sp>
        <p:nvSpPr>
          <p:cNvPr id="743" name=""/>
          <p:cNvSpPr/>
          <p:nvPr/>
        </p:nvSpPr>
        <p:spPr>
          <a:xfrm rot="0" flipH="0" flipV="0">
            <a:off x="1276350" y="20002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744" name="" descr="{&quot;isTemplate&quot;:true,&quot;type&quot;:&quot;text&quot;}"/>
          <p:cNvSpPr txBox="1"/>
          <p:nvPr/>
        </p:nvSpPr>
        <p:spPr>
          <a:xfrm rot="0" flipH="0" flipV="0">
            <a:off x="990600" y="2400300"/>
            <a:ext cx="762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理解业务</a:t>
            </a:r>
            <a:endParaRPr/>
          </a:p>
        </p:txBody>
      </p:sp>
      <p:sp>
        <p:nvSpPr>
          <p:cNvPr id="745" name="" descr="{&quot;isTemplate&quot;:true,&quot;type&quot;:&quot;text&quot;}"/>
          <p:cNvSpPr txBox="1"/>
          <p:nvPr/>
        </p:nvSpPr>
        <p:spPr>
          <a:xfrm rot="0" flipH="0" flipV="0">
            <a:off x="876300" y="2705100"/>
            <a:ext cx="10001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进不了私有数据</a:t>
            </a:r>
            <a:endParaRPr/>
          </a:p>
        </p:txBody>
      </p:sp>
      <p:pic>
        <p:nvPicPr>
          <p:cNvPr id="74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190750" y="2228850"/>
            <a:ext cx="419100" cy="266700"/>
          </a:xfrm>
          <a:prstGeom prst="rect">
            <a:avLst/>
          </a:prstGeom>
          <a:ln/>
        </p:spPr>
      </p:pic>
      <p:sp>
        <p:nvSpPr>
          <p:cNvPr id="747" name=""/>
          <p:cNvSpPr/>
          <p:nvPr/>
        </p:nvSpPr>
        <p:spPr>
          <a:xfrm rot="0" flipH="0" flipV="0">
            <a:off x="2628900" y="1752600"/>
            <a:ext cx="1600200" cy="1219200"/>
          </a:xfrm>
          <a:prstGeom prst="roundRect">
            <a:avLst>
              <a:gd name="adj" fmla="val 781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48" name=""/>
          <p:cNvSpPr/>
          <p:nvPr/>
        </p:nvSpPr>
        <p:spPr>
          <a:xfrm rot="0" flipH="0" flipV="0">
            <a:off x="3219450" y="1885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CE7FB"/>
          </a:solidFill>
          <a:ln/>
        </p:spPr>
        <p:txBody>
          <a:bodyPr/>
          <a:p>
            <a:pPr/>
            <a:endParaRPr/>
          </a:p>
        </p:txBody>
      </p:sp>
      <p:sp>
        <p:nvSpPr>
          <p:cNvPr id="749" name=""/>
          <p:cNvSpPr/>
          <p:nvPr/>
        </p:nvSpPr>
        <p:spPr>
          <a:xfrm rot="0" flipH="0" flipV="0">
            <a:off x="3333750" y="2000250"/>
            <a:ext cx="190500" cy="190500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750" name="" descr="{&quot;isTemplate&quot;:true,&quot;type&quot;:&quot;text&quot;}"/>
          <p:cNvSpPr txBox="1"/>
          <p:nvPr/>
        </p:nvSpPr>
        <p:spPr>
          <a:xfrm rot="0" flipH="0" flipV="0">
            <a:off x="3048000" y="2400300"/>
            <a:ext cx="762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动手执行</a:t>
            </a:r>
            <a:endParaRPr/>
          </a:p>
        </p:txBody>
      </p:sp>
      <p:sp>
        <p:nvSpPr>
          <p:cNvPr id="751" name="" descr="{&quot;isTemplate&quot;:true,&quot;type&quot;:&quot;text&quot;}"/>
          <p:cNvSpPr txBox="1"/>
          <p:nvPr/>
        </p:nvSpPr>
        <p:spPr>
          <a:xfrm rot="0" flipH="0" flipV="0">
            <a:off x="2933700" y="2705100"/>
            <a:ext cx="10001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够不着工具系统</a:t>
            </a:r>
            <a:endParaRPr/>
          </a:p>
        </p:txBody>
      </p:sp>
      <p:pic>
        <p:nvPicPr>
          <p:cNvPr id="75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248150" y="2228850"/>
            <a:ext cx="419100" cy="266700"/>
          </a:xfrm>
          <a:prstGeom prst="rect">
            <a:avLst/>
          </a:prstGeom>
          <a:ln/>
        </p:spPr>
      </p:pic>
      <p:sp>
        <p:nvSpPr>
          <p:cNvPr id="753" name=""/>
          <p:cNvSpPr/>
          <p:nvPr/>
        </p:nvSpPr>
        <p:spPr>
          <a:xfrm rot="0" flipH="0" flipV="0">
            <a:off x="4686300" y="1752600"/>
            <a:ext cx="1600200" cy="1219200"/>
          </a:xfrm>
          <a:prstGeom prst="roundRect">
            <a:avLst>
              <a:gd name="adj" fmla="val 7813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54" name=""/>
          <p:cNvSpPr/>
          <p:nvPr/>
        </p:nvSpPr>
        <p:spPr>
          <a:xfrm rot="0" flipH="0" flipV="0">
            <a:off x="5276850" y="1885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CE7FB"/>
          </a:solidFill>
          <a:ln/>
        </p:spPr>
        <p:txBody>
          <a:bodyPr/>
          <a:p>
            <a:pPr/>
            <a:endParaRPr/>
          </a:p>
        </p:txBody>
      </p:sp>
      <p:sp>
        <p:nvSpPr>
          <p:cNvPr id="755" name=""/>
          <p:cNvSpPr/>
          <p:nvPr/>
        </p:nvSpPr>
        <p:spPr>
          <a:xfrm rot="0" flipH="0" flipV="0">
            <a:off x="5391150" y="2000250"/>
            <a:ext cx="190500" cy="1905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756" name="" descr="{&quot;isTemplate&quot;:true,&quot;type&quot;:&quot;text&quot;}"/>
          <p:cNvSpPr txBox="1"/>
          <p:nvPr/>
        </p:nvSpPr>
        <p:spPr>
          <a:xfrm rot="0" flipH="0" flipV="0">
            <a:off x="5105400" y="2400300"/>
            <a:ext cx="762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沉淀复用</a:t>
            </a:r>
            <a:endParaRPr/>
          </a:p>
        </p:txBody>
      </p:sp>
      <p:sp>
        <p:nvSpPr>
          <p:cNvPr id="757" name="" descr="{&quot;isTemplate&quot;:true,&quot;type&quot;:&quot;text&quot;}"/>
          <p:cNvSpPr txBox="1"/>
          <p:nvPr/>
        </p:nvSpPr>
        <p:spPr>
          <a:xfrm rot="0" flipH="0" flipV="0">
            <a:off x="4991100" y="2705100"/>
            <a:ext cx="10001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过不了合规审批</a:t>
            </a:r>
            <a:endParaRPr/>
          </a:p>
        </p:txBody>
      </p:sp>
      <p:sp>
        <p:nvSpPr>
          <p:cNvPr id="758" name=""/>
          <p:cNvSpPr/>
          <p:nvPr/>
        </p:nvSpPr>
        <p:spPr>
          <a:xfrm rot="0" flipH="0" flipV="0">
            <a:off x="571500" y="3143250"/>
            <a:ext cx="5715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759" name="" descr="{&quot;isTemplate&quot;:true,&quot;type&quot;:&quot;text&quot;}"/>
          <p:cNvSpPr txBox="1"/>
          <p:nvPr/>
        </p:nvSpPr>
        <p:spPr>
          <a:xfrm rot="0" flipH="0" flipV="0">
            <a:off x="571500" y="3286125"/>
            <a:ext cx="57150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通用</a:t>
            </a:r>
            <a:r>
              <a:rPr lang="en-US" sz="1125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125">
                <a:solidFill>
                  <a:srgbClr val="94A3B8"/>
                </a:solidFill>
                <a:latin typeface="Microsoft YaHei"/>
                <a:ea typeface="Microsoft YaHei"/>
              </a:rPr>
              <a:t>的能力链：三处断点让它停在演示阶段</a:t>
            </a:r>
            <a:endParaRPr/>
          </a:p>
        </p:txBody>
      </p:sp>
      <p:sp>
        <p:nvSpPr>
          <p:cNvPr id="760" name="" descr="{&quot;isTemplate&quot;:true,&quot;type&quot;:&quot;text&quot;}"/>
          <p:cNvSpPr txBox="1"/>
          <p:nvPr/>
        </p:nvSpPr>
        <p:spPr>
          <a:xfrm rot="0" flipH="0" flipV="0">
            <a:off x="571500" y="3667125"/>
            <a:ext cx="5715000" cy="6191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350">
                <a:solidFill>
                  <a:srgbClr val="475569"/>
                </a:solidFill>
                <a:latin typeface="Microsoft YaHei"/>
                <a:ea typeface="Microsoft YaHei"/>
              </a:rPr>
              <a:t>模型能力已经足够，缺的是把它接进企业现场的三段路：让它读得到私有数据、准予它调用工具，并且有人管得住它。</a:t>
            </a:r>
            <a:endParaRPr/>
          </a:p>
        </p:txBody>
      </p:sp>
      <p:sp>
        <p:nvSpPr>
          <p:cNvPr id="761" name=""/>
          <p:cNvSpPr/>
          <p:nvPr/>
        </p:nvSpPr>
        <p:spPr>
          <a:xfrm rot="0" flipH="0" flipV="0">
            <a:off x="6705600" y="1752600"/>
            <a:ext cx="4914900" cy="1152525"/>
          </a:xfrm>
          <a:custGeom>
            <a:pathLst>
              <a:path w="516" h="121">
                <a:moveTo>
                  <a:pt x="0" y="120"/>
                </a:moveTo>
                <a:lnTo>
                  <a:pt x="516" y="120"/>
                </a:lnTo>
                <a:lnTo>
                  <a:pt x="516" y="121"/>
                </a:lnTo>
                <a:lnTo>
                  <a:pt x="0" y="12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762" name="" descr="{&quot;isTemplate&quot;:true,&quot;type&quot;:&quot;text&quot;}"/>
          <p:cNvSpPr txBox="1"/>
          <p:nvPr/>
        </p:nvSpPr>
        <p:spPr>
          <a:xfrm rot="0" flipH="0" flipV="0">
            <a:off x="6705600" y="1752600"/>
            <a:ext cx="49149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1D4ED8"/>
                </a:solidFill>
                <a:latin typeface="Microsoft YaHei"/>
                <a:ea typeface="Microsoft YaHei"/>
              </a:rPr>
              <a:t>01</a:t>
            </a:r>
            <a:r>
              <a:rPr lang="zh-CN" sz="1650" b="1">
                <a:solidFill>
                  <a:srgbClr val="1D4ED8"/>
                </a:solidFill>
                <a:latin typeface="Microsoft YaHei"/>
                <a:ea typeface="Microsoft YaHei"/>
              </a:rPr>
              <a:t>　数据断层</a:t>
            </a:r>
            <a:endParaRPr/>
          </a:p>
        </p:txBody>
      </p:sp>
      <p:sp>
        <p:nvSpPr>
          <p:cNvPr id="763" name="" descr="{&quot;isTemplate&quot;:true,&quot;type&quot;:&quot;text&quot;}"/>
          <p:cNvSpPr txBox="1"/>
          <p:nvPr/>
        </p:nvSpPr>
        <p:spPr>
          <a:xfrm rot="0" flipH="0" flipV="0">
            <a:off x="6705600" y="2162175"/>
            <a:ext cx="4914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业务知识散落在文档、即时消息、业务系统与人脑里，通用模型没有检索入口，只能给出放之四海而皆准的答案。</a:t>
            </a:r>
            <a:endParaRPr/>
          </a:p>
        </p:txBody>
      </p:sp>
      <p:sp>
        <p:nvSpPr>
          <p:cNvPr id="764" name=""/>
          <p:cNvSpPr/>
          <p:nvPr/>
        </p:nvSpPr>
        <p:spPr>
          <a:xfrm rot="0" flipH="0" flipV="0">
            <a:off x="6705600" y="2895600"/>
            <a:ext cx="4914900" cy="1285875"/>
          </a:xfrm>
          <a:custGeom>
            <a:pathLst>
              <a:path w="516" h="135">
                <a:moveTo>
                  <a:pt x="0" y="134"/>
                </a:moveTo>
                <a:lnTo>
                  <a:pt x="516" y="134"/>
                </a:lnTo>
                <a:lnTo>
                  <a:pt x="516" y="135"/>
                </a:lnTo>
                <a:lnTo>
                  <a:pt x="0" y="135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765" name="" descr="{&quot;isTemplate&quot;:true,&quot;type&quot;:&quot;text&quot;}"/>
          <p:cNvSpPr txBox="1"/>
          <p:nvPr/>
        </p:nvSpPr>
        <p:spPr>
          <a:xfrm rot="0" flipH="0" flipV="0">
            <a:off x="6705600" y="3028950"/>
            <a:ext cx="49149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1D4ED8"/>
                </a:solidFill>
                <a:latin typeface="Microsoft YaHei"/>
                <a:ea typeface="Microsoft YaHei"/>
              </a:rPr>
              <a:t>02</a:t>
            </a:r>
            <a:r>
              <a:rPr lang="zh-CN" sz="1650" b="1">
                <a:solidFill>
                  <a:srgbClr val="1D4ED8"/>
                </a:solidFill>
                <a:latin typeface="Microsoft YaHei"/>
                <a:ea typeface="Microsoft YaHei"/>
              </a:rPr>
              <a:t>　工具断层</a:t>
            </a:r>
            <a:endParaRPr/>
          </a:p>
        </p:txBody>
      </p:sp>
      <p:sp>
        <p:nvSpPr>
          <p:cNvPr id="766" name="" descr="{&quot;isTemplate&quot;:true,&quot;type&quot;:&quot;text&quot;}"/>
          <p:cNvSpPr txBox="1"/>
          <p:nvPr/>
        </p:nvSpPr>
        <p:spPr>
          <a:xfrm rot="0" flipH="0" flipV="0">
            <a:off x="6705600" y="3438525"/>
            <a:ext cx="4914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没有文件、命令、浏览器与业务系统的执行权限，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的结论永远停在「建议你这样做」，价值进不了业务流程。</a:t>
            </a:r>
            <a:endParaRPr/>
          </a:p>
        </p:txBody>
      </p:sp>
      <p:sp>
        <p:nvSpPr>
          <p:cNvPr id="767" name="" descr="{&quot;isTemplate&quot;:true,&quot;type&quot;:&quot;text&quot;}"/>
          <p:cNvSpPr txBox="1"/>
          <p:nvPr/>
        </p:nvSpPr>
        <p:spPr>
          <a:xfrm rot="0" flipH="0" flipV="0">
            <a:off x="6705600" y="4305300"/>
            <a:ext cx="49149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650" b="1">
                <a:solidFill>
                  <a:srgbClr val="1D4ED8"/>
                </a:solidFill>
                <a:latin typeface="Microsoft YaHei"/>
                <a:ea typeface="Microsoft YaHei"/>
              </a:rPr>
              <a:t>03</a:t>
            </a:r>
            <a:r>
              <a:rPr lang="zh-CN" sz="1650" b="1">
                <a:solidFill>
                  <a:srgbClr val="1D4ED8"/>
                </a:solidFill>
                <a:latin typeface="Microsoft YaHei"/>
                <a:ea typeface="Microsoft YaHei"/>
              </a:rPr>
              <a:t>　管控断层</a:t>
            </a:r>
            <a:endParaRPr/>
          </a:p>
        </p:txBody>
      </p:sp>
      <p:sp>
        <p:nvSpPr>
          <p:cNvPr id="768" name="" descr="{&quot;isTemplate&quot;:true,&quot;type&quot;:&quot;text&quot;}"/>
          <p:cNvSpPr txBox="1"/>
          <p:nvPr/>
        </p:nvSpPr>
        <p:spPr>
          <a:xfrm rot="0" flipH="0" flipV="0">
            <a:off x="6705600" y="4714875"/>
            <a:ext cx="49149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缺少审批、命令守卫与调用留痕，安全团队无法回答「它刚才到底做了什么」，于是越能干越不敢放手。</a:t>
            </a:r>
            <a:endParaRPr/>
          </a:p>
        </p:txBody>
      </p:sp>
      <p:sp>
        <p:nvSpPr>
          <p:cNvPr id="769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770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771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试点停在演示阶段的主因不是模型不够强，而是数据、工具、管控这三项工程基础设施缺位——这三项补齐，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才进得了生产。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77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77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77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77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一个安装包交付整套企业级</a:t>
            </a:r>
            <a:r>
              <a:rPr lang="en-US" sz="255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77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778" name=""/>
          <p:cNvSpPr/>
          <p:nvPr/>
        </p:nvSpPr>
        <p:spPr>
          <a:xfrm rot="0" flipH="0" flipV="0">
            <a:off x="571500" y="1752600"/>
            <a:ext cx="6286500" cy="3581400"/>
          </a:xfrm>
          <a:prstGeom prst="roundRect">
            <a:avLst>
              <a:gd name="adj" fmla="val 31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79" name="" descr="{&quot;isTemplate&quot;:true,&quot;type&quot;:&quot;text&quot;}"/>
          <p:cNvSpPr txBox="1"/>
          <p:nvPr/>
        </p:nvSpPr>
        <p:spPr>
          <a:xfrm rot="0" flipH="0" flipV="0">
            <a:off x="704850" y="1885950"/>
            <a:ext cx="60198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YdszServer · </a:t>
            </a: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单进程，重启即恢复</a:t>
            </a:r>
            <a:endParaRPr/>
          </a:p>
        </p:txBody>
      </p:sp>
      <p:sp>
        <p:nvSpPr>
          <p:cNvPr id="780" name=""/>
          <p:cNvSpPr/>
          <p:nvPr/>
        </p:nvSpPr>
        <p:spPr>
          <a:xfrm rot="0" flipH="0" flipV="0">
            <a:off x="704850" y="228600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81" name="" descr="{&quot;isTemplate&quot;:true,&quot;type&quot;:&quot;text&quot;}"/>
          <p:cNvSpPr txBox="1"/>
          <p:nvPr/>
        </p:nvSpPr>
        <p:spPr>
          <a:xfrm rot="0" flipH="0" flipV="0">
            <a:off x="790575" y="237172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D4ED8"/>
                </a:solidFill>
                <a:latin typeface="Microsoft YaHei"/>
                <a:ea typeface="Microsoft YaHei"/>
              </a:rPr>
              <a:t>控制面数据库</a:t>
            </a:r>
            <a:endParaRPr/>
          </a:p>
        </p:txBody>
      </p:sp>
      <p:sp>
        <p:nvSpPr>
          <p:cNvPr id="782" name="" descr="{&quot;isTemplate&quot;:true,&quot;type&quot;:&quot;text&quot;}"/>
          <p:cNvSpPr txBox="1"/>
          <p:nvPr/>
        </p:nvSpPr>
        <p:spPr>
          <a:xfrm rot="0" flipH="0" flipV="0">
            <a:off x="790575" y="260985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SQLite WAL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起步，可切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PostgreSQL</a:t>
            </a:r>
            <a:endParaRPr/>
          </a:p>
        </p:txBody>
      </p:sp>
      <p:sp>
        <p:nvSpPr>
          <p:cNvPr id="783" name=""/>
          <p:cNvSpPr/>
          <p:nvPr/>
        </p:nvSpPr>
        <p:spPr>
          <a:xfrm rot="0" flipH="0" flipV="0">
            <a:off x="3762375" y="228600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84" name="" descr="{&quot;isTemplate&quot;:true,&quot;type&quot;:&quot;text&quot;}"/>
          <p:cNvSpPr txBox="1"/>
          <p:nvPr/>
        </p:nvSpPr>
        <p:spPr>
          <a:xfrm rot="0" flipH="0" flipV="0">
            <a:off x="3848100" y="237172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D4ED8"/>
                </a:solidFill>
                <a:latin typeface="Microsoft YaHei"/>
                <a:ea typeface="Microsoft YaHei"/>
              </a:rPr>
              <a:t>SharedServices</a:t>
            </a:r>
            <a:endParaRPr/>
          </a:p>
        </p:txBody>
      </p:sp>
      <p:sp>
        <p:nvSpPr>
          <p:cNvPr id="785" name="" descr="{&quot;isTemplate&quot;:true,&quot;type&quot;:&quot;text&quot;}"/>
          <p:cNvSpPr txBox="1"/>
          <p:nvPr/>
        </p:nvSpPr>
        <p:spPr>
          <a:xfrm rot="0" flipH="0" flipV="0">
            <a:off x="3848100" y="260985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仓库与工厂的统一依赖注入根</a:t>
            </a:r>
            <a:endParaRPr/>
          </a:p>
        </p:txBody>
      </p:sp>
      <p:sp>
        <p:nvSpPr>
          <p:cNvPr id="786" name=""/>
          <p:cNvSpPr/>
          <p:nvPr/>
        </p:nvSpPr>
        <p:spPr>
          <a:xfrm rot="0" flipH="0" flipV="0">
            <a:off x="704850" y="3019425"/>
            <a:ext cx="1943100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87" name="" descr="{&quot;isTemplate&quot;:true,&quot;type&quot;:&quot;text&quot;}"/>
          <p:cNvSpPr txBox="1"/>
          <p:nvPr/>
        </p:nvSpPr>
        <p:spPr>
          <a:xfrm rot="0" flipH="0" flipV="0">
            <a:off x="790575" y="3105150"/>
            <a:ext cx="17716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D4ED8"/>
                </a:solidFill>
                <a:latin typeface="Microsoft YaHei"/>
                <a:ea typeface="Microsoft YaHei"/>
              </a:rPr>
              <a:t>AgentManager</a:t>
            </a:r>
            <a:endParaRPr/>
          </a:p>
        </p:txBody>
      </p:sp>
      <p:sp>
        <p:nvSpPr>
          <p:cNvPr id="788" name="" descr="{&quot;isTemplate&quot;:true,&quot;type&quot;:&quot;text&quot;}"/>
          <p:cNvSpPr txBox="1"/>
          <p:nvPr/>
        </p:nvSpPr>
        <p:spPr>
          <a:xfrm rot="0" flipH="0" flipV="0">
            <a:off x="790575" y="33432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多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注册与生命周期</a:t>
            </a:r>
            <a:endParaRPr/>
          </a:p>
        </p:txBody>
      </p:sp>
      <p:sp>
        <p:nvSpPr>
          <p:cNvPr id="789" name=""/>
          <p:cNvSpPr/>
          <p:nvPr/>
        </p:nvSpPr>
        <p:spPr>
          <a:xfrm rot="0" flipH="0" flipV="0">
            <a:off x="2743200" y="3019425"/>
            <a:ext cx="1943100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90" name="" descr="{&quot;isTemplate&quot;:true,&quot;type&quot;:&quot;text&quot;}"/>
          <p:cNvSpPr txBox="1"/>
          <p:nvPr/>
        </p:nvSpPr>
        <p:spPr>
          <a:xfrm rot="0" flipH="0" flipV="0">
            <a:off x="2828925" y="3105150"/>
            <a:ext cx="17716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D4ED8"/>
                </a:solidFill>
                <a:latin typeface="Microsoft YaHei"/>
                <a:ea typeface="Microsoft YaHei"/>
              </a:rPr>
              <a:t xml:space="preserve">Harness </a:t>
            </a:r>
            <a:r>
              <a:rPr lang="zh-CN" sz="1200" b="1">
                <a:solidFill>
                  <a:srgbClr val="1D4ED8"/>
                </a:solidFill>
                <a:latin typeface="Microsoft YaHei"/>
                <a:ea typeface="Microsoft YaHei"/>
              </a:rPr>
              <a:t>运行时</a:t>
            </a:r>
            <a:endParaRPr/>
          </a:p>
        </p:txBody>
      </p:sp>
      <p:sp>
        <p:nvSpPr>
          <p:cNvPr id="791" name="" descr="{&quot;isTemplate&quot;:true,&quot;type&quot;:&quot;text&quot;}"/>
          <p:cNvSpPr txBox="1"/>
          <p:nvPr/>
        </p:nvSpPr>
        <p:spPr>
          <a:xfrm rot="0" flipH="0" flipV="0">
            <a:off x="2828925" y="33432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LangGraph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对话与检查点</a:t>
            </a:r>
            <a:endParaRPr/>
          </a:p>
        </p:txBody>
      </p:sp>
      <p:sp>
        <p:nvSpPr>
          <p:cNvPr id="792" name=""/>
          <p:cNvSpPr/>
          <p:nvPr/>
        </p:nvSpPr>
        <p:spPr>
          <a:xfrm rot="0" flipH="0" flipV="0">
            <a:off x="4781550" y="3019425"/>
            <a:ext cx="1943100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93" name="" descr="{&quot;isTemplate&quot;:true,&quot;type&quot;:&quot;text&quot;}"/>
          <p:cNvSpPr txBox="1"/>
          <p:nvPr/>
        </p:nvSpPr>
        <p:spPr>
          <a:xfrm rot="0" flipH="0" flipV="0">
            <a:off x="4867275" y="3105150"/>
            <a:ext cx="17716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D4ED8"/>
                </a:solidFill>
                <a:latin typeface="Microsoft YaHei"/>
                <a:ea typeface="Microsoft YaHei"/>
              </a:rPr>
              <a:t>Gateway</a:t>
            </a:r>
            <a:endParaRPr/>
          </a:p>
        </p:txBody>
      </p:sp>
      <p:sp>
        <p:nvSpPr>
          <p:cNvPr id="794" name="" descr="{&quot;isTemplate&quot;:true,&quot;type&quot;:&quot;text&quot;}"/>
          <p:cNvSpPr txBox="1"/>
          <p:nvPr/>
        </p:nvSpPr>
        <p:spPr>
          <a:xfrm rot="0" flipH="0" flipV="0">
            <a:off x="4867275" y="3343275"/>
            <a:ext cx="17716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通道与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WebSocket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枢纽</a:t>
            </a:r>
            <a:endParaRPr/>
          </a:p>
        </p:txBody>
      </p:sp>
      <p:sp>
        <p:nvSpPr>
          <p:cNvPr id="795" name=""/>
          <p:cNvSpPr/>
          <p:nvPr/>
        </p:nvSpPr>
        <p:spPr>
          <a:xfrm rot="0" flipH="0" flipV="0">
            <a:off x="704850" y="375285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96" name="" descr="{&quot;isTemplate&quot;:true,&quot;type&quot;:&quot;text&quot;}"/>
          <p:cNvSpPr txBox="1"/>
          <p:nvPr/>
        </p:nvSpPr>
        <p:spPr>
          <a:xfrm rot="0" flipH="0" flipV="0">
            <a:off x="790575" y="383857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D4ED8"/>
                </a:solidFill>
                <a:latin typeface="Microsoft YaHei"/>
                <a:ea typeface="Microsoft YaHei"/>
              </a:rPr>
              <a:t>CronManager</a:t>
            </a:r>
            <a:endParaRPr/>
          </a:p>
        </p:txBody>
      </p:sp>
      <p:sp>
        <p:nvSpPr>
          <p:cNvPr id="797" name="" descr="{&quot;isTemplate&quot;:true,&quot;type&quot;:&quot;text&quot;}"/>
          <p:cNvSpPr txBox="1"/>
          <p:nvPr/>
        </p:nvSpPr>
        <p:spPr>
          <a:xfrm rot="0" flipH="0" flipV="0">
            <a:off x="790575" y="407670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APScheduler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定时任务</a:t>
            </a:r>
            <a:endParaRPr/>
          </a:p>
        </p:txBody>
      </p:sp>
      <p:sp>
        <p:nvSpPr>
          <p:cNvPr id="798" name=""/>
          <p:cNvSpPr/>
          <p:nvPr/>
        </p:nvSpPr>
        <p:spPr>
          <a:xfrm rot="0" flipH="0" flipV="0">
            <a:off x="3762375" y="3752850"/>
            <a:ext cx="2962275" cy="638175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99" name="" descr="{&quot;isTemplate&quot;:true,&quot;type&quot;:&quot;text&quot;}"/>
          <p:cNvSpPr txBox="1"/>
          <p:nvPr/>
        </p:nvSpPr>
        <p:spPr>
          <a:xfrm rot="0" flipH="0" flipV="0">
            <a:off x="3848100" y="3838575"/>
            <a:ext cx="27908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1D4ED8"/>
                </a:solidFill>
                <a:latin typeface="Microsoft YaHei"/>
                <a:ea typeface="Microsoft YaHei"/>
              </a:rPr>
              <a:t xml:space="preserve">FastAPI + </a:t>
            </a:r>
            <a:r>
              <a:rPr lang="zh-CN" sz="1200" b="1">
                <a:solidFill>
                  <a:srgbClr val="1D4ED8"/>
                </a:solidFill>
                <a:latin typeface="Microsoft YaHei"/>
                <a:ea typeface="Microsoft YaHei"/>
              </a:rPr>
              <a:t>控制台</a:t>
            </a:r>
            <a:endParaRPr/>
          </a:p>
        </p:txBody>
      </p:sp>
      <p:sp>
        <p:nvSpPr>
          <p:cNvPr id="800" name="" descr="{&quot;isTemplate&quot;:true,&quot;type&quot;:&quot;text&quot;}"/>
          <p:cNvSpPr txBox="1"/>
          <p:nvPr/>
        </p:nvSpPr>
        <p:spPr>
          <a:xfrm rot="0" flipH="0" flipV="0">
            <a:off x="3848100" y="4076700"/>
            <a:ext cx="27908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HTTP / WebSocket / CLI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同源</a:t>
            </a:r>
            <a:endParaRPr/>
          </a:p>
        </p:txBody>
      </p:sp>
      <p:sp>
        <p:nvSpPr>
          <p:cNvPr id="801" name=""/>
          <p:cNvSpPr/>
          <p:nvPr/>
        </p:nvSpPr>
        <p:spPr>
          <a:xfrm rot="0" flipH="0" flipV="0">
            <a:off x="7239000" y="1752600"/>
            <a:ext cx="4381500" cy="1152525"/>
          </a:xfrm>
          <a:custGeom>
            <a:pathLst>
              <a:path w="460" h="121">
                <a:moveTo>
                  <a:pt x="0" y="120"/>
                </a:moveTo>
                <a:lnTo>
                  <a:pt x="460" y="120"/>
                </a:lnTo>
                <a:lnTo>
                  <a:pt x="460" y="121"/>
                </a:lnTo>
                <a:lnTo>
                  <a:pt x="0" y="12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802" name="" descr="{&quot;isTemplate&quot;:true,&quot;type&quot;:&quot;text&quot;}"/>
          <p:cNvSpPr txBox="1"/>
          <p:nvPr/>
        </p:nvSpPr>
        <p:spPr>
          <a:xfrm rot="0" flipH="0" flipV="0">
            <a:off x="7239000" y="175260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形态：一个进程，四种入口</a:t>
            </a:r>
            <a:endParaRPr/>
          </a:p>
        </p:txBody>
      </p:sp>
      <p:sp>
        <p:nvSpPr>
          <p:cNvPr id="803" name="" descr="{&quot;isTemplate&quot;:true,&quot;type&quot;:&quot;text&quot;}"/>
          <p:cNvSpPr txBox="1"/>
          <p:nvPr/>
        </p:nvSpPr>
        <p:spPr>
          <a:xfrm rot="0" flipH="0" flipV="0">
            <a:off x="7239000" y="2162175"/>
            <a:ext cx="4381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控制台、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>CLI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通道与定时任务共享同一条消息管线，无外部队列依赖。</a:t>
            </a:r>
            <a:endParaRPr/>
          </a:p>
        </p:txBody>
      </p:sp>
      <p:sp>
        <p:nvSpPr>
          <p:cNvPr id="804" name=""/>
          <p:cNvSpPr/>
          <p:nvPr/>
        </p:nvSpPr>
        <p:spPr>
          <a:xfrm rot="0" flipH="0" flipV="0">
            <a:off x="7239000" y="2895600"/>
            <a:ext cx="4381500" cy="1285875"/>
          </a:xfrm>
          <a:custGeom>
            <a:pathLst>
              <a:path w="460" h="135">
                <a:moveTo>
                  <a:pt x="0" y="134"/>
                </a:moveTo>
                <a:lnTo>
                  <a:pt x="460" y="134"/>
                </a:lnTo>
                <a:lnTo>
                  <a:pt x="460" y="135"/>
                </a:lnTo>
                <a:lnTo>
                  <a:pt x="0" y="135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805" name="" descr="{&quot;isTemplate&quot;:true,&quot;type&quot;:&quot;text&quot;}"/>
          <p:cNvSpPr txBox="1"/>
          <p:nvPr/>
        </p:nvSpPr>
        <p:spPr>
          <a:xfrm rot="0" flipH="0" flipV="0">
            <a:off x="7239000" y="302895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来源：站在开源生态之上</a:t>
            </a:r>
            <a:endParaRPr/>
          </a:p>
        </p:txBody>
      </p:sp>
      <p:sp>
        <p:nvSpPr>
          <p:cNvPr id="806" name="" descr="{&quot;isTemplate&quot;:true,&quot;type&quot;:&quot;text&quot;}"/>
          <p:cNvSpPr txBox="1"/>
          <p:nvPr/>
        </p:nvSpPr>
        <p:spPr>
          <a:xfrm rot="0" flipH="0" flipV="0">
            <a:off x="7239000" y="3438525"/>
            <a:ext cx="4381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基于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Octop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开源生态，采用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MIT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许可，并承诺与上游子组件版本同步。</a:t>
            </a:r>
            <a:endParaRPr/>
          </a:p>
        </p:txBody>
      </p:sp>
      <p:sp>
        <p:nvSpPr>
          <p:cNvPr id="807" name="" descr="{&quot;isTemplate&quot;:true,&quot;type&quot;:&quot;text&quot;}"/>
          <p:cNvSpPr txBox="1"/>
          <p:nvPr/>
        </p:nvSpPr>
        <p:spPr>
          <a:xfrm rot="0" flipH="0" flipV="0">
            <a:off x="7239000" y="4305300"/>
            <a:ext cx="4381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边界：不是又一个聊天框</a:t>
            </a:r>
            <a:endParaRPr/>
          </a:p>
        </p:txBody>
      </p:sp>
      <p:sp>
        <p:nvSpPr>
          <p:cNvPr id="808" name="" descr="{&quot;isTemplate&quot;:true,&quot;type&quot;:&quot;text&quot;}"/>
          <p:cNvSpPr txBox="1"/>
          <p:nvPr/>
        </p:nvSpPr>
        <p:spPr>
          <a:xfrm rot="0" flipH="0" flipV="0">
            <a:off x="7239000" y="4714875"/>
            <a:ext cx="43815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让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带着身份、权限与审计进入业务流程的控制面。</a:t>
            </a:r>
            <a:endParaRPr/>
          </a:p>
        </p:txBody>
      </p:sp>
      <p:sp>
        <p:nvSpPr>
          <p:cNvPr id="809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810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11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运维复杂度被压缩到一个进程：没有消息队列要管、没有中间件要调，一台机器就能把整套能力跑起来。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8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1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81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1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会思考、会干活、陪企业成长，是三件不同的事</a:t>
            </a:r>
            <a:endParaRPr/>
          </a:p>
        </p:txBody>
      </p:sp>
      <p:sp>
        <p:nvSpPr>
          <p:cNvPr id="81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818" name=""/>
          <p:cNvSpPr/>
          <p:nvPr/>
        </p:nvSpPr>
        <p:spPr>
          <a:xfrm rot="0" flipH="0" flipV="0">
            <a:off x="571500" y="1752600"/>
            <a:ext cx="5715000" cy="3581400"/>
          </a:xfrm>
          <a:prstGeom prst="roundRect">
            <a:avLst>
              <a:gd name="adj" fmla="val 3191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819" name="" descr="{&quot;isTemplate&quot;:true,&quot;type&quot;:&quot;text&quot;}"/>
          <p:cNvSpPr txBox="1"/>
          <p:nvPr/>
        </p:nvSpPr>
        <p:spPr>
          <a:xfrm rot="0" flipH="0" flipV="0">
            <a:off x="762000" y="1943100"/>
            <a:ext cx="5334000" cy="3905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950" b="1">
                <a:solidFill>
                  <a:srgbClr val="FFFFFF"/>
                </a:solidFill>
                <a:latin typeface="Microsoft YaHei"/>
                <a:ea typeface="Microsoft YaHei"/>
              </a:rPr>
              <a:t>会干活：把结论变成动作</a:t>
            </a:r>
            <a:endParaRPr/>
          </a:p>
        </p:txBody>
      </p:sp>
      <p:sp>
        <p:nvSpPr>
          <p:cNvPr id="820" name="" descr="{&quot;isTemplate&quot;:true,&quot;type&quot;:&quot;text&quot;}"/>
          <p:cNvSpPr txBox="1"/>
          <p:nvPr/>
        </p:nvSpPr>
        <p:spPr>
          <a:xfrm rot="0" flipH="0" flipV="0">
            <a:off x="762000" y="2447925"/>
            <a:ext cx="5334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A9C2E8"/>
                </a:solidFill>
                <a:latin typeface="Microsoft YaHei"/>
                <a:ea typeface="Microsoft YaHei"/>
              </a:rPr>
              <a:t>读写文件、执行</a:t>
            </a:r>
            <a:r>
              <a:rPr lang="en-US" sz="1275">
                <a:solidFill>
                  <a:srgbClr val="A9C2E8"/>
                </a:solidFill>
                <a:latin typeface="Microsoft YaHei"/>
                <a:ea typeface="Microsoft YaHei"/>
              </a:rPr>
              <a:t xml:space="preserve"> Shell</a:t>
            </a:r>
            <a:r>
              <a:rPr lang="zh-CN" sz="1275">
                <a:solidFill>
                  <a:srgbClr val="A9C2E8"/>
                </a:solidFill>
                <a:latin typeface="Microsoft YaHei"/>
                <a:ea typeface="Microsoft YaHei"/>
              </a:rPr>
              <a:t>、调用浏览器、生成图片与视频、创建定时任务——动作真实发生在你的机器或沙箱里。</a:t>
            </a:r>
            <a:endParaRPr/>
          </a:p>
        </p:txBody>
      </p:sp>
      <p:sp>
        <p:nvSpPr>
          <p:cNvPr id="821" name=""/>
          <p:cNvSpPr/>
          <p:nvPr/>
        </p:nvSpPr>
        <p:spPr>
          <a:xfrm rot="0" flipH="0" flipV="0">
            <a:off x="762000" y="3171825"/>
            <a:ext cx="5334000" cy="9525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822" name=""/>
          <p:cNvSpPr/>
          <p:nvPr/>
        </p:nvSpPr>
        <p:spPr>
          <a:xfrm rot="0" flipH="0" flipV="0">
            <a:off x="762000" y="33718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823" name="" descr="{&quot;isTemplate&quot;:true,&quot;type&quot;:&quot;text&quot;}"/>
          <p:cNvSpPr txBox="1"/>
          <p:nvPr/>
        </p:nvSpPr>
        <p:spPr>
          <a:xfrm rot="0" flipH="0" flipV="0">
            <a:off x="952500" y="3295650"/>
            <a:ext cx="5143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文件与命令：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>ls / read_file / write_file / edit_file / glob / grep / execute</a:t>
            </a:r>
            <a:endParaRPr/>
          </a:p>
        </p:txBody>
      </p:sp>
      <p:sp>
        <p:nvSpPr>
          <p:cNvPr id="824" name=""/>
          <p:cNvSpPr/>
          <p:nvPr/>
        </p:nvSpPr>
        <p:spPr>
          <a:xfrm rot="0" flipH="0" flipV="0">
            <a:off x="762000" y="40576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825" name="" descr="{&quot;isTemplate&quot;:true,&quot;type&quot;:&quot;text&quot;}"/>
          <p:cNvSpPr txBox="1"/>
          <p:nvPr/>
        </p:nvSpPr>
        <p:spPr>
          <a:xfrm rot="0" flipH="0" flipV="0">
            <a:off x="952500" y="3981450"/>
            <a:ext cx="51435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联网与验证：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个搜索后端、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>web_fetch</a:t>
            </a: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、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browser_use </a:t>
            </a: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无头浏览器会话</a:t>
            </a:r>
            <a:endParaRPr/>
          </a:p>
        </p:txBody>
      </p:sp>
      <p:sp>
        <p:nvSpPr>
          <p:cNvPr id="826" name=""/>
          <p:cNvSpPr/>
          <p:nvPr/>
        </p:nvSpPr>
        <p:spPr>
          <a:xfrm rot="0" flipH="0" flipV="0">
            <a:off x="762000" y="47434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827" name="" descr="{&quot;isTemplate&quot;:true,&quot;type&quot;:&quot;text&quot;}"/>
          <p:cNvSpPr txBox="1"/>
          <p:nvPr/>
        </p:nvSpPr>
        <p:spPr>
          <a:xfrm rot="0" flipH="0" flipV="0">
            <a:off x="952500" y="4667250"/>
            <a:ext cx="51435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交付与排程：文件回传、定时任务增删改查、立即执行</a:t>
            </a:r>
            <a:endParaRPr/>
          </a:p>
        </p:txBody>
      </p:sp>
      <p:sp>
        <p:nvSpPr>
          <p:cNvPr id="828" name=""/>
          <p:cNvSpPr/>
          <p:nvPr/>
        </p:nvSpPr>
        <p:spPr>
          <a:xfrm rot="0" flipH="0" flipV="0">
            <a:off x="6591300" y="1752600"/>
            <a:ext cx="5029200" cy="1428750"/>
          </a:xfrm>
          <a:prstGeom prst="roundRect">
            <a:avLst>
              <a:gd name="adj" fmla="val 800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29" name="" descr="{&quot;isTemplate&quot;:true,&quot;type&quot;:&quot;text&quot;}"/>
          <p:cNvSpPr txBox="1"/>
          <p:nvPr/>
        </p:nvSpPr>
        <p:spPr>
          <a:xfrm rot="0" flipH="0" flipV="0">
            <a:off x="6781800" y="1943100"/>
            <a:ext cx="46482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会思考：答案锚定私有数据</a:t>
            </a:r>
            <a:endParaRPr/>
          </a:p>
        </p:txBody>
      </p:sp>
      <p:sp>
        <p:nvSpPr>
          <p:cNvPr id="830" name="" descr="{&quot;isTemplate&quot;:true,&quot;type&quot;:&quot;text&quot;}"/>
          <p:cNvSpPr txBox="1"/>
          <p:nvPr/>
        </p:nvSpPr>
        <p:spPr>
          <a:xfrm rot="0" flipH="0" flipV="0">
            <a:off x="6781800" y="2400300"/>
            <a:ext cx="4648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知识库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RAG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给出带出处的答案；长期记忆以三层模型沉淀，跨会话仍认得你的组织。</a:t>
            </a:r>
            <a:endParaRPr/>
          </a:p>
        </p:txBody>
      </p:sp>
      <p:sp>
        <p:nvSpPr>
          <p:cNvPr id="831" name=""/>
          <p:cNvSpPr/>
          <p:nvPr/>
        </p:nvSpPr>
        <p:spPr>
          <a:xfrm rot="0" flipH="0" flipV="0">
            <a:off x="6591300" y="3352800"/>
            <a:ext cx="5029200" cy="1428750"/>
          </a:xfrm>
          <a:prstGeom prst="roundRect">
            <a:avLst>
              <a:gd name="adj" fmla="val 8000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32" name="" descr="{&quot;isTemplate&quot;:true,&quot;type&quot;:&quot;text&quot;}"/>
          <p:cNvSpPr txBox="1"/>
          <p:nvPr/>
        </p:nvSpPr>
        <p:spPr>
          <a:xfrm rot="0" flipH="0" flipV="0">
            <a:off x="6781800" y="3543300"/>
            <a:ext cx="46482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陪企业成长：越用越值钱</a:t>
            </a:r>
            <a:endParaRPr/>
          </a:p>
        </p:txBody>
      </p:sp>
      <p:sp>
        <p:nvSpPr>
          <p:cNvPr id="833" name="" descr="{&quot;isTemplate&quot;:true,&quot;type&quot;:&quot;text&quot;}"/>
          <p:cNvSpPr txBox="1"/>
          <p:nvPr/>
        </p:nvSpPr>
        <p:spPr>
          <a:xfrm rot="0" flipH="0" flipV="0">
            <a:off x="6781800" y="4000500"/>
            <a:ext cx="4648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23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个技能包、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37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个内置插件与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SkillHub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市场随装随用，配置持续沉淀为组织资产。</a:t>
            </a:r>
            <a:endParaRPr/>
          </a:p>
        </p:txBody>
      </p:sp>
      <p:sp>
        <p:nvSpPr>
          <p:cNvPr id="834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835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36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三者构成闭环：先理解你的上下文，再真的动手，最后把过程沉淀成下一次的能力——而不是一次性的问答。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8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3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01 · POSITIONING</a:t>
            </a:r>
            <a:endParaRPr/>
          </a:p>
        </p:txBody>
      </p:sp>
      <p:sp>
        <p:nvSpPr>
          <p:cNvPr id="84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4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一句话说清边界</a:t>
            </a:r>
            <a:endParaRPr/>
          </a:p>
        </p:txBody>
      </p:sp>
      <p:sp>
        <p:nvSpPr>
          <p:cNvPr id="84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843" name="" descr="{&quot;isTemplate&quot;:true,&quot;type&quot;:&quot;text&quot;}"/>
          <p:cNvSpPr txBox="1"/>
          <p:nvPr/>
        </p:nvSpPr>
        <p:spPr>
          <a:xfrm rot="0" flipH="0" flipV="0">
            <a:off x="571500" y="1714500"/>
            <a:ext cx="11049000" cy="6858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300" b="1">
                <a:solidFill>
                  <a:srgbClr val="12275A"/>
                </a:solidFill>
                <a:latin typeface="Microsoft YaHei"/>
                <a:ea typeface="Microsoft YaHei"/>
              </a:rPr>
              <a:t>对话即操作，配置即能力，</a:t>
            </a:r>
            <a:r>
              <a:rPr lang="zh-CN" sz="3300" b="1">
                <a:solidFill>
                  <a:srgbClr val="1D4ED8"/>
                </a:solidFill>
                <a:latin typeface="Microsoft YaHei"/>
                <a:ea typeface="Microsoft YaHei"/>
              </a:rPr>
              <a:t>数据不出内网</a:t>
            </a:r>
            <a:endParaRPr/>
          </a:p>
        </p:txBody>
      </p:sp>
      <p:sp>
        <p:nvSpPr>
          <p:cNvPr id="844" name="" descr="{&quot;isTemplate&quot;:true,&quot;type&quot;:&quot;text&quot;}"/>
          <p:cNvSpPr txBox="1"/>
          <p:nvPr/>
        </p:nvSpPr>
        <p:spPr>
          <a:xfrm rot="0" flipH="0" flipV="0">
            <a:off x="571500" y="2609850"/>
            <a:ext cx="11049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64748B"/>
                </a:solidFill>
                <a:latin typeface="Microsoft YaHei"/>
                <a:ea typeface="Microsoft YaHei"/>
              </a:rPr>
              <a:t>这三句分别对应三个工程事实：同一条消息管线驱动所有入口、专家与工具都是可配置资产、全部数据落在你自己的机器上。</a:t>
            </a:r>
            <a:endParaRPr/>
          </a:p>
        </p:txBody>
      </p:sp>
      <p:sp>
        <p:nvSpPr>
          <p:cNvPr id="845" name=""/>
          <p:cNvSpPr/>
          <p:nvPr/>
        </p:nvSpPr>
        <p:spPr>
          <a:xfrm rot="0" flipH="0" flipV="0">
            <a:off x="571500" y="3200400"/>
            <a:ext cx="3514725" cy="2085975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46" name="" descr="{&quot;isTemplate&quot;:true,&quot;type&quot;:&quot;text&quot;}"/>
          <p:cNvSpPr txBox="1"/>
          <p:nvPr/>
        </p:nvSpPr>
        <p:spPr>
          <a:xfrm rot="0" flipH="0" flipV="0">
            <a:off x="762000" y="3390900"/>
            <a:ext cx="3133725" cy="704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200" b="1">
                <a:solidFill>
                  <a:srgbClr val="F59E0B"/>
                </a:solidFill>
                <a:latin typeface="Microsoft YaHei"/>
                <a:ea typeface="Microsoft YaHei"/>
              </a:rPr>
              <a:t>339,921</a:t>
            </a:r>
            <a:endParaRPr/>
          </a:p>
        </p:txBody>
      </p:sp>
      <p:sp>
        <p:nvSpPr>
          <p:cNvPr id="847" name="" descr="{&quot;isTemplate&quot;:true,&quot;type&quot;:&quot;text&quot;}"/>
          <p:cNvSpPr txBox="1"/>
          <p:nvPr/>
        </p:nvSpPr>
        <p:spPr>
          <a:xfrm rot="0" flipH="0" flipV="0">
            <a:off x="762000" y="4171950"/>
            <a:ext cx="3133725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行自研代码</a:t>
            </a:r>
            <a:endParaRPr/>
          </a:p>
        </p:txBody>
      </p:sp>
      <p:sp>
        <p:nvSpPr>
          <p:cNvPr id="848" name="" descr="{&quot;isTemplate&quot;:true,&quot;type&quot;:&quot;text&quot;}"/>
          <p:cNvSpPr txBox="1"/>
          <p:nvPr/>
        </p:nvSpPr>
        <p:spPr>
          <a:xfrm rot="0" flipH="0" flipV="0">
            <a:off x="762000" y="4543425"/>
            <a:ext cx="31337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主包与四个自研子组件合计，工程体量决定可持续演进能力。</a:t>
            </a:r>
            <a:endParaRPr/>
          </a:p>
        </p:txBody>
      </p:sp>
      <p:sp>
        <p:nvSpPr>
          <p:cNvPr id="849" name=""/>
          <p:cNvSpPr/>
          <p:nvPr/>
        </p:nvSpPr>
        <p:spPr>
          <a:xfrm rot="0" flipH="0" flipV="0">
            <a:off x="4333875" y="3200400"/>
            <a:ext cx="3524250" cy="2085975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50" name="" descr="{&quot;isTemplate&quot;:true,&quot;type&quot;:&quot;text&quot;}"/>
          <p:cNvSpPr txBox="1"/>
          <p:nvPr/>
        </p:nvSpPr>
        <p:spPr>
          <a:xfrm rot="0" flipH="0" flipV="0">
            <a:off x="4524375" y="3390900"/>
            <a:ext cx="3143250" cy="704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200" b="1">
                <a:solidFill>
                  <a:srgbClr val="1D4ED8"/>
                </a:solidFill>
                <a:latin typeface="Microsoft YaHei"/>
                <a:ea typeface="Microsoft YaHei"/>
              </a:rPr>
              <a:t>832</a:t>
            </a:r>
            <a:endParaRPr/>
          </a:p>
        </p:txBody>
      </p:sp>
      <p:sp>
        <p:nvSpPr>
          <p:cNvPr id="851" name="" descr="{&quot;isTemplate&quot;:true,&quot;type&quot;:&quot;text&quot;}"/>
          <p:cNvSpPr txBox="1"/>
          <p:nvPr/>
        </p:nvSpPr>
        <p:spPr>
          <a:xfrm rot="0" flipH="0" flipV="0">
            <a:off x="4524375" y="4171950"/>
            <a:ext cx="3143250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个测试文件</a:t>
            </a:r>
            <a:endParaRPr/>
          </a:p>
        </p:txBody>
      </p:sp>
      <p:sp>
        <p:nvSpPr>
          <p:cNvPr id="852" name="" descr="{&quot;isTemplate&quot;:true,&quot;type&quot;:&quot;text&quot;}"/>
          <p:cNvSpPr txBox="1"/>
          <p:nvPr/>
        </p:nvSpPr>
        <p:spPr>
          <a:xfrm rot="0" flipH="0" flipV="0">
            <a:off x="4524375" y="4543425"/>
            <a:ext cx="31432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覆盖后端、运行时、网关、浏览器与记忆引擎，不是只测主流程。</a:t>
            </a:r>
            <a:endParaRPr/>
          </a:p>
        </p:txBody>
      </p:sp>
      <p:sp>
        <p:nvSpPr>
          <p:cNvPr id="853" name=""/>
          <p:cNvSpPr/>
          <p:nvPr/>
        </p:nvSpPr>
        <p:spPr>
          <a:xfrm rot="0" flipH="0" flipV="0">
            <a:off x="8105775" y="3200400"/>
            <a:ext cx="3514725" cy="2085975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54" name="" descr="{&quot;isTemplate&quot;:true,&quot;type&quot;:&quot;text&quot;}"/>
          <p:cNvSpPr txBox="1"/>
          <p:nvPr/>
        </p:nvSpPr>
        <p:spPr>
          <a:xfrm rot="0" flipH="0" flipV="0">
            <a:off x="8296275" y="3390900"/>
            <a:ext cx="3133725" cy="704850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4200" b="1">
                <a:solidFill>
                  <a:srgbClr val="06B6D4"/>
                </a:solidFill>
                <a:latin typeface="Microsoft YaHei"/>
                <a:ea typeface="Microsoft YaHei"/>
              </a:rPr>
              <a:t>MIT</a:t>
            </a:r>
            <a:endParaRPr/>
          </a:p>
        </p:txBody>
      </p:sp>
      <p:sp>
        <p:nvSpPr>
          <p:cNvPr id="855" name="" descr="{&quot;isTemplate&quot;:true,&quot;type&quot;:&quot;text&quot;}"/>
          <p:cNvSpPr txBox="1"/>
          <p:nvPr/>
        </p:nvSpPr>
        <p:spPr>
          <a:xfrm rot="0" flipH="0" flipV="0">
            <a:off x="8296275" y="4171950"/>
            <a:ext cx="3133725" cy="295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开源许可</a:t>
            </a:r>
            <a:endParaRPr/>
          </a:p>
        </p:txBody>
      </p:sp>
      <p:sp>
        <p:nvSpPr>
          <p:cNvPr id="856" name="" descr="{&quot;isTemplate&quot;:true,&quot;type&quot;:&quot;text&quot;}"/>
          <p:cNvSpPr txBox="1"/>
          <p:nvPr/>
        </p:nvSpPr>
        <p:spPr>
          <a:xfrm rot="0" flipH="0" flipV="0">
            <a:off x="8296275" y="4543425"/>
            <a:ext cx="31337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无传染性协议约束，企业私有化部署与二次开发没有授权障碍。</a:t>
            </a:r>
            <a:endParaRPr/>
          </a:p>
        </p:txBody>
      </p:sp>
      <p:sp>
        <p:nvSpPr>
          <p:cNvPr id="857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858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59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承诺的性质不同：功能可以模仿，代码体量、测试密度与许可证条款是可以当场核验的事实。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8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862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7EA3D6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863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864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一套底座，把「理解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决策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执行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沉淀」串成闭环</a:t>
            </a:r>
            <a:endParaRPr/>
          </a:p>
        </p:txBody>
      </p:sp>
      <p:sp>
        <p:nvSpPr>
          <p:cNvPr id="865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866" name=""/>
          <p:cNvSpPr/>
          <p:nvPr/>
        </p:nvSpPr>
        <p:spPr>
          <a:xfrm rot="0" flipH="0" flipV="0">
            <a:off x="571500" y="1752600"/>
            <a:ext cx="1257300" cy="714375"/>
          </a:xfrm>
          <a:prstGeom prst="roundRect">
            <a:avLst>
              <a:gd name="adj" fmla="val 13333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867" name="" descr="{&quot;isTemplate&quot;:true,&quot;type&quot;:&quot;text&quot;}"/>
          <p:cNvSpPr txBox="1"/>
          <p:nvPr/>
        </p:nvSpPr>
        <p:spPr>
          <a:xfrm rot="0" flipH="0" flipV="0">
            <a:off x="942975" y="186690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CBD9F0"/>
                </a:solidFill>
                <a:latin typeface="Microsoft YaHei"/>
                <a:ea typeface="Microsoft YaHei"/>
              </a:rPr>
              <a:t>载体层</a:t>
            </a:r>
            <a:endParaRPr/>
          </a:p>
        </p:txBody>
      </p:sp>
      <p:sp>
        <p:nvSpPr>
          <p:cNvPr id="868" name="" descr="{&quot;isTemplate&quot;:true,&quot;type&quot;:&quot;text&quot;}"/>
          <p:cNvSpPr txBox="1"/>
          <p:nvPr/>
        </p:nvSpPr>
        <p:spPr>
          <a:xfrm rot="0" flipH="0" flipV="0">
            <a:off x="866775" y="214312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人从哪里用</a:t>
            </a:r>
            <a:endParaRPr/>
          </a:p>
        </p:txBody>
      </p:sp>
      <p:sp>
        <p:nvSpPr>
          <p:cNvPr id="869" name=""/>
          <p:cNvSpPr/>
          <p:nvPr/>
        </p:nvSpPr>
        <p:spPr>
          <a:xfrm rot="0" flipH="0" flipV="0">
            <a:off x="2019300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70" name="" descr="{&quot;isTemplate&quot;:true,&quot;type&quot;:&quot;text&quot;}"/>
          <p:cNvSpPr txBox="1"/>
          <p:nvPr/>
        </p:nvSpPr>
        <p:spPr>
          <a:xfrm rot="0" flipH="0" flipV="0">
            <a:off x="2133600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控制台</a:t>
            </a:r>
            <a:endParaRPr/>
          </a:p>
        </p:txBody>
      </p:sp>
      <p:sp>
        <p:nvSpPr>
          <p:cNvPr id="871" name="" descr="{&quot;isTemplate&quot;:true,&quot;type&quot;:&quot;text&quot;}"/>
          <p:cNvSpPr txBox="1"/>
          <p:nvPr/>
        </p:nvSpPr>
        <p:spPr>
          <a:xfrm rot="0" flipH="0" flipV="0">
            <a:off x="2133600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>React + WebSocket</a:t>
            </a:r>
            <a:endParaRPr/>
          </a:p>
        </p:txBody>
      </p:sp>
      <p:sp>
        <p:nvSpPr>
          <p:cNvPr id="872" name=""/>
          <p:cNvSpPr/>
          <p:nvPr/>
        </p:nvSpPr>
        <p:spPr>
          <a:xfrm rot="0" flipH="0" flipV="0">
            <a:off x="3962400" y="1752600"/>
            <a:ext cx="1838325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73" name="" descr="{&quot;isTemplate&quot;:true,&quot;type&quot;:&quot;text&quot;}"/>
          <p:cNvSpPr txBox="1"/>
          <p:nvPr/>
        </p:nvSpPr>
        <p:spPr>
          <a:xfrm rot="0" flipH="0" flipV="0">
            <a:off x="4076700" y="1876425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命令行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CLI</a:t>
            </a:r>
            <a:endParaRPr/>
          </a:p>
        </p:txBody>
      </p:sp>
      <p:sp>
        <p:nvSpPr>
          <p:cNvPr id="874" name="" descr="{&quot;isTemplate&quot;:true,&quot;type&quot;:&quot;text&quot;}"/>
          <p:cNvSpPr txBox="1"/>
          <p:nvPr/>
        </p:nvSpPr>
        <p:spPr>
          <a:xfrm rot="0" flipH="0" flipV="0">
            <a:off x="4076700" y="2133600"/>
            <a:ext cx="16097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个子命令</a:t>
            </a:r>
            <a:endParaRPr/>
          </a:p>
        </p:txBody>
      </p:sp>
      <p:sp>
        <p:nvSpPr>
          <p:cNvPr id="875" name=""/>
          <p:cNvSpPr/>
          <p:nvPr/>
        </p:nvSpPr>
        <p:spPr>
          <a:xfrm rot="0" flipH="0" flipV="0">
            <a:off x="5895975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76" name="" descr="{&quot;isTemplate&quot;:true,&quot;type&quot;:&quot;text&quot;}"/>
          <p:cNvSpPr txBox="1"/>
          <p:nvPr/>
        </p:nvSpPr>
        <p:spPr>
          <a:xfrm rot="0" flipH="0" flipV="0">
            <a:off x="6010275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通道</a:t>
            </a:r>
            <a:endParaRPr/>
          </a:p>
        </p:txBody>
      </p:sp>
      <p:sp>
        <p:nvSpPr>
          <p:cNvPr id="877" name="" descr="{&quot;isTemplate&quot;:true,&quot;type&quot;:&quot;text&quot;}"/>
          <p:cNvSpPr txBox="1"/>
          <p:nvPr/>
        </p:nvSpPr>
        <p:spPr>
          <a:xfrm rot="0" flipH="0" flipV="0">
            <a:off x="6010275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个平台</a:t>
            </a:r>
            <a:endParaRPr/>
          </a:p>
        </p:txBody>
      </p:sp>
      <p:sp>
        <p:nvSpPr>
          <p:cNvPr id="878" name=""/>
          <p:cNvSpPr/>
          <p:nvPr/>
        </p:nvSpPr>
        <p:spPr>
          <a:xfrm rot="0" flipH="0" flipV="0">
            <a:off x="7839075" y="1752600"/>
            <a:ext cx="1838325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79" name="" descr="{&quot;isTemplate&quot;:true,&quot;type&quot;:&quot;text&quot;}"/>
          <p:cNvSpPr txBox="1"/>
          <p:nvPr/>
        </p:nvSpPr>
        <p:spPr>
          <a:xfrm rot="0" flipH="0" flipV="0">
            <a:off x="7953375" y="1876425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定时任务</a:t>
            </a:r>
            <a:endParaRPr/>
          </a:p>
        </p:txBody>
      </p:sp>
      <p:sp>
        <p:nvSpPr>
          <p:cNvPr id="880" name="" descr="{&quot;isTemplate&quot;:true,&quot;type&quot;:&quot;text&quot;}"/>
          <p:cNvSpPr txBox="1"/>
          <p:nvPr/>
        </p:nvSpPr>
        <p:spPr>
          <a:xfrm rot="0" flipH="0" flipV="0">
            <a:off x="7953375" y="2133600"/>
            <a:ext cx="16097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主动推送</a:t>
            </a:r>
            <a:endParaRPr/>
          </a:p>
        </p:txBody>
      </p:sp>
      <p:sp>
        <p:nvSpPr>
          <p:cNvPr id="881" name=""/>
          <p:cNvSpPr/>
          <p:nvPr/>
        </p:nvSpPr>
        <p:spPr>
          <a:xfrm rot="0" flipH="0" flipV="0">
            <a:off x="9772650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82" name="" descr="{&quot;isTemplate&quot;:true,&quot;type&quot;:&quot;text&quot;}"/>
          <p:cNvSpPr txBox="1"/>
          <p:nvPr/>
        </p:nvSpPr>
        <p:spPr>
          <a:xfrm rot="0" flipH="0" flipV="0">
            <a:off x="9886950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ACP / MCP</a:t>
            </a:r>
            <a:endParaRPr/>
          </a:p>
        </p:txBody>
      </p:sp>
      <p:sp>
        <p:nvSpPr>
          <p:cNvPr id="883" name="" descr="{&quot;isTemplate&quot;:true,&quot;type&quot;:&quot;text&quot;}"/>
          <p:cNvSpPr txBox="1"/>
          <p:nvPr/>
        </p:nvSpPr>
        <p:spPr>
          <a:xfrm rot="0" flipH="0" flipV="0">
            <a:off x="9886950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双向协议</a:t>
            </a:r>
            <a:endParaRPr/>
          </a:p>
        </p:txBody>
      </p:sp>
      <p:sp>
        <p:nvSpPr>
          <p:cNvPr id="884" name=""/>
          <p:cNvSpPr/>
          <p:nvPr/>
        </p:nvSpPr>
        <p:spPr>
          <a:xfrm rot="0" flipH="0" flipV="0">
            <a:off x="571500" y="2600325"/>
            <a:ext cx="1257300" cy="1409700"/>
          </a:xfrm>
          <a:prstGeom prst="roundRect">
            <a:avLst>
              <a:gd name="adj" fmla="val 7576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85" name="" descr="{&quot;isTemplate&quot;:true,&quot;type&quot;:&quot;text&quot;}"/>
          <p:cNvSpPr txBox="1"/>
          <p:nvPr/>
        </p:nvSpPr>
        <p:spPr>
          <a:xfrm rot="0" flipH="0" flipV="0">
            <a:off x="942975" y="306705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能力层</a:t>
            </a:r>
            <a:endParaRPr/>
          </a:p>
        </p:txBody>
      </p:sp>
      <p:sp>
        <p:nvSpPr>
          <p:cNvPr id="886" name="" descr="{&quot;isTemplate&quot;:true,&quot;type&quot;:&quot;text&quot;}"/>
          <p:cNvSpPr txBox="1"/>
          <p:nvPr/>
        </p:nvSpPr>
        <p:spPr>
          <a:xfrm rot="0" flipH="0" flipV="0">
            <a:off x="914400" y="3343275"/>
            <a:ext cx="5810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CBD9F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CBD9F0"/>
                </a:solidFill>
                <a:latin typeface="Microsoft YaHei"/>
                <a:ea typeface="Microsoft YaHei"/>
              </a:rPr>
              <a:t>会什么</a:t>
            </a:r>
            <a:endParaRPr/>
          </a:p>
        </p:txBody>
      </p:sp>
      <p:sp>
        <p:nvSpPr>
          <p:cNvPr id="887" name=""/>
          <p:cNvSpPr/>
          <p:nvPr/>
        </p:nvSpPr>
        <p:spPr>
          <a:xfrm rot="0" flipH="0" flipV="0">
            <a:off x="2019300" y="2600325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88" name="" descr="{&quot;isTemplate&quot;:true,&quot;type&quot;:&quot;text&quot;}"/>
          <p:cNvSpPr txBox="1"/>
          <p:nvPr/>
        </p:nvSpPr>
        <p:spPr>
          <a:xfrm rot="0" flipH="0" flipV="0">
            <a:off x="2124075" y="2705100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专家与团队</a:t>
            </a:r>
            <a:endParaRPr/>
          </a:p>
        </p:txBody>
      </p:sp>
      <p:sp>
        <p:nvSpPr>
          <p:cNvPr id="889" name="" descr="{&quot;isTemplate&quot;:true,&quot;type&quot;:&quot;text&quot;}"/>
          <p:cNvSpPr txBox="1"/>
          <p:nvPr/>
        </p:nvSpPr>
        <p:spPr>
          <a:xfrm rot="0" flipH="0" flipV="0">
            <a:off x="2124075" y="2943225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33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个专家</a:t>
            </a: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团队编排</a:t>
            </a:r>
            <a:endParaRPr/>
          </a:p>
        </p:txBody>
      </p:sp>
      <p:sp>
        <p:nvSpPr>
          <p:cNvPr id="890" name=""/>
          <p:cNvSpPr/>
          <p:nvPr/>
        </p:nvSpPr>
        <p:spPr>
          <a:xfrm rot="0" flipH="0" flipV="0">
            <a:off x="5248275" y="2600325"/>
            <a:ext cx="3143250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91" name="" descr="{&quot;isTemplate&quot;:true,&quot;type&quot;:&quot;text&quot;}"/>
          <p:cNvSpPr txBox="1"/>
          <p:nvPr/>
        </p:nvSpPr>
        <p:spPr>
          <a:xfrm rot="0" flipH="0" flipV="0">
            <a:off x="5353050" y="2705100"/>
            <a:ext cx="29337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知识库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</a:t>
            </a:r>
            <a:endParaRPr/>
          </a:p>
        </p:txBody>
      </p:sp>
      <p:sp>
        <p:nvSpPr>
          <p:cNvPr id="892" name="" descr="{&quot;isTemplate&quot;:true,&quot;type&quot;:&quot;text&quot;}"/>
          <p:cNvSpPr txBox="1"/>
          <p:nvPr/>
        </p:nvSpPr>
        <p:spPr>
          <a:xfrm rot="0" flipH="0" flipV="0">
            <a:off x="5353050" y="2943225"/>
            <a:ext cx="29337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解析到引用溯源</a:t>
            </a:r>
            <a:endParaRPr/>
          </a:p>
        </p:txBody>
      </p:sp>
      <p:sp>
        <p:nvSpPr>
          <p:cNvPr id="893" name=""/>
          <p:cNvSpPr/>
          <p:nvPr/>
        </p:nvSpPr>
        <p:spPr>
          <a:xfrm rot="0" flipH="0" flipV="0">
            <a:off x="8486775" y="2600325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94" name="" descr="{&quot;isTemplate&quot;:true,&quot;type&quot;:&quot;text&quot;}"/>
          <p:cNvSpPr txBox="1"/>
          <p:nvPr/>
        </p:nvSpPr>
        <p:spPr>
          <a:xfrm rot="0" flipH="0" flipV="0">
            <a:off x="8591550" y="2705100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长期记忆</a:t>
            </a:r>
            <a:endParaRPr/>
          </a:p>
        </p:txBody>
      </p:sp>
      <p:sp>
        <p:nvSpPr>
          <p:cNvPr id="895" name="" descr="{&quot;isTemplate&quot;:true,&quot;type&quot;:&quot;text&quot;}"/>
          <p:cNvSpPr txBox="1"/>
          <p:nvPr/>
        </p:nvSpPr>
        <p:spPr>
          <a:xfrm rot="0" flipH="0" flipV="0">
            <a:off x="8591550" y="2943225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三层记忆模型</a:t>
            </a:r>
            <a:endParaRPr/>
          </a:p>
        </p:txBody>
      </p:sp>
      <p:sp>
        <p:nvSpPr>
          <p:cNvPr id="896" name=""/>
          <p:cNvSpPr/>
          <p:nvPr/>
        </p:nvSpPr>
        <p:spPr>
          <a:xfrm rot="0" flipH="0" flipV="0">
            <a:off x="2019300" y="3352800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97" name="" descr="{&quot;isTemplate&quot;:true,&quot;type&quot;:&quot;text&quot;}"/>
          <p:cNvSpPr txBox="1"/>
          <p:nvPr/>
        </p:nvSpPr>
        <p:spPr>
          <a:xfrm rot="0" flipH="0" flipV="0">
            <a:off x="2124075" y="3457575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技能与插件</a:t>
            </a:r>
            <a:endParaRPr/>
          </a:p>
        </p:txBody>
      </p:sp>
      <p:sp>
        <p:nvSpPr>
          <p:cNvPr id="898" name="" descr="{&quot;isTemplate&quot;:true,&quot;type&quot;:&quot;text&quot;}"/>
          <p:cNvSpPr txBox="1"/>
          <p:nvPr/>
        </p:nvSpPr>
        <p:spPr>
          <a:xfrm rot="0" flipH="0" flipV="0">
            <a:off x="2124075" y="3695700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23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技能</a:t>
            </a: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 / 37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插件</a:t>
            </a:r>
            <a:endParaRPr/>
          </a:p>
        </p:txBody>
      </p:sp>
      <p:sp>
        <p:nvSpPr>
          <p:cNvPr id="899" name=""/>
          <p:cNvSpPr/>
          <p:nvPr/>
        </p:nvSpPr>
        <p:spPr>
          <a:xfrm rot="0" flipH="0" flipV="0">
            <a:off x="5248275" y="3352800"/>
            <a:ext cx="3143250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00" name="" descr="{&quot;isTemplate&quot;:true,&quot;type&quot;:&quot;text&quot;}"/>
          <p:cNvSpPr txBox="1"/>
          <p:nvPr/>
        </p:nvSpPr>
        <p:spPr>
          <a:xfrm rot="0" flipH="0" flipV="0">
            <a:off x="5353050" y="3457575"/>
            <a:ext cx="29337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工具与执行</a:t>
            </a:r>
            <a:endParaRPr/>
          </a:p>
        </p:txBody>
      </p:sp>
      <p:sp>
        <p:nvSpPr>
          <p:cNvPr id="901" name="" descr="{&quot;isTemplate&quot;:true,&quot;type&quot;:&quot;text&quot;}"/>
          <p:cNvSpPr txBox="1"/>
          <p:nvPr/>
        </p:nvSpPr>
        <p:spPr>
          <a:xfrm rot="0" flipH="0" flipV="0">
            <a:off x="5353050" y="3695700"/>
            <a:ext cx="29337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文件</a:t>
            </a: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 / Shell /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浏览器</a:t>
            </a:r>
            <a:endParaRPr/>
          </a:p>
        </p:txBody>
      </p:sp>
      <p:sp>
        <p:nvSpPr>
          <p:cNvPr id="902" name=""/>
          <p:cNvSpPr/>
          <p:nvPr/>
        </p:nvSpPr>
        <p:spPr>
          <a:xfrm rot="0" flipH="0" flipV="0">
            <a:off x="8486775" y="3352800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03" name="" descr="{&quot;isTemplate&quot;:true,&quot;type&quot;:&quot;text&quot;}"/>
          <p:cNvSpPr txBox="1"/>
          <p:nvPr/>
        </p:nvSpPr>
        <p:spPr>
          <a:xfrm rot="0" flipH="0" flipV="0">
            <a:off x="8591550" y="3457575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Connector</a:t>
            </a:r>
            <a:endParaRPr/>
          </a:p>
        </p:txBody>
      </p:sp>
      <p:sp>
        <p:nvSpPr>
          <p:cNvPr id="904" name="" descr="{&quot;isTemplate&quot;:true,&quot;type&quot;:&quot;text&quot;}"/>
          <p:cNvSpPr txBox="1"/>
          <p:nvPr/>
        </p:nvSpPr>
        <p:spPr>
          <a:xfrm rot="0" flipH="0" flipV="0">
            <a:off x="8591550" y="3695700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41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个外部系统</a:t>
            </a:r>
            <a:endParaRPr/>
          </a:p>
        </p:txBody>
      </p:sp>
      <p:sp>
        <p:nvSpPr>
          <p:cNvPr id="905" name=""/>
          <p:cNvSpPr/>
          <p:nvPr/>
        </p:nvSpPr>
        <p:spPr>
          <a:xfrm rot="0" flipH="0" flipV="0">
            <a:off x="571500" y="4143375"/>
            <a:ext cx="1257300" cy="714375"/>
          </a:xfrm>
          <a:prstGeom prst="roundRect">
            <a:avLst>
              <a:gd name="adj" fmla="val 13333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906" name="" descr="{&quot;isTemplate&quot;:true,&quot;type&quot;:&quot;text&quot;}"/>
          <p:cNvSpPr txBox="1"/>
          <p:nvPr/>
        </p:nvSpPr>
        <p:spPr>
          <a:xfrm rot="0" flipH="0" flipV="0">
            <a:off x="942975" y="4257675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CBD9F0"/>
                </a:solidFill>
                <a:latin typeface="Microsoft YaHei"/>
                <a:ea typeface="Microsoft YaHei"/>
              </a:rPr>
              <a:t>运行时</a:t>
            </a:r>
            <a:endParaRPr/>
          </a:p>
        </p:txBody>
      </p:sp>
      <p:sp>
        <p:nvSpPr>
          <p:cNvPr id="907" name="" descr="{&quot;isTemplate&quot;:true,&quot;type&quot;:&quot;text&quot;}"/>
          <p:cNvSpPr txBox="1"/>
          <p:nvPr/>
        </p:nvSpPr>
        <p:spPr>
          <a:xfrm rot="0" flipH="0" flipV="0">
            <a:off x="866775" y="453390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底座是什么</a:t>
            </a:r>
            <a:endParaRPr/>
          </a:p>
        </p:txBody>
      </p:sp>
      <p:sp>
        <p:nvSpPr>
          <p:cNvPr id="908" name=""/>
          <p:cNvSpPr/>
          <p:nvPr/>
        </p:nvSpPr>
        <p:spPr>
          <a:xfrm rot="0" flipH="0" flipV="0">
            <a:off x="2019300" y="4143375"/>
            <a:ext cx="9601200" cy="714375"/>
          </a:xfrm>
          <a:prstGeom prst="roundRect">
            <a:avLst>
              <a:gd name="adj" fmla="val 13333"/>
            </a:avLst>
          </a:prstGeom>
          <a:solidFill>
            <a:srgbClr val="0F2247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09" name="" descr="{&quot;isTemplate&quot;:true,&quot;type&quot;:&quot;text&quot;}"/>
          <p:cNvSpPr txBox="1"/>
          <p:nvPr/>
        </p:nvSpPr>
        <p:spPr>
          <a:xfrm rot="0" flipH="0" flipV="0">
            <a:off x="2152650" y="4371975"/>
            <a:ext cx="28479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LangGraph Agent </a:t>
            </a: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运行时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对话检查点</a:t>
            </a:r>
            <a:endParaRPr/>
          </a:p>
        </p:txBody>
      </p:sp>
      <p:sp>
        <p:nvSpPr>
          <p:cNvPr id="910" name=""/>
          <p:cNvSpPr/>
          <p:nvPr/>
        </p:nvSpPr>
        <p:spPr>
          <a:xfrm rot="0" flipH="0" flipV="0">
            <a:off x="5810250" y="4400550"/>
            <a:ext cx="9525" cy="2095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911" name="" descr="{&quot;isTemplate&quot;:true,&quot;type&quot;:&quot;text&quot;}"/>
          <p:cNvSpPr txBox="1"/>
          <p:nvPr/>
        </p:nvSpPr>
        <p:spPr>
          <a:xfrm rot="0" flipH="0" flipV="0">
            <a:off x="6629400" y="4371975"/>
            <a:ext cx="11334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记忆与检索引擎</a:t>
            </a:r>
            <a:endParaRPr/>
          </a:p>
        </p:txBody>
      </p:sp>
      <p:sp>
        <p:nvSpPr>
          <p:cNvPr id="912" name=""/>
          <p:cNvSpPr/>
          <p:nvPr/>
        </p:nvSpPr>
        <p:spPr>
          <a:xfrm rot="0" flipH="0" flipV="0">
            <a:off x="8572500" y="4400550"/>
            <a:ext cx="9525" cy="2095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913" name="" descr="{&quot;isTemplate&quot;:true,&quot;type&quot;:&quot;text&quot;}"/>
          <p:cNvSpPr txBox="1"/>
          <p:nvPr/>
        </p:nvSpPr>
        <p:spPr>
          <a:xfrm rot="0" flipH="0" flipV="0">
            <a:off x="9391650" y="437197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控制面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 SQLite / PostgreSQL</a:t>
            </a:r>
            <a:endParaRPr/>
          </a:p>
        </p:txBody>
      </p:sp>
      <p:sp>
        <p:nvSpPr>
          <p:cNvPr id="914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915" name=""/>
          <p:cNvSpPr/>
          <p:nvPr/>
        </p:nvSpPr>
        <p:spPr>
          <a:xfrm rot="0" flipH="0" flipV="0">
            <a:off x="704850" y="57340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916" name="" descr="{&quot;isTemplate&quot;:true,&quot;type&quot;:&quot;text&quot;}"/>
          <p:cNvSpPr txBox="1"/>
          <p:nvPr/>
        </p:nvSpPr>
        <p:spPr>
          <a:xfrm rot="0" flipH="0" flipV="0">
            <a:off x="895350" y="5791200"/>
            <a:ext cx="105918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6EEFA"/>
                </a:solidFill>
                <a:latin typeface="Microsoft YaHei"/>
                <a:ea typeface="Microsoft YaHei"/>
              </a:rPr>
              <a:t>三层之间不是拼凑的工具清单：载体共用一条消息管线，能力共用一套身份与审计，底座共用一份控制面数据。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9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91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7EA3D6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92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92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一套底座，把「理解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决策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执行</a:t>
            </a:r>
            <a:r>
              <a:rPr lang="en-US" sz="25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 </a:t>
            </a: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沉淀」串成闭环</a:t>
            </a:r>
            <a:endParaRPr/>
          </a:p>
        </p:txBody>
      </p:sp>
      <p:sp>
        <p:nvSpPr>
          <p:cNvPr id="92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923" name=""/>
          <p:cNvSpPr/>
          <p:nvPr/>
        </p:nvSpPr>
        <p:spPr>
          <a:xfrm rot="0" flipH="0" flipV="0">
            <a:off x="571500" y="1752600"/>
            <a:ext cx="1257300" cy="714375"/>
          </a:xfrm>
          <a:prstGeom prst="roundRect">
            <a:avLst>
              <a:gd name="adj" fmla="val 13333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924" name="" descr="{&quot;isTemplate&quot;:true,&quot;type&quot;:&quot;text&quot;}"/>
          <p:cNvSpPr txBox="1"/>
          <p:nvPr/>
        </p:nvSpPr>
        <p:spPr>
          <a:xfrm rot="0" flipH="0" flipV="0">
            <a:off x="942975" y="186690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CBD9F0"/>
                </a:solidFill>
                <a:latin typeface="Microsoft YaHei"/>
                <a:ea typeface="Microsoft YaHei"/>
              </a:rPr>
              <a:t>载体层</a:t>
            </a:r>
            <a:endParaRPr/>
          </a:p>
        </p:txBody>
      </p:sp>
      <p:sp>
        <p:nvSpPr>
          <p:cNvPr id="925" name="" descr="{&quot;isTemplate&quot;:true,&quot;type&quot;:&quot;text&quot;}"/>
          <p:cNvSpPr txBox="1"/>
          <p:nvPr/>
        </p:nvSpPr>
        <p:spPr>
          <a:xfrm rot="0" flipH="0" flipV="0">
            <a:off x="866775" y="2143125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人从哪里用</a:t>
            </a:r>
            <a:endParaRPr/>
          </a:p>
        </p:txBody>
      </p:sp>
      <p:sp>
        <p:nvSpPr>
          <p:cNvPr id="926" name=""/>
          <p:cNvSpPr/>
          <p:nvPr/>
        </p:nvSpPr>
        <p:spPr>
          <a:xfrm rot="0" flipH="0" flipV="0">
            <a:off x="2019300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27" name="" descr="{&quot;isTemplate&quot;:true,&quot;type&quot;:&quot;text&quot;}"/>
          <p:cNvSpPr txBox="1"/>
          <p:nvPr/>
        </p:nvSpPr>
        <p:spPr>
          <a:xfrm rot="0" flipH="0" flipV="0">
            <a:off x="2133600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控制台</a:t>
            </a:r>
            <a:endParaRPr/>
          </a:p>
        </p:txBody>
      </p:sp>
      <p:sp>
        <p:nvSpPr>
          <p:cNvPr id="928" name="" descr="{&quot;isTemplate&quot;:true,&quot;type&quot;:&quot;text&quot;}"/>
          <p:cNvSpPr txBox="1"/>
          <p:nvPr/>
        </p:nvSpPr>
        <p:spPr>
          <a:xfrm rot="0" flipH="0" flipV="0">
            <a:off x="2133600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>React + WebSocket</a:t>
            </a:r>
            <a:endParaRPr/>
          </a:p>
        </p:txBody>
      </p:sp>
      <p:sp>
        <p:nvSpPr>
          <p:cNvPr id="929" name=""/>
          <p:cNvSpPr/>
          <p:nvPr/>
        </p:nvSpPr>
        <p:spPr>
          <a:xfrm rot="0" flipH="0" flipV="0">
            <a:off x="3962400" y="1752600"/>
            <a:ext cx="1838325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30" name="" descr="{&quot;isTemplate&quot;:true,&quot;type&quot;:&quot;text&quot;}"/>
          <p:cNvSpPr txBox="1"/>
          <p:nvPr/>
        </p:nvSpPr>
        <p:spPr>
          <a:xfrm rot="0" flipH="0" flipV="0">
            <a:off x="4076700" y="1876425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命令行</a:t>
            </a: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CLI</a:t>
            </a:r>
            <a:endParaRPr/>
          </a:p>
        </p:txBody>
      </p:sp>
      <p:sp>
        <p:nvSpPr>
          <p:cNvPr id="931" name="" descr="{&quot;isTemplate&quot;:true,&quot;type&quot;:&quot;text&quot;}"/>
          <p:cNvSpPr txBox="1"/>
          <p:nvPr/>
        </p:nvSpPr>
        <p:spPr>
          <a:xfrm rot="0" flipH="0" flipV="0">
            <a:off x="4076700" y="2133600"/>
            <a:ext cx="16097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个子命令</a:t>
            </a:r>
            <a:endParaRPr/>
          </a:p>
        </p:txBody>
      </p:sp>
      <p:sp>
        <p:nvSpPr>
          <p:cNvPr id="932" name=""/>
          <p:cNvSpPr/>
          <p:nvPr/>
        </p:nvSpPr>
        <p:spPr>
          <a:xfrm rot="0" flipH="0" flipV="0">
            <a:off x="5895975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33" name="" descr="{&quot;isTemplate&quot;:true,&quot;type&quot;:&quot;text&quot;}"/>
          <p:cNvSpPr txBox="1"/>
          <p:nvPr/>
        </p:nvSpPr>
        <p:spPr>
          <a:xfrm rot="0" flipH="0" flipV="0">
            <a:off x="6010275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通道</a:t>
            </a:r>
            <a:endParaRPr/>
          </a:p>
        </p:txBody>
      </p:sp>
      <p:sp>
        <p:nvSpPr>
          <p:cNvPr id="934" name="" descr="{&quot;isTemplate&quot;:true,&quot;type&quot;:&quot;text&quot;}"/>
          <p:cNvSpPr txBox="1"/>
          <p:nvPr/>
        </p:nvSpPr>
        <p:spPr>
          <a:xfrm rot="0" flipH="0" flipV="0">
            <a:off x="6010275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个平台</a:t>
            </a:r>
            <a:endParaRPr/>
          </a:p>
        </p:txBody>
      </p:sp>
      <p:sp>
        <p:nvSpPr>
          <p:cNvPr id="935" name=""/>
          <p:cNvSpPr/>
          <p:nvPr/>
        </p:nvSpPr>
        <p:spPr>
          <a:xfrm rot="0" flipH="0" flipV="0">
            <a:off x="7839075" y="1752600"/>
            <a:ext cx="1838325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36" name="" descr="{&quot;isTemplate&quot;:true,&quot;type&quot;:&quot;text&quot;}"/>
          <p:cNvSpPr txBox="1"/>
          <p:nvPr/>
        </p:nvSpPr>
        <p:spPr>
          <a:xfrm rot="0" flipH="0" flipV="0">
            <a:off x="7953375" y="1876425"/>
            <a:ext cx="16097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FFFFFF"/>
                </a:solidFill>
                <a:latin typeface="Microsoft YaHei"/>
                <a:ea typeface="Microsoft YaHei"/>
              </a:rPr>
              <a:t>定时任务</a:t>
            </a:r>
            <a:endParaRPr/>
          </a:p>
        </p:txBody>
      </p:sp>
      <p:sp>
        <p:nvSpPr>
          <p:cNvPr id="937" name="" descr="{&quot;isTemplate&quot;:true,&quot;type&quot;:&quot;text&quot;}"/>
          <p:cNvSpPr txBox="1"/>
          <p:nvPr/>
        </p:nvSpPr>
        <p:spPr>
          <a:xfrm rot="0" flipH="0" flipV="0">
            <a:off x="7953375" y="2133600"/>
            <a:ext cx="16097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主动推送</a:t>
            </a:r>
            <a:endParaRPr/>
          </a:p>
        </p:txBody>
      </p:sp>
      <p:sp>
        <p:nvSpPr>
          <p:cNvPr id="938" name=""/>
          <p:cNvSpPr/>
          <p:nvPr/>
        </p:nvSpPr>
        <p:spPr>
          <a:xfrm rot="0" flipH="0" flipV="0">
            <a:off x="9772650" y="1752600"/>
            <a:ext cx="1847850" cy="714375"/>
          </a:xfrm>
          <a:prstGeom prst="roundRect">
            <a:avLst>
              <a:gd name="adj" fmla="val 1333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39" name="" descr="{&quot;isTemplate&quot;:true,&quot;type&quot;:&quot;text&quot;}"/>
          <p:cNvSpPr txBox="1"/>
          <p:nvPr/>
        </p:nvSpPr>
        <p:spPr>
          <a:xfrm rot="0" flipH="0" flipV="0">
            <a:off x="9886950" y="1876425"/>
            <a:ext cx="16192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FFFFFF"/>
                </a:solidFill>
                <a:latin typeface="Microsoft YaHei"/>
                <a:ea typeface="Microsoft YaHei"/>
              </a:rPr>
              <a:t>ACP / MCP</a:t>
            </a:r>
            <a:endParaRPr/>
          </a:p>
        </p:txBody>
      </p:sp>
      <p:sp>
        <p:nvSpPr>
          <p:cNvPr id="940" name="" descr="{&quot;isTemplate&quot;:true,&quot;type&quot;:&quot;text&quot;}"/>
          <p:cNvSpPr txBox="1"/>
          <p:nvPr/>
        </p:nvSpPr>
        <p:spPr>
          <a:xfrm rot="0" flipH="0" flipV="0">
            <a:off x="9886950" y="2133600"/>
            <a:ext cx="16192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双向协议</a:t>
            </a:r>
            <a:endParaRPr/>
          </a:p>
        </p:txBody>
      </p:sp>
      <p:sp>
        <p:nvSpPr>
          <p:cNvPr id="941" name=""/>
          <p:cNvSpPr/>
          <p:nvPr/>
        </p:nvSpPr>
        <p:spPr>
          <a:xfrm rot="0" flipH="0" flipV="0">
            <a:off x="571500" y="2600325"/>
            <a:ext cx="1257300" cy="1409700"/>
          </a:xfrm>
          <a:prstGeom prst="roundRect">
            <a:avLst>
              <a:gd name="adj" fmla="val 7576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942" name="" descr="{&quot;isTemplate&quot;:true,&quot;type&quot;:&quot;text&quot;}"/>
          <p:cNvSpPr txBox="1"/>
          <p:nvPr/>
        </p:nvSpPr>
        <p:spPr>
          <a:xfrm rot="0" flipH="0" flipV="0">
            <a:off x="942975" y="3067050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FFFFFF"/>
                </a:solidFill>
                <a:latin typeface="Microsoft YaHei"/>
                <a:ea typeface="Microsoft YaHei"/>
              </a:rPr>
              <a:t>能力层</a:t>
            </a:r>
            <a:endParaRPr/>
          </a:p>
        </p:txBody>
      </p:sp>
      <p:sp>
        <p:nvSpPr>
          <p:cNvPr id="943" name="" descr="{&quot;isTemplate&quot;:true,&quot;type&quot;:&quot;text&quot;}"/>
          <p:cNvSpPr txBox="1"/>
          <p:nvPr/>
        </p:nvSpPr>
        <p:spPr>
          <a:xfrm rot="0" flipH="0" flipV="0">
            <a:off x="914400" y="3343275"/>
            <a:ext cx="58102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CBD9F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CBD9F0"/>
                </a:solidFill>
                <a:latin typeface="Microsoft YaHei"/>
                <a:ea typeface="Microsoft YaHei"/>
              </a:rPr>
              <a:t>会什么</a:t>
            </a:r>
            <a:endParaRPr/>
          </a:p>
        </p:txBody>
      </p:sp>
      <p:sp>
        <p:nvSpPr>
          <p:cNvPr id="944" name=""/>
          <p:cNvSpPr/>
          <p:nvPr/>
        </p:nvSpPr>
        <p:spPr>
          <a:xfrm rot="0" flipH="0" flipV="0">
            <a:off x="2019300" y="2600325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45" name="" descr="{&quot;isTemplate&quot;:true,&quot;type&quot;:&quot;text&quot;}"/>
          <p:cNvSpPr txBox="1"/>
          <p:nvPr/>
        </p:nvSpPr>
        <p:spPr>
          <a:xfrm rot="0" flipH="0" flipV="0">
            <a:off x="2124075" y="2705100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专家与团队</a:t>
            </a:r>
            <a:endParaRPr/>
          </a:p>
        </p:txBody>
      </p:sp>
      <p:sp>
        <p:nvSpPr>
          <p:cNvPr id="946" name="" descr="{&quot;isTemplate&quot;:true,&quot;type&quot;:&quot;text&quot;}"/>
          <p:cNvSpPr txBox="1"/>
          <p:nvPr/>
        </p:nvSpPr>
        <p:spPr>
          <a:xfrm rot="0" flipH="0" flipV="0">
            <a:off x="2124075" y="2943225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33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个专家</a:t>
            </a: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团队编排</a:t>
            </a:r>
            <a:endParaRPr/>
          </a:p>
        </p:txBody>
      </p:sp>
      <p:sp>
        <p:nvSpPr>
          <p:cNvPr id="947" name=""/>
          <p:cNvSpPr/>
          <p:nvPr/>
        </p:nvSpPr>
        <p:spPr>
          <a:xfrm rot="0" flipH="0" flipV="0">
            <a:off x="5248275" y="2600325"/>
            <a:ext cx="3143250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48" name="" descr="{&quot;isTemplate&quot;:true,&quot;type&quot;:&quot;text&quot;}"/>
          <p:cNvSpPr txBox="1"/>
          <p:nvPr/>
        </p:nvSpPr>
        <p:spPr>
          <a:xfrm rot="0" flipH="0" flipV="0">
            <a:off x="5353050" y="2705100"/>
            <a:ext cx="29337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知识库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RAG</a:t>
            </a:r>
            <a:endParaRPr/>
          </a:p>
        </p:txBody>
      </p:sp>
      <p:sp>
        <p:nvSpPr>
          <p:cNvPr id="949" name="" descr="{&quot;isTemplate&quot;:true,&quot;type&quot;:&quot;text&quot;}"/>
          <p:cNvSpPr txBox="1"/>
          <p:nvPr/>
        </p:nvSpPr>
        <p:spPr>
          <a:xfrm rot="0" flipH="0" flipV="0">
            <a:off x="5353050" y="2943225"/>
            <a:ext cx="29337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解析到引用溯源</a:t>
            </a:r>
            <a:endParaRPr/>
          </a:p>
        </p:txBody>
      </p:sp>
      <p:sp>
        <p:nvSpPr>
          <p:cNvPr id="950" name=""/>
          <p:cNvSpPr/>
          <p:nvPr/>
        </p:nvSpPr>
        <p:spPr>
          <a:xfrm rot="0" flipH="0" flipV="0">
            <a:off x="8486775" y="2600325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1" name="" descr="{&quot;isTemplate&quot;:true,&quot;type&quot;:&quot;text&quot;}"/>
          <p:cNvSpPr txBox="1"/>
          <p:nvPr/>
        </p:nvSpPr>
        <p:spPr>
          <a:xfrm rot="0" flipH="0" flipV="0">
            <a:off x="8591550" y="2705100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长期记忆</a:t>
            </a:r>
            <a:endParaRPr/>
          </a:p>
        </p:txBody>
      </p:sp>
      <p:sp>
        <p:nvSpPr>
          <p:cNvPr id="952" name="" descr="{&quot;isTemplate&quot;:true,&quot;type&quot;:&quot;text&quot;}"/>
          <p:cNvSpPr txBox="1"/>
          <p:nvPr/>
        </p:nvSpPr>
        <p:spPr>
          <a:xfrm rot="0" flipH="0" flipV="0">
            <a:off x="8591550" y="2943225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三层记忆模型</a:t>
            </a:r>
            <a:endParaRPr/>
          </a:p>
        </p:txBody>
      </p:sp>
      <p:sp>
        <p:nvSpPr>
          <p:cNvPr id="953" name=""/>
          <p:cNvSpPr/>
          <p:nvPr/>
        </p:nvSpPr>
        <p:spPr>
          <a:xfrm rot="0" flipH="0" flipV="0">
            <a:off x="2019300" y="3352800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4" name="" descr="{&quot;isTemplate&quot;:true,&quot;type&quot;:&quot;text&quot;}"/>
          <p:cNvSpPr txBox="1"/>
          <p:nvPr/>
        </p:nvSpPr>
        <p:spPr>
          <a:xfrm rot="0" flipH="0" flipV="0">
            <a:off x="2124075" y="3457575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技能与插件</a:t>
            </a:r>
            <a:endParaRPr/>
          </a:p>
        </p:txBody>
      </p:sp>
      <p:sp>
        <p:nvSpPr>
          <p:cNvPr id="955" name="" descr="{&quot;isTemplate&quot;:true,&quot;type&quot;:&quot;text&quot;}"/>
          <p:cNvSpPr txBox="1"/>
          <p:nvPr/>
        </p:nvSpPr>
        <p:spPr>
          <a:xfrm rot="0" flipH="0" flipV="0">
            <a:off x="2124075" y="3695700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23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技能</a:t>
            </a: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 / 37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插件</a:t>
            </a:r>
            <a:endParaRPr/>
          </a:p>
        </p:txBody>
      </p:sp>
      <p:sp>
        <p:nvSpPr>
          <p:cNvPr id="956" name=""/>
          <p:cNvSpPr/>
          <p:nvPr/>
        </p:nvSpPr>
        <p:spPr>
          <a:xfrm rot="0" flipH="0" flipV="0">
            <a:off x="5248275" y="3352800"/>
            <a:ext cx="3143250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7" name="" descr="{&quot;isTemplate&quot;:true,&quot;type&quot;:&quot;text&quot;}"/>
          <p:cNvSpPr txBox="1"/>
          <p:nvPr/>
        </p:nvSpPr>
        <p:spPr>
          <a:xfrm rot="0" flipH="0" flipV="0">
            <a:off x="5353050" y="3457575"/>
            <a:ext cx="29337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工具与执行</a:t>
            </a:r>
            <a:endParaRPr/>
          </a:p>
        </p:txBody>
      </p:sp>
      <p:sp>
        <p:nvSpPr>
          <p:cNvPr id="958" name="" descr="{&quot;isTemplate&quot;:true,&quot;type&quot;:&quot;text&quot;}"/>
          <p:cNvSpPr txBox="1"/>
          <p:nvPr/>
        </p:nvSpPr>
        <p:spPr>
          <a:xfrm rot="0" flipH="0" flipV="0">
            <a:off x="5353050" y="3695700"/>
            <a:ext cx="293370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文件</a:t>
            </a: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 / Shell /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浏览器</a:t>
            </a:r>
            <a:endParaRPr/>
          </a:p>
        </p:txBody>
      </p:sp>
      <p:sp>
        <p:nvSpPr>
          <p:cNvPr id="959" name=""/>
          <p:cNvSpPr/>
          <p:nvPr/>
        </p:nvSpPr>
        <p:spPr>
          <a:xfrm rot="0" flipH="0" flipV="0">
            <a:off x="8486775" y="3352800"/>
            <a:ext cx="3133725" cy="657225"/>
          </a:xfrm>
          <a:prstGeom prst="roundRect">
            <a:avLst>
              <a:gd name="adj" fmla="val 14493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60" name="" descr="{&quot;isTemplate&quot;:true,&quot;type&quot;:&quot;text&quot;}"/>
          <p:cNvSpPr txBox="1"/>
          <p:nvPr/>
        </p:nvSpPr>
        <p:spPr>
          <a:xfrm rot="0" flipH="0" flipV="0">
            <a:off x="8591550" y="3457575"/>
            <a:ext cx="2924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Connector</a:t>
            </a:r>
            <a:endParaRPr/>
          </a:p>
        </p:txBody>
      </p:sp>
      <p:sp>
        <p:nvSpPr>
          <p:cNvPr id="961" name="" descr="{&quot;isTemplate&quot;:true,&quot;type&quot;:&quot;text&quot;}"/>
          <p:cNvSpPr txBox="1"/>
          <p:nvPr/>
        </p:nvSpPr>
        <p:spPr>
          <a:xfrm rot="0" flipH="0" flipV="0">
            <a:off x="8591550" y="3695700"/>
            <a:ext cx="2924175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050">
                <a:solidFill>
                  <a:srgbClr val="9AB4DB"/>
                </a:solidFill>
                <a:latin typeface="Microsoft YaHei"/>
                <a:ea typeface="Microsoft YaHei"/>
              </a:rPr>
              <a:t xml:space="preserve">41 </a:t>
            </a:r>
            <a:r>
              <a:rPr lang="zh-CN" sz="1050">
                <a:solidFill>
                  <a:srgbClr val="9AB4DB"/>
                </a:solidFill>
                <a:latin typeface="Microsoft YaHei"/>
                <a:ea typeface="Microsoft YaHei"/>
              </a:rPr>
              <a:t>个外部系统</a:t>
            </a:r>
            <a:endParaRPr/>
          </a:p>
        </p:txBody>
      </p:sp>
      <p:sp>
        <p:nvSpPr>
          <p:cNvPr id="962" name=""/>
          <p:cNvSpPr/>
          <p:nvPr/>
        </p:nvSpPr>
        <p:spPr>
          <a:xfrm rot="0" flipH="0" flipV="0">
            <a:off x="571500" y="4143375"/>
            <a:ext cx="1257300" cy="714375"/>
          </a:xfrm>
          <a:prstGeom prst="roundRect">
            <a:avLst>
              <a:gd name="adj" fmla="val 13333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963" name="" descr="{&quot;isTemplate&quot;:true,&quot;type&quot;:&quot;text&quot;}"/>
          <p:cNvSpPr txBox="1"/>
          <p:nvPr/>
        </p:nvSpPr>
        <p:spPr>
          <a:xfrm rot="0" flipH="0" flipV="0">
            <a:off x="942975" y="4257675"/>
            <a:ext cx="5143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CBD9F0"/>
                </a:solidFill>
                <a:latin typeface="Microsoft YaHei"/>
                <a:ea typeface="Microsoft YaHei"/>
              </a:rPr>
              <a:t>运行时</a:t>
            </a:r>
            <a:endParaRPr/>
          </a:p>
        </p:txBody>
      </p:sp>
      <p:sp>
        <p:nvSpPr>
          <p:cNvPr id="964" name="" descr="{&quot;isTemplate&quot;:true,&quot;type&quot;:&quot;text&quot;}"/>
          <p:cNvSpPr txBox="1"/>
          <p:nvPr/>
        </p:nvSpPr>
        <p:spPr>
          <a:xfrm rot="0" flipH="0" flipV="0">
            <a:off x="866775" y="4533900"/>
            <a:ext cx="666750" cy="2095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底座是什么</a:t>
            </a:r>
            <a:endParaRPr/>
          </a:p>
        </p:txBody>
      </p:sp>
      <p:sp>
        <p:nvSpPr>
          <p:cNvPr id="965" name=""/>
          <p:cNvSpPr/>
          <p:nvPr/>
        </p:nvSpPr>
        <p:spPr>
          <a:xfrm rot="0" flipH="0" flipV="0">
            <a:off x="2019300" y="4143375"/>
            <a:ext cx="9601200" cy="714375"/>
          </a:xfrm>
          <a:prstGeom prst="roundRect">
            <a:avLst>
              <a:gd name="adj" fmla="val 13333"/>
            </a:avLst>
          </a:prstGeom>
          <a:solidFill>
            <a:srgbClr val="0F2247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66" name="" descr="{&quot;isTemplate&quot;:true,&quot;type&quot;:&quot;text&quot;}"/>
          <p:cNvSpPr txBox="1"/>
          <p:nvPr/>
        </p:nvSpPr>
        <p:spPr>
          <a:xfrm rot="0" flipH="0" flipV="0">
            <a:off x="2152650" y="4371975"/>
            <a:ext cx="28479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LangGraph Agent </a:t>
            </a: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运行时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对话检查点</a:t>
            </a:r>
            <a:endParaRPr/>
          </a:p>
        </p:txBody>
      </p:sp>
      <p:sp>
        <p:nvSpPr>
          <p:cNvPr id="967" name=""/>
          <p:cNvSpPr/>
          <p:nvPr/>
        </p:nvSpPr>
        <p:spPr>
          <a:xfrm rot="0" flipH="0" flipV="0">
            <a:off x="5810250" y="4400550"/>
            <a:ext cx="9525" cy="2095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968" name="" descr="{&quot;isTemplate&quot;:true,&quot;type&quot;:&quot;text&quot;}"/>
          <p:cNvSpPr txBox="1"/>
          <p:nvPr/>
        </p:nvSpPr>
        <p:spPr>
          <a:xfrm rot="0" flipH="0" flipV="0">
            <a:off x="6629400" y="4371975"/>
            <a:ext cx="113347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记忆与检索引擎</a:t>
            </a:r>
            <a:endParaRPr/>
          </a:p>
        </p:txBody>
      </p:sp>
      <p:sp>
        <p:nvSpPr>
          <p:cNvPr id="969" name=""/>
          <p:cNvSpPr/>
          <p:nvPr/>
        </p:nvSpPr>
        <p:spPr>
          <a:xfrm rot="0" flipH="0" flipV="0">
            <a:off x="8572500" y="4400550"/>
            <a:ext cx="9525" cy="2095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970" name="" descr="{&quot;isTemplate&quot;:true,&quot;type&quot;:&quot;text&quot;}"/>
          <p:cNvSpPr txBox="1"/>
          <p:nvPr/>
        </p:nvSpPr>
        <p:spPr>
          <a:xfrm rot="0" flipH="0" flipV="0">
            <a:off x="9391650" y="437197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>
                <a:solidFill>
                  <a:srgbClr val="D6E3F5"/>
                </a:solidFill>
                <a:latin typeface="Microsoft YaHei"/>
                <a:ea typeface="Microsoft YaHei"/>
              </a:rPr>
              <a:t>控制面</a:t>
            </a:r>
            <a:r>
              <a:rPr lang="en-US" sz="1275">
                <a:solidFill>
                  <a:srgbClr val="D6E3F5"/>
                </a:solidFill>
                <a:latin typeface="Microsoft YaHei"/>
                <a:ea typeface="Microsoft YaHei"/>
              </a:rPr>
              <a:t xml:space="preserve"> SQLite / PostgreSQL</a:t>
            </a:r>
            <a:endParaRPr/>
          </a:p>
        </p:txBody>
      </p:sp>
      <p:sp>
        <p:nvSpPr>
          <p:cNvPr id="971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972" name=""/>
          <p:cNvSpPr/>
          <p:nvPr/>
        </p:nvSpPr>
        <p:spPr>
          <a:xfrm rot="0" flipH="0" flipV="0">
            <a:off x="704850" y="57340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973" name="" descr="{&quot;isTemplate&quot;:true,&quot;type&quot;:&quot;text&quot;}"/>
          <p:cNvSpPr txBox="1"/>
          <p:nvPr/>
        </p:nvSpPr>
        <p:spPr>
          <a:xfrm rot="0" flipH="0" flipV="0">
            <a:off x="895350" y="5791200"/>
            <a:ext cx="105918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6EEFA"/>
                </a:solidFill>
                <a:latin typeface="Microsoft YaHei"/>
                <a:ea typeface="Microsoft YaHei"/>
              </a:rPr>
              <a:t>三层之间不是拼凑的工具清单：载体共用一条消息管线，能力共用一套身份与审计，底座共用一份控制面数据。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18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一个实例，全公司共用，彼此看不见对方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571500" y="1752600"/>
            <a:ext cx="2857500" cy="3581400"/>
          </a:xfrm>
          <a:prstGeom prst="roundRect">
            <a:avLst>
              <a:gd name="adj" fmla="val 4000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00100" y="1981200"/>
            <a:ext cx="24003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多用户</a:t>
            </a: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多</a:t>
            </a:r>
            <a:r>
              <a:rPr lang="en-US" sz="18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800100" y="249555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800100" y="2705100"/>
            <a:ext cx="24003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隔离粒度落在数据库行：</a:t>
            </a:r>
            <a:r>
              <a:rPr lang="en-US" sz="1200">
                <a:solidFill>
                  <a:srgbClr val="A9C2E8"/>
                </a:solidFill>
                <a:latin typeface="Microsoft YaHei"/>
                <a:ea typeface="Microsoft YaHei"/>
              </a:rPr>
              <a:t xml:space="preserve">agents.user_id </a:t>
            </a: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逐级校验，管理员可跨用户运维，普通用户只能看到自己的资源。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00100" y="3962400"/>
            <a:ext cx="2400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权限目录</a:t>
            </a:r>
            <a:r>
              <a:rPr lang="en-US" sz="1125">
                <a:solidFill>
                  <a:srgbClr val="7EA3D6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角色模板</a:t>
            </a:r>
            <a:r>
              <a:rPr lang="en-US" sz="1125">
                <a:solidFill>
                  <a:srgbClr val="7EA3D6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资源所有权三项，决定了谁能看谁的数据。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733800" y="17526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D4ED8"/>
                </a:solidFill>
                <a:latin typeface="Microsoft YaHei"/>
                <a:ea typeface="Microsoft YaHei"/>
              </a:rPr>
              <a:t>用户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733800" y="212407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3838575" y="222885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管理员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拥有全局运维视角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3733800" y="2667000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3838575" y="27717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普通成员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仅限自身资源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3733800" y="320992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38575" y="331470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外部协作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邀请码与角色</a:t>
            </a:r>
            <a:endParaRPr/>
          </a:p>
        </p:txBody>
      </p:sp>
      <p:pic>
        <p:nvPicPr>
          <p:cNvPr id="3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115050" y="2609850"/>
            <a:ext cx="361950" cy="209550"/>
          </a:xfrm>
          <a:prstGeom prst="rect">
            <a:avLst/>
          </a:prstGeom>
          <a:ln/>
        </p:spPr>
      </p:pic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477000" y="17526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350" b="1">
                <a:solidFill>
                  <a:srgbClr val="1D4ED8"/>
                </a:solidFill>
                <a:latin typeface="Microsoft YaHei"/>
                <a:ea typeface="Microsoft YaHei"/>
              </a:rPr>
              <a:t>Agent</a:t>
            </a:r>
            <a:endParaRPr/>
          </a:p>
        </p:txBody>
      </p:sp>
      <p:sp>
        <p:nvSpPr>
          <p:cNvPr id="35" name=""/>
          <p:cNvSpPr/>
          <p:nvPr/>
        </p:nvSpPr>
        <p:spPr>
          <a:xfrm rot="0" flipH="0" flipV="0">
            <a:off x="6477000" y="212407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581775" y="222885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专家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独立提示词与人格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6477000" y="2667000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6581775" y="27717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团队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协调者调度成员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6477000" y="320992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6581775" y="331470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线程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会话与上下文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8858250" y="2609850"/>
            <a:ext cx="361950" cy="209550"/>
          </a:xfrm>
          <a:prstGeom prst="rect">
            <a:avLst/>
          </a:prstGeom>
          <a:ln/>
        </p:spPr>
      </p:pic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9220200" y="17526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D4ED8"/>
                </a:solidFill>
                <a:latin typeface="Microsoft YaHei"/>
                <a:ea typeface="Microsoft YaHei"/>
              </a:rPr>
              <a:t>工作区与通道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9220200" y="212407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9324975" y="222885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本地磁盘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/ Docker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沙箱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9220200" y="2667000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9324975" y="2771775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对象存储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COS / S3 / OSS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9220200" y="3209925"/>
            <a:ext cx="2381250" cy="466725"/>
          </a:xfrm>
          <a:prstGeom prst="roundRect">
            <a:avLst>
              <a:gd name="adj" fmla="val 16327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9324975" y="3314700"/>
            <a:ext cx="21717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各自的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 xml:space="preserve"> IM 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通道与定时任务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3733800" y="3848100"/>
            <a:ext cx="78867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每位用户可以创建多个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，每个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自带独立的模型配置、技能集合、通道绑定与定时策略——共用一台服务器，不共用一份上下文。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51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一人运维、全员使用：服务器是共享的成本项，数据与智能体资产是严格隔离的。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56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岗位角色不是提示词妆容，而是可复用的资产</a:t>
            </a:r>
            <a:endParaRPr/>
          </a:p>
        </p:txBody>
      </p:sp>
      <p:sp>
        <p:nvSpPr>
          <p:cNvPr id="58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59" name=""/>
          <p:cNvSpPr/>
          <p:nvPr/>
        </p:nvSpPr>
        <p:spPr>
          <a:xfrm rot="0" flipH="0" flipV="0">
            <a:off x="571500" y="1752600"/>
            <a:ext cx="5219700" cy="3581400"/>
          </a:xfrm>
          <a:prstGeom prst="roundRect">
            <a:avLst>
              <a:gd name="adj" fmla="val 3191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62000" y="1943100"/>
            <a:ext cx="4838700" cy="723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500" b="1">
                <a:solidFill>
                  <a:srgbClr val="F59E0B"/>
                </a:solidFill>
                <a:latin typeface="Microsoft YaHei"/>
                <a:ea typeface="Microsoft YaHei"/>
              </a:rPr>
              <a:t>33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762000" y="2724150"/>
            <a:ext cx="48387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内置专家模板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762000" y="3171825"/>
            <a:ext cx="48387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开箱即用的是成建制的岗位定义，而不是空白对话框。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762000" y="3600450"/>
            <a:ext cx="4838700" cy="9525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762000" y="3743325"/>
            <a:ext cx="1133475" cy="381000"/>
          </a:xfrm>
          <a:prstGeom prst="roundRect">
            <a:avLst>
              <a:gd name="adj" fmla="val 15000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838200" y="3819525"/>
            <a:ext cx="98107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D6E3F5"/>
                </a:solidFill>
                <a:latin typeface="Microsoft YaHei"/>
                <a:ea typeface="Microsoft YaHei"/>
              </a:rPr>
              <a:t>code-reviewer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1990725" y="3743325"/>
            <a:ext cx="1000125" cy="381000"/>
          </a:xfrm>
          <a:prstGeom prst="roundRect">
            <a:avLst>
              <a:gd name="adj" fmla="val 15000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2066925" y="3819525"/>
            <a:ext cx="8477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D6E3F5"/>
                </a:solidFill>
                <a:latin typeface="Microsoft YaHei"/>
                <a:ea typeface="Microsoft YaHei"/>
              </a:rPr>
              <a:t>data-analyst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3086100" y="3743325"/>
            <a:ext cx="1314450" cy="381000"/>
          </a:xfrm>
          <a:prstGeom prst="roundRect">
            <a:avLst>
              <a:gd name="adj" fmla="val 15000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3162300" y="3819525"/>
            <a:ext cx="11620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D6E3F5"/>
                </a:solidFill>
                <a:latin typeface="Microsoft YaHei"/>
                <a:ea typeface="Microsoft YaHei"/>
              </a:rPr>
              <a:t>devops-engineer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4276725"/>
            <a:ext cx="4838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覆盖研发、数据、运维、安全、法务、人力、市场、财务等职能；可发布到同实例供他人取用。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6019800" y="1752600"/>
            <a:ext cx="3162300" cy="3581400"/>
          </a:xfrm>
          <a:prstGeom prst="roundRect">
            <a:avLst>
              <a:gd name="adj" fmla="val 361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229350" y="1962150"/>
            <a:ext cx="2743200" cy="6762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200" b="1">
                <a:solidFill>
                  <a:srgbClr val="1D4ED8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229350" y="2695575"/>
            <a:ext cx="2743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575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MBTI </a:t>
            </a: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人格模板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6229350" y="3124200"/>
            <a:ext cx="27432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为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设定稳定一致的沟通风格与表达边界，并内置互动测试帮助团队挑选合适的性格设定。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229350" y="4067175"/>
            <a:ext cx="27432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同一套知识库，配上不同人格，就能服务不同场景的沟通需求。</a:t>
            </a:r>
            <a:endParaRPr/>
          </a:p>
        </p:txBody>
      </p:sp>
      <p:sp>
        <p:nvSpPr>
          <p:cNvPr id="76" name=""/>
          <p:cNvSpPr/>
          <p:nvPr/>
        </p:nvSpPr>
        <p:spPr>
          <a:xfrm rot="0" flipH="0" flipV="0">
            <a:off x="9410700" y="1752600"/>
            <a:ext cx="2209800" cy="3581400"/>
          </a:xfrm>
          <a:prstGeom prst="roundRect">
            <a:avLst>
              <a:gd name="adj" fmla="val 517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9601200" y="1943100"/>
            <a:ext cx="1828800" cy="5810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600" b="1">
                <a:solidFill>
                  <a:srgbClr val="0891B2"/>
                </a:solidFill>
                <a:latin typeface="Microsoft YaHei"/>
                <a:ea typeface="Microsoft YaHei"/>
              </a:rPr>
              <a:t>217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9601200" y="2581275"/>
            <a:ext cx="18288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专职子</a:t>
            </a:r>
            <a:r>
              <a:rPr lang="en-US" sz="15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601200" y="3000375"/>
            <a:ext cx="18288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16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个职能域、中英双语共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489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份定义，可作为被委派的专职成员。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9601200" y="3867150"/>
            <a:ext cx="1828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主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专注编排，专项任务交给专职成员完成。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571500" y="5524500"/>
            <a:ext cx="11049000" cy="762000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723900" y="5676900"/>
            <a:ext cx="38100" cy="4572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914400" y="57435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角色可以被发布、被复用、被独立修改——业务部门自己就能沉淀岗位资产，而不必每次都找工程师改提示词。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复杂任务交给协调者，而不是靠一个人写长提示词</a:t>
            </a:r>
            <a:endParaRPr/>
          </a:p>
        </p:txBody>
      </p:sp>
      <p:sp>
        <p:nvSpPr>
          <p:cNvPr id="89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57150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0485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94A3B8"/>
                </a:solidFill>
                <a:latin typeface="Microsoft YaHei"/>
                <a:ea typeface="Microsoft YaHei"/>
              </a:rPr>
              <a:t>STEP 01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0485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任务进入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0485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多步骤目标从任一入口提交，落到同一会话线程。</a:t>
            </a:r>
            <a:endParaRPr/>
          </a:p>
        </p:txBody>
      </p:sp>
      <p:pic>
        <p:nvPicPr>
          <p:cNvPr id="9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2476500" y="2390775"/>
            <a:ext cx="247650" cy="171450"/>
          </a:xfrm>
          <a:prstGeom prst="rect">
            <a:avLst/>
          </a:prstGeom>
          <a:ln/>
        </p:spPr>
      </p:pic>
      <p:sp>
        <p:nvSpPr>
          <p:cNvPr id="95" name=""/>
          <p:cNvSpPr/>
          <p:nvPr/>
        </p:nvSpPr>
        <p:spPr>
          <a:xfrm rot="0" flipH="0" flipV="0">
            <a:off x="272415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285750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7EA3D6"/>
                </a:solidFill>
                <a:latin typeface="Microsoft YaHei"/>
                <a:ea typeface="Microsoft YaHei"/>
              </a:rPr>
              <a:t>STEP 02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285750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协调者拆解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285750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主持人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拆分子目标，识别所需专长。</a:t>
            </a:r>
            <a:endParaRPr/>
          </a:p>
        </p:txBody>
      </p:sp>
      <p:pic>
        <p:nvPicPr>
          <p:cNvPr id="9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629150" y="2390775"/>
            <a:ext cx="247650" cy="171450"/>
          </a:xfrm>
          <a:prstGeom prst="rect">
            <a:avLst/>
          </a:prstGeom>
          <a:ln/>
        </p:spPr>
      </p:pic>
      <p:sp>
        <p:nvSpPr>
          <p:cNvPr id="100" name=""/>
          <p:cNvSpPr/>
          <p:nvPr/>
        </p:nvSpPr>
        <p:spPr>
          <a:xfrm rot="0" flipH="0" flipV="0">
            <a:off x="487680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501015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94A3B8"/>
                </a:solidFill>
                <a:latin typeface="Microsoft YaHei"/>
                <a:ea typeface="Microsoft YaHei"/>
              </a:rPr>
              <a:t>STEP 03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01015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异步派工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01015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通过邮箱队列向成员专家投递任务，互不阻塞。</a:t>
            </a:r>
            <a:endParaRPr/>
          </a:p>
        </p:txBody>
      </p:sp>
      <p:pic>
        <p:nvPicPr>
          <p:cNvPr id="10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781800" y="2390775"/>
            <a:ext cx="247650" cy="171450"/>
          </a:xfrm>
          <a:prstGeom prst="rect">
            <a:avLst/>
          </a:prstGeom>
          <a:ln/>
        </p:spPr>
      </p:pic>
      <p:sp>
        <p:nvSpPr>
          <p:cNvPr id="105" name=""/>
          <p:cNvSpPr/>
          <p:nvPr/>
        </p:nvSpPr>
        <p:spPr>
          <a:xfrm rot="0" flipH="0" flipV="0">
            <a:off x="702945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716280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94A3B8"/>
                </a:solidFill>
                <a:latin typeface="Microsoft YaHei"/>
                <a:ea typeface="Microsoft YaHei"/>
              </a:rPr>
              <a:t>STEP 04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716280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成员执行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16280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成员在各自线程内调用工具与知识库完成任务。</a:t>
            </a:r>
            <a:endParaRPr/>
          </a:p>
        </p:txBody>
      </p:sp>
      <p:pic>
        <p:nvPicPr>
          <p:cNvPr id="10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934450" y="2390775"/>
            <a:ext cx="247650" cy="171450"/>
          </a:xfrm>
          <a:prstGeom prst="rect">
            <a:avLst/>
          </a:prstGeom>
          <a:ln/>
        </p:spPr>
      </p:pic>
      <p:sp>
        <p:nvSpPr>
          <p:cNvPr id="110" name=""/>
          <p:cNvSpPr/>
          <p:nvPr/>
        </p:nvSpPr>
        <p:spPr>
          <a:xfrm rot="0" flipH="0" flipV="0">
            <a:off x="9182100" y="1752600"/>
            <a:ext cx="1905000" cy="1438275"/>
          </a:xfrm>
          <a:prstGeom prst="roundRect">
            <a:avLst>
              <a:gd name="adj" fmla="val 6623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9315450" y="1885950"/>
            <a:ext cx="16383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 b="1">
                <a:solidFill>
                  <a:srgbClr val="B45309"/>
                </a:solidFill>
                <a:latin typeface="Microsoft YaHei"/>
                <a:ea typeface="Microsoft YaHei"/>
              </a:rPr>
              <a:t>STEP 05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9315450" y="2181225"/>
            <a:ext cx="16383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回流汇总</a:t>
            </a:r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315450" y="2543175"/>
            <a:ext cx="1638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结果写回父线程检查点，按角色分条呈现。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571500" y="3381375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723900" y="3533775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邮箱队列，不是无限级联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23900" y="3886200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基于收件箱管理与统一处理器，成员回复精确落回发起线程，避免上下文在多轮调用中漂移丢失。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4314825" y="3381375"/>
            <a:ext cx="356235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467225" y="3533775"/>
            <a:ext cx="32575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过程可见，中途可干预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467225" y="3886200"/>
            <a:ext cx="32575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对话区按发言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分角色渲染，实时快照与收尾摘要同步展示，随时可以插话或叫停。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8067675" y="3381375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8220075" y="3533775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跨入口同一套链路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8220075" y="3886200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控制台、命令行、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与定时任务触发的团队任务，走的是同一条处理管线，不会因入口不同而行为分叉。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把一次性的复杂任务变成可编排、可追溯的流水线——这是多步骤业务真正能被托付出去的前提。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换个会话还认得你，靠的是结构化的记忆而不是更长的上下文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4762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94A3B8"/>
                </a:solidFill>
                <a:latin typeface="Microsoft YaHei"/>
                <a:ea typeface="Microsoft YaHei"/>
              </a:rPr>
              <a:t>一次性对话式</a:t>
            </a:r>
            <a:r>
              <a:rPr lang="en-US" sz="1650" b="1">
                <a:solidFill>
                  <a:srgbClr val="94A3B8"/>
                </a:solidFill>
                <a:latin typeface="Microsoft YaHei"/>
                <a:ea typeface="Microsoft YaHei"/>
              </a:rPr>
              <a:t xml:space="preserve"> AI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571500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571500" y="24860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762000" y="2400300"/>
            <a:ext cx="4572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会话结束即归零，换个窗口要从头交代部门、项目和上次的结论。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571500" y="3209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762000" y="3124200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上下文窗口塞得越满，早期信息越容易被挤出去。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571500" y="36385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762000" y="3552825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没有纠正机制，同样的误解会反复出现。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571500" y="4057650"/>
            <a:ext cx="4762500" cy="857250"/>
          </a:xfrm>
          <a:prstGeom prst="roundRect">
            <a:avLst>
              <a:gd name="adj" fmla="val 11111"/>
            </a:avLst>
          </a:prstGeom>
          <a:solidFill>
            <a:srgbClr val="F1F5F9"/>
          </a:solidFill>
          <a:ln/>
        </p:spPr>
        <p:txBody>
          <a:bodyPr/>
          <a:p>
            <a:pPr/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723900" y="4210050"/>
            <a:ext cx="4457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结果：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每次都像一个刚入职的新同事，能力不随合作时间增长。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5619750" y="1752600"/>
            <a:ext cx="9525" cy="36576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915025" y="1752600"/>
            <a:ext cx="56959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三层记忆</a:t>
            </a:r>
            <a:r>
              <a:rPr lang="en-US" sz="165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多阶段召回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5915025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5915025" y="2381250"/>
            <a:ext cx="1819275" cy="1085850"/>
          </a:xfrm>
          <a:prstGeom prst="roundRect">
            <a:avLst>
              <a:gd name="adj" fmla="val 8772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038850" y="25050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D4ED8"/>
                </a:solidFill>
                <a:latin typeface="Microsoft YaHei"/>
                <a:ea typeface="Microsoft YaHei"/>
              </a:rPr>
              <a:t xml:space="preserve">Atom </a:t>
            </a: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原子事实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038850" y="2828925"/>
            <a:ext cx="15716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最小粒度的可核验条目，支持后续纠偏与更新。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7848600" y="2381250"/>
            <a:ext cx="1828800" cy="1085850"/>
          </a:xfrm>
          <a:prstGeom prst="roundRect">
            <a:avLst>
              <a:gd name="adj" fmla="val 8772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7972425" y="2505075"/>
            <a:ext cx="15811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D4ED8"/>
                </a:solidFill>
                <a:latin typeface="Microsoft YaHei"/>
                <a:ea typeface="Microsoft YaHei"/>
              </a:rPr>
              <a:t xml:space="preserve">Entity </a:t>
            </a: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实体画像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7972425" y="2828925"/>
            <a:ext cx="15811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人、项目、系统的档案页，支持别名消歧。</a:t>
            </a:r>
            <a:endParaRPr/>
          </a:p>
        </p:txBody>
      </p:sp>
      <p:sp>
        <p:nvSpPr>
          <p:cNvPr id="151" name=""/>
          <p:cNvSpPr/>
          <p:nvPr/>
        </p:nvSpPr>
        <p:spPr>
          <a:xfrm rot="0" flipH="0" flipV="0">
            <a:off x="9791700" y="2381250"/>
            <a:ext cx="1819275" cy="1085850"/>
          </a:xfrm>
          <a:prstGeom prst="roundRect">
            <a:avLst>
              <a:gd name="adj" fmla="val 8772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915525" y="2505075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D4ED8"/>
                </a:solidFill>
                <a:latin typeface="Microsoft YaHei"/>
                <a:ea typeface="Microsoft YaHei"/>
              </a:rPr>
              <a:t xml:space="preserve">Episode </a:t>
            </a: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情节经历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915525" y="2828925"/>
            <a:ext cx="15716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保留事件脉络，回答「当时是怎么定的」。</a:t>
            </a:r>
            <a:endParaRPr/>
          </a:p>
        </p:txBody>
      </p:sp>
      <p:sp>
        <p:nvSpPr>
          <p:cNvPr id="154" name=""/>
          <p:cNvSpPr/>
          <p:nvPr/>
        </p:nvSpPr>
        <p:spPr>
          <a:xfrm rot="0" flipH="0" flipV="0">
            <a:off x="5943600" y="3600450"/>
            <a:ext cx="5695950" cy="819150"/>
          </a:xfrm>
          <a:prstGeom prst="roundRect">
            <a:avLst>
              <a:gd name="adj" fmla="val 9302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5943600" y="3600450"/>
            <a:ext cx="5695950" cy="819150"/>
          </a:xfrm>
          <a:custGeom>
            <a:pathLst>
              <a:path w="598" h="86">
                <a:moveTo>
                  <a:pt x="8" y="0"/>
                </a:moveTo>
                <a:cubicBezTo>
                  <a:pt x="5" y="0"/>
                  <a:pt x="3" y="2"/>
                  <a:pt x="3" y="5"/>
                </a:cubicBezTo>
                <a:lnTo>
                  <a:pt x="3" y="81"/>
                </a:lnTo>
                <a:cubicBezTo>
                  <a:pt x="3" y="83"/>
                  <a:pt x="5" y="85"/>
                  <a:pt x="7" y="86"/>
                </a:cubicBezTo>
                <a:cubicBezTo>
                  <a:pt x="3" y="85"/>
                  <a:pt x="0" y="82"/>
                  <a:pt x="0" y="78"/>
                </a:cubicBezTo>
                <a:lnTo>
                  <a:pt x="0" y="8"/>
                </a:lnTo>
                <a:cubicBezTo>
                  <a:pt x="0" y="4"/>
                  <a:pt x="3" y="0"/>
                  <a:pt x="8" y="0"/>
                </a:cubicBez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76950" y="3733800"/>
            <a:ext cx="54006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召回不是关键词匹配：抽取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候选提升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实体消解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生命周期整理，取用时再经过路由、重排、去重与预算控制，才进上下文。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5915025" y="4552950"/>
            <a:ext cx="27527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存储可选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全文检索，或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Chroma / Qdrant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向量索引。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8858250" y="4552950"/>
            <a:ext cx="27527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支持压缩整理与清理策略，长期运行不会无限膨胀。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记忆是分层、可纠正、可清理的资产——它让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的能力随合作时间累积，而不是每次会话从零开始。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答案带着出处：从一堆文档到一个可信答复</a:t>
            </a:r>
            <a:endParaRPr/>
          </a:p>
        </p:txBody>
      </p:sp>
      <p:sp>
        <p:nvSpPr>
          <p:cNvPr id="16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57150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1104900" y="1838325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1D4ED8"/>
                </a:solidFill>
                <a:latin typeface="Microsoft YaHei"/>
                <a:ea typeface="Microsoft YaHei"/>
              </a:rPr>
              <a:t>解析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67627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>PDF / DOCX / XLSX / HTML</a:t>
            </a:r>
            <a:endParaRPr/>
          </a:p>
        </p:txBody>
      </p:sp>
      <p:pic>
        <p:nvPicPr>
          <p:cNvPr id="17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1924050" y="2095500"/>
            <a:ext cx="190500" cy="133350"/>
          </a:xfrm>
          <a:prstGeom prst="rect">
            <a:avLst/>
          </a:prstGeom>
          <a:ln/>
        </p:spPr>
      </p:pic>
      <p:sp>
        <p:nvSpPr>
          <p:cNvPr id="172" name=""/>
          <p:cNvSpPr/>
          <p:nvPr/>
        </p:nvSpPr>
        <p:spPr>
          <a:xfrm rot="0" flipH="0" flipV="0">
            <a:off x="211455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2638425" y="1838325"/>
            <a:ext cx="3143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 b="1">
                <a:solidFill>
                  <a:srgbClr val="1D4ED8"/>
                </a:solidFill>
                <a:latin typeface="Microsoft YaHei"/>
                <a:ea typeface="Microsoft YaHei"/>
              </a:rPr>
              <a:t>OCR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221932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rapidocr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或视觉模型</a:t>
            </a:r>
            <a:endParaRPr/>
          </a:p>
        </p:txBody>
      </p:sp>
      <p:pic>
        <p:nvPicPr>
          <p:cNvPr id="17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467100" y="2095500"/>
            <a:ext cx="190500" cy="133350"/>
          </a:xfrm>
          <a:prstGeom prst="rect">
            <a:avLst/>
          </a:prstGeom>
          <a:ln/>
        </p:spPr>
      </p:pic>
      <p:sp>
        <p:nvSpPr>
          <p:cNvPr id="176" name=""/>
          <p:cNvSpPr/>
          <p:nvPr/>
        </p:nvSpPr>
        <p:spPr>
          <a:xfrm rot="0" flipH="0" flipV="0">
            <a:off x="3657600" y="1838325"/>
            <a:ext cx="1352550" cy="647700"/>
          </a:xfrm>
          <a:prstGeom prst="roundRect">
            <a:avLst>
              <a:gd name="adj" fmla="val 11765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191000" y="19431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1D4ED8"/>
                </a:solidFill>
                <a:latin typeface="Microsoft YaHei"/>
                <a:ea typeface="Microsoft YaHei"/>
              </a:rPr>
              <a:t>分块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3771900" y="2171700"/>
            <a:ext cx="113347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800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字符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重叠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120</a:t>
            </a:r>
            <a:endParaRPr/>
          </a:p>
        </p:txBody>
      </p:sp>
      <p:pic>
        <p:nvPicPr>
          <p:cNvPr id="17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010150" y="2095500"/>
            <a:ext cx="190500" cy="133350"/>
          </a:xfrm>
          <a:prstGeom prst="rect">
            <a:avLst/>
          </a:prstGeom>
          <a:ln/>
        </p:spPr>
      </p:pic>
      <p:sp>
        <p:nvSpPr>
          <p:cNvPr id="180" name=""/>
          <p:cNvSpPr/>
          <p:nvPr/>
        </p:nvSpPr>
        <p:spPr>
          <a:xfrm rot="0" flipH="0" flipV="0">
            <a:off x="520065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5667375" y="1838325"/>
            <a:ext cx="4286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1D4ED8"/>
                </a:solidFill>
                <a:latin typeface="Microsoft YaHei"/>
                <a:ea typeface="Microsoft YaHei"/>
              </a:rPr>
              <a:t>向量化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530542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本地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或远程端点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553200" y="2095500"/>
            <a:ext cx="190500" cy="133350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6743700" y="1838325"/>
            <a:ext cx="1352550" cy="647700"/>
          </a:xfrm>
          <a:prstGeom prst="roundRect">
            <a:avLst>
              <a:gd name="adj" fmla="val 11765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7277100" y="19431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1D4ED8"/>
                </a:solidFill>
                <a:latin typeface="Microsoft YaHei"/>
                <a:ea typeface="Microsoft YaHei"/>
              </a:rPr>
              <a:t>索引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962775" y="2171700"/>
            <a:ext cx="92392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64748B"/>
                </a:solidFill>
                <a:latin typeface="Microsoft YaHei"/>
                <a:ea typeface="Microsoft YaHei"/>
              </a:rPr>
              <a:t>每库一份</a:t>
            </a:r>
            <a:r>
              <a:rPr lang="en-US" sz="975">
                <a:solidFill>
                  <a:srgbClr val="64748B"/>
                </a:solidFill>
                <a:latin typeface="Microsoft YaHei"/>
                <a:ea typeface="Microsoft YaHei"/>
              </a:rPr>
              <a:t xml:space="preserve"> SQLite</a:t>
            </a:r>
            <a:endParaRPr/>
          </a:p>
        </p:txBody>
      </p:sp>
      <p:pic>
        <p:nvPicPr>
          <p:cNvPr id="1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096250" y="2095500"/>
            <a:ext cx="190500" cy="133350"/>
          </a:xfrm>
          <a:prstGeom prst="rect">
            <a:avLst/>
          </a:prstGeom>
          <a:ln/>
        </p:spPr>
      </p:pic>
      <p:sp>
        <p:nvSpPr>
          <p:cNvPr id="188" name=""/>
          <p:cNvSpPr/>
          <p:nvPr/>
        </p:nvSpPr>
        <p:spPr>
          <a:xfrm rot="0" flipH="0" flipV="0">
            <a:off x="8286750" y="1733550"/>
            <a:ext cx="1352550" cy="857250"/>
          </a:xfrm>
          <a:prstGeom prst="roundRect">
            <a:avLst>
              <a:gd name="adj" fmla="val 8889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8820150" y="1838325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F59E0B"/>
                </a:solidFill>
                <a:latin typeface="Microsoft YaHei"/>
                <a:ea typeface="Microsoft YaHei"/>
              </a:rPr>
              <a:t>检索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8391525" y="2066925"/>
            <a:ext cx="1143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en-US" sz="975">
                <a:solidFill>
                  <a:srgbClr val="A9C2E8"/>
                </a:solidFill>
                <a:latin typeface="Microsoft YaHei"/>
                <a:ea typeface="Microsoft YaHei"/>
              </a:rPr>
              <a:t xml:space="preserve">Top-K 8 / </a:t>
            </a:r>
            <a:r>
              <a:rPr lang="zh-CN" sz="975">
                <a:solidFill>
                  <a:srgbClr val="A9C2E8"/>
                </a:solidFill>
                <a:latin typeface="Microsoft YaHei"/>
                <a:ea typeface="Microsoft YaHei"/>
              </a:rPr>
              <a:t>预算</a:t>
            </a:r>
            <a:r>
              <a:rPr lang="en-US" sz="975">
                <a:solidFill>
                  <a:srgbClr val="A9C2E8"/>
                </a:solidFill>
                <a:latin typeface="Microsoft YaHei"/>
                <a:ea typeface="Microsoft YaHei"/>
              </a:rPr>
              <a:t xml:space="preserve"> 6000 </a:t>
            </a:r>
            <a:r>
              <a:rPr lang="zh-CN" sz="975">
                <a:solidFill>
                  <a:srgbClr val="A9C2E8"/>
                </a:solidFill>
                <a:latin typeface="Microsoft YaHei"/>
                <a:ea typeface="Microsoft YaHei"/>
              </a:rPr>
              <a:t>字</a:t>
            </a:r>
            <a:endParaRPr/>
          </a:p>
        </p:txBody>
      </p:sp>
      <p:pic>
        <p:nvPicPr>
          <p:cNvPr id="19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9639300" y="2095500"/>
            <a:ext cx="190500" cy="133350"/>
          </a:xfrm>
          <a:prstGeom prst="rect">
            <a:avLst/>
          </a:prstGeom>
          <a:ln/>
        </p:spPr>
      </p:pic>
      <p:sp>
        <p:nvSpPr>
          <p:cNvPr id="192" name=""/>
          <p:cNvSpPr/>
          <p:nvPr/>
        </p:nvSpPr>
        <p:spPr>
          <a:xfrm rot="0" flipH="0" flipV="0">
            <a:off x="9829800" y="1838325"/>
            <a:ext cx="1352550" cy="647700"/>
          </a:xfrm>
          <a:prstGeom prst="roundRect">
            <a:avLst>
              <a:gd name="adj" fmla="val 11765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0220325" y="1943100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B45309"/>
                </a:solidFill>
                <a:latin typeface="Microsoft YaHei"/>
                <a:ea typeface="Microsoft YaHei"/>
              </a:rPr>
              <a:t>引用溯源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0077450" y="2171700"/>
            <a:ext cx="866775" cy="2095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975">
                <a:solidFill>
                  <a:srgbClr val="92400E"/>
                </a:solidFill>
                <a:latin typeface="Microsoft YaHei"/>
                <a:ea typeface="Microsoft YaHei"/>
              </a:rPr>
              <a:t>答案附来源标记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571500" y="2800350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723900" y="2952750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中文场景做了专门处理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723900" y="3305175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编码自动在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UTF-8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GB18030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之间回退，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.doc / .wps / .xls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等格式走格式转换服务，扫描件自动回退到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OCR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4314825" y="2800350"/>
            <a:ext cx="356235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4467225" y="2952750"/>
            <a:ext cx="32575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35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Embedding </a:t>
            </a: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可以不出内网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4467225" y="3305175"/>
            <a:ext cx="325755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默认使用本地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模型生成向量；若追求效果，也可切到已配置供应商的兼容端点，由企业按数据敏感度自行选择。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8067675" y="2800350"/>
            <a:ext cx="3552825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220075" y="2952750"/>
            <a:ext cx="324802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边界说在前面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220075" y="3305175"/>
            <a:ext cx="3248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当前为向量余弦检索，未做关键词混合检索；中小企业语料规模下召回质量足够，超大规模场景我们再评估索引升级。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减少幻觉的关键不在于换个更大的模型，而在于让答案锚定企业自己的文档，并把出处一并交到使用者手上。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2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能力不是一次性交付，而是可持续安装的资产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28575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三层可安装资产</a:t>
            </a:r>
            <a:endParaRPr/>
          </a:p>
        </p:txBody>
      </p:sp>
      <p:sp>
        <p:nvSpPr>
          <p:cNvPr id="214" name=""/>
          <p:cNvSpPr/>
          <p:nvPr/>
        </p:nvSpPr>
        <p:spPr>
          <a:xfrm rot="0" flipH="0" flipV="0">
            <a:off x="571500" y="22479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571500" y="2438400"/>
            <a:ext cx="28575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底座负责稳定运行，能力层随业务需要叠加。新增一项能力不需要改动平台代码，也不需要重启已有</a:t>
            </a:r>
            <a:r>
              <a:rPr lang="en-US" sz="127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571500" y="3448050"/>
            <a:ext cx="285750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475569"/>
                </a:solidFill>
                <a:latin typeface="Microsoft YaHei"/>
                <a:ea typeface="Microsoft YaHei"/>
              </a:rPr>
              <a:t>第三方技能支持供应链扫描策略：关闭、告警或直接阻断，由企业安全策略决定。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5010150" y="2076450"/>
            <a:ext cx="5334000" cy="762000"/>
          </a:xfrm>
          <a:prstGeom prst="roundRect">
            <a:avLst>
              <a:gd name="adj" fmla="val 12500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5124450" y="2209800"/>
            <a:ext cx="476250" cy="5048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000" b="1">
                <a:solidFill>
                  <a:srgbClr val="F59E0B"/>
                </a:solidFill>
                <a:latin typeface="Microsoft YaHei"/>
                <a:ea typeface="Microsoft YaHei"/>
              </a:rPr>
              <a:t>23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5772150" y="2190750"/>
            <a:ext cx="3695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内置技能包（中英双语）</a:t>
            </a:r>
            <a:endParaRPr/>
          </a:p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5772150" y="2476500"/>
            <a:ext cx="36957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>plan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>powerpoint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>nano-pdf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ocr-and-documents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4343400" y="2933700"/>
            <a:ext cx="6667500" cy="762000"/>
          </a:xfrm>
          <a:prstGeom prst="roundRect">
            <a:avLst>
              <a:gd name="adj" fmla="val 125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4457700" y="3067050"/>
            <a:ext cx="476250" cy="5048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lang="en-US" sz="3000" b="1">
                <a:solidFill>
                  <a:srgbClr val="FFFFFF"/>
                </a:solidFill>
                <a:latin typeface="Microsoft YaHei"/>
                <a:ea typeface="Microsoft YaHei"/>
              </a:rPr>
              <a:t>37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5105400" y="3048000"/>
            <a:ext cx="38862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内置插件，随安装注入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5105400" y="3333750"/>
            <a:ext cx="38862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market-quotes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hot-topics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expense-tracker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 xml:space="preserve">qrcode 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3733800" y="3790950"/>
            <a:ext cx="7886700" cy="762000"/>
          </a:xfrm>
          <a:prstGeom prst="roundRect">
            <a:avLst>
              <a:gd name="adj" fmla="val 12500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848100" y="3924300"/>
            <a:ext cx="342900" cy="504825"/>
          </a:xfrm>
          <a:prstGeom prst="rect"/>
        </p:spPr>
        <p:txBody>
          <a:bodyPr wrap="none" lIns="0" tIns="0" rIns="0" bIns="0"/>
          <a:p>
            <a:pPr>
              <a:lnSpc>
                <a:spcPct val="110000"/>
              </a:lnSpc>
            </a:pPr>
            <a:r>
              <a:rPr sz="3000" b="1">
                <a:solidFill>
                  <a:srgbClr val="0891B2"/>
                </a:solidFill>
                <a:latin typeface="Microsoft YaHei"/>
                <a:ea typeface="Microsoft YaHei"/>
              </a:rPr>
              <a:t>∞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362450" y="3905250"/>
            <a:ext cx="25717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SkillHub </a:t>
            </a: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在线市场与本地安装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4362450" y="4191000"/>
            <a:ext cx="257175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在线检索、下载、归档打包、跨实例传输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3733800" y="4686300"/>
            <a:ext cx="3848100" cy="409575"/>
          </a:xfrm>
          <a:custGeom>
            <a:pathLst>
              <a:path w="404" h="43">
                <a:moveTo>
                  <a:pt x="0" y="0"/>
                </a:moveTo>
                <a:lnTo>
                  <a:pt x="404" y="0"/>
                </a:lnTo>
                <a:lnTo>
                  <a:pt x="404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3733800" y="4810125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按</a:t>
            </a: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粒度启用，不同岗位拿不同技能集合。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7772400" y="4686300"/>
            <a:ext cx="3848100" cy="409575"/>
          </a:xfrm>
          <a:custGeom>
            <a:pathLst>
              <a:path w="404" h="43">
                <a:moveTo>
                  <a:pt x="0" y="0"/>
                </a:moveTo>
                <a:lnTo>
                  <a:pt x="404" y="0"/>
                </a:lnTo>
                <a:lnTo>
                  <a:pt x="404" y="1"/>
                </a:lnTo>
                <a:lnTo>
                  <a:pt x="0" y="1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7772400" y="4810125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按场景过滤加载，只有相关技能进上下文。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采购一套产品的同时，也拿到一条可持续扩充能力的供应链——新增场景时先问「有没有现成技能」，而不是先排开发。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2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区别不在于会不会说，而在于能不能亲手做完</a:t>
            </a:r>
            <a:endParaRPr/>
          </a:p>
        </p:txBody>
      </p:sp>
      <p:sp>
        <p:nvSpPr>
          <p:cNvPr id="241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571500" y="1752600"/>
            <a:ext cx="6096000" cy="3657600"/>
          </a:xfrm>
          <a:prstGeom prst="roundRect">
            <a:avLst>
              <a:gd name="adj" fmla="val 3125"/>
            </a:avLst>
          </a:prstGeom>
          <a:solidFill>
            <a:srgbClr val="0F2247"/>
          </a:solidFill>
          <a:ln/>
        </p:spPr>
        <p:txBody>
          <a:bodyPr/>
          <a:p>
            <a:pPr/>
            <a:endParaRPr/>
          </a:p>
        </p:txBody>
      </p:sp>
      <p:sp>
        <p:nvSpPr>
          <p:cNvPr id="243" name=""/>
          <p:cNvSpPr/>
          <p:nvPr/>
        </p:nvSpPr>
        <p:spPr>
          <a:xfrm rot="0" flipH="0" flipV="0">
            <a:off x="742950" y="199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/>
        </p:spPr>
        <p:txBody>
          <a:bodyPr/>
          <a:p>
            <a:pPr/>
            <a:endParaRPr/>
          </a:p>
        </p:txBody>
      </p:sp>
      <p:sp>
        <p:nvSpPr>
          <p:cNvPr id="244" name=""/>
          <p:cNvSpPr/>
          <p:nvPr/>
        </p:nvSpPr>
        <p:spPr>
          <a:xfrm rot="0" flipH="0" flipV="0">
            <a:off x="914400" y="199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1085850" y="19907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  <p:txBody>
          <a:bodyPr/>
          <a:p>
            <a:pPr/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1333500" y="1924050"/>
            <a:ext cx="13525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7EA3D6"/>
                </a:solidFill>
                <a:latin typeface="Microsoft YaHei"/>
                <a:ea typeface="Microsoft YaHei"/>
              </a:rPr>
              <a:t>agent @ workspace</a:t>
            </a:r>
            <a:endParaRPr/>
          </a:p>
        </p:txBody>
      </p:sp>
      <p:sp>
        <p:nvSpPr>
          <p:cNvPr id="247" name=""/>
          <p:cNvSpPr/>
          <p:nvPr/>
        </p:nvSpPr>
        <p:spPr>
          <a:xfrm rot="0" flipH="0" flipV="0">
            <a:off x="742950" y="2257425"/>
            <a:ext cx="5753100" cy="9525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42950" y="2371725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6EE7B7"/>
                </a:solidFill>
                <a:latin typeface="Microsoft YaHei"/>
                <a:ea typeface="Microsoft YaHei"/>
              </a:rPr>
              <a:t>read_file</a:t>
            </a:r>
            <a:r>
              <a:rPr lang="zh-CN" sz="1200">
                <a:solidFill>
                  <a:srgbClr val="6EE7B7"/>
                </a:solidFill>
                <a:latin typeface="Microsoft YaHei"/>
                <a:ea typeface="Microsoft YaHei"/>
              </a:rPr>
              <a:t>　</a:t>
            </a:r>
            <a:r>
              <a:rPr lang="en-US" sz="1200">
                <a:solidFill>
                  <a:srgbClr val="6EE7B7"/>
                </a:solidFill>
                <a:latin typeface="Microsoft YaHei"/>
                <a:ea typeface="Microsoft YaHei"/>
              </a:rPr>
              <a:t>./</a:t>
            </a:r>
            <a:r>
              <a:rPr lang="zh-CN" sz="1200">
                <a:solidFill>
                  <a:srgbClr val="6EE7B7"/>
                </a:solidFill>
                <a:latin typeface="Microsoft YaHei"/>
                <a:ea typeface="Microsoft YaHei"/>
              </a:rPr>
              <a:t>季度报表</a:t>
            </a:r>
            <a:r>
              <a:rPr lang="en-US" sz="1200">
                <a:solidFill>
                  <a:srgbClr val="6EE7B7"/>
                </a:solidFill>
                <a:latin typeface="Microsoft YaHei"/>
                <a:ea typeface="Microsoft YaHei"/>
              </a:rPr>
              <a:t>.xlsx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42950" y="2667000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grep</a:t>
            </a:r>
            <a:r>
              <a:rPr lang="zh-CN" sz="1200">
                <a:solidFill>
                  <a:srgbClr val="CBD9F0"/>
                </a:solidFill>
                <a:latin typeface="Microsoft YaHei"/>
                <a:ea typeface="Microsoft YaHei"/>
              </a:rPr>
              <a:t>　　　　</a:t>
            </a: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CBD9F0"/>
                </a:solidFill>
                <a:latin typeface="Microsoft YaHei"/>
                <a:ea typeface="Microsoft YaHei"/>
              </a:rPr>
              <a:t>逾期</a:t>
            </a: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" ./contracts/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42950" y="2962275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execute</a:t>
            </a:r>
            <a:r>
              <a:rPr lang="zh-CN" sz="1200">
                <a:solidFill>
                  <a:srgbClr val="CBD9F0"/>
                </a:solidFill>
                <a:latin typeface="Microsoft YaHei"/>
                <a:ea typeface="Microsoft YaHei"/>
              </a:rPr>
              <a:t>　　</a:t>
            </a: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 xml:space="preserve"> pytest -q</a:t>
            </a:r>
            <a:endParaRPr/>
          </a:p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742950" y="3257550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browser_use https://intranet/hr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742950" y="3552825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search_knowledge "</a:t>
            </a:r>
            <a:r>
              <a:rPr lang="zh-CN" sz="1200">
                <a:solidFill>
                  <a:srgbClr val="CBD9F0"/>
                </a:solidFill>
                <a:latin typeface="Microsoft YaHei"/>
                <a:ea typeface="Microsoft YaHei"/>
              </a:rPr>
              <a:t>差旅报销标准</a:t>
            </a: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742950" y="3848100"/>
            <a:ext cx="5753100" cy="2952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send_file_to_user ./</a:t>
            </a:r>
            <a:r>
              <a:rPr lang="zh-CN" sz="1200">
                <a:solidFill>
                  <a:srgbClr val="CBD9F0"/>
                </a:solidFill>
                <a:latin typeface="Microsoft YaHei"/>
                <a:ea typeface="Microsoft YaHei"/>
              </a:rPr>
              <a:t>报表汇总</a:t>
            </a:r>
            <a:r>
              <a:rPr lang="en-US" sz="1200">
                <a:solidFill>
                  <a:srgbClr val="CBD9F0"/>
                </a:solidFill>
                <a:latin typeface="Microsoft YaHei"/>
                <a:ea typeface="Microsoft YaHei"/>
              </a:rPr>
              <a:t>.pdf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742950" y="4248150"/>
            <a:ext cx="5753100" cy="9525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742950" y="4371975"/>
            <a:ext cx="57531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每一行都是真实发生的动作：读文件、搜全文、跑命令、开浏览器、查知识库、生成素材、回传结果。</a:t>
            </a:r>
            <a:endParaRPr/>
          </a:p>
        </p:txBody>
      </p:sp>
      <p:sp>
        <p:nvSpPr>
          <p:cNvPr id="256" name=""/>
          <p:cNvSpPr/>
          <p:nvPr/>
        </p:nvSpPr>
        <p:spPr>
          <a:xfrm rot="0" flipH="0" flipV="0">
            <a:off x="6934200" y="1752600"/>
            <a:ext cx="4686300" cy="1047750"/>
          </a:xfrm>
          <a:custGeom>
            <a:pathLst>
              <a:path w="492" h="110">
                <a:moveTo>
                  <a:pt x="0" y="109"/>
                </a:moveTo>
                <a:lnTo>
                  <a:pt x="492" y="109"/>
                </a:lnTo>
                <a:lnTo>
                  <a:pt x="492" y="110"/>
                </a:lnTo>
                <a:lnTo>
                  <a:pt x="0" y="110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934200" y="1752600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文件与命令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934200" y="2133600"/>
            <a:ext cx="4686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列目录、读写与增量编辑文件、全文检索、执行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Shell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命令——列目录、读写与增量编辑、全文检索、执行命令。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6934200" y="2790825"/>
            <a:ext cx="4686300" cy="895350"/>
          </a:xfrm>
          <a:custGeom>
            <a:pathLst>
              <a:path w="492" h="94">
                <a:moveTo>
                  <a:pt x="0" y="93"/>
                </a:moveTo>
                <a:lnTo>
                  <a:pt x="492" y="93"/>
                </a:lnTo>
                <a:lnTo>
                  <a:pt x="492" y="94"/>
                </a:lnTo>
                <a:lnTo>
                  <a:pt x="0" y="94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934200" y="2914650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联网与验证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934200" y="3295650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五个可选搜索后端、网页抓取与无头浏览器会话。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6934200" y="3676650"/>
            <a:ext cx="4686300" cy="895350"/>
          </a:xfrm>
          <a:custGeom>
            <a:pathLst>
              <a:path w="492" h="94">
                <a:moveTo>
                  <a:pt x="0" y="93"/>
                </a:moveTo>
                <a:lnTo>
                  <a:pt x="492" y="93"/>
                </a:lnTo>
                <a:lnTo>
                  <a:pt x="492" y="94"/>
                </a:lnTo>
                <a:lnTo>
                  <a:pt x="0" y="94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>
            <a:pPr/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934200" y="3800475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记忆与知识</a:t>
            </a:r>
            <a:endParaRPr/>
          </a:p>
        </p:txBody>
      </p:sp>
      <p:sp>
        <p:nvSpPr>
          <p:cNvPr id="264" name="" descr="{&quot;isTemplate&quot;:true,&quot;type&quot;:&quot;text&quot;}"/>
          <p:cNvSpPr txBox="1"/>
          <p:nvPr/>
        </p:nvSpPr>
        <p:spPr>
          <a:xfrm rot="0" flipH="0" flipV="0">
            <a:off x="6934200" y="4181475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记忆检索与保存、知识库检索由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自主调用。</a:t>
            </a:r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934200" y="4657725"/>
            <a:ext cx="46863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交付与排程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6934200" y="5038725"/>
            <a:ext cx="46863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文件回传、素材生成、定时任务增删改查与立即执行。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正因为这些动作真实发生，才必须配套审批、命令守卫与调用留痕——执行能力与安全治理在本产品中是一套设计，不是两张皮。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不只操作文件，还能操作机器本身</a:t>
            </a:r>
            <a:endParaRPr/>
          </a:p>
        </p:txBody>
      </p:sp>
      <p:sp>
        <p:nvSpPr>
          <p:cNvPr id="275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571500" y="1752600"/>
            <a:ext cx="6096000" cy="1724025"/>
          </a:xfrm>
          <a:prstGeom prst="roundRect">
            <a:avLst>
              <a:gd name="adj" fmla="val 6630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33425" y="191452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7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19150" y="2000250"/>
            <a:ext cx="209550" cy="209550"/>
          </a:xfrm>
          <a:prstGeom prst="rect">
            <a:avLst/>
          </a:prstGeom>
          <a:ln/>
        </p:spPr>
      </p:pic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1247775" y="1943100"/>
            <a:ext cx="8763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终端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AI+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733425" y="2409825"/>
            <a:ext cx="57721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浏览器内的交互式</a:t>
            </a:r>
            <a:r>
              <a:rPr lang="en-US" sz="1200">
                <a:solidFill>
                  <a:srgbClr val="A9C2E8"/>
                </a:solidFill>
                <a:latin typeface="Microsoft YaHei"/>
                <a:ea typeface="Microsoft YaHei"/>
              </a:rPr>
              <a:t xml:space="preserve"> Shell</a:t>
            </a: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：命令由</a:t>
            </a:r>
            <a:r>
              <a:rPr lang="en-US" sz="1200">
                <a:solidFill>
                  <a:srgbClr val="A9C2E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辅助生成与排错，执行前后都可见、可中断，不必离开控制台再开一个</a:t>
            </a:r>
            <a:r>
              <a:rPr lang="en-US" sz="1200">
                <a:solidFill>
                  <a:srgbClr val="A9C2E8"/>
                </a:solidFill>
                <a:latin typeface="Microsoft YaHei"/>
                <a:ea typeface="Microsoft YaHei"/>
              </a:rPr>
              <a:t xml:space="preserve"> SSH</a:t>
            </a: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733425" y="3057525"/>
            <a:ext cx="57721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典型场景：服务排障、日志排查、脚本执行、环境初始化。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6858000" y="1752600"/>
            <a:ext cx="4762500" cy="1724025"/>
          </a:xfrm>
          <a:prstGeom prst="roundRect">
            <a:avLst>
              <a:gd name="adj" fmla="val 6630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3" name=""/>
          <p:cNvSpPr/>
          <p:nvPr/>
        </p:nvSpPr>
        <p:spPr>
          <a:xfrm rot="0" flipH="0" flipV="0">
            <a:off x="7019925" y="1914525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8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105650" y="2000250"/>
            <a:ext cx="209550" cy="209550"/>
          </a:xfrm>
          <a:prstGeom prst="rect">
            <a:avLst/>
          </a:prstGeom>
          <a:ln/>
        </p:spPr>
      </p:pic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7534275" y="1943100"/>
            <a:ext cx="10858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浏览器</a:t>
            </a:r>
            <a:r>
              <a:rPr lang="en-US" sz="165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AI+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019925" y="2409825"/>
            <a:ext cx="44386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基于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Chromium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的无头会话：网页自动化、截图核验、表单填报，还能把一次操作录制成可复用技能。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7019925" y="3057525"/>
            <a:ext cx="4438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典型场景：内部系统填报、竞品采集、批量后台操作。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571500" y="3667125"/>
            <a:ext cx="4762500" cy="1724025"/>
          </a:xfrm>
          <a:prstGeom prst="roundRect">
            <a:avLst>
              <a:gd name="adj" fmla="val 663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89" name=""/>
          <p:cNvSpPr/>
          <p:nvPr/>
        </p:nvSpPr>
        <p:spPr>
          <a:xfrm rot="0" flipH="0" flipV="0">
            <a:off x="733425" y="3829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E8EEFB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9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19150" y="3914775"/>
            <a:ext cx="209550" cy="209550"/>
          </a:xfrm>
          <a:prstGeom prst="rect">
            <a:avLst/>
          </a:prstGeom>
          <a:ln/>
        </p:spPr>
      </p:pic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247775" y="3857625"/>
            <a:ext cx="16764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远程桌面与移动端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733425" y="4324350"/>
            <a:ext cx="44386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控制台内实时看屏与键鼠注入，跨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Linux / Windows / macOS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；安卓设备可通过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adb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完成界面解析与手势操作。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733425" y="4972050"/>
            <a:ext cx="44386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典型场景：远程运维、无人值守设备巡检。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5524500" y="3667125"/>
            <a:ext cx="6096000" cy="1724025"/>
          </a:xfrm>
          <a:prstGeom prst="roundRect">
            <a:avLst>
              <a:gd name="adj" fmla="val 6630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5" name=""/>
          <p:cNvSpPr/>
          <p:nvPr/>
        </p:nvSpPr>
        <p:spPr>
          <a:xfrm rot="0" flipH="0" flipV="0">
            <a:off x="5686425" y="3829050"/>
            <a:ext cx="3810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9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5772150" y="3914775"/>
            <a:ext cx="209550" cy="209550"/>
          </a:xfrm>
          <a:prstGeom prst="rect">
            <a:avLst/>
          </a:prstGeom>
          <a:ln/>
        </p:spPr>
      </p:pic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6200775" y="3857625"/>
            <a:ext cx="14668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语音输入与播报</a:t>
            </a:r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5686425" y="4324350"/>
            <a:ext cx="57721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语音转写与合成走兼容端点，也可接云厂商或本地方案；在车间、巡检、驾车等不便打字的场景同样可用。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5686425" y="4972050"/>
            <a:ext cx="57721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92400E"/>
                </a:solidFill>
                <a:latin typeface="Microsoft YaHei"/>
                <a:ea typeface="Microsoft YaHei"/>
              </a:rPr>
              <a:t>典型场景：现场作业记录、移动端快速下达任务。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自托管带来的本质差异就在这里：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面对的是一台真实的机器，而不是一堆只能通过接口读写的远端数据。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>
  <p:cSld>
    <p:spTree>
      <p:nvGrpSpPr>
        <p:cNvPr id="3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000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02 · ABILITY LANDSCAPE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每一次越界动作，都可以被人叫停、修改或追问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309" name=""/>
          <p:cNvSpPr/>
          <p:nvPr/>
        </p:nvSpPr>
        <p:spPr>
          <a:xfrm rot="0" flipH="0" flipV="0">
            <a:off x="5715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04850" y="1790700"/>
            <a:ext cx="24193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71500" y="1981200"/>
            <a:ext cx="25527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事前定义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71500" y="2295525"/>
            <a:ext cx="25527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写文件、改文件、执行命令与删除默认纳入审批清单，由管理员按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调整。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31242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314" name=""/>
          <p:cNvSpPr/>
          <p:nvPr/>
        </p:nvSpPr>
        <p:spPr>
          <a:xfrm rot="0" flipH="0" flipV="0">
            <a:off x="3257550" y="1790700"/>
            <a:ext cx="24193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124200" y="1981200"/>
            <a:ext cx="25527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0891B2"/>
                </a:solidFill>
                <a:latin typeface="Microsoft YaHei"/>
                <a:ea typeface="Microsoft YaHei"/>
              </a:rPr>
              <a:t>事中暂停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3124200" y="2295525"/>
            <a:ext cx="25527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命中审批清单或命令守卫规则时，回合在此挂起，等待人工处置。</a:t>
            </a:r>
            <a:endParaRPr/>
          </a:p>
        </p:txBody>
      </p:sp>
      <p:sp>
        <p:nvSpPr>
          <p:cNvPr id="317" name=""/>
          <p:cNvSpPr/>
          <p:nvPr/>
        </p:nvSpPr>
        <p:spPr>
          <a:xfrm rot="0" flipH="0" flipV="0">
            <a:off x="56769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5810250" y="1790700"/>
            <a:ext cx="24193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5676900" y="1981200"/>
            <a:ext cx="25527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B45309"/>
                </a:solidFill>
                <a:latin typeface="Microsoft YaHei"/>
                <a:ea typeface="Microsoft YaHei"/>
              </a:rPr>
              <a:t>人工决策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5676900" y="2295525"/>
            <a:ext cx="25527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通过、修改参数后通过、拒绝、或补充要求后继续，共四种处置。</a:t>
            </a:r>
            <a:endParaRPr/>
          </a:p>
        </p:txBody>
      </p:sp>
      <p:sp>
        <p:nvSpPr>
          <p:cNvPr id="321" name=""/>
          <p:cNvSpPr/>
          <p:nvPr/>
        </p:nvSpPr>
        <p:spPr>
          <a:xfrm rot="0" flipH="0" flipV="0">
            <a:off x="8229600" y="17335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8362950" y="1790700"/>
            <a:ext cx="2686050" cy="1905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8229600" y="1981200"/>
            <a:ext cx="28194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2275A"/>
                </a:solidFill>
                <a:latin typeface="Microsoft YaHei"/>
                <a:ea typeface="Microsoft YaHei"/>
              </a:rPr>
              <a:t>事后继续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8229600" y="2295525"/>
            <a:ext cx="2819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决策结果回写检查点，</a:t>
            </a:r>
            <a:r>
              <a:rPr lang="en-US" sz="1125">
                <a:solidFill>
                  <a:srgbClr val="64748B"/>
                </a:solidFill>
                <a:latin typeface="Microsoft YaHei"/>
                <a:ea typeface="Microsoft YaHei"/>
              </a:rPr>
              <a:t xml:space="preserve">Agent </a:t>
            </a: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接着跑完剩余步骤，不会从头开始。</a:t>
            </a:r>
            <a:endParaRPr/>
          </a:p>
        </p:txBody>
      </p:sp>
      <p:sp>
        <p:nvSpPr>
          <p:cNvPr id="325" name=""/>
          <p:cNvSpPr/>
          <p:nvPr/>
        </p:nvSpPr>
        <p:spPr>
          <a:xfrm rot="0" flipH="0" flipV="0">
            <a:off x="571500" y="3295650"/>
            <a:ext cx="285750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723900" y="3448050"/>
            <a:ext cx="25527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四处入口，同一套审批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723900" y="3800475"/>
            <a:ext cx="25527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控制台、命令行、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IM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与定时任务都能收到审批请求；在飞书、钉钉里也能直接点按钮处置。</a:t>
            </a:r>
            <a:endParaRPr/>
          </a:p>
        </p:txBody>
      </p:sp>
      <p:sp>
        <p:nvSpPr>
          <p:cNvPr id="328" name=""/>
          <p:cNvSpPr/>
          <p:nvPr/>
        </p:nvSpPr>
        <p:spPr>
          <a:xfrm rot="0" flipH="0" flipV="0">
            <a:off x="3619500" y="3295650"/>
            <a:ext cx="2857500" cy="1485900"/>
          </a:xfrm>
          <a:prstGeom prst="roundRect">
            <a:avLst>
              <a:gd name="adj" fmla="val 641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771900" y="3448050"/>
            <a:ext cx="25527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会话级放行，减少打扰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3771900" y="3800475"/>
            <a:ext cx="25527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确认可信后可本次放行或整段会话放行指定工具，避免同类动作反复打断工作流。</a:t>
            </a:r>
            <a:endParaRPr/>
          </a:p>
        </p:txBody>
      </p:sp>
      <p:sp>
        <p:nvSpPr>
          <p:cNvPr id="331" name=""/>
          <p:cNvSpPr/>
          <p:nvPr/>
        </p:nvSpPr>
        <p:spPr>
          <a:xfrm rot="0" flipH="0" flipV="0">
            <a:off x="6667500" y="3295650"/>
            <a:ext cx="4762500" cy="1485900"/>
          </a:xfrm>
          <a:prstGeom prst="roundRect">
            <a:avLst>
              <a:gd name="adj" fmla="val 6410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819900" y="3448050"/>
            <a:ext cx="44577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F59E0B"/>
                </a:solidFill>
                <a:latin typeface="Microsoft YaHei"/>
                <a:ea typeface="Microsoft YaHei"/>
              </a:rPr>
              <a:t>为什么这决定能不能上线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6819900" y="3800475"/>
            <a:ext cx="44577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D6E3F5"/>
                </a:solidFill>
                <a:latin typeface="Microsoft YaHei"/>
                <a:ea typeface="Microsoft YaHei"/>
              </a:rPr>
              <a:t>绝大多数企业</a:t>
            </a:r>
            <a:r>
              <a:rPr lang="en-US" sz="1200">
                <a:solidFill>
                  <a:srgbClr val="D6E3F5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D6E3F5"/>
                </a:solidFill>
                <a:latin typeface="Microsoft YaHei"/>
                <a:ea typeface="Microsoft YaHei"/>
              </a:rPr>
              <a:t>项目卡在「不敢授权」。审批机制把默认策略从「全禁止」变成「可控放行」，</a:t>
            </a:r>
            <a:r>
              <a:rPr lang="en-US" sz="1200">
                <a:solidFill>
                  <a:srgbClr val="D6E3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D6E3F5"/>
                </a:solidFill>
                <a:latin typeface="Microsoft YaHei"/>
                <a:ea typeface="Microsoft YaHei"/>
              </a:rPr>
              <a:t>才真正进入业务流程而不是停在建议层。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335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自主执行与人工掌控并不矛盾：机器负责把活干完，人保留随时改主意和问清楚的权利。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3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1F3C7A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41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安全与治理</a:t>
            </a:r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9AB4DB"/>
                </a:solidFill>
                <a:latin typeface="Microsoft YaHei"/>
                <a:ea typeface="Microsoft YaHei"/>
              </a:rPr>
              <a:t>敢把</a:t>
            </a:r>
            <a:r>
              <a:rPr lang="en-US" sz="1650">
                <a:solidFill>
                  <a:srgbClr val="9AB4DB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650">
                <a:solidFill>
                  <a:srgbClr val="9AB4DB"/>
                </a:solidFill>
                <a:latin typeface="Microsoft YaHei"/>
                <a:ea typeface="Microsoft YaHei"/>
              </a:rPr>
              <a:t>放出去用，靠的是可验证的边界</a:t>
            </a:r>
            <a:endParaRPr/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3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7EA3D6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FFFFFF"/>
                </a:solidFill>
                <a:latin typeface="Microsoft YaHei"/>
                <a:ea typeface="Microsoft YaHei"/>
              </a:rPr>
              <a:t>五层防线：每一层都能打开看、按企业需要改</a:t>
            </a:r>
            <a:endParaRPr/>
          </a:p>
        </p:txBody>
      </p:sp>
      <p:sp>
        <p:nvSpPr>
          <p:cNvPr id="376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377" name=""/>
          <p:cNvSpPr/>
          <p:nvPr/>
        </p:nvSpPr>
        <p:spPr>
          <a:xfrm rot="0" flipH="0" flipV="0">
            <a:off x="571500" y="17335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695325" y="18573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F59E0B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379" name=""/>
          <p:cNvSpPr/>
          <p:nvPr/>
        </p:nvSpPr>
        <p:spPr>
          <a:xfrm rot="0" flipH="0" flipV="0">
            <a:off x="1114425" y="1866900"/>
            <a:ext cx="9525" cy="2857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1276350" y="18669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身份与授权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4286250" y="18859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密码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/ LDAP / SSO-OIDC /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邀请码，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JWT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全站校验，按行隔离用户数据</a:t>
            </a:r>
            <a:endParaRPr/>
          </a:p>
        </p:txBody>
      </p:sp>
      <p:sp>
        <p:nvSpPr>
          <p:cNvPr id="382" name=""/>
          <p:cNvSpPr/>
          <p:nvPr/>
        </p:nvSpPr>
        <p:spPr>
          <a:xfrm rot="0" flipH="0" flipV="0">
            <a:off x="571500" y="23812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695325" y="25050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06B6D4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384" name=""/>
          <p:cNvSpPr/>
          <p:nvPr/>
        </p:nvSpPr>
        <p:spPr>
          <a:xfrm rot="0" flipH="0" flipV="0">
            <a:off x="1114425" y="2514600"/>
            <a:ext cx="9525" cy="2857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385" name="" descr="{&quot;isTemplate&quot;:true,&quot;type&quot;:&quot;text&quot;}"/>
          <p:cNvSpPr txBox="1"/>
          <p:nvPr/>
        </p:nvSpPr>
        <p:spPr>
          <a:xfrm rot="0" flipH="0" flipV="0">
            <a:off x="1276350" y="25146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命令守卫</a:t>
            </a:r>
            <a:endParaRPr/>
          </a:p>
        </p:txBody>
      </p:sp>
      <p:sp>
        <p:nvSpPr>
          <p:cNvPr id="386" name="" descr="{&quot;isTemplate&quot;:true,&quot;type&quot;:&quot;text&quot;}"/>
          <p:cNvSpPr txBox="1"/>
          <p:nvPr/>
        </p:nvSpPr>
        <p:spPr>
          <a:xfrm rot="0" flipH="0" flipV="0">
            <a:off x="4286250" y="25336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条内建危险命令规则，可选拦截、告警或转人工审批，规则可自定义</a:t>
            </a:r>
            <a:endParaRPr/>
          </a:p>
        </p:txBody>
      </p:sp>
      <p:sp>
        <p:nvSpPr>
          <p:cNvPr id="387" name=""/>
          <p:cNvSpPr/>
          <p:nvPr/>
        </p:nvSpPr>
        <p:spPr>
          <a:xfrm rot="0" flipH="0" flipV="0">
            <a:off x="571500" y="30289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695325" y="31527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06B6D4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389" name=""/>
          <p:cNvSpPr/>
          <p:nvPr/>
        </p:nvSpPr>
        <p:spPr>
          <a:xfrm rot="0" flipH="0" flipV="0">
            <a:off x="1114425" y="3162300"/>
            <a:ext cx="9525" cy="2857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1276350" y="31623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文件系统沙箱</a:t>
            </a:r>
            <a:endParaRPr/>
          </a:p>
        </p:txBody>
      </p:sp>
      <p:sp>
        <p:nvSpPr>
          <p:cNvPr id="391" name="" descr="{&quot;isTemplate&quot;:true,&quot;type&quot;:&quot;text&quot;}"/>
          <p:cNvSpPr txBox="1"/>
          <p:nvPr/>
        </p:nvSpPr>
        <p:spPr>
          <a:xfrm rot="0" flipH="0" flipV="0">
            <a:off x="4286250" y="31813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按操作与路径配置允许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拒绝，默认拦截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/etc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>/root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>.env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、密钥与云凭证</a:t>
            </a:r>
            <a:endParaRPr/>
          </a:p>
        </p:txBody>
      </p:sp>
      <p:sp>
        <p:nvSpPr>
          <p:cNvPr id="392" name=""/>
          <p:cNvSpPr/>
          <p:nvPr/>
        </p:nvSpPr>
        <p:spPr>
          <a:xfrm rot="0" flipH="0" flipV="0">
            <a:off x="571500" y="36766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3" name="" descr="{&quot;isTemplate&quot;:true,&quot;type&quot;:&quot;text&quot;}"/>
          <p:cNvSpPr txBox="1"/>
          <p:nvPr/>
        </p:nvSpPr>
        <p:spPr>
          <a:xfrm rot="0" flipH="0" flipV="0">
            <a:off x="695325" y="38004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06B6D4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394" name=""/>
          <p:cNvSpPr/>
          <p:nvPr/>
        </p:nvSpPr>
        <p:spPr>
          <a:xfrm rot="0" flipH="0" flipV="0">
            <a:off x="1114425" y="3810000"/>
            <a:ext cx="9525" cy="2857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395" name="" descr="{&quot;isTemplate&quot;:true,&quot;type&quot;:&quot;text&quot;}"/>
          <p:cNvSpPr txBox="1"/>
          <p:nvPr/>
        </p:nvSpPr>
        <p:spPr>
          <a:xfrm rot="0" flipH="0" flipV="0">
            <a:off x="1276350" y="38100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数据与出站</a:t>
            </a:r>
            <a:endParaRPr/>
          </a:p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4286250" y="38290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四种脱敏策略作用于输入输出与工具结果，出站请求做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SSRF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校验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571500" y="4324350"/>
            <a:ext cx="11049000" cy="552450"/>
          </a:xfrm>
          <a:prstGeom prst="roundRect">
            <a:avLst>
              <a:gd name="adj" fmla="val 17241"/>
            </a:avLst>
          </a:prstGeom>
          <a:solidFill>
            <a:srgbClr val="17305F"/>
          </a:solidFill>
          <a:ln w="12700">
            <a:solidFill>
              <a:srgbClr val="2D4A8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695325" y="4448175"/>
            <a:ext cx="266700" cy="304800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en-US" sz="1650" b="1">
                <a:solidFill>
                  <a:srgbClr val="F59E0B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399" name=""/>
          <p:cNvSpPr/>
          <p:nvPr/>
        </p:nvSpPr>
        <p:spPr>
          <a:xfrm rot="0" flipH="0" flipV="0">
            <a:off x="1114425" y="4457700"/>
            <a:ext cx="9525" cy="285750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>
            <a:pPr/>
            <a:endParaRPr/>
          </a:p>
        </p:txBody>
      </p:sp>
      <p:sp>
        <p:nvSpPr>
          <p:cNvPr id="400" name="" descr="{&quot;isTemplate&quot;:true,&quot;type&quot;:&quot;text&quot;}"/>
          <p:cNvSpPr txBox="1"/>
          <p:nvPr/>
        </p:nvSpPr>
        <p:spPr>
          <a:xfrm rot="0" flipH="0" flipV="0">
            <a:off x="1276350" y="4457700"/>
            <a:ext cx="2857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审计与备份</a:t>
            </a:r>
            <a:endParaRPr/>
          </a:p>
        </p:txBody>
      </p:sp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4286250" y="4476750"/>
            <a:ext cx="7210425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工具调用全量记入轨迹账本，支持自动备份与一键恢复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1E3C82"/>
          </a:solidFill>
          <a:ln/>
        </p:spPr>
        <p:txBody>
          <a:bodyPr/>
          <a:p>
            <a:pPr/>
            <a:endParaRPr/>
          </a:p>
        </p:txBody>
      </p:sp>
      <p:sp>
        <p:nvSpPr>
          <p:cNvPr id="403" name=""/>
          <p:cNvSpPr/>
          <p:nvPr/>
        </p:nvSpPr>
        <p:spPr>
          <a:xfrm rot="0" flipH="0" flipV="0">
            <a:off x="704850" y="5734050"/>
            <a:ext cx="38100" cy="4191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404" name="" descr="{&quot;isTemplate&quot;:true,&quot;type&quot;:&quot;text&quot;}"/>
          <p:cNvSpPr txBox="1"/>
          <p:nvPr/>
        </p:nvSpPr>
        <p:spPr>
          <a:xfrm rot="0" flipH="0" flipV="0">
            <a:off x="895350" y="5791200"/>
            <a:ext cx="105918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6EEFA"/>
                </a:solidFill>
                <a:latin typeface="Microsoft YaHei"/>
                <a:ea typeface="Microsoft YaHei"/>
              </a:rPr>
              <a:t>安全不是一句承诺：这五层都是配置文件里看得见、改得动、有日志可查的具体机制。</a:t>
            </a:r>
            <a:endParaRPr/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07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408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409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危险动作在执行前被拦下，而不是事后追责</a:t>
            </a:r>
            <a:endParaRPr/>
          </a:p>
        </p:txBody>
      </p:sp>
      <p:sp>
        <p:nvSpPr>
          <p:cNvPr id="410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11" name=""/>
          <p:cNvSpPr/>
          <p:nvPr/>
        </p:nvSpPr>
        <p:spPr>
          <a:xfrm rot="0" flipH="0" flipV="0">
            <a:off x="571500" y="1752600"/>
            <a:ext cx="3048000" cy="3657600"/>
          </a:xfrm>
          <a:prstGeom prst="roundRect">
            <a:avLst>
              <a:gd name="adj" fmla="val 3750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781050" y="1962150"/>
            <a:ext cx="2628900" cy="7715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800" b="1">
                <a:solidFill>
                  <a:srgbClr val="F59E0B"/>
                </a:solidFill>
                <a:latin typeface="Microsoft YaHei"/>
                <a:ea typeface="Microsoft YaHei"/>
              </a:rPr>
              <a:t>20</a:t>
            </a:r>
            <a:endParaRPr/>
          </a:p>
        </p:txBody>
      </p:sp>
      <p:sp>
        <p:nvSpPr>
          <p:cNvPr id="413" name="" descr="{&quot;isTemplate&quot;:true,&quot;type&quot;:&quot;text&quot;}"/>
          <p:cNvSpPr txBox="1"/>
          <p:nvPr/>
        </p:nvSpPr>
        <p:spPr>
          <a:xfrm rot="0" flipH="0" flipV="0">
            <a:off x="781050" y="2790825"/>
            <a:ext cx="26289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条内建危险命令规则</a:t>
            </a:r>
            <a:endParaRPr/>
          </a:p>
        </p:txBody>
      </p:sp>
      <p:sp>
        <p:nvSpPr>
          <p:cNvPr id="414" name=""/>
          <p:cNvSpPr/>
          <p:nvPr/>
        </p:nvSpPr>
        <p:spPr>
          <a:xfrm rot="0" flipH="0" flipV="0">
            <a:off x="781050" y="3238500"/>
            <a:ext cx="457200" cy="381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/>
          <a:p>
            <a:pPr/>
            <a:endParaRPr/>
          </a:p>
        </p:txBody>
      </p:sp>
      <p:sp>
        <p:nvSpPr>
          <p:cNvPr id="415" name="" descr="{&quot;isTemplate&quot;:true,&quot;type&quot;:&quot;text&quot;}"/>
          <p:cNvSpPr txBox="1"/>
          <p:nvPr/>
        </p:nvSpPr>
        <p:spPr>
          <a:xfrm rot="0" flipH="0" flipV="0">
            <a:off x="781050" y="3409950"/>
            <a:ext cx="2628900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A9C2E8"/>
                </a:solidFill>
                <a:latin typeface="Microsoft YaHei"/>
                <a:ea typeface="Microsoft YaHei"/>
              </a:rPr>
              <a:t>覆盖删除与覆写、资源滥用、命令注入、提权、敏感文件与网络滥用六类威胁。</a:t>
            </a:r>
            <a:endParaRPr/>
          </a:p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781050" y="4352925"/>
            <a:ext cx="26289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规则以</a:t>
            </a:r>
            <a:r>
              <a:rPr lang="en-US" sz="1125">
                <a:solidFill>
                  <a:srgbClr val="7EA3D6"/>
                </a:solidFill>
                <a:latin typeface="Microsoft YaHei"/>
                <a:ea typeface="Microsoft YaHei"/>
              </a:rPr>
              <a:t xml:space="preserve"> YAML </a:t>
            </a: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维护，支持校验、热加载，误伤时可一键恢复内置版本。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924300" y="1752600"/>
            <a:ext cx="7696200" cy="752475"/>
          </a:xfrm>
          <a:prstGeom prst="roundRect">
            <a:avLst>
              <a:gd name="adj" fmla="val 1265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4524375" y="1885950"/>
            <a:ext cx="9715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2275A"/>
                </a:solidFill>
                <a:latin typeface="Microsoft YaHei"/>
                <a:ea typeface="Microsoft YaHei"/>
              </a:rPr>
              <a:t>工具调用请求</a:t>
            </a:r>
            <a:endParaRPr/>
          </a:p>
        </p:txBody>
      </p:sp>
      <p:sp>
        <p:nvSpPr>
          <p:cNvPr id="419" name="" descr="{&quot;isTemplate&quot;:true,&quot;type&quot;:&quot;text&quot;}"/>
          <p:cNvSpPr txBox="1"/>
          <p:nvPr/>
        </p:nvSpPr>
        <p:spPr>
          <a:xfrm rot="0" flipH="0" flipV="0">
            <a:off x="4114800" y="2143125"/>
            <a:ext cx="17907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bash / execute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的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command</a:t>
            </a:r>
            <a:endParaRPr/>
          </a:p>
        </p:txBody>
      </p:sp>
      <p:pic>
        <p:nvPicPr>
          <p:cNvPr id="42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5962650" y="2057400"/>
            <a:ext cx="381000" cy="152400"/>
          </a:xfrm>
          <a:prstGeom prst="rect">
            <a:avLst/>
          </a:prstGeom>
          <a:ln/>
        </p:spPr>
      </p:pic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6810375" y="1885950"/>
            <a:ext cx="97155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2275A"/>
                </a:solidFill>
                <a:latin typeface="Microsoft YaHei"/>
                <a:ea typeface="Microsoft YaHei"/>
              </a:rPr>
              <a:t>规则引擎匹配</a:t>
            </a:r>
            <a:endParaRPr/>
          </a:p>
        </p:txBody>
      </p:sp>
      <p:sp>
        <p:nvSpPr>
          <p:cNvPr id="422" name="" descr="{&quot;isTemplate&quot;:true,&quot;type&quot;:&quot;text&quot;}"/>
          <p:cNvSpPr txBox="1"/>
          <p:nvPr/>
        </p:nvSpPr>
        <p:spPr>
          <a:xfrm rot="0" flipH="0" flipV="0">
            <a:off x="6543675" y="2143125"/>
            <a:ext cx="151447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YAML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规则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用户自定义</a:t>
            </a:r>
            <a:endParaRPr/>
          </a:p>
        </p:txBody>
      </p:sp>
      <p:pic>
        <p:nvPicPr>
          <p:cNvPr id="4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248650" y="2057400"/>
            <a:ext cx="381000" cy="152400"/>
          </a:xfrm>
          <a:prstGeom prst="rect">
            <a:avLst/>
          </a:prstGeom>
          <a:ln/>
        </p:spPr>
      </p:pic>
      <p:sp>
        <p:nvSpPr>
          <p:cNvPr id="424" name=""/>
          <p:cNvSpPr/>
          <p:nvPr/>
        </p:nvSpPr>
        <p:spPr>
          <a:xfrm rot="0" flipH="0" flipV="0">
            <a:off x="8629650" y="1943100"/>
            <a:ext cx="904875" cy="381000"/>
          </a:xfrm>
          <a:prstGeom prst="roundRect">
            <a:avLst>
              <a:gd name="adj" fmla="val 15000"/>
            </a:avLst>
          </a:prstGeom>
          <a:solidFill>
            <a:srgbClr val="FEE2E2"/>
          </a:solidFill>
          <a:ln/>
        </p:spPr>
        <p:txBody>
          <a:bodyPr/>
          <a:p>
            <a:pPr/>
            <a:endParaRPr/>
          </a:p>
        </p:txBody>
      </p:sp>
      <p:sp>
        <p:nvSpPr>
          <p:cNvPr id="425" name="" descr="{&quot;isTemplate&quot;:true,&quot;type&quot;:&quot;text&quot;}"/>
          <p:cNvSpPr txBox="1"/>
          <p:nvPr/>
        </p:nvSpPr>
        <p:spPr>
          <a:xfrm rot="0" flipH="0" flipV="0">
            <a:off x="8943975" y="20193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B91C1C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426" name=""/>
          <p:cNvSpPr/>
          <p:nvPr/>
        </p:nvSpPr>
        <p:spPr>
          <a:xfrm rot="0" flipH="0" flipV="0">
            <a:off x="9610725" y="1943100"/>
            <a:ext cx="895350" cy="381000"/>
          </a:xfrm>
          <a:prstGeom prst="roundRect">
            <a:avLst>
              <a:gd name="adj" fmla="val 15000"/>
            </a:avLst>
          </a:prstGeom>
          <a:solidFill>
            <a:srgbClr val="FFF7E9"/>
          </a:solidFill>
          <a:ln/>
        </p:spPr>
        <p:txBody>
          <a:bodyPr/>
          <a:p>
            <a:pPr/>
            <a:endParaRPr/>
          </a:p>
        </p:txBody>
      </p:sp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9915525" y="2019300"/>
            <a:ext cx="2857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B45309"/>
                </a:solidFill>
                <a:latin typeface="Microsoft YaHei"/>
                <a:ea typeface="Microsoft YaHei"/>
              </a:rPr>
              <a:t>告警</a:t>
            </a:r>
            <a:endParaRPr/>
          </a:p>
        </p:txBody>
      </p:sp>
      <p:sp>
        <p:nvSpPr>
          <p:cNvPr id="428" name=""/>
          <p:cNvSpPr/>
          <p:nvPr/>
        </p:nvSpPr>
        <p:spPr>
          <a:xfrm rot="0" flipH="0" flipV="0">
            <a:off x="10582275" y="1943100"/>
            <a:ext cx="904875" cy="381000"/>
          </a:xfrm>
          <a:prstGeom prst="roundRect">
            <a:avLst>
              <a:gd name="adj" fmla="val 15000"/>
            </a:avLst>
          </a:prstGeom>
          <a:solidFill>
            <a:srgbClr val="E8EE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29" name="" descr="{&quot;isTemplate&quot;:true,&quot;type&quot;:&quot;text&quot;}"/>
          <p:cNvSpPr txBox="1"/>
          <p:nvPr/>
        </p:nvSpPr>
        <p:spPr>
          <a:xfrm rot="0" flipH="0" flipV="0">
            <a:off x="10820400" y="2019300"/>
            <a:ext cx="4286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 b="1">
                <a:solidFill>
                  <a:srgbClr val="1D4ED8"/>
                </a:solidFill>
                <a:latin typeface="Microsoft YaHei"/>
                <a:ea typeface="Microsoft YaHei"/>
              </a:rPr>
              <a:t>转审批</a:t>
            </a:r>
            <a:endParaRPr/>
          </a:p>
        </p:txBody>
      </p:sp>
      <p:sp>
        <p:nvSpPr>
          <p:cNvPr id="430" name=""/>
          <p:cNvSpPr/>
          <p:nvPr/>
        </p:nvSpPr>
        <p:spPr>
          <a:xfrm rot="0" flipH="0" flipV="0">
            <a:off x="3924300" y="2638425"/>
            <a:ext cx="1428750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31" name="" descr="{&quot;isTemplate&quot;:true,&quot;type&quot;:&quot;text&quot;}"/>
          <p:cNvSpPr txBox="1"/>
          <p:nvPr/>
        </p:nvSpPr>
        <p:spPr>
          <a:xfrm rot="0" flipH="0" flipV="0">
            <a:off x="4048125" y="2762250"/>
            <a:ext cx="1181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代码执行类</a:t>
            </a:r>
            <a:endParaRPr/>
          </a:p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4048125" y="3048000"/>
            <a:ext cx="11811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33" name=""/>
          <p:cNvSpPr/>
          <p:nvPr/>
        </p:nvSpPr>
        <p:spPr>
          <a:xfrm rot="0" flipH="0" flipV="0">
            <a:off x="5486400" y="2638425"/>
            <a:ext cx="1438275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5610225" y="2762250"/>
            <a:ext cx="11906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资源滥用类</a:t>
            </a:r>
            <a:endParaRPr/>
          </a:p>
        </p:txBody>
      </p:sp>
      <p:sp>
        <p:nvSpPr>
          <p:cNvPr id="435" name="" descr="{&quot;isTemplate&quot;:true,&quot;type&quot;:&quot;text&quot;}"/>
          <p:cNvSpPr txBox="1"/>
          <p:nvPr/>
        </p:nvSpPr>
        <p:spPr>
          <a:xfrm rot="0" flipH="0" flipV="0">
            <a:off x="5610225" y="3048000"/>
            <a:ext cx="11906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4 </a:t>
            </a: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36" name=""/>
          <p:cNvSpPr/>
          <p:nvPr/>
        </p:nvSpPr>
        <p:spPr>
          <a:xfrm rot="0" flipH="0" flipV="0">
            <a:off x="7058025" y="2638425"/>
            <a:ext cx="1428750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37" name="" descr="{&quot;isTemplate&quot;:true,&quot;type&quot;:&quot;text&quot;}"/>
          <p:cNvSpPr txBox="1"/>
          <p:nvPr/>
        </p:nvSpPr>
        <p:spPr>
          <a:xfrm rot="0" flipH="0" flipV="0">
            <a:off x="7181850" y="2762250"/>
            <a:ext cx="1181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命令注入类</a:t>
            </a:r>
            <a:endParaRPr/>
          </a:p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7181850" y="3048000"/>
            <a:ext cx="1181100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8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8620125" y="2638425"/>
            <a:ext cx="1438275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8743950" y="2762250"/>
            <a:ext cx="1190625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提权与敏感文件</a:t>
            </a:r>
            <a:endParaRPr/>
          </a:p>
        </p:txBody>
      </p:sp>
      <p:sp>
        <p:nvSpPr>
          <p:cNvPr id="441" name="" descr="{&quot;isTemplate&quot;:true,&quot;type&quot;:&quot;text&quot;}"/>
          <p:cNvSpPr txBox="1"/>
          <p:nvPr/>
        </p:nvSpPr>
        <p:spPr>
          <a:xfrm rot="0" flipH="0" flipV="0">
            <a:off x="8743950" y="3048000"/>
            <a:ext cx="1190625" cy="3619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各</a:t>
            </a:r>
            <a:r>
              <a:rPr lang="en-US" sz="18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800" b="1">
                <a:solidFill>
                  <a:srgbClr val="12275A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442" name=""/>
          <p:cNvSpPr/>
          <p:nvPr/>
        </p:nvSpPr>
        <p:spPr>
          <a:xfrm rot="0" flipH="0" flipV="0">
            <a:off x="10191750" y="2638425"/>
            <a:ext cx="1428750" cy="1133475"/>
          </a:xfrm>
          <a:prstGeom prst="roundRect">
            <a:avLst>
              <a:gd name="adj" fmla="val 8403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10315575" y="2762250"/>
            <a:ext cx="1181100" cy="2476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125">
                <a:solidFill>
                  <a:srgbClr val="64748B"/>
                </a:solidFill>
                <a:latin typeface="Microsoft YaHei"/>
                <a:ea typeface="Microsoft YaHei"/>
              </a:rPr>
              <a:t>等级分布</a:t>
            </a:r>
            <a:endParaRPr/>
          </a:p>
        </p:txBody>
      </p:sp>
      <p:sp>
        <p:nvSpPr>
          <p:cNvPr id="444" name="" descr="{&quot;isTemplate&quot;:true,&quot;type&quot;:&quot;text&quot;}"/>
          <p:cNvSpPr txBox="1"/>
          <p:nvPr/>
        </p:nvSpPr>
        <p:spPr>
          <a:xfrm rot="0" flipH="0" flipV="0">
            <a:off x="10315575" y="3048000"/>
            <a:ext cx="11811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高危</a:t>
            </a:r>
            <a:r>
              <a:rPr lang="en-US" sz="15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7 / </a:t>
            </a: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严重</a:t>
            </a:r>
            <a:r>
              <a:rPr lang="en-US" sz="15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13</a:t>
            </a:r>
            <a:endParaRPr/>
          </a:p>
        </p:txBody>
      </p:sp>
      <p:sp>
        <p:nvSpPr>
          <p:cNvPr id="445" name=""/>
          <p:cNvSpPr/>
          <p:nvPr/>
        </p:nvSpPr>
        <p:spPr>
          <a:xfrm rot="0" flipH="0" flipV="0">
            <a:off x="3924300" y="3905250"/>
            <a:ext cx="3771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46" name="" descr="{&quot;isTemplate&quot;:true,&quot;type&quot;:&quot;text&quot;}"/>
          <p:cNvSpPr txBox="1"/>
          <p:nvPr/>
        </p:nvSpPr>
        <p:spPr>
          <a:xfrm rot="0" flipH="0" flipV="0">
            <a:off x="4057650" y="4038600"/>
            <a:ext cx="35052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2275A"/>
                </a:solidFill>
                <a:latin typeface="Microsoft YaHei"/>
                <a:ea typeface="Microsoft YaHei"/>
              </a:rPr>
              <a:t>文件系统：按操作</a:t>
            </a:r>
            <a:r>
              <a:rPr lang="en-US" sz="1275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275" b="1">
                <a:solidFill>
                  <a:srgbClr val="12275A"/>
                </a:solidFill>
                <a:latin typeface="Microsoft YaHei"/>
                <a:ea typeface="Microsoft YaHei"/>
              </a:rPr>
              <a:t>路径授权</a:t>
            </a:r>
            <a:endParaRPr/>
          </a:p>
        </p:txBody>
      </p:sp>
      <p:sp>
        <p:nvSpPr>
          <p:cNvPr id="447" name="" descr="{&quot;isTemplate&quot;:true,&quot;type&quot;:&quot;text&quot;}"/>
          <p:cNvSpPr txBox="1"/>
          <p:nvPr/>
        </p:nvSpPr>
        <p:spPr>
          <a:xfrm rot="0" flipH="0" flipV="0">
            <a:off x="4057650" y="4362450"/>
            <a:ext cx="3505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读、写、删除分别授权，首个匹配规则生效，可整体设为默认允许或默认拒绝。</a:t>
            </a:r>
            <a:endParaRPr/>
          </a:p>
        </p:txBody>
      </p:sp>
      <p:sp>
        <p:nvSpPr>
          <p:cNvPr id="448" name=""/>
          <p:cNvSpPr/>
          <p:nvPr/>
        </p:nvSpPr>
        <p:spPr>
          <a:xfrm rot="0" flipH="0" flipV="0">
            <a:off x="7848600" y="3905250"/>
            <a:ext cx="3771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7981950" y="4038600"/>
            <a:ext cx="35052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2275A"/>
                </a:solidFill>
                <a:latin typeface="Microsoft YaHei"/>
                <a:ea typeface="Microsoft YaHei"/>
              </a:rPr>
              <a:t>默认已拦截的路径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7981950" y="4362450"/>
            <a:ext cx="3505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/etc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/root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.env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SSH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私钥、云厂商凭证目录等，开箱即处于保护状态。</a:t>
            </a:r>
            <a:endParaRPr/>
          </a:p>
        </p:txBody>
      </p:sp>
      <p:sp>
        <p:nvSpPr>
          <p:cNvPr id="451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52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453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规则不是摆设：它把「哪些命令不能跑、哪些目录不能碰」变成可执行、可审计、可调整的企业策略。</a:t>
            </a:r>
            <a:endParaRPr/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4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56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457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458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数据主权的开关，握在企业自己手里</a:t>
            </a:r>
            <a:endParaRPr/>
          </a:p>
        </p:txBody>
      </p:sp>
      <p:sp>
        <p:nvSpPr>
          <p:cNvPr id="459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60" name="" descr="{&quot;isTemplate&quot;:true,&quot;type&quot;:&quot;text&quot;}"/>
          <p:cNvSpPr txBox="1"/>
          <p:nvPr/>
        </p:nvSpPr>
        <p:spPr>
          <a:xfrm rot="0" flipH="0" flipV="0">
            <a:off x="571500" y="1752600"/>
            <a:ext cx="476250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94A3B8"/>
                </a:solidFill>
                <a:latin typeface="Microsoft YaHei"/>
                <a:ea typeface="Microsoft YaHei"/>
              </a:rPr>
              <a:t>公有云</a:t>
            </a:r>
            <a:r>
              <a:rPr lang="en-US" sz="1650" b="1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650" b="1">
                <a:solidFill>
                  <a:srgbClr val="94A3B8"/>
                </a:solidFill>
                <a:latin typeface="Microsoft YaHei"/>
                <a:ea typeface="Microsoft YaHei"/>
              </a:rPr>
              <a:t>助手</a:t>
            </a:r>
            <a:endParaRPr/>
          </a:p>
        </p:txBody>
      </p:sp>
      <p:sp>
        <p:nvSpPr>
          <p:cNvPr id="461" name=""/>
          <p:cNvSpPr/>
          <p:nvPr/>
        </p:nvSpPr>
        <p:spPr>
          <a:xfrm rot="0" flipH="0" flipV="0">
            <a:off x="571500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462" name=""/>
          <p:cNvSpPr/>
          <p:nvPr/>
        </p:nvSpPr>
        <p:spPr>
          <a:xfrm rot="0" flipH="0" flipV="0">
            <a:off x="571500" y="24288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463" name="" descr="{&quot;isTemplate&quot;:true,&quot;type&quot;:&quot;text&quot;}"/>
          <p:cNvSpPr txBox="1"/>
          <p:nvPr/>
        </p:nvSpPr>
        <p:spPr>
          <a:xfrm rot="0" flipH="0" flipV="0">
            <a:off x="762000" y="2343150"/>
            <a:ext cx="4572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提示词与附件要出网，脱敏策略由厂商决定，企业难以逐条核验。</a:t>
            </a:r>
            <a:endParaRPr/>
          </a:p>
        </p:txBody>
      </p:sp>
      <p:sp>
        <p:nvSpPr>
          <p:cNvPr id="464" name=""/>
          <p:cNvSpPr/>
          <p:nvPr/>
        </p:nvSpPr>
        <p:spPr>
          <a:xfrm rot="0" flipH="0" flipV="0">
            <a:off x="571500" y="31242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465" name="" descr="{&quot;isTemplate&quot;:true,&quot;type&quot;:&quot;text&quot;}"/>
          <p:cNvSpPr txBox="1"/>
          <p:nvPr/>
        </p:nvSpPr>
        <p:spPr>
          <a:xfrm rot="0" flipH="0" flipV="0">
            <a:off x="762000" y="3038475"/>
            <a:ext cx="4572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向量、记忆与会话散落在厂商侧，迁移与导出通常受限于产品形态。</a:t>
            </a:r>
            <a:endParaRPr/>
          </a:p>
        </p:txBody>
      </p:sp>
      <p:sp>
        <p:nvSpPr>
          <p:cNvPr id="466" name=""/>
          <p:cNvSpPr/>
          <p:nvPr/>
        </p:nvSpPr>
        <p:spPr>
          <a:xfrm rot="0" flipH="0" flipV="0">
            <a:off x="571500" y="38195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CBD5E1"/>
          </a:solidFill>
          <a:ln/>
        </p:spPr>
        <p:txBody>
          <a:bodyPr/>
          <a:p>
            <a:pPr/>
            <a:endParaRPr/>
          </a:p>
        </p:txBody>
      </p:sp>
      <p:sp>
        <p:nvSpPr>
          <p:cNvPr id="467" name="" descr="{&quot;isTemplate&quot;:true,&quot;type&quot;:&quot;text&quot;}"/>
          <p:cNvSpPr txBox="1"/>
          <p:nvPr/>
        </p:nvSpPr>
        <p:spPr>
          <a:xfrm rot="0" flipH="0" flipV="0">
            <a:off x="762000" y="3733800"/>
            <a:ext cx="45720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64748B"/>
                </a:solidFill>
                <a:latin typeface="Microsoft YaHei"/>
                <a:ea typeface="Microsoft YaHei"/>
              </a:rPr>
              <a:t>合规举证依赖对方提供的承诺，审计时拿不到一手记录。</a:t>
            </a:r>
            <a:endParaRPr/>
          </a:p>
        </p:txBody>
      </p:sp>
      <p:sp>
        <p:nvSpPr>
          <p:cNvPr id="468" name=""/>
          <p:cNvSpPr/>
          <p:nvPr/>
        </p:nvSpPr>
        <p:spPr>
          <a:xfrm rot="0" flipH="0" flipV="0">
            <a:off x="571500" y="4200525"/>
            <a:ext cx="4762500" cy="781050"/>
          </a:xfrm>
          <a:prstGeom prst="roundRect">
            <a:avLst>
              <a:gd name="adj" fmla="val 12195"/>
            </a:avLst>
          </a:prstGeom>
          <a:solidFill>
            <a:srgbClr val="F1F5F9"/>
          </a:solidFill>
          <a:ln/>
        </p:spPr>
        <p:txBody>
          <a:bodyPr/>
          <a:p>
            <a:pPr/>
            <a:endParaRPr/>
          </a:p>
        </p:txBody>
      </p:sp>
      <p:sp>
        <p:nvSpPr>
          <p:cNvPr id="469" name="" descr="{&quot;isTemplate&quot;:true,&quot;type&quot;:&quot;text&quot;}"/>
          <p:cNvSpPr txBox="1"/>
          <p:nvPr/>
        </p:nvSpPr>
        <p:spPr>
          <a:xfrm rot="0" flipH="0" flipV="0">
            <a:off x="685800" y="4314825"/>
            <a:ext cx="45339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结论：能力上线快，但边界由他人定义，越到核心业务越难说服合规部门。</a:t>
            </a:r>
            <a:endParaRPr/>
          </a:p>
        </p:txBody>
      </p:sp>
      <p:sp>
        <p:nvSpPr>
          <p:cNvPr id="470" name=""/>
          <p:cNvSpPr/>
          <p:nvPr/>
        </p:nvSpPr>
        <p:spPr>
          <a:xfrm rot="0" flipH="0" flipV="0">
            <a:off x="5600700" y="1752600"/>
            <a:ext cx="9525" cy="3657600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71" name="" descr="{&quot;isTemplate&quot;:true,&quot;type&quot;:&quot;text&quot;}"/>
          <p:cNvSpPr txBox="1"/>
          <p:nvPr/>
        </p:nvSpPr>
        <p:spPr>
          <a:xfrm rot="0" flipH="0" flipV="0">
            <a:off x="5876925" y="1752600"/>
            <a:ext cx="5734050" cy="3333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650" b="1">
                <a:solidFill>
                  <a:srgbClr val="12275A"/>
                </a:solidFill>
                <a:latin typeface="Microsoft YaHei"/>
                <a:ea typeface="Microsoft YaHei"/>
              </a:rPr>
              <a:t>云顶数字工作台（自托管）</a:t>
            </a:r>
            <a:endParaRPr/>
          </a:p>
        </p:txBody>
      </p:sp>
      <p:sp>
        <p:nvSpPr>
          <p:cNvPr id="472" name=""/>
          <p:cNvSpPr/>
          <p:nvPr/>
        </p:nvSpPr>
        <p:spPr>
          <a:xfrm rot="0" flipH="0" flipV="0">
            <a:off x="5876925" y="2200275"/>
            <a:ext cx="609600" cy="28575"/>
          </a:xfrm>
          <a:prstGeom prst="roundRect">
            <a:avLst>
              <a:gd name="adj" fmla="val 66667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473" name=""/>
          <p:cNvSpPr/>
          <p:nvPr/>
        </p:nvSpPr>
        <p:spPr>
          <a:xfrm rot="0" flipH="0" flipV="0">
            <a:off x="5876925" y="23812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4" name="" descr="{&quot;isTemplate&quot;:true,&quot;type&quot;:&quot;text&quot;}"/>
          <p:cNvSpPr txBox="1"/>
          <p:nvPr/>
        </p:nvSpPr>
        <p:spPr>
          <a:xfrm rot="0" flipH="0" flipV="0">
            <a:off x="5981700" y="24860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脱敏四策略</a:t>
            </a:r>
            <a:endParaRPr/>
          </a:p>
        </p:txBody>
      </p:sp>
      <p:sp>
        <p:nvSpPr>
          <p:cNvPr id="475" name="" descr="{&quot;isTemplate&quot;:true,&quot;type&quot;:&quot;text&quot;}"/>
          <p:cNvSpPr txBox="1"/>
          <p:nvPr/>
        </p:nvSpPr>
        <p:spPr>
          <a:xfrm rot="0" flipH="0" flipV="0">
            <a:off x="5981700" y="28098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阻断、删除、掩码、哈希，可选作用于输入、输出与工具结果。</a:t>
            </a:r>
            <a:endParaRPr/>
          </a:p>
        </p:txBody>
      </p:sp>
      <p:sp>
        <p:nvSpPr>
          <p:cNvPr id="476" name=""/>
          <p:cNvSpPr/>
          <p:nvPr/>
        </p:nvSpPr>
        <p:spPr>
          <a:xfrm rot="0" flipH="0" flipV="0">
            <a:off x="8810625" y="23812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77" name="" descr="{&quot;isTemplate&quot;:true,&quot;type&quot;:&quot;text&quot;}"/>
          <p:cNvSpPr txBox="1"/>
          <p:nvPr/>
        </p:nvSpPr>
        <p:spPr>
          <a:xfrm rot="0" flipH="0" flipV="0">
            <a:off x="8915400" y="24860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出站</a:t>
            </a:r>
            <a:r>
              <a:rPr lang="en-US" sz="1275" b="1">
                <a:solidFill>
                  <a:srgbClr val="1D4ED8"/>
                </a:solidFill>
                <a:latin typeface="Microsoft YaHei"/>
                <a:ea typeface="Microsoft YaHei"/>
              </a:rPr>
              <a:t xml:space="preserve"> SSRF </a:t>
            </a: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校验</a:t>
            </a:r>
            <a:endParaRPr/>
          </a:p>
        </p:txBody>
      </p:sp>
      <p:sp>
        <p:nvSpPr>
          <p:cNvPr id="478" name="" descr="{&quot;isTemplate&quot;:true,&quot;type&quot;:&quot;text&quot;}"/>
          <p:cNvSpPr txBox="1"/>
          <p:nvPr/>
        </p:nvSpPr>
        <p:spPr>
          <a:xfrm rot="0" flipH="0" flipV="0">
            <a:off x="8915400" y="28098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对外请求先过目标校验，避免被诱导访问内网地址。</a:t>
            </a:r>
            <a:endParaRPr/>
          </a:p>
        </p:txBody>
      </p:sp>
      <p:sp>
        <p:nvSpPr>
          <p:cNvPr id="479" name=""/>
          <p:cNvSpPr/>
          <p:nvPr/>
        </p:nvSpPr>
        <p:spPr>
          <a:xfrm rot="0" flipH="0" flipV="0">
            <a:off x="5876925" y="35623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80" name="" descr="{&quot;isTemplate&quot;:true,&quot;type&quot;:&quot;text&quot;}"/>
          <p:cNvSpPr txBox="1"/>
          <p:nvPr/>
        </p:nvSpPr>
        <p:spPr>
          <a:xfrm rot="0" flipH="0" flipV="0">
            <a:off x="5981700" y="36671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本地推理可选</a:t>
            </a:r>
            <a:endParaRPr/>
          </a:p>
        </p:txBody>
      </p:sp>
      <p:sp>
        <p:nvSpPr>
          <p:cNvPr id="481" name="" descr="{&quot;isTemplate&quot;:true,&quot;type&quot;:&quot;text&quot;}"/>
          <p:cNvSpPr txBox="1"/>
          <p:nvPr/>
        </p:nvSpPr>
        <p:spPr>
          <a:xfrm rot="0" flipH="0" flipV="0">
            <a:off x="5981700" y="39909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Ollama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本地模型与本地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向量化，敏感场景可完全离线。</a:t>
            </a:r>
            <a:endParaRPr/>
          </a:p>
        </p:txBody>
      </p:sp>
      <p:sp>
        <p:nvSpPr>
          <p:cNvPr id="482" name=""/>
          <p:cNvSpPr/>
          <p:nvPr/>
        </p:nvSpPr>
        <p:spPr>
          <a:xfrm rot="0" flipH="0" flipV="0">
            <a:off x="8810625" y="3562350"/>
            <a:ext cx="2800350" cy="1047750"/>
          </a:xfrm>
          <a:prstGeom prst="roundRect">
            <a:avLst>
              <a:gd name="adj" fmla="val 9091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83" name="" descr="{&quot;isTemplate&quot;:true,&quot;type&quot;:&quot;text&quot;}"/>
          <p:cNvSpPr txBox="1"/>
          <p:nvPr/>
        </p:nvSpPr>
        <p:spPr>
          <a:xfrm rot="0" flipH="0" flipV="0">
            <a:off x="8915400" y="3667125"/>
            <a:ext cx="25908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沙箱执行</a:t>
            </a:r>
            <a:endParaRPr/>
          </a:p>
        </p:txBody>
      </p:sp>
      <p:sp>
        <p:nvSpPr>
          <p:cNvPr id="484" name="" descr="{&quot;isTemplate&quot;:true,&quot;type&quot;:&quot;text&quot;}"/>
          <p:cNvSpPr txBox="1"/>
          <p:nvPr/>
        </p:nvSpPr>
        <p:spPr>
          <a:xfrm rot="0" flipH="0" flipV="0">
            <a:off x="8915400" y="3990975"/>
            <a:ext cx="25908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命令可在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bubblewrap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沙箱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Shell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或容器后端中执行。</a:t>
            </a:r>
            <a:endParaRPr/>
          </a:p>
        </p:txBody>
      </p:sp>
      <p:sp>
        <p:nvSpPr>
          <p:cNvPr id="485" name=""/>
          <p:cNvSpPr/>
          <p:nvPr/>
        </p:nvSpPr>
        <p:spPr>
          <a:xfrm rot="0" flipH="0" flipV="0">
            <a:off x="5876925" y="4743450"/>
            <a:ext cx="5734050" cy="504825"/>
          </a:xfrm>
          <a:prstGeom prst="roundRect">
            <a:avLst>
              <a:gd name="adj" fmla="val 18868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486" name="" descr="{&quot;isTemplate&quot;:true,&quot;type&quot;:&quot;text&quot;}"/>
          <p:cNvSpPr txBox="1"/>
          <p:nvPr/>
        </p:nvSpPr>
        <p:spPr>
          <a:xfrm rot="0" flipH="0" flipV="0">
            <a:off x="5991225" y="4857750"/>
            <a:ext cx="55054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D6E3F5"/>
                </a:solidFill>
                <a:latin typeface="Microsoft YaHei"/>
                <a:ea typeface="Microsoft YaHei"/>
              </a:rPr>
              <a:t>配置、会话、工作区与凭证统一落在安装目录；供应商、存储与通道均可替换。</a:t>
            </a:r>
            <a:endParaRPr/>
          </a:p>
        </p:txBody>
      </p:sp>
      <p:sp>
        <p:nvSpPr>
          <p:cNvPr id="487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488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489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该上云的环节仍可上云，但该留内网的必须留得住——选择权在配置里，不在合同里。</a:t>
            </a:r>
            <a:endParaRPr/>
          </a:p>
        </p:txBody>
      </p:sp>
    </p:spTree>
  </p:cSld>
</p:sld>
</file>

<file path=ppt/slides/slide2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92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493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494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接进企业现有身份体系，而不是再建一套账号</a:t>
            </a:r>
            <a:endParaRPr/>
          </a:p>
        </p:txBody>
      </p:sp>
      <p:sp>
        <p:nvSpPr>
          <p:cNvPr id="495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496" name=""/>
          <p:cNvSpPr/>
          <p:nvPr/>
        </p:nvSpPr>
        <p:spPr>
          <a:xfrm rot="0" flipH="0" flipV="0">
            <a:off x="5715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97" name="" descr="{&quot;isTemplate&quot;:true,&quot;type&quot;:&quot;text&quot;}"/>
          <p:cNvSpPr txBox="1"/>
          <p:nvPr/>
        </p:nvSpPr>
        <p:spPr>
          <a:xfrm rot="0" flipH="0" flipV="0">
            <a:off x="7048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94A3B8"/>
                </a:solidFill>
                <a:latin typeface="Microsoft YaHei"/>
                <a:ea typeface="Microsoft YaHei"/>
              </a:rPr>
              <a:t>阶段一</a:t>
            </a:r>
            <a:endParaRPr/>
          </a:p>
        </p:txBody>
      </p:sp>
      <p:sp>
        <p:nvSpPr>
          <p:cNvPr id="498" name="" descr="{&quot;isTemplate&quot;:true,&quot;type&quot;:&quot;text&quot;}"/>
          <p:cNvSpPr txBox="1"/>
          <p:nvPr/>
        </p:nvSpPr>
        <p:spPr>
          <a:xfrm rot="0" flipH="0" flipV="0">
            <a:off x="7048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登录方式</a:t>
            </a:r>
            <a:endParaRPr/>
          </a:p>
        </p:txBody>
      </p:sp>
      <p:sp>
        <p:nvSpPr>
          <p:cNvPr id="499" name="" descr="{&quot;isTemplate&quot;:true,&quot;type&quot;:&quot;text&quot;}"/>
          <p:cNvSpPr txBox="1"/>
          <p:nvPr/>
        </p:nvSpPr>
        <p:spPr>
          <a:xfrm rot="0" flipH="0" flipV="0">
            <a:off x="704850" y="2543175"/>
            <a:ext cx="22860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密码（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argon2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）、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LDAP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>SSO-OIDC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（钉钉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飞书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企业微信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通用）、邀请码与验证码。</a:t>
            </a:r>
            <a:endParaRPr/>
          </a:p>
        </p:txBody>
      </p:sp>
      <p:pic>
        <p:nvPicPr>
          <p:cNvPr id="50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124200" y="2505075"/>
            <a:ext cx="266700" cy="171450"/>
          </a:xfrm>
          <a:prstGeom prst="rect">
            <a:avLst/>
          </a:prstGeom>
          <a:ln/>
        </p:spPr>
      </p:pic>
      <p:sp>
        <p:nvSpPr>
          <p:cNvPr id="501" name=""/>
          <p:cNvSpPr/>
          <p:nvPr/>
        </p:nvSpPr>
        <p:spPr>
          <a:xfrm rot="0" flipH="0" flipV="0">
            <a:off x="33909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02" name="" descr="{&quot;isTemplate&quot;:true,&quot;type&quot;:&quot;text&quot;}"/>
          <p:cNvSpPr txBox="1"/>
          <p:nvPr/>
        </p:nvSpPr>
        <p:spPr>
          <a:xfrm rot="0" flipH="0" flipV="0">
            <a:off x="35242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94A3B8"/>
                </a:solidFill>
                <a:latin typeface="Microsoft YaHei"/>
                <a:ea typeface="Microsoft YaHei"/>
              </a:rPr>
              <a:t>阶段二</a:t>
            </a:r>
            <a:endParaRPr/>
          </a:p>
        </p:txBody>
      </p:sp>
      <p:sp>
        <p:nvSpPr>
          <p:cNvPr id="503" name="" descr="{&quot;isTemplate&quot;:true,&quot;type&quot;:&quot;text&quot;}"/>
          <p:cNvSpPr txBox="1"/>
          <p:nvPr/>
        </p:nvSpPr>
        <p:spPr>
          <a:xfrm rot="0" flipH="0" flipV="0">
            <a:off x="35242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令牌与会话</a:t>
            </a:r>
            <a:endParaRPr/>
          </a:p>
        </p:txBody>
      </p:sp>
      <p:sp>
        <p:nvSpPr>
          <p:cNvPr id="504" name="" descr="{&quot;isTemplate&quot;:true,&quot;type&quot;:&quot;text&quot;}"/>
          <p:cNvSpPr txBox="1"/>
          <p:nvPr/>
        </p:nvSpPr>
        <p:spPr>
          <a:xfrm rot="0" flipH="0" flipV="0">
            <a:off x="3524250" y="2543175"/>
            <a:ext cx="2286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全站接口强制校验，未完成初始化时锁定管理接口，空闲会话自动踢出。</a:t>
            </a:r>
            <a:endParaRPr/>
          </a:p>
        </p:txBody>
      </p:sp>
      <p:pic>
        <p:nvPicPr>
          <p:cNvPr id="50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5943600" y="2505075"/>
            <a:ext cx="266700" cy="171450"/>
          </a:xfrm>
          <a:prstGeom prst="rect">
            <a:avLst/>
          </a:prstGeom>
          <a:ln/>
        </p:spPr>
      </p:pic>
      <p:sp>
        <p:nvSpPr>
          <p:cNvPr id="506" name=""/>
          <p:cNvSpPr/>
          <p:nvPr/>
        </p:nvSpPr>
        <p:spPr>
          <a:xfrm rot="0" flipH="0" flipV="0">
            <a:off x="62103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507" name="" descr="{&quot;isTemplate&quot;:true,&quot;type&quot;:&quot;text&quot;}"/>
          <p:cNvSpPr txBox="1"/>
          <p:nvPr/>
        </p:nvSpPr>
        <p:spPr>
          <a:xfrm rot="0" flipH="0" flipV="0">
            <a:off x="63436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7EA3D6"/>
                </a:solidFill>
                <a:latin typeface="Microsoft YaHei"/>
                <a:ea typeface="Microsoft YaHei"/>
              </a:rPr>
              <a:t>阶段三</a:t>
            </a:r>
            <a:endParaRPr/>
          </a:p>
        </p:txBody>
      </p:sp>
      <p:sp>
        <p:nvSpPr>
          <p:cNvPr id="508" name="" descr="{&quot;isTemplate&quot;:true,&quot;type&quot;:&quot;text&quot;}"/>
          <p:cNvSpPr txBox="1"/>
          <p:nvPr/>
        </p:nvSpPr>
        <p:spPr>
          <a:xfrm rot="0" flipH="0" flipV="0">
            <a:off x="63436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权限判定</a:t>
            </a:r>
            <a:endParaRPr/>
          </a:p>
        </p:txBody>
      </p:sp>
      <p:sp>
        <p:nvSpPr>
          <p:cNvPr id="509" name="" descr="{&quot;isTemplate&quot;:true,&quot;type&quot;:&quot;text&quot;}"/>
          <p:cNvSpPr txBox="1"/>
          <p:nvPr/>
        </p:nvSpPr>
        <p:spPr>
          <a:xfrm rot="0" flipH="0" flipV="0">
            <a:off x="6343650" y="2543175"/>
            <a:ext cx="2286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模块级权限目录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角色模板，管理员取全集，成员按模块逐项授权。</a:t>
            </a:r>
            <a:endParaRPr/>
          </a:p>
        </p:txBody>
      </p:sp>
      <p:pic>
        <p:nvPicPr>
          <p:cNvPr id="51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8763000" y="2505075"/>
            <a:ext cx="266700" cy="171450"/>
          </a:xfrm>
          <a:prstGeom prst="rect">
            <a:avLst/>
          </a:prstGeom>
          <a:ln/>
        </p:spPr>
      </p:pic>
      <p:sp>
        <p:nvSpPr>
          <p:cNvPr id="511" name=""/>
          <p:cNvSpPr/>
          <p:nvPr/>
        </p:nvSpPr>
        <p:spPr>
          <a:xfrm rot="0" flipH="0" flipV="0">
            <a:off x="9029700" y="1733550"/>
            <a:ext cx="2552700" cy="1714500"/>
          </a:xfrm>
          <a:prstGeom prst="roundRect">
            <a:avLst>
              <a:gd name="adj" fmla="val 5556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12" name="" descr="{&quot;isTemplate&quot;:true,&quot;type&quot;:&quot;text&quot;}"/>
          <p:cNvSpPr txBox="1"/>
          <p:nvPr/>
        </p:nvSpPr>
        <p:spPr>
          <a:xfrm rot="0" flipH="0" flipV="0">
            <a:off x="9163050" y="1866900"/>
            <a:ext cx="22860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B45309"/>
                </a:solidFill>
                <a:latin typeface="Microsoft YaHei"/>
                <a:ea typeface="Microsoft YaHei"/>
              </a:rPr>
              <a:t>阶段四</a:t>
            </a:r>
            <a:endParaRPr/>
          </a:p>
        </p:txBody>
      </p:sp>
      <p:sp>
        <p:nvSpPr>
          <p:cNvPr id="513" name="" descr="{&quot;isTemplate&quot;:true,&quot;type&quot;:&quot;text&quot;}"/>
          <p:cNvSpPr txBox="1"/>
          <p:nvPr/>
        </p:nvSpPr>
        <p:spPr>
          <a:xfrm rot="0" flipH="0" flipV="0">
            <a:off x="9163050" y="2162175"/>
            <a:ext cx="2286000" cy="3048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00" b="1">
                <a:solidFill>
                  <a:srgbClr val="12275A"/>
                </a:solidFill>
                <a:latin typeface="Microsoft YaHei"/>
                <a:ea typeface="Microsoft YaHei"/>
              </a:rPr>
              <a:t>资源所有权</a:t>
            </a:r>
            <a:endParaRPr/>
          </a:p>
        </p:txBody>
      </p:sp>
      <p:sp>
        <p:nvSpPr>
          <p:cNvPr id="514" name="" descr="{&quot;isTemplate&quot;:true,&quot;type&quot;:&quot;text&quot;}"/>
          <p:cNvSpPr txBox="1"/>
          <p:nvPr/>
        </p:nvSpPr>
        <p:spPr>
          <a:xfrm rot="0" flipH="0" flipV="0">
            <a:off x="9163050" y="2543175"/>
            <a:ext cx="2286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数据行按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user_id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校验归属，跨用户运维仅管理员可用且留痕。</a:t>
            </a:r>
            <a:endParaRPr/>
          </a:p>
        </p:txBody>
      </p:sp>
      <p:sp>
        <p:nvSpPr>
          <p:cNvPr id="515" name=""/>
          <p:cNvSpPr/>
          <p:nvPr/>
        </p:nvSpPr>
        <p:spPr>
          <a:xfrm rot="0" flipH="0" flipV="0">
            <a:off x="571500" y="3657600"/>
            <a:ext cx="3714750" cy="1190625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16" name="" descr="{&quot;isTemplate&quot;:true,&quot;type&quot;:&quot;text&quot;}"/>
          <p:cNvSpPr txBox="1"/>
          <p:nvPr/>
        </p:nvSpPr>
        <p:spPr>
          <a:xfrm rot="0" flipH="0" flipV="0">
            <a:off x="714375" y="3800475"/>
            <a:ext cx="34290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对</a:t>
            </a:r>
            <a:r>
              <a:rPr lang="en-US" sz="135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IT </a:t>
            </a: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部门意味着什么</a:t>
            </a:r>
            <a:endParaRPr/>
          </a:p>
        </p:txBody>
      </p:sp>
      <p:sp>
        <p:nvSpPr>
          <p:cNvPr id="517" name="" descr="{&quot;isTemplate&quot;:true,&quot;type&quot;:&quot;text&quot;}"/>
          <p:cNvSpPr txBox="1"/>
          <p:nvPr/>
        </p:nvSpPr>
        <p:spPr>
          <a:xfrm rot="0" flipH="0" flipV="0">
            <a:off x="714375" y="4152900"/>
            <a:ext cx="3429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账号生命周期沿用现有目录服务，离职即失效；不必为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平台单独维护一份人员台账。</a:t>
            </a:r>
            <a:endParaRPr/>
          </a:p>
        </p:txBody>
      </p:sp>
      <p:sp>
        <p:nvSpPr>
          <p:cNvPr id="518" name=""/>
          <p:cNvSpPr/>
          <p:nvPr/>
        </p:nvSpPr>
        <p:spPr>
          <a:xfrm rot="0" flipH="0" flipV="0">
            <a:off x="4476750" y="3657600"/>
            <a:ext cx="3714750" cy="1190625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19" name="" descr="{&quot;isTemplate&quot;:true,&quot;type&quot;:&quot;text&quot;}"/>
          <p:cNvSpPr txBox="1"/>
          <p:nvPr/>
        </p:nvSpPr>
        <p:spPr>
          <a:xfrm rot="0" flipH="0" flipV="0">
            <a:off x="4619625" y="3800475"/>
            <a:ext cx="342900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对业务团队意味着什么</a:t>
            </a:r>
            <a:endParaRPr/>
          </a:p>
        </p:txBody>
      </p:sp>
      <p:sp>
        <p:nvSpPr>
          <p:cNvPr id="520" name="" descr="{&quot;isTemplate&quot;:true,&quot;type&quot;:&quot;text&quot;}"/>
          <p:cNvSpPr txBox="1"/>
          <p:nvPr/>
        </p:nvSpPr>
        <p:spPr>
          <a:xfrm rot="0" flipH="0" flipV="0">
            <a:off x="4619625" y="4152900"/>
            <a:ext cx="34290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成员只看到被授权的模块与自己的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，跨团队协作通过共享专家与邀请实现。</a:t>
            </a:r>
            <a:endParaRPr/>
          </a:p>
        </p:txBody>
      </p:sp>
      <p:sp>
        <p:nvSpPr>
          <p:cNvPr id="521" name=""/>
          <p:cNvSpPr/>
          <p:nvPr/>
        </p:nvSpPr>
        <p:spPr>
          <a:xfrm rot="0" flipH="0" flipV="0">
            <a:off x="8382000" y="3657600"/>
            <a:ext cx="3238500" cy="1190625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22" name="" descr="{&quot;isTemplate&quot;:true,&quot;type&quot;:&quot;text&quot;}"/>
          <p:cNvSpPr txBox="1"/>
          <p:nvPr/>
        </p:nvSpPr>
        <p:spPr>
          <a:xfrm rot="0" flipH="0" flipV="0">
            <a:off x="8524875" y="3800475"/>
            <a:ext cx="29527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边界说明</a:t>
            </a:r>
            <a:endParaRPr/>
          </a:p>
        </p:txBody>
      </p:sp>
      <p:sp>
        <p:nvSpPr>
          <p:cNvPr id="523" name="" descr="{&quot;isTemplate&quot;:true,&quot;type&quot;:&quot;text&quot;}"/>
          <p:cNvSpPr txBox="1"/>
          <p:nvPr/>
        </p:nvSpPr>
        <p:spPr>
          <a:xfrm rot="0" flipH="0" flipV="0">
            <a:off x="8524875" y="4152900"/>
            <a:ext cx="29527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当前未提供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SAML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登录，隔离粒度为用户与权限模块，不是租户级多租户模型。</a:t>
            </a:r>
            <a:endParaRPr/>
          </a:p>
        </p:txBody>
      </p:sp>
      <p:sp>
        <p:nvSpPr>
          <p:cNvPr id="524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525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526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身份接入越贴近企业现状，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平台推广的阻力越小——这一点往往比模型能力更早决定项目成败。</a:t>
            </a:r>
            <a:endParaRPr/>
          </a:p>
        </p:txBody>
      </p:sp>
    </p:spTree>
  </p:cSld>
</p:sld>
</file>

<file path=ppt/slides/slide2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529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25146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03 · SECURITY &amp; GOVERNANCE</a:t>
            </a:r>
            <a:endParaRPr/>
          </a:p>
        </p:txBody>
      </p:sp>
      <p:sp>
        <p:nvSpPr>
          <p:cNvPr id="530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531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出问题能回放每一步，出问题之前能提前备份</a:t>
            </a:r>
            <a:endParaRPr/>
          </a:p>
        </p:txBody>
      </p:sp>
      <p:sp>
        <p:nvSpPr>
          <p:cNvPr id="532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>
            <a:pPr/>
            <a:endParaRPr/>
          </a:p>
        </p:txBody>
      </p:sp>
      <p:sp>
        <p:nvSpPr>
          <p:cNvPr id="533" name=""/>
          <p:cNvSpPr/>
          <p:nvPr/>
        </p:nvSpPr>
        <p:spPr>
          <a:xfrm rot="0" flipH="0" flipV="0">
            <a:off x="571500" y="1733550"/>
            <a:ext cx="11049000" cy="1419225"/>
          </a:xfrm>
          <a:prstGeom prst="roundRect">
            <a:avLst>
              <a:gd name="adj" fmla="val 80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34" name="" descr="{&quot;isTemplate&quot;:true,&quot;type&quot;:&quot;text&quot;}"/>
          <p:cNvSpPr txBox="1"/>
          <p:nvPr/>
        </p:nvSpPr>
        <p:spPr>
          <a:xfrm rot="0" flipH="0" flipV="0">
            <a:off x="723900" y="1885950"/>
            <a:ext cx="107442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轨迹账本：每一次工具调用都留痕</a:t>
            </a:r>
            <a:endParaRPr/>
          </a:p>
        </p:txBody>
      </p:sp>
      <p:sp>
        <p:nvSpPr>
          <p:cNvPr id="535" name=""/>
          <p:cNvSpPr/>
          <p:nvPr/>
        </p:nvSpPr>
        <p:spPr>
          <a:xfrm rot="0" flipH="0" flipV="0">
            <a:off x="723900" y="2305050"/>
            <a:ext cx="3048000" cy="695325"/>
          </a:xfrm>
          <a:prstGeom prst="roundRect">
            <a:avLst>
              <a:gd name="adj" fmla="val 10959"/>
            </a:avLst>
          </a:prstGeom>
          <a:solidFill>
            <a:srgbClr val="FFFFFF"/>
          </a:solidFill>
          <a:ln w="12700">
            <a:solidFill>
              <a:srgbClr val="C7D6F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36" name="" descr="{&quot;isTemplate&quot;:true,&quot;type&quot;:&quot;text&quot;}"/>
          <p:cNvSpPr txBox="1"/>
          <p:nvPr/>
        </p:nvSpPr>
        <p:spPr>
          <a:xfrm rot="0" flipH="0" flipV="0">
            <a:off x="838200" y="2419350"/>
            <a:ext cx="28194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D4ED8"/>
                </a:solidFill>
                <a:latin typeface="Microsoft YaHei"/>
                <a:ea typeface="Microsoft YaHei"/>
              </a:rPr>
              <a:t>工具调用发生</a:t>
            </a:r>
            <a:endParaRPr/>
          </a:p>
        </p:txBody>
      </p:sp>
      <p:sp>
        <p:nvSpPr>
          <p:cNvPr id="537" name="" descr="{&quot;isTemplate&quot;:true,&quot;type&quot;:&quot;text&quot;}"/>
          <p:cNvSpPr txBox="1"/>
          <p:nvPr/>
        </p:nvSpPr>
        <p:spPr>
          <a:xfrm rot="0" flipH="0" flipV="0">
            <a:off x="838200" y="2657475"/>
            <a:ext cx="28194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读文件、跑命令、开浏览器、查知识库</a:t>
            </a:r>
            <a:endParaRPr/>
          </a:p>
        </p:txBody>
      </p:sp>
      <p:pic>
        <p:nvPicPr>
          <p:cNvPr id="53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771900" y="2581275"/>
            <a:ext cx="381000" cy="152400"/>
          </a:xfrm>
          <a:prstGeom prst="rect">
            <a:avLst/>
          </a:prstGeom>
          <a:ln/>
        </p:spPr>
      </p:pic>
      <p:sp>
        <p:nvSpPr>
          <p:cNvPr id="539" name=""/>
          <p:cNvSpPr/>
          <p:nvPr/>
        </p:nvSpPr>
        <p:spPr>
          <a:xfrm rot="0" flipH="0" flipV="0">
            <a:off x="4152900" y="2305050"/>
            <a:ext cx="3048000" cy="695325"/>
          </a:xfrm>
          <a:prstGeom prst="roundRect">
            <a:avLst>
              <a:gd name="adj" fmla="val 10959"/>
            </a:avLst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sp>
        <p:nvSpPr>
          <p:cNvPr id="540" name="" descr="{&quot;isTemplate&quot;:true,&quot;type&quot;:&quot;text&quot;}"/>
          <p:cNvSpPr txBox="1"/>
          <p:nvPr/>
        </p:nvSpPr>
        <p:spPr>
          <a:xfrm rot="0" flipH="0" flipV="0">
            <a:off x="4267200" y="2419350"/>
            <a:ext cx="28194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事件落库</a:t>
            </a:r>
            <a:endParaRPr/>
          </a:p>
        </p:txBody>
      </p:sp>
      <p:sp>
        <p:nvSpPr>
          <p:cNvPr id="541" name="" descr="{&quot;isTemplate&quot;:true,&quot;type&quot;:&quot;text&quot;}"/>
          <p:cNvSpPr txBox="1"/>
          <p:nvPr/>
        </p:nvSpPr>
        <p:spPr>
          <a:xfrm rot="0" flipH="0" flipV="0">
            <a:off x="4267200" y="2657475"/>
            <a:ext cx="28194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A9C2E8"/>
                </a:solidFill>
                <a:latin typeface="Microsoft YaHei"/>
                <a:ea typeface="Microsoft YaHei"/>
              </a:rPr>
              <a:t>调用、参数与结果写入轨迹事件表</a:t>
            </a:r>
            <a:endParaRPr/>
          </a:p>
        </p:txBody>
      </p:sp>
      <p:pic>
        <p:nvPicPr>
          <p:cNvPr id="54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00900" y="2581275"/>
            <a:ext cx="381000" cy="152400"/>
          </a:xfrm>
          <a:prstGeom prst="rect">
            <a:avLst/>
          </a:prstGeom>
          <a:ln/>
        </p:spPr>
      </p:pic>
      <p:sp>
        <p:nvSpPr>
          <p:cNvPr id="543" name=""/>
          <p:cNvSpPr/>
          <p:nvPr/>
        </p:nvSpPr>
        <p:spPr>
          <a:xfrm rot="0" flipH="0" flipV="0">
            <a:off x="7581900" y="2305050"/>
            <a:ext cx="3886200" cy="695325"/>
          </a:xfrm>
          <a:prstGeom prst="roundRect">
            <a:avLst>
              <a:gd name="adj" fmla="val 10959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44" name="" descr="{&quot;isTemplate&quot;:true,&quot;type&quot;:&quot;text&quot;}"/>
          <p:cNvSpPr txBox="1"/>
          <p:nvPr/>
        </p:nvSpPr>
        <p:spPr>
          <a:xfrm rot="0" flipH="0" flipV="0">
            <a:off x="7696200" y="2419350"/>
            <a:ext cx="3657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B45309"/>
                </a:solidFill>
                <a:latin typeface="Microsoft YaHei"/>
                <a:ea typeface="Microsoft YaHei"/>
              </a:rPr>
              <a:t>三种检视视图</a:t>
            </a:r>
            <a:endParaRPr/>
          </a:p>
        </p:txBody>
      </p:sp>
      <p:sp>
        <p:nvSpPr>
          <p:cNvPr id="545" name="" descr="{&quot;isTemplate&quot;:true,&quot;type&quot;:&quot;text&quot;}"/>
          <p:cNvSpPr txBox="1"/>
          <p:nvPr/>
        </p:nvSpPr>
        <p:spPr>
          <a:xfrm rot="0" flipH="0" flipV="0">
            <a:off x="7696200" y="2657475"/>
            <a:ext cx="36576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92400E"/>
                </a:solidFill>
                <a:latin typeface="Microsoft YaHei"/>
                <a:ea typeface="Microsoft YaHei"/>
              </a:rPr>
              <a:t>调用清单、时间轴、明细与指标条</a:t>
            </a:r>
            <a:endParaRPr/>
          </a:p>
        </p:txBody>
      </p:sp>
      <p:sp>
        <p:nvSpPr>
          <p:cNvPr id="546" name=""/>
          <p:cNvSpPr/>
          <p:nvPr/>
        </p:nvSpPr>
        <p:spPr>
          <a:xfrm rot="0" flipH="0" flipV="0">
            <a:off x="571500" y="3305175"/>
            <a:ext cx="2638425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47" name="" descr="{&quot;isTemplate&quot;:true,&quot;type&quot;:&quot;text&quot;}"/>
          <p:cNvSpPr txBox="1"/>
          <p:nvPr/>
        </p:nvSpPr>
        <p:spPr>
          <a:xfrm rot="0" flipH="0" flipV="0">
            <a:off x="695325" y="3429000"/>
            <a:ext cx="239077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自动备份可挂定时</a:t>
            </a:r>
            <a:endParaRPr/>
          </a:p>
        </p:txBody>
      </p:sp>
      <p:sp>
        <p:nvSpPr>
          <p:cNvPr id="548" name="" descr="{&quot;isTemplate&quot;:true,&quot;type&quot;:&quot;text&quot;}"/>
          <p:cNvSpPr txBox="1"/>
          <p:nvPr/>
        </p:nvSpPr>
        <p:spPr>
          <a:xfrm rot="0" flipH="0" flipV="0">
            <a:off x="695325" y="3771900"/>
            <a:ext cx="23907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备份作业本身可纳入定时任务周期执行，无需额外运维脚本。</a:t>
            </a:r>
            <a:endParaRPr/>
          </a:p>
        </p:txBody>
      </p:sp>
      <p:sp>
        <p:nvSpPr>
          <p:cNvPr id="549" name=""/>
          <p:cNvSpPr/>
          <p:nvPr/>
        </p:nvSpPr>
        <p:spPr>
          <a:xfrm rot="0" flipH="0" flipV="0">
            <a:off x="3381375" y="3305175"/>
            <a:ext cx="2628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50" name="" descr="{&quot;isTemplate&quot;:true,&quot;type&quot;:&quot;text&quot;}"/>
          <p:cNvSpPr txBox="1"/>
          <p:nvPr/>
        </p:nvSpPr>
        <p:spPr>
          <a:xfrm rot="0" flipH="0" flipV="0">
            <a:off x="3505200" y="34290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覆盖控制面与工作区</a:t>
            </a:r>
            <a:endParaRPr/>
          </a:p>
        </p:txBody>
      </p:sp>
      <p:sp>
        <p:nvSpPr>
          <p:cNvPr id="551" name="" descr="{&quot;isTemplate&quot;:true,&quot;type&quot;:&quot;text&quot;}"/>
          <p:cNvSpPr txBox="1"/>
          <p:nvPr/>
        </p:nvSpPr>
        <p:spPr>
          <a:xfrm rot="0" flipH="0" flipV="0">
            <a:off x="3505200" y="377190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支持数据库转储与工作区归档，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PostgreSQL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场景走专用导出工具。</a:t>
            </a:r>
            <a:endParaRPr/>
          </a:p>
        </p:txBody>
      </p:sp>
      <p:sp>
        <p:nvSpPr>
          <p:cNvPr id="552" name=""/>
          <p:cNvSpPr/>
          <p:nvPr/>
        </p:nvSpPr>
        <p:spPr>
          <a:xfrm rot="0" flipH="0" flipV="0">
            <a:off x="6181725" y="3305175"/>
            <a:ext cx="2638425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53" name="" descr="{&quot;isTemplate&quot;:true,&quot;type&quot;:&quot;text&quot;}"/>
          <p:cNvSpPr txBox="1"/>
          <p:nvPr/>
        </p:nvSpPr>
        <p:spPr>
          <a:xfrm rot="0" flipH="0" flipV="0">
            <a:off x="6305550" y="3429000"/>
            <a:ext cx="2390775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升级前一键导出</a:t>
            </a:r>
            <a:endParaRPr/>
          </a:p>
        </p:txBody>
      </p:sp>
      <p:sp>
        <p:nvSpPr>
          <p:cNvPr id="554" name="" descr="{&quot;isTemplate&quot;:true,&quot;type&quot;:&quot;text&quot;}"/>
          <p:cNvSpPr txBox="1"/>
          <p:nvPr/>
        </p:nvSpPr>
        <p:spPr>
          <a:xfrm rot="0" flipH="0" flipV="0">
            <a:off x="6305550" y="3771900"/>
            <a:ext cx="239077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跨版本升级前可先备份再更新，服务模式下自动重启恢复运行。</a:t>
            </a:r>
            <a:endParaRPr/>
          </a:p>
        </p:txBody>
      </p:sp>
      <p:sp>
        <p:nvSpPr>
          <p:cNvPr id="555" name=""/>
          <p:cNvSpPr/>
          <p:nvPr/>
        </p:nvSpPr>
        <p:spPr>
          <a:xfrm rot="0" flipH="0" flipV="0">
            <a:off x="8991600" y="3305175"/>
            <a:ext cx="2628900" cy="1104900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556" name="" descr="{&quot;isTemplate&quot;:true,&quot;type&quot;:&quot;text&quot;}"/>
          <p:cNvSpPr txBox="1"/>
          <p:nvPr/>
        </p:nvSpPr>
        <p:spPr>
          <a:xfrm rot="0" flipH="0" flipV="0">
            <a:off x="9115425" y="3429000"/>
            <a:ext cx="2381250" cy="2762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350" b="1">
                <a:solidFill>
                  <a:srgbClr val="12275A"/>
                </a:solidFill>
                <a:latin typeface="Microsoft YaHei"/>
                <a:ea typeface="Microsoft YaHei"/>
              </a:rPr>
              <a:t>轨迹不只是日志</a:t>
            </a:r>
            <a:endParaRPr/>
          </a:p>
        </p:txBody>
      </p:sp>
      <p:sp>
        <p:nvSpPr>
          <p:cNvPr id="557" name="" descr="{&quot;isTemplate&quot;:true,&quot;type&quot;:&quot;text&quot;}"/>
          <p:cNvSpPr txBox="1"/>
          <p:nvPr/>
        </p:nvSpPr>
        <p:spPr>
          <a:xfrm rot="0" flipH="0" flipV="0">
            <a:off x="9115425" y="377190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可按会话回放完整过程，用于复盘、追责与效果度量。</a:t>
            </a:r>
            <a:endParaRPr/>
          </a:p>
        </p:txBody>
      </p:sp>
      <p:sp>
        <p:nvSpPr>
          <p:cNvPr id="558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>
            <a:pPr/>
            <a:endParaRPr/>
          </a:p>
        </p:txBody>
      </p:sp>
      <p:sp>
        <p:nvSpPr>
          <p:cNvPr id="559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>
            <a:pPr/>
            <a:endParaRPr/>
          </a:p>
        </p:txBody>
      </p:sp>
      <p:sp>
        <p:nvSpPr>
          <p:cNvPr id="560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可回放、可恢复、可解释——这三项能力决定了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能不能真正通过企业的内控与安全评审。</a:t>
            </a:r>
            <a:endParaRPr/>
          </a:p>
        </p:txBody>
      </p:sp>
    </p:spTree>
  </p:cSld>
</p:sld>
</file>

<file path=ppt/slides/slide2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2275A"/>
          </a:solidFill>
          <a:ln/>
        </p:spPr>
        <p:txBody>
          <a:bodyPr/>
          <a:p>
            <a:pPr/>
            <a:endParaRPr/>
          </a:p>
        </p:txBody>
      </p:sp>
      <p:pic>
        <p:nvPicPr>
          <p:cNvPr id="56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564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1F3C7A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65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连接与集成</a:t>
            </a:r>
            <a:endParaRPr/>
          </a:p>
        </p:txBody>
      </p:sp>
      <p:sp>
        <p:nvSpPr>
          <p:cNvPr id="566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>
            <a:pPr/>
            <a:endParaRPr/>
          </a:p>
        </p:txBody>
      </p:sp>
      <p:sp>
        <p:nvSpPr>
          <p:cNvPr id="567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9AB4DB"/>
                </a:solidFill>
                <a:latin typeface="Microsoft YaHei"/>
                <a:ea typeface="Microsoft YaHei"/>
              </a:rPr>
              <a:t>不是新建孤岛，而是接进既有系统</a:t>
            </a:r>
            <a:endParaRPr/>
          </a:p>
        </p:txBody>
      </p:sp>
    </p:spTree>
  </p:cSld>
</p:sld>
</file>

<file path=ppt/slides/slide26.xml><?xml version="1.0" encoding="utf-8"?>
<p:sld xmlns:p="http://schemas.openxmlformats.org/presentationml/2006/main" xmlns:a="http://schemas.openxmlformats.org/drawingml/2006/main">
  <p:cSld>
    <p:spTree>
      <p:nvGrpSpPr>
        <p:cNvPr id="568" name="" descr="&lt;Slide style={{ padding: 60, background: '#FFFFFF' }}&gt;&#10;    &lt;Box style={{ height: 600 }}&gt;&#10;        &lt;Box style={{ height: 20, flexDirection: 'row', justifyContent: 'space-between', alignItems: 'center' }}&gt;&#10;            &lt;Text style={{ fontSize: 14, color: '#94A3B8', letterSpacing: 2 }}&gt;04 · INTEGRATION&lt;/Text&gt;&#10;            &lt;Box style={{ width: 44, height: 4, borderRadius: 2, background: '#1D4ED8' }} /&gt;&#10;        &lt;/Box&gt;&#10;        &lt;Text style={{ fontSize: 34, fontWeight: 'bold', color: '#12275A', marginTop: 16, lineHeight: 1.2 }}&gt;&#10;            日常在用的系统，开箱就能接&#10;        &lt;/Text&gt;&#10;        &lt;Box style={{ height: 1, background: '#E2E8F0', marginTop: 16 }} /&gt;&#10;&#10;        &lt;Box style={{ flex: 1, marginTop: 22, flexDirection: 'row', gap: 32 }}&gt;&#10;            {/* 巨型数字 */}&#10;            &lt;Box style={{ width: 380, background: '#12275A', borderRadius: 12, padding: 22 }}&gt;&#10;                &lt;Text style={{ fontSize: 96, fontWeight: 'bold', color: '#F59E0B', lineHeight: 1.05 }}&gt;41&lt;/Text&gt;&#10;                &lt;Text style={{ fontSize: 21, fontWeight: '600', color: '#FFFFFF', lineHeight: 1.3, marginTop: 4 }}&gt;个企业系统连接器&lt;/Text&gt;&#10;                &lt;Box style={{ height: 1, background: '#2D4A85', marginTop: 16 }} /&gt;&#10;                &lt;Text style={{ fontSize: 15, color: '#A9C2E8', lineHeight: 1.5, marginTop: 14 }}&gt;&#10;                    16 个走 MCP 网关、13 个内建实现、11 个远程接入，认证方式覆盖 API Key、OAuth2、个人令牌与自定义字段。&#10;                &lt;/Text&gt;&#10;                &lt;Text style={{ fontSize: 15, color: '#7EA3D6', lineHeight: 1.5, marginTop: 12 }}&gt;&#10;                    OAuth 授权流程内建，无需为每个系统单独开发授权页面。&#10;                &lt;/Text&gt;&#10;            &lt;/Box&gt;&#10;&#10;            {/* 分类分布 */}&#10;            &lt;Box style={{ width: 748 }}&gt;&#10;                &lt;Box style={{ flexDirection: 'row', gap: 12 }}&gt;&#10;                    &lt;Box style={{ flex: 1, background: '#E8EEFB', borderWidth: 1, borderColor: '#C7D6F5', borderStyle: 'solid', borderRadius: 9, padding: 11 }}&gt;&#10;                        &lt;Text style={{ fontSize: 16, fontWeight: '600', color: '#12275A', lineHeight: 1.3 }}&gt;办公文档 · 9&lt;/Text&gt;&#10;                        &lt;Text style={{ fontSize: 14, color: '#64748B', lineHeight: 1.4 }}&gt;腾讯文档 / 腾讯会议 / Notion / M365&lt;/Text&gt;&#10;                    &lt;/Box&gt;&#10;                    &lt;Box style={{ flex: 1, background: '#E8EEFB', borderWidth: 1, borderColor: '#C7D6F5', borderStyle: 'solid', borderRadius: 9, padding: 11 }}&gt;&#10;                        &lt;Text style={{ fontSize: 16, fontWeight: '600', color: '#12275A', lineHeight: 1.3 }}&gt;知识沉淀 · 8&lt;/Text&gt;&#10;                        &lt;Text style={{ fontSize: 14, color: '#64748B', lineHeight: 1.4 }}&gt;腾讯 IMA / 乐享 / 语雀 / Obsidian&lt;/Text&gt;&#10;                    &lt;/Box&gt;&#10;                    &lt;Box style={{ flex: 1, background: '#E8EEFB', borderWidth: 1, borderColor: '#C7D6F5', borderStyle: 'solid', borderRadius: 9, padding: 11 }}&gt;&#10;                        &lt;Text style={{ fontSize: 16, fontWeight: '600', color: '#12275A', lineHeight: 1.3 }}&gt;效率协作 · 6&lt;/Text&gt;&#10;                        &lt;Text style={{ fontSize: 14, color: '#64748B', lineHeight: 1.4 }}&gt;滴答清单 / 钉钉飞书企微 CLI / 邮箱&lt;/Text&gt;&#10;                    &lt;/Box&gt;&#10;                &lt;/Box&gt;&#10;                &lt;Box style={{ flexDirection: 'row', gap: 12, marginTop: 12 }}&gt;&#10;                    &lt;Box style={{ flex: 1, background: '#F8FAFC', borderWidth: 1, borderColor: '#E2E8F0', borderStyle: 'solid', borderRadius: 9, padding: 11 }}&gt;&#10;                        &lt;Text style={{ fontSize: 16, fontWeight: '600', color: '#12275A', lineHeight: 1.3 }}&gt;出行差旅 · 5&lt;/Text&gt;&#10;                        &lt;Text style={{ fontSize: 14, color: '#64748B', lineHeight: 1.4 }}&gt;飞猪 / 携程 / 美团 / 滴滴 / 百度地图&lt;/Text&gt;&#10;                    &lt;/Box&gt;&#10;                    &lt;Box style={{ flex: 1, background: '#F8FAFC', borderWidth: 1, borderColor: '#E2E8F0', borderStyle: 'solid', borderRadius: 9, padding: 11 }}&gt;&#10;                        &lt;Text style={{ fontSize: 16, fontWeight: '600', color: '#12275A', lineHeight: 1.3 }}&gt;媒体与设计 · 5&lt;/Text&gt;&#10;                        &lt;Text style={{ fontSize: 14, color: '#64748B', lineHeight: 1.4 }}&gt;腾讯新闻 / QQ 音乐 / Ardot / Figma&lt;/Text&gt;&#10;                    &lt;/Box&gt;&#10;                    &lt;Box style={{ flex: 1, background: '#F8FAFC', borderWidth: 1, borderColor: '#E2E8F0', borderStyle: 'solid', borderRadius: 9, padding: 11 }}&gt;&#10;                        &lt;Text style={{ fontSize: 16, fontWeight: '600', color: '#12275A', lineHeight: 1.3 }}&gt;研发与项目 · 4&lt;/Text&gt;&#10;                        &lt;Text style={{ fontSize: 14, color: '#64748B', lineHeight: 1.4 }}&gt;GitHub / Jira / Linear / Zapier&lt;/Text&gt;&#10;                    &lt;/Box&gt;&#10;                &lt;/Box&gt;&#10;                &lt;Box style={{ flexDirection: 'row', gap: 12, marginTop: 12 }}&gt;&#10;                    &lt;Box style={{ flex: 1, background: '#FFF7E9', borderWidth: 1, borderColor: '#F5D9A4', borderStyle: 'solid', borderRadius: 9, padding: 11 }}&gt;&#10;                        &lt;Text style={{ fontSize: 16, fontWeight: '600', color: '#12275A', lineHeight: 1.3 }}&gt;专业数据 · 2&lt;/Text&gt;&#10;                        &lt;Text style={{ fontSize: 14, color: '#64748B', lineHeight: 1.4 }}&gt;企查查 / 元典&lt;/Text&gt;&#10;                    &lt;/Box&gt;&#10;                    &lt;Box style={{ flex: 2, background: '#F4F6FB', borderWidth: 1, borderColor: '#E2E8F0', borderStyle: 'solid', borderRadius: 9, padding: 11 }}&gt;&#10;                        &lt;Text style={{ fontSize: 16, fontWeight: '600', color: '#12275A', lineHeight: 1.3 }}&gt;自定义 MCP 与内部系统&lt;/Text&gt;&#10;                        &lt;Text style={{ fontSize: 14, color: '#64748B', lineHeight: 1.4 }}&gt;支持按 MCP 协议登记企业自有服务，内部系统也能成为 Agent 的工具&lt;/Text&gt;&#10;                    &lt;/Box&gt;&#10;                &lt;/Box&gt;&#10;                &lt;Text style={{ fontSize: 16, color: '#475569', lineHeight: 1.5, marginTop: 16 }}&gt;&#10;                    连接器按 Agent 绑定：客服 Agent 接工单与知识库，研发 Agent 接仓库与项目工具，权限边界随角色走。&#10;                &lt;/Text&gt;&#10;            &lt;/Box&gt;&#10;        &lt;/Box&gt;&#10;&#10;        &lt;Box style={{ marginTop: 20, flexDirection: 'row', alignItems: 'center', background: '#F4F6FB', borderRadius: 8, padding: 16, gap: 16 }}&gt;&#10;            &lt;Box style={{ width: 4, height: 40, borderRadius: 2, background: '#1D4ED8' }} /&gt;&#10;            &lt;Text style={{ flex: 1, fontSize: 19, color: '#12275A', lineHeight: 1.5 }}&gt;&#10;                主流办公与业务系统的接入已无需自研——省下的不是几个接口的工作量，而是整套授权、刷新与运维的长期成本。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0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85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04 · INTEGRATION</a:t>
            </a:r>
            <a:endParaRPr/>
          </a:p>
        </p:txBody>
      </p:sp>
      <p:sp>
        <p:nvSpPr>
          <p:cNvPr id="571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572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日常在用的系统，开箱就能接</a:t>
            </a:r>
            <a:endParaRPr/>
          </a:p>
        </p:txBody>
      </p:sp>
      <p:sp>
        <p:nvSpPr>
          <p:cNvPr id="573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574" name=""/>
          <p:cNvSpPr/>
          <p:nvPr/>
        </p:nvSpPr>
        <p:spPr>
          <a:xfrm rot="0" flipH="0" flipV="0">
            <a:off x="571500" y="1752600"/>
            <a:ext cx="3619500" cy="3657600"/>
          </a:xfrm>
          <a:prstGeom prst="roundRect">
            <a:avLst>
              <a:gd name="adj" fmla="val 3158"/>
            </a:avLst>
          </a:prstGeom>
          <a:solidFill>
            <a:srgbClr val="12275A"/>
          </a:solidFill>
          <a:ln/>
        </p:spPr>
        <p:txBody>
          <a:bodyPr/>
          <a:p/>
        </p:txBody>
      </p:sp>
      <p:sp>
        <p:nvSpPr>
          <p:cNvPr id="575" name="" descr="{&quot;isTemplate&quot;:true,&quot;type&quot;:&quot;text&quot;}"/>
          <p:cNvSpPr txBox="1"/>
          <p:nvPr/>
        </p:nvSpPr>
        <p:spPr>
          <a:xfrm rot="0" flipH="0" flipV="0">
            <a:off x="781050" y="1962150"/>
            <a:ext cx="3200400" cy="115252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7200" b="1">
                <a:solidFill>
                  <a:srgbClr val="F59E0B"/>
                </a:solidFill>
                <a:latin typeface="Microsoft YaHei"/>
                <a:ea typeface="Microsoft YaHei"/>
              </a:rPr>
              <a:t>41</a:t>
            </a:r>
            <a:endParaRPr/>
          </a:p>
        </p:txBody>
      </p:sp>
      <p:sp>
        <p:nvSpPr>
          <p:cNvPr id="576" name="" descr="{&quot;isTemplate&quot;:true,&quot;type&quot;:&quot;text&quot;}"/>
          <p:cNvSpPr txBox="1"/>
          <p:nvPr/>
        </p:nvSpPr>
        <p:spPr>
          <a:xfrm rot="0" flipH="0" flipV="0">
            <a:off x="781050" y="3152775"/>
            <a:ext cx="32004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个企业系统连接器</a:t>
            </a:r>
            <a:endParaRPr/>
          </a:p>
        </p:txBody>
      </p:sp>
      <p:sp>
        <p:nvSpPr>
          <p:cNvPr id="577" name=""/>
          <p:cNvSpPr/>
          <p:nvPr/>
        </p:nvSpPr>
        <p:spPr>
          <a:xfrm rot="0" flipH="0" flipV="0">
            <a:off x="781050" y="3619500"/>
            <a:ext cx="3200400" cy="9525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/>
        </p:txBody>
      </p:sp>
      <p:sp>
        <p:nvSpPr>
          <p:cNvPr id="578" name="" descr="{&quot;isTemplate&quot;:true,&quot;type&quot;:&quot;text&quot;}"/>
          <p:cNvSpPr txBox="1"/>
          <p:nvPr/>
        </p:nvSpPr>
        <p:spPr>
          <a:xfrm rot="0" flipH="0" flipV="0">
            <a:off x="781050" y="3762375"/>
            <a:ext cx="32004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16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个走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网关、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13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个内建实现、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个远程接入，认证方式覆盖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 xml:space="preserve"> API Key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A9C2E8"/>
                </a:solidFill>
                <a:latin typeface="Microsoft YaHei"/>
                <a:ea typeface="Microsoft YaHei"/>
              </a:rPr>
              <a:t>OAuth2</a:t>
            </a:r>
            <a:r>
              <a:rPr lang="zh-CN" sz="1125">
                <a:solidFill>
                  <a:srgbClr val="A9C2E8"/>
                </a:solidFill>
                <a:latin typeface="Microsoft YaHei"/>
                <a:ea typeface="Microsoft YaHei"/>
              </a:rPr>
              <a:t>、个人令牌与自定义字段。</a:t>
            </a:r>
            <a:endParaRPr/>
          </a:p>
        </p:txBody>
      </p:sp>
      <p:sp>
        <p:nvSpPr>
          <p:cNvPr id="579" name="" descr="{&quot;isTemplate&quot;:true,&quot;type&quot;:&quot;text&quot;}"/>
          <p:cNvSpPr txBox="1"/>
          <p:nvPr/>
        </p:nvSpPr>
        <p:spPr>
          <a:xfrm rot="0" flipH="0" flipV="0">
            <a:off x="781050" y="4648200"/>
            <a:ext cx="32004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7EA3D6"/>
                </a:solidFill>
                <a:latin typeface="Microsoft YaHei"/>
                <a:ea typeface="Microsoft YaHei"/>
              </a:rPr>
              <a:t xml:space="preserve">OAuth </a:t>
            </a:r>
            <a:r>
              <a:rPr lang="zh-CN" sz="1125">
                <a:solidFill>
                  <a:srgbClr val="7EA3D6"/>
                </a:solidFill>
                <a:latin typeface="Microsoft YaHei"/>
                <a:ea typeface="Microsoft YaHei"/>
              </a:rPr>
              <a:t>授权流程内建，无需为每个系统单独开发授权页面。</a:t>
            </a:r>
            <a:endParaRPr/>
          </a:p>
        </p:txBody>
      </p:sp>
      <p:sp>
        <p:nvSpPr>
          <p:cNvPr id="580" name=""/>
          <p:cNvSpPr/>
          <p:nvPr/>
        </p:nvSpPr>
        <p:spPr>
          <a:xfrm rot="0" flipH="0" flipV="0">
            <a:off x="4495800" y="1752600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81" name="" descr="{&quot;isTemplate&quot;:true,&quot;type&quot;:&quot;text&quot;}"/>
          <p:cNvSpPr txBox="1"/>
          <p:nvPr/>
        </p:nvSpPr>
        <p:spPr>
          <a:xfrm rot="0" flipH="0" flipV="0">
            <a:off x="4600575" y="1857375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办公文档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9</a:t>
            </a:r>
            <a:endParaRPr/>
          </a:p>
        </p:txBody>
      </p:sp>
      <p:sp>
        <p:nvSpPr>
          <p:cNvPr id="582" name="" descr="{&quot;isTemplate&quot;:true,&quot;type&quot;:&quot;text&quot;}"/>
          <p:cNvSpPr txBox="1"/>
          <p:nvPr/>
        </p:nvSpPr>
        <p:spPr>
          <a:xfrm rot="0" flipH="0" flipV="0">
            <a:off x="4600575" y="2095500"/>
            <a:ext cx="20859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腾讯文档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腾讯会议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Notion / M365</a:t>
            </a:r>
            <a:endParaRPr/>
          </a:p>
        </p:txBody>
      </p:sp>
      <p:sp>
        <p:nvSpPr>
          <p:cNvPr id="583" name=""/>
          <p:cNvSpPr/>
          <p:nvPr/>
        </p:nvSpPr>
        <p:spPr>
          <a:xfrm rot="0" flipH="0" flipV="0">
            <a:off x="6905625" y="1752600"/>
            <a:ext cx="2305050" cy="904875"/>
          </a:xfrm>
          <a:prstGeom prst="roundRect">
            <a:avLst>
              <a:gd name="adj" fmla="val 947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84" name="" descr="{&quot;isTemplate&quot;:true,&quot;type&quot;:&quot;text&quot;}"/>
          <p:cNvSpPr txBox="1"/>
          <p:nvPr/>
        </p:nvSpPr>
        <p:spPr>
          <a:xfrm rot="0" flipH="0" flipV="0">
            <a:off x="7010400" y="1857375"/>
            <a:ext cx="20955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知识沉淀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8</a:t>
            </a:r>
            <a:endParaRPr/>
          </a:p>
        </p:txBody>
      </p:sp>
      <p:sp>
        <p:nvSpPr>
          <p:cNvPr id="585" name="" descr="{&quot;isTemplate&quot;:true,&quot;type&quot;:&quot;text&quot;}"/>
          <p:cNvSpPr txBox="1"/>
          <p:nvPr/>
        </p:nvSpPr>
        <p:spPr>
          <a:xfrm rot="0" flipH="0" flipV="0">
            <a:off x="7010400" y="2095500"/>
            <a:ext cx="20955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IMA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乐享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语雀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Obsidian</a:t>
            </a:r>
            <a:endParaRPr/>
          </a:p>
        </p:txBody>
      </p:sp>
      <p:sp>
        <p:nvSpPr>
          <p:cNvPr id="586" name=""/>
          <p:cNvSpPr/>
          <p:nvPr/>
        </p:nvSpPr>
        <p:spPr>
          <a:xfrm rot="0" flipH="0" flipV="0">
            <a:off x="9324975" y="1752600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587" name="" descr="{&quot;isTemplate&quot;:true,&quot;type&quot;:&quot;text&quot;}"/>
          <p:cNvSpPr txBox="1"/>
          <p:nvPr/>
        </p:nvSpPr>
        <p:spPr>
          <a:xfrm rot="0" flipH="0" flipV="0">
            <a:off x="9429750" y="1857375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效率协作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6</a:t>
            </a:r>
            <a:endParaRPr/>
          </a:p>
        </p:txBody>
      </p:sp>
      <p:sp>
        <p:nvSpPr>
          <p:cNvPr id="588" name="" descr="{&quot;isTemplate&quot;:true,&quot;type&quot;:&quot;text&quot;}"/>
          <p:cNvSpPr txBox="1"/>
          <p:nvPr/>
        </p:nvSpPr>
        <p:spPr>
          <a:xfrm rot="0" flipH="0" flipV="0">
            <a:off x="9429750" y="2095500"/>
            <a:ext cx="20859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滴答清单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钉钉飞书企微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CLI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邮箱</a:t>
            </a:r>
            <a:endParaRPr/>
          </a:p>
        </p:txBody>
      </p:sp>
      <p:sp>
        <p:nvSpPr>
          <p:cNvPr id="589" name=""/>
          <p:cNvSpPr/>
          <p:nvPr/>
        </p:nvSpPr>
        <p:spPr>
          <a:xfrm rot="0" flipH="0" flipV="0">
            <a:off x="4495800" y="2771775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0" name="" descr="{&quot;isTemplate&quot;:true,&quot;type&quot;:&quot;text&quot;}"/>
          <p:cNvSpPr txBox="1"/>
          <p:nvPr/>
        </p:nvSpPr>
        <p:spPr>
          <a:xfrm rot="0" flipH="0" flipV="0">
            <a:off x="4600575" y="2876550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出行差旅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5</a:t>
            </a:r>
            <a:endParaRPr/>
          </a:p>
        </p:txBody>
      </p:sp>
      <p:sp>
        <p:nvSpPr>
          <p:cNvPr id="591" name="" descr="{&quot;isTemplate&quot;:true,&quot;type&quot;:&quot;text&quot;}"/>
          <p:cNvSpPr txBox="1"/>
          <p:nvPr/>
        </p:nvSpPr>
        <p:spPr>
          <a:xfrm rot="0" flipH="0" flipV="0">
            <a:off x="4600575" y="3114675"/>
            <a:ext cx="2085975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飞猪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携程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美团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滴滴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百度地图</a:t>
            </a:r>
            <a:endParaRPr/>
          </a:p>
        </p:txBody>
      </p:sp>
      <p:sp>
        <p:nvSpPr>
          <p:cNvPr id="592" name=""/>
          <p:cNvSpPr/>
          <p:nvPr/>
        </p:nvSpPr>
        <p:spPr>
          <a:xfrm rot="0" flipH="0" flipV="0">
            <a:off x="6905625" y="2771775"/>
            <a:ext cx="2305050" cy="904875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3" name="" descr="{&quot;isTemplate&quot;:true,&quot;type&quot;:&quot;text&quot;}"/>
          <p:cNvSpPr txBox="1"/>
          <p:nvPr/>
        </p:nvSpPr>
        <p:spPr>
          <a:xfrm rot="0" flipH="0" flipV="0">
            <a:off x="7010400" y="2876550"/>
            <a:ext cx="20955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媒体与设计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5</a:t>
            </a:r>
            <a:endParaRPr/>
          </a:p>
        </p:txBody>
      </p:sp>
      <p:sp>
        <p:nvSpPr>
          <p:cNvPr id="594" name="" descr="{&quot;isTemplate&quot;:true,&quot;type&quot;:&quot;text&quot;}"/>
          <p:cNvSpPr txBox="1"/>
          <p:nvPr/>
        </p:nvSpPr>
        <p:spPr>
          <a:xfrm rot="0" flipH="0" flipV="0">
            <a:off x="7010400" y="3114675"/>
            <a:ext cx="2095500" cy="4572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腾讯新闻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QQ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音乐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Ardot / Figma</a:t>
            </a:r>
            <a:endParaRPr/>
          </a:p>
        </p:txBody>
      </p:sp>
      <p:sp>
        <p:nvSpPr>
          <p:cNvPr id="595" name=""/>
          <p:cNvSpPr/>
          <p:nvPr/>
        </p:nvSpPr>
        <p:spPr>
          <a:xfrm rot="0" flipH="0" flipV="0">
            <a:off x="9324975" y="2771775"/>
            <a:ext cx="2295525" cy="904875"/>
          </a:xfrm>
          <a:prstGeom prst="roundRect">
            <a:avLst>
              <a:gd name="adj" fmla="val 947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96" name="" descr="{&quot;isTemplate&quot;:true,&quot;type&quot;:&quot;text&quot;}"/>
          <p:cNvSpPr txBox="1"/>
          <p:nvPr/>
        </p:nvSpPr>
        <p:spPr>
          <a:xfrm rot="0" flipH="0" flipV="0">
            <a:off x="9429750" y="2876550"/>
            <a:ext cx="2085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研发与项目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4</a:t>
            </a:r>
            <a:endParaRPr/>
          </a:p>
        </p:txBody>
      </p:sp>
      <p:sp>
        <p:nvSpPr>
          <p:cNvPr id="597" name="" descr="{&quot;isTemplate&quot;:true,&quot;type&quot;:&quot;text&quot;}"/>
          <p:cNvSpPr txBox="1"/>
          <p:nvPr/>
        </p:nvSpPr>
        <p:spPr>
          <a:xfrm rot="0" flipH="0" flipV="0">
            <a:off x="9429750" y="3114675"/>
            <a:ext cx="208597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GitHub / Jira / Linear / Zapier</a:t>
            </a:r>
            <a:endParaRPr/>
          </a:p>
        </p:txBody>
      </p:sp>
      <p:sp>
        <p:nvSpPr>
          <p:cNvPr id="598" name=""/>
          <p:cNvSpPr/>
          <p:nvPr/>
        </p:nvSpPr>
        <p:spPr>
          <a:xfrm rot="0" flipH="0" flipV="0">
            <a:off x="4495800" y="3790950"/>
            <a:ext cx="2333625" cy="676275"/>
          </a:xfrm>
          <a:prstGeom prst="roundRect">
            <a:avLst>
              <a:gd name="adj" fmla="val 12676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599" name="" descr="{&quot;isTemplate&quot;:true,&quot;type&quot;:&quot;text&quot;}"/>
          <p:cNvSpPr txBox="1"/>
          <p:nvPr/>
        </p:nvSpPr>
        <p:spPr>
          <a:xfrm rot="0" flipH="0" flipV="0">
            <a:off x="4600575" y="3895725"/>
            <a:ext cx="21240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专业数据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· 2</a:t>
            </a:r>
            <a:endParaRPr/>
          </a:p>
        </p:txBody>
      </p:sp>
      <p:sp>
        <p:nvSpPr>
          <p:cNvPr id="600" name="" descr="{&quot;isTemplate&quot;:true,&quot;type&quot;:&quot;text&quot;}"/>
          <p:cNvSpPr txBox="1"/>
          <p:nvPr/>
        </p:nvSpPr>
        <p:spPr>
          <a:xfrm rot="0" flipH="0" flipV="0">
            <a:off x="4600575" y="413385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企查查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元典</a:t>
            </a:r>
            <a:endParaRPr/>
          </a:p>
        </p:txBody>
      </p:sp>
      <p:sp>
        <p:nvSpPr>
          <p:cNvPr id="601" name=""/>
          <p:cNvSpPr/>
          <p:nvPr/>
        </p:nvSpPr>
        <p:spPr>
          <a:xfrm rot="0" flipH="0" flipV="0">
            <a:off x="6943725" y="3790950"/>
            <a:ext cx="4676775" cy="676275"/>
          </a:xfrm>
          <a:prstGeom prst="roundRect">
            <a:avLst>
              <a:gd name="adj" fmla="val 12676"/>
            </a:avLst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02" name="" descr="{&quot;isTemplate&quot;:true,&quot;type&quot;:&quot;text&quot;}"/>
          <p:cNvSpPr txBox="1"/>
          <p:nvPr/>
        </p:nvSpPr>
        <p:spPr>
          <a:xfrm rot="0" flipH="0" flipV="0">
            <a:off x="7048500" y="3895725"/>
            <a:ext cx="446722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自定义</a:t>
            </a:r>
            <a:r>
              <a:rPr lang="en-US" sz="1200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200" b="1">
                <a:solidFill>
                  <a:srgbClr val="12275A"/>
                </a:solidFill>
                <a:latin typeface="Microsoft YaHei"/>
                <a:ea typeface="Microsoft YaHei"/>
              </a:rPr>
              <a:t>与内部系统</a:t>
            </a:r>
            <a:endParaRPr/>
          </a:p>
        </p:txBody>
      </p:sp>
      <p:sp>
        <p:nvSpPr>
          <p:cNvPr id="603" name="" descr="{&quot;isTemplate&quot;:true,&quot;type&quot;:&quot;text&quot;}"/>
          <p:cNvSpPr txBox="1"/>
          <p:nvPr/>
        </p:nvSpPr>
        <p:spPr>
          <a:xfrm rot="0" flipH="0" flipV="0">
            <a:off x="7048500" y="4133850"/>
            <a:ext cx="4467225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支持按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MCP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协议登记企业自有服务，内部系统也能成为</a:t>
            </a: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的工具</a:t>
            </a:r>
            <a:endParaRPr/>
          </a:p>
        </p:txBody>
      </p:sp>
      <p:sp>
        <p:nvSpPr>
          <p:cNvPr id="604" name="" descr="{&quot;isTemplate&quot;:true,&quot;type&quot;:&quot;text&quot;}"/>
          <p:cNvSpPr txBox="1"/>
          <p:nvPr/>
        </p:nvSpPr>
        <p:spPr>
          <a:xfrm rot="0" flipH="0" flipV="0">
            <a:off x="4495800" y="4619625"/>
            <a:ext cx="71247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连接器按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绑定：客服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接工单与知识库，研发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接仓库与项目工具，权限边界随角色走。</a:t>
            </a:r>
            <a:endParaRPr/>
          </a:p>
        </p:txBody>
      </p:sp>
      <p:sp>
        <p:nvSpPr>
          <p:cNvPr id="605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06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607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主流办公与业务系统的接入已无需自研——省下的不是几个接口的工作量，而是整套授权、刷新与运维的长期成本。</a:t>
            </a:r>
            <a:endParaRPr/>
          </a:p>
        </p:txBody>
      </p:sp>
    </p:spTree>
  </p:cSld>
</p:sld>
</file>

<file path=ppt/slides/slide27.xml><?xml version="1.0" encoding="utf-8"?>
<p:sld xmlns:p="http://schemas.openxmlformats.org/presentationml/2006/main" xmlns:a="http://schemas.openxmlformats.org/drawingml/2006/main">
  <p:cSld>
    <p:spTree>
      <p:nvGrpSpPr>
        <p:cNvPr id="608" name="" descr="&lt;Slide style={{ padding: 60, background: '#FFFFFF' }}&gt;&#13;&#10;    &lt;Box style={{ height: 600 }}&gt;&#13;&#10;        &lt;Box style={{ height: 20, flexDirection: 'row', justifyContent: 'space-between', alignItems: 'center' }}&gt;&#13;&#10;            &lt;Text style={{ fontSize: 14, color: '#94A3B8', letterSpacing: 2 }}&gt;04 · INTEGRATION&lt;/Text&gt;&#13;&#10;            &lt;Box style={{ width: 44, height: 4, borderRadius: 2, background: '#1D4ED8' }} /&gt;&#13;&#10;        &lt;/Box&gt;&#13;&#10;        &lt;Text style={{ fontSize: 34, fontWeight: 'bold', color: '#12275A', marginTop: 16, lineHeight: 1.2 }}&gt;&#13;&#10;            员工不需要学新工具：在已经在用的聊天框里派活&#13;&#10;        &lt;/Text&gt;&#13;&#10;        &lt;Box style={{ height: 1, background: '#E2E8F0', marginTop: 16 }} /&gt;&#13;&#10;&#13;&#10;        &lt;Box style={{ flex: 1, marginTop: 22, flexDirection: 'row', gap: 32 }}&gt;&#13;&#10;            {/* 左：通道清单 */}&#13;&#10;            &lt;Box style={{ width: 520 }}&gt;&#13;&#10;                &lt;Box style={{ background: '#F8FAFC', borderWidth: 1, borderColor: '#E2E8F0', borderStyle: 'solid', borderRadius: 12, padding: 16 }}&gt;&#13;&#10;                    &lt;Text style={{ fontSize: 19, fontWeight: '600', color: '#12275A', lineHeight: 1.3 }}&gt;10 个 IM 通道，同一条处理管线&lt;/Text&gt;&#13;&#10;                    &lt;Box style={{ flexDirection: 'row', gap: 10, marginTop: 14 }}&gt;&#13;&#10;                        &lt;Box style={{ flex: 1, background: '#E8EEFB', borderRadius: 8, padding: 10, alignItems: 'center' }}&gt;&#13;&#10;                            &lt;Text style={{ fontSize: 16, color: '#12275A', lineHeight: 1.3 }}&gt;飞书&lt;/Text&gt;&#13;&#10;                        &lt;/Box&gt;&#13;&#10;                        &lt;Box style={{ flex: 1, background: '#E8EEFB', borderRadius: 8, padding: 10, alignItems: 'center' }}&gt;&#13;&#10;                            &lt;Text style={{ fontSize: 16, color: '#12275A', lineHeight: 1.3 }}&gt;钉钉&lt;/Text&gt;&#13;&#10;                        &lt;/Box&gt;&#13;&#10;                        &lt;Box style={{ flex: 1, background: '#E8EEFB', borderRadius: 8, padding: 10, alignItems: 'center' }}&gt;&#13;&#10;                            &lt;Text style={{ fontSize: 16, color: '#12275A', lineHeight: 1.3 }}&gt;企业微信&lt;/Text&gt;&#13;&#10;                        &lt;/Box&gt;&#13;&#10;                    &lt;/Box&gt;&#13;&#10;                    &lt;Box style={{ flexDirection: 'row', gap: 10, marginTop: 10 }}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2275A', lineHeight: 1.3 }}&gt;微信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2275A', lineHeight: 1.3 }}&gt;QQ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2275A', lineHeight: 1.3 }}&gt;腾讯元宝&lt;/Text&gt;&#13;&#10;                        &lt;/Box&gt;&#13;&#10;                    &lt;/Box&gt;&#13;&#10;                    &lt;Box style={{ flexDirection: 'row', gap: 10, marginTop: 10 }}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2275A', lineHeight: 1.3 }}&gt;Telegram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2275A', lineHeight: 1.3 }}&gt;Discord&lt;/Text&gt;&#13;&#10;                        &lt;/Box&gt;&#13;&#10;                        &lt;Box style={{ flex: 1, background: '#FFFFFF', borderWidth: 1, borderColor: '#E2E8F0', borderStyle: 'solid', borderRadius: 8, padding: 10, alignItems: 'center' }}&gt;&#13;&#10;                            &lt;Text style={{ fontSize: 16, color: '#12275A', lineHeight: 1.3 }}&gt;小艺&lt;/Text&gt;&#13;&#10;                        &lt;/Box&gt;&#13;&#10;                    &lt;/Box&gt;&#13;&#10;                    &lt;Box style={{ flexDirection: 'row', gap: 10, marginTop: 10 }}&gt;&#13;&#10;                        &lt;Box style={{ flex: 1, background: '#FFF7E9', borderWidth: 1, borderColor: '#F5D9A4', borderStyle: 'solid', borderRadius: 8, padding: 10, alignItems: 'center' }}&gt;&#13;&#10;                            &lt;Text style={{ fontSize: 16, color: '#12275A', lineHeight: 1.3 }}&gt;MQTT（IoT）&lt;/Text&gt;&#13;&#10;                        &lt;/Box&gt;&#13;&#10;                        &lt;Box style={{ flex: 2, background: '#F4F6FB', borderRadius: 8, padding: 10, alignItems: 'center' }}&gt;&#13;&#10;                            &lt;Text style={{ fontSize: 16, color: '#64748B', lineHeight: 1.3 }}&gt;插件可扩展更多通道&lt;/Text&gt;&#13;&#10;                        &lt;/Box&gt;&#13;&#10;                    &lt;/Box&gt;&#13;&#10;                &lt;/Box&gt;&#13;&#10;            &lt;/Box&gt;&#13;&#10;&#13;&#10;            {/* 右：场景与机制 */}&#13;&#10;            &lt;Box style={{ width: 608 }}&gt;&#13;&#10;                &lt;Box style={{ paddingBottom: 11, borderBottomWidth: 1, borderBottomColor: '#E2E8F0', borderBottomStyle: 'solid' }}&gt;&#13;&#10;                    &lt;Text style={{ fontSize: 21, fontWeight: '600', color: '#12275A', lineHeight: 1.3 }}&gt;接入方式：扫码或机器人自助创建&lt;/Text&gt;&#13;&#10;                    &lt;Text style={{ fontSize: 16, color: '#475569', lineHeight: 1.5, marginTop: 8 }}&gt;&#13;&#10;                        主流平台支持扫码绑定与机器人自助创建。&#13;&#10;                    &lt;/Text&gt;&#13;&#10;                &lt;/Box&gt;&#13;&#10;                &lt;Box style={{ paddingTop: 14, paddingBottom: 11, borderBottomWidth: 1, borderBottomColor: '#E2E8F0', borderBottomStyle: 'solid' }}&gt;&#13;&#10;                    &lt;Text style={{ fontSize: 21, fontWeight: '600', color: '#12275A', lineHeight: 1.3 }}&gt;群里也能用：单聊与群聊分别成会话&lt;/Text&gt;&#13;&#10;                    &lt;Text style={{ fontSize: 16, color: '#475569', lineHeight: 1.5, marginTop: 8 }}&gt;&#13;&#10;                        会话键按平台区分，群聊上下文不会串到私聊。&#13;&#10;                    &lt;/Text&gt;&#13;&#10;                &lt;/Box&gt;&#13;&#10;                &lt;Box style={{ paddingTop: 14, paddingBottom: 11, borderBottomWidth: 1, borderBottomColor: '#E2E8F0', borderBottomStyle: 'solid' }}&gt;&#13;&#10;                    &lt;Text style={{ fontSize: 21, fontWeight: '600', color: '#12275A', lineHeight: 1.3 }}&gt;主动触达：不只是被动应答&lt;/Text&gt;&#13;&#10;                    &lt;Text style={{ fontSize: 16, color: '#475569', lineHeight: 1.5, marginTop: 8 }}&gt;&#13;&#10;                        定时任务与主动关怀可把日报与预警推到指定会话。&#13;&#10;                    &lt;/Text&gt;&#13;&#10;                &lt;/Box&gt;&#13;&#10;                &lt;Box style={{ paddingTop: 11 }}&gt;&#13;&#10;                    &lt;Text style={{ fontSize: 21, fontWeight: '600', color: '#12275A', lineHeight: 1.3 }}&gt;边界说明&lt;/Text&gt;&#13;&#10;                    &lt;Text style={{ fontSize: 16, color: '#475569', lineHeight: 1.5, marginTop: 8 }}&gt;&#13;&#10;                        未提供 WhatsApp 与 Teams 通道；Slack 为连接器。&#13;&#10;                    &lt;/Text&gt;&#13;&#10;                &lt;/Box&gt;&#13;&#10;            &lt;/Box&gt;&#13;&#10;        &lt;/Box&gt;&#13;&#10;&#13;&#10;        &lt;Box style={{ marginTop: 20, flexDirection: 'row', alignItems: 'center', background: '#F4F6FB', borderRadius: 8, padding: 16, gap: 16 }}&gt;&#13;&#10;            &lt;Box style={{ width: 4, height: 40, borderRadius: 2, background: '#1D4ED8' }} /&gt;&#13;&#10;            &lt;Text style={{ flex: 1, fontSize: 19, color: '#12275A', lineHeight: 1.5 }}&gt;&#13;&#10;                推广 AI 最大的成本往往不是技术，而是改变人的习惯——把它放进现有的协作工具里，这一步就省掉了。&#13;&#10;            &lt;/Text&gt;&#13;&#10;        &lt;/Box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0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85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04 · INTEGRATION</a:t>
            </a:r>
            <a:endParaRPr/>
          </a:p>
        </p:txBody>
      </p:sp>
      <p:sp>
        <p:nvSpPr>
          <p:cNvPr id="611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612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员工不需要学新工具：在已经在用的聊天框里派活</a:t>
            </a:r>
            <a:endParaRPr/>
          </a:p>
        </p:txBody>
      </p:sp>
      <p:sp>
        <p:nvSpPr>
          <p:cNvPr id="613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614" name=""/>
          <p:cNvSpPr/>
          <p:nvPr/>
        </p:nvSpPr>
        <p:spPr>
          <a:xfrm rot="0" flipH="0" flipV="0">
            <a:off x="571500" y="1752600"/>
            <a:ext cx="4953000" cy="2724150"/>
          </a:xfrm>
          <a:prstGeom prst="roundRect">
            <a:avLst>
              <a:gd name="adj" fmla="val 419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15" name="" descr="{&quot;isTemplate&quot;:true,&quot;type&quot;:&quot;text&quot;}"/>
          <p:cNvSpPr txBox="1"/>
          <p:nvPr/>
        </p:nvSpPr>
        <p:spPr>
          <a:xfrm rot="0" flipH="0" flipV="0">
            <a:off x="723900" y="1905000"/>
            <a:ext cx="46482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425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10 </a:t>
            </a: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个</a:t>
            </a:r>
            <a:r>
              <a:rPr lang="en-US" sz="1425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IM </a:t>
            </a: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通道，同一条处理管线</a:t>
            </a:r>
            <a:endParaRPr/>
          </a:p>
        </p:txBody>
      </p:sp>
      <p:sp>
        <p:nvSpPr>
          <p:cNvPr id="616" name=""/>
          <p:cNvSpPr/>
          <p:nvPr/>
        </p:nvSpPr>
        <p:spPr>
          <a:xfrm rot="0" flipH="0" flipV="0">
            <a:off x="723900" y="232410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617" name="" descr="{&quot;isTemplate&quot;:true,&quot;type&quot;:&quot;text&quot;}"/>
          <p:cNvSpPr txBox="1"/>
          <p:nvPr/>
        </p:nvSpPr>
        <p:spPr>
          <a:xfrm rot="0" flipH="0" flipV="0">
            <a:off x="1314450" y="2419350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飞书</a:t>
            </a:r>
            <a:endParaRPr/>
          </a:p>
        </p:txBody>
      </p:sp>
      <p:sp>
        <p:nvSpPr>
          <p:cNvPr id="618" name=""/>
          <p:cNvSpPr/>
          <p:nvPr/>
        </p:nvSpPr>
        <p:spPr>
          <a:xfrm rot="0" flipH="0" flipV="0">
            <a:off x="2305050" y="232410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619" name="" descr="{&quot;isTemplate&quot;:true,&quot;type&quot;:&quot;text&quot;}"/>
          <p:cNvSpPr txBox="1"/>
          <p:nvPr/>
        </p:nvSpPr>
        <p:spPr>
          <a:xfrm rot="0" flipH="0" flipV="0">
            <a:off x="2895600" y="2419350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钉钉</a:t>
            </a:r>
            <a:endParaRPr/>
          </a:p>
        </p:txBody>
      </p:sp>
      <p:sp>
        <p:nvSpPr>
          <p:cNvPr id="620" name=""/>
          <p:cNvSpPr/>
          <p:nvPr/>
        </p:nvSpPr>
        <p:spPr>
          <a:xfrm rot="0" flipH="0" flipV="0">
            <a:off x="3886200" y="232410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E8EEFB"/>
          </a:solidFill>
          <a:ln/>
        </p:spPr>
        <p:txBody>
          <a:bodyPr/>
          <a:p/>
        </p:txBody>
      </p:sp>
      <p:sp>
        <p:nvSpPr>
          <p:cNvPr id="621" name="" descr="{&quot;isTemplate&quot;:true,&quot;type&quot;:&quot;text&quot;}"/>
          <p:cNvSpPr txBox="1"/>
          <p:nvPr/>
        </p:nvSpPr>
        <p:spPr>
          <a:xfrm rot="0" flipH="0" flipV="0">
            <a:off x="4324350" y="2419350"/>
            <a:ext cx="609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企业微信</a:t>
            </a:r>
            <a:endParaRPr/>
          </a:p>
        </p:txBody>
      </p:sp>
      <p:sp>
        <p:nvSpPr>
          <p:cNvPr id="622" name=""/>
          <p:cNvSpPr/>
          <p:nvPr/>
        </p:nvSpPr>
        <p:spPr>
          <a:xfrm rot="0" flipH="0" flipV="0">
            <a:off x="723900" y="2847975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3" name="" descr="{&quot;isTemplate&quot;:true,&quot;type&quot;:&quot;text&quot;}"/>
          <p:cNvSpPr txBox="1"/>
          <p:nvPr/>
        </p:nvSpPr>
        <p:spPr>
          <a:xfrm rot="0" flipH="0" flipV="0">
            <a:off x="1314450" y="2943225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微信</a:t>
            </a:r>
            <a:endParaRPr/>
          </a:p>
        </p:txBody>
      </p:sp>
      <p:sp>
        <p:nvSpPr>
          <p:cNvPr id="624" name=""/>
          <p:cNvSpPr/>
          <p:nvPr/>
        </p:nvSpPr>
        <p:spPr>
          <a:xfrm rot="0" flipH="0" flipV="0">
            <a:off x="2305050" y="2847975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5" name="" descr="{&quot;isTemplate&quot;:true,&quot;type&quot;:&quot;text&quot;}"/>
          <p:cNvSpPr txBox="1"/>
          <p:nvPr/>
        </p:nvSpPr>
        <p:spPr>
          <a:xfrm rot="0" flipH="0" flipV="0">
            <a:off x="2924175" y="2943225"/>
            <a:ext cx="2571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>QQ</a:t>
            </a:r>
            <a:endParaRPr/>
          </a:p>
        </p:txBody>
      </p:sp>
      <p:sp>
        <p:nvSpPr>
          <p:cNvPr id="626" name=""/>
          <p:cNvSpPr/>
          <p:nvPr/>
        </p:nvSpPr>
        <p:spPr>
          <a:xfrm rot="0" flipH="0" flipV="0">
            <a:off x="3886200" y="2847975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7" name="" descr="{&quot;isTemplate&quot;:true,&quot;type&quot;:&quot;text&quot;}"/>
          <p:cNvSpPr txBox="1"/>
          <p:nvPr/>
        </p:nvSpPr>
        <p:spPr>
          <a:xfrm rot="0" flipH="0" flipV="0">
            <a:off x="4324350" y="2943225"/>
            <a:ext cx="609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腾讯元宝</a:t>
            </a:r>
            <a:endParaRPr/>
          </a:p>
        </p:txBody>
      </p:sp>
      <p:sp>
        <p:nvSpPr>
          <p:cNvPr id="628" name=""/>
          <p:cNvSpPr/>
          <p:nvPr/>
        </p:nvSpPr>
        <p:spPr>
          <a:xfrm rot="0" flipH="0" flipV="0">
            <a:off x="723900" y="337185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29" name="" descr="{&quot;isTemplate&quot;:true,&quot;type&quot;:&quot;text&quot;}"/>
          <p:cNvSpPr txBox="1"/>
          <p:nvPr/>
        </p:nvSpPr>
        <p:spPr>
          <a:xfrm rot="0" flipH="0" flipV="0">
            <a:off x="1133475" y="3467100"/>
            <a:ext cx="66675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>Telegram</a:t>
            </a:r>
            <a:endParaRPr/>
          </a:p>
        </p:txBody>
      </p:sp>
      <p:sp>
        <p:nvSpPr>
          <p:cNvPr id="630" name=""/>
          <p:cNvSpPr/>
          <p:nvPr/>
        </p:nvSpPr>
        <p:spPr>
          <a:xfrm rot="0" flipH="0" flipV="0">
            <a:off x="2305050" y="337185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31" name="" descr="{&quot;isTemplate&quot;:true,&quot;type&quot;:&quot;text&quot;}"/>
          <p:cNvSpPr txBox="1"/>
          <p:nvPr/>
        </p:nvSpPr>
        <p:spPr>
          <a:xfrm rot="0" flipH="0" flipV="0">
            <a:off x="2771775" y="3467100"/>
            <a:ext cx="5619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>Discord</a:t>
            </a:r>
            <a:endParaRPr/>
          </a:p>
        </p:txBody>
      </p:sp>
      <p:sp>
        <p:nvSpPr>
          <p:cNvPr id="632" name=""/>
          <p:cNvSpPr/>
          <p:nvPr/>
        </p:nvSpPr>
        <p:spPr>
          <a:xfrm rot="0" flipH="0" flipV="0">
            <a:off x="3886200" y="3371850"/>
            <a:ext cx="1485900" cy="428625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633" name="" descr="{&quot;isTemplate&quot;:true,&quot;type&quot;:&quot;text&quot;}"/>
          <p:cNvSpPr txBox="1"/>
          <p:nvPr/>
        </p:nvSpPr>
        <p:spPr>
          <a:xfrm rot="0" flipH="0" flipV="0">
            <a:off x="4476750" y="3467100"/>
            <a:ext cx="3048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小艺</a:t>
            </a:r>
            <a:endParaRPr/>
          </a:p>
        </p:txBody>
      </p:sp>
      <p:sp>
        <p:nvSpPr>
          <p:cNvPr id="634" name=""/>
          <p:cNvSpPr/>
          <p:nvPr/>
        </p:nvSpPr>
        <p:spPr>
          <a:xfrm rot="0" flipH="0" flipV="0">
            <a:off x="723900" y="3895725"/>
            <a:ext cx="1514475" cy="428625"/>
          </a:xfrm>
          <a:prstGeom prst="roundRect">
            <a:avLst>
              <a:gd name="adj" fmla="val 17778"/>
            </a:avLst>
          </a:prstGeom>
          <a:solidFill>
            <a:srgbClr val="FFF7E9"/>
          </a:solidFill>
          <a:ln w="12700">
            <a:solidFill>
              <a:srgbClr val="F5D9A4"/>
            </a:solidFill>
            <a:prstDash val="solid"/>
          </a:ln>
        </p:spPr>
        <p:txBody>
          <a:bodyPr/>
          <a:p/>
        </p:txBody>
      </p:sp>
      <p:sp>
        <p:nvSpPr>
          <p:cNvPr id="635" name="" descr="{&quot;isTemplate&quot;:true,&quot;type&quot;:&quot;text&quot;}"/>
          <p:cNvSpPr txBox="1"/>
          <p:nvPr/>
        </p:nvSpPr>
        <p:spPr>
          <a:xfrm rot="0" flipH="0" flipV="0">
            <a:off x="990600" y="3990975"/>
            <a:ext cx="981075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>MQTT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12275A"/>
                </a:solidFill>
                <a:latin typeface="Microsoft YaHei"/>
                <a:ea typeface="Microsoft YaHei"/>
              </a:rPr>
              <a:t>IoT</a:t>
            </a:r>
            <a:r>
              <a:rPr lang="zh-CN" sz="1200">
                <a:solidFill>
                  <a:srgbClr val="12275A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636" name=""/>
          <p:cNvSpPr/>
          <p:nvPr/>
        </p:nvSpPr>
        <p:spPr>
          <a:xfrm rot="0" flipH="0" flipV="0">
            <a:off x="2333625" y="3895725"/>
            <a:ext cx="3038475" cy="428625"/>
          </a:xfrm>
          <a:prstGeom prst="roundRect">
            <a:avLst>
              <a:gd name="adj" fmla="val 17778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37" name="" descr="{&quot;isTemplate&quot;:true,&quot;type&quot;:&quot;text&quot;}"/>
          <p:cNvSpPr txBox="1"/>
          <p:nvPr/>
        </p:nvSpPr>
        <p:spPr>
          <a:xfrm rot="0" flipH="0" flipV="0">
            <a:off x="3171825" y="3990975"/>
            <a:ext cx="1371600" cy="2381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200">
                <a:solidFill>
                  <a:srgbClr val="64748B"/>
                </a:solidFill>
                <a:latin typeface="Microsoft YaHei"/>
                <a:ea typeface="Microsoft YaHei"/>
              </a:rPr>
              <a:t>插件可扩展更多通道</a:t>
            </a:r>
            <a:endParaRPr/>
          </a:p>
        </p:txBody>
      </p:sp>
      <p:sp>
        <p:nvSpPr>
          <p:cNvPr id="638" name=""/>
          <p:cNvSpPr/>
          <p:nvPr/>
        </p:nvSpPr>
        <p:spPr>
          <a:xfrm rot="0" flipH="0" flipV="0">
            <a:off x="5829300" y="1752600"/>
            <a:ext cx="5791200" cy="790575"/>
          </a:xfrm>
          <a:custGeom>
            <a:pathLst>
              <a:path w="608" h="83">
                <a:moveTo>
                  <a:pt x="0" y="82"/>
                </a:moveTo>
                <a:lnTo>
                  <a:pt x="608" y="82"/>
                </a:lnTo>
                <a:lnTo>
                  <a:pt x="608" y="83"/>
                </a:lnTo>
                <a:lnTo>
                  <a:pt x="0" y="83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639" name="" descr="{&quot;isTemplate&quot;:true,&quot;type&quot;:&quot;text&quot;}"/>
          <p:cNvSpPr txBox="1"/>
          <p:nvPr/>
        </p:nvSpPr>
        <p:spPr>
          <a:xfrm rot="0" flipH="0" flipV="0">
            <a:off x="5829300" y="1752600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接入方式：扫码或机器人自助创建</a:t>
            </a:r>
            <a:endParaRPr/>
          </a:p>
        </p:txBody>
      </p:sp>
      <p:sp>
        <p:nvSpPr>
          <p:cNvPr id="640" name="" descr="{&quot;isTemplate&quot;:true,&quot;type&quot;:&quot;text&quot;}"/>
          <p:cNvSpPr txBox="1"/>
          <p:nvPr/>
        </p:nvSpPr>
        <p:spPr>
          <a:xfrm rot="0" flipH="0" flipV="0">
            <a:off x="5829300" y="2143125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主流平台支持扫码绑定与机器人自助创建。</a:t>
            </a:r>
            <a:endParaRPr/>
          </a:p>
        </p:txBody>
      </p:sp>
      <p:sp>
        <p:nvSpPr>
          <p:cNvPr id="641" name=""/>
          <p:cNvSpPr/>
          <p:nvPr/>
        </p:nvSpPr>
        <p:spPr>
          <a:xfrm rot="0" flipH="0" flipV="0">
            <a:off x="5829300" y="2533650"/>
            <a:ext cx="5791200" cy="923925"/>
          </a:xfrm>
          <a:custGeom>
            <a:pathLst>
              <a:path w="608" h="97">
                <a:moveTo>
                  <a:pt x="0" y="96"/>
                </a:moveTo>
                <a:lnTo>
                  <a:pt x="608" y="96"/>
                </a:lnTo>
                <a:lnTo>
                  <a:pt x="608" y="97"/>
                </a:lnTo>
                <a:lnTo>
                  <a:pt x="0" y="97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642" name="" descr="{&quot;isTemplate&quot;:true,&quot;type&quot;:&quot;text&quot;}"/>
          <p:cNvSpPr txBox="1"/>
          <p:nvPr/>
        </p:nvSpPr>
        <p:spPr>
          <a:xfrm rot="0" flipH="0" flipV="0">
            <a:off x="5829300" y="2667000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群里也能用：单聊与群聊分别成会话</a:t>
            </a:r>
            <a:endParaRPr/>
          </a:p>
        </p:txBody>
      </p:sp>
      <p:sp>
        <p:nvSpPr>
          <p:cNvPr id="643" name="" descr="{&quot;isTemplate&quot;:true,&quot;type&quot;:&quot;text&quot;}"/>
          <p:cNvSpPr txBox="1"/>
          <p:nvPr/>
        </p:nvSpPr>
        <p:spPr>
          <a:xfrm rot="0" flipH="0" flipV="0">
            <a:off x="5829300" y="3057525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会话键按平台区分，群聊上下文不会串到私聊。</a:t>
            </a:r>
            <a:endParaRPr/>
          </a:p>
        </p:txBody>
      </p:sp>
      <p:sp>
        <p:nvSpPr>
          <p:cNvPr id="644" name=""/>
          <p:cNvSpPr/>
          <p:nvPr/>
        </p:nvSpPr>
        <p:spPr>
          <a:xfrm rot="0" flipH="0" flipV="0">
            <a:off x="5829300" y="3448050"/>
            <a:ext cx="5791200" cy="923925"/>
          </a:xfrm>
          <a:custGeom>
            <a:pathLst>
              <a:path w="608" h="97">
                <a:moveTo>
                  <a:pt x="0" y="96"/>
                </a:moveTo>
                <a:lnTo>
                  <a:pt x="608" y="96"/>
                </a:lnTo>
                <a:lnTo>
                  <a:pt x="608" y="97"/>
                </a:lnTo>
                <a:lnTo>
                  <a:pt x="0" y="97"/>
                </a:lnTo>
                <a:close/>
              </a:path>
            </a:pathLst>
          </a:custGeom>
          <a:solidFill>
            <a:srgbClr val="000000"/>
          </a:solidFill>
          <a:ln/>
        </p:spPr>
        <p:txBody>
          <a:bodyPr/>
          <a:p/>
        </p:txBody>
      </p:sp>
      <p:sp>
        <p:nvSpPr>
          <p:cNvPr id="645" name="" descr="{&quot;isTemplate&quot;:true,&quot;type&quot;:&quot;text&quot;}"/>
          <p:cNvSpPr txBox="1"/>
          <p:nvPr/>
        </p:nvSpPr>
        <p:spPr>
          <a:xfrm rot="0" flipH="0" flipV="0">
            <a:off x="5829300" y="3581400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主动触达：不只是被动应答</a:t>
            </a:r>
            <a:endParaRPr/>
          </a:p>
        </p:txBody>
      </p:sp>
      <p:sp>
        <p:nvSpPr>
          <p:cNvPr id="646" name="" descr="{&quot;isTemplate&quot;:true,&quot;type&quot;:&quot;text&quot;}"/>
          <p:cNvSpPr txBox="1"/>
          <p:nvPr/>
        </p:nvSpPr>
        <p:spPr>
          <a:xfrm rot="0" flipH="0" flipV="0">
            <a:off x="5829300" y="3971925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定时任务与主动关怀可把日报与预警推到指定会话。</a:t>
            </a:r>
            <a:endParaRPr/>
          </a:p>
        </p:txBody>
      </p:sp>
      <p:sp>
        <p:nvSpPr>
          <p:cNvPr id="647" name="" descr="{&quot;isTemplate&quot;:true,&quot;type&quot;:&quot;text&quot;}"/>
          <p:cNvSpPr txBox="1"/>
          <p:nvPr/>
        </p:nvSpPr>
        <p:spPr>
          <a:xfrm rot="0" flipH="0" flipV="0">
            <a:off x="5829300" y="4467225"/>
            <a:ext cx="5791200" cy="31432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575" b="1">
                <a:solidFill>
                  <a:srgbClr val="12275A"/>
                </a:solidFill>
                <a:latin typeface="Microsoft YaHei"/>
                <a:ea typeface="Microsoft YaHei"/>
              </a:rPr>
              <a:t>边界说明</a:t>
            </a:r>
            <a:endParaRPr/>
          </a:p>
        </p:txBody>
      </p:sp>
      <p:sp>
        <p:nvSpPr>
          <p:cNvPr id="648" name="" descr="{&quot;isTemplate&quot;:true,&quot;type&quot;:&quot;text&quot;}"/>
          <p:cNvSpPr txBox="1"/>
          <p:nvPr/>
        </p:nvSpPr>
        <p:spPr>
          <a:xfrm rot="0" flipH="0" flipV="0">
            <a:off x="5829300" y="4857750"/>
            <a:ext cx="5791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未提供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WhatsApp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与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 Teams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通道；</a:t>
            </a:r>
            <a:r>
              <a:rPr lang="en-US" sz="1200">
                <a:solidFill>
                  <a:srgbClr val="475569"/>
                </a:solidFill>
                <a:latin typeface="Microsoft YaHei"/>
                <a:ea typeface="Microsoft YaHei"/>
              </a:rPr>
              <a:t xml:space="preserve">Slack </a:t>
            </a:r>
            <a:r>
              <a:rPr lang="zh-CN" sz="1200">
                <a:solidFill>
                  <a:srgbClr val="475569"/>
                </a:solidFill>
                <a:latin typeface="Microsoft YaHei"/>
                <a:ea typeface="Microsoft YaHei"/>
              </a:rPr>
              <a:t>为连接器。</a:t>
            </a:r>
            <a:endParaRPr/>
          </a:p>
        </p:txBody>
      </p:sp>
      <p:sp>
        <p:nvSpPr>
          <p:cNvPr id="649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50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651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推广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最大的成本往往不是技术，而是改变人的习惯——把它放进现有的协作工具里，这一步就省掉了。</a:t>
            </a:r>
            <a:endParaRPr/>
          </a:p>
        </p:txBody>
      </p:sp>
    </p:spTree>
  </p:cSld>
</p:sld>
</file>

<file path=ppt/slides/slide28.xml><?xml version="1.0" encoding="utf-8"?>
<p:sld xmlns:p="http://schemas.openxmlformats.org/presentationml/2006/main" xmlns:a="http://schemas.openxmlformats.org/drawingml/2006/main">
  <p:cSld>
    <p:spTree>
      <p:nvGrpSpPr>
        <p:cNvPr id="652" name="" descr="&lt;Slide style={{ padding: 60, background: '#FFFFFF' }}&gt;&#10;    &lt;Box style={{ height: 600 }}&gt;&#10;        &lt;Box style={{ height: 20, flexDirection: 'row', justifyContent: 'space-between', alignItems: 'center' }}&gt;&#10;            &lt;Text style={{ fontSize: 14, color: '#94A3B8', letterSpacing: 2 }}&gt;04 · INTEGRATION&lt;/Text&gt;&#10;            &lt;Box style={{ width: 44, height: 4, borderRadius: 2, background: '#1D4ED8' }} /&gt;&#10;        &lt;/Box&gt;&#10;        &lt;Text style={{ fontSize: 34, fontWeight: 'bold', color: '#12275A', marginTop: 16, lineHeight: 1.2 }}&gt;&#10;            换模型是配置项，不是一个重构项目&#10;        &lt;/Text&gt;&#10;        &lt;Box style={{ height: 1, background: '#E2E8F0', marginTop: 16 }} /&gt;&#10;&#10;        &lt;Box style={{ flex: 1, marginTop: 22, flexDirection: 'row', gap: 18 }}&gt;&#10;            {/* 主卡 */}&#10;            &lt;Box style={{ width: 480, background: '#12275A', borderRadius: 12, padding: 20 }}&gt;&#10;                &lt;Box style={{ flexDirection: 'row', alignItems: 'flex-end', gap: 20 }}&gt;&#10;                    &lt;Box&gt;&#10;                        &lt;Text style={{ fontSize: 60, fontWeight: 'bold', color: '#F59E0B', lineHeight: 1.05 }}&gt;40&lt;/Text&gt;&#10;                        &lt;Text style={{ fontSize: 17, color: '#A9C2E8', lineHeight: 1.4, marginTop: 2 }}&gt;供应商模板&lt;/Text&gt;&#10;                    &lt;/Box&gt;&#10;                    &lt;Box&gt;&#10;                        &lt;Text style={{ fontSize: 60, fontWeight: 'bold', color: '#FFFFFF', lineHeight: 1.05 }}&gt;390&lt;/Text&gt;&#10;                        &lt;Text style={{ fontSize: 17, color: '#A9C2E8', lineHeight: 1.4, marginTop: 2 }}&gt;内置模型条目&lt;/Text&gt;&#10;                    &lt;/Box&gt;&#10;                &lt;/Box&gt;&#10;                &lt;Box style={{ height: 1, background: '#2D4A85', marginTop: 16 }} /&gt;&#10;                &lt;Text style={{ fontSize: 15, color: '#CBD9F0', lineHeight: 1.5, marginTop: 14 }}&gt;&#10;                    已覆盖 OpenAI、Anthropic、Gemini、Groq、DeepSeek、DashScope（含国际与美国站）、智谱、Moonshot、MiniMax、火山引擎、硅基流动、ModelScope 等。&#10;                &lt;/Text&gt;&#10;                &lt;Text style={{ fontSize: 15, color: '#CBD9F0', lineHeight: 1.5, marginTop: 10 }}&gt;&#10;                    逐模型适配推理强度档位，并内置故障转移与 Token 配额中间件。&#10;                &lt;/Text&gt;&#10;            &lt;/Box&gt;&#10;&#10;            {/* 中卡 */}&#10;            &lt;Box style={{ width: 380, background: '#E8EEFB', borderWidth: 1, borderColor: '#C7D6F5', borderStyle: 'solid', borderRadius: 12, padding: 20 }}&gt;&#10;                &lt;Text style={{ fontSize: 52, fontWeight: 'bold', color: '#1D4ED8', lineHeight: 1.05 }}&gt;37/40&lt;/Text&gt;&#10;                &lt;Text style={{ fontSize: 19, fontWeight: '600', color: '#12275A', lineHeight: 1.3, marginTop: 6 }}&gt;为 OpenAI 兼容协议&lt;/Text&gt;&#10;                &lt;Text style={{ fontSize: 15, color: '#475569', lineHeight: 1.5, marginTop: 12 }}&gt;&#10;                    任何提供兼容端点的服务商——包括企业自建网关与私有化部署的模型——都能直接登记使用。&#10;                &lt;/Text&gt;&#10;                &lt;Box style={{ height: 1, background: '#C7D6F5', marginTop: 14 }} /&gt;&#10;                &lt;Text style={{ fontSize: 15, color: '#475569', lineHeight: 1.5, marginTop: 12 }}&gt;&#10;                    支持按实例、按 Agent、按线程、按单轮四个层级选择模型，成本与效果分别调优。&#10;                &lt;/Text&gt;&#10;            &lt;/Box&gt;&#10;&#10;            {/* 右卡 */}&#10;            &lt;Box style={{ width: 264, background: '#E6F7F9', borderWidth: 1, borderColor: '#B6E3EA', borderStyle: 'solid', borderRadius: 12, padding: 18 }}&gt;&#10;                &lt;Text style={{ fontSize: 44, fontWeight: 'bold', color: '#0891B2', lineHeight: 1.05 }}&gt;本地&lt;/Text&gt;&#10;                &lt;Text style={{ fontSize: 19, fontWeight: '600', color: '#12275A', lineHeight: 1.3, marginTop: 6 }}&gt;推理与向量化&lt;/Text&gt;&#10;                &lt;Text style={{ fontSize: 15, color: '#475569', lineHeight: 1.5, marginTop: 12 }}&gt;&#10;                    Ollama 本地模型管理，配合本地 ONNX 向量模型，敏感场景可完全离线运行。&#10;                &lt;/Text&gt;&#10;                &lt;Text style={{ fontSize: 15, color: '#475569', lineHeight: 1.5, marginTop: 12 }}&gt;&#10;                    推理强度与采样参数可按专家单独配置。&#10;                &lt;/Text&gt;&#10;            &lt;/Box&gt;&#10;        &lt;/Box&gt;&#10;&#10;        &lt;Box style={{ marginTop: 20, flexDirection: 'row', alignItems: 'center', background: '#F4F6FB', borderRadius: 8, padding: 16, gap: 16 }}&gt;&#10;            &lt;Box style={{ width: 4, height: 40, borderRadius: 2, background: '#1D4ED8' }} /&gt;&#10;            &lt;Text style={{ flex: 1, fontSize: 19, color: '#12275A', lineHeight: 1.5 }}&gt;&#10;                模型迭代速度远快于企业 IT 周期——把模型选择做成运行时配置，才能在不改业务的前提下持续换更好的脑子。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54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85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04 · INTEGRATION</a:t>
            </a:r>
            <a:endParaRPr/>
          </a:p>
        </p:txBody>
      </p:sp>
      <p:sp>
        <p:nvSpPr>
          <p:cNvPr id="655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656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换模型是配置项，不是一个重构项目</a:t>
            </a:r>
            <a:endParaRPr/>
          </a:p>
        </p:txBody>
      </p:sp>
      <p:sp>
        <p:nvSpPr>
          <p:cNvPr id="657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658" name=""/>
          <p:cNvSpPr/>
          <p:nvPr/>
        </p:nvSpPr>
        <p:spPr>
          <a:xfrm rot="0" flipH="0" flipV="0">
            <a:off x="571500" y="1752600"/>
            <a:ext cx="4572000" cy="3657600"/>
          </a:xfrm>
          <a:prstGeom prst="roundRect">
            <a:avLst>
              <a:gd name="adj" fmla="val 3125"/>
            </a:avLst>
          </a:prstGeom>
          <a:solidFill>
            <a:srgbClr val="12275A"/>
          </a:solidFill>
          <a:ln/>
        </p:spPr>
        <p:txBody>
          <a:bodyPr/>
          <a:p/>
        </p:txBody>
      </p:sp>
      <p:sp>
        <p:nvSpPr>
          <p:cNvPr id="659" name="" descr="{&quot;isTemplate&quot;:true,&quot;type&quot;:&quot;text&quot;}"/>
          <p:cNvSpPr txBox="1"/>
          <p:nvPr/>
        </p:nvSpPr>
        <p:spPr>
          <a:xfrm rot="0" flipH="0" flipV="0">
            <a:off x="762000" y="1943100"/>
            <a:ext cx="809625" cy="723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500" b="1">
                <a:solidFill>
                  <a:srgbClr val="F59E0B"/>
                </a:solidFill>
                <a:latin typeface="Microsoft YaHei"/>
                <a:ea typeface="Microsoft YaHei"/>
              </a:rPr>
              <a:t>40</a:t>
            </a:r>
            <a:endParaRPr/>
          </a:p>
        </p:txBody>
      </p:sp>
      <p:sp>
        <p:nvSpPr>
          <p:cNvPr id="660" name="" descr="{&quot;isTemplate&quot;:true,&quot;type&quot;:&quot;text&quot;}"/>
          <p:cNvSpPr txBox="1"/>
          <p:nvPr/>
        </p:nvSpPr>
        <p:spPr>
          <a:xfrm rot="0" flipH="0" flipV="0">
            <a:off x="762000" y="2686050"/>
            <a:ext cx="80962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A9C2E8"/>
                </a:solidFill>
                <a:latin typeface="Microsoft YaHei"/>
                <a:ea typeface="Microsoft YaHei"/>
              </a:rPr>
              <a:t>供应商模板</a:t>
            </a:r>
            <a:endParaRPr/>
          </a:p>
        </p:txBody>
      </p:sp>
      <p:sp>
        <p:nvSpPr>
          <p:cNvPr id="661" name="" descr="{&quot;isTemplate&quot;:true,&quot;type&quot;:&quot;text&quot;}"/>
          <p:cNvSpPr txBox="1"/>
          <p:nvPr/>
        </p:nvSpPr>
        <p:spPr>
          <a:xfrm rot="0" flipH="0" flipV="0">
            <a:off x="1762125" y="1943100"/>
            <a:ext cx="1066800" cy="7239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4500" b="1">
                <a:solidFill>
                  <a:srgbClr val="FFFFFF"/>
                </a:solidFill>
                <a:latin typeface="Microsoft YaHei"/>
                <a:ea typeface="Microsoft YaHei"/>
              </a:rPr>
              <a:t>390</a:t>
            </a:r>
            <a:endParaRPr/>
          </a:p>
        </p:txBody>
      </p:sp>
      <p:sp>
        <p:nvSpPr>
          <p:cNvPr id="662" name="" descr="{&quot;isTemplate&quot;:true,&quot;type&quot;:&quot;text&quot;}"/>
          <p:cNvSpPr txBox="1"/>
          <p:nvPr/>
        </p:nvSpPr>
        <p:spPr>
          <a:xfrm rot="0" flipH="0" flipV="0">
            <a:off x="1762125" y="2686050"/>
            <a:ext cx="10668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A9C2E8"/>
                </a:solidFill>
                <a:latin typeface="Microsoft YaHei"/>
                <a:ea typeface="Microsoft YaHei"/>
              </a:rPr>
              <a:t>内置模型条目</a:t>
            </a:r>
            <a:endParaRPr/>
          </a:p>
        </p:txBody>
      </p:sp>
      <p:sp>
        <p:nvSpPr>
          <p:cNvPr id="663" name=""/>
          <p:cNvSpPr/>
          <p:nvPr/>
        </p:nvSpPr>
        <p:spPr>
          <a:xfrm rot="0" flipH="0" flipV="0">
            <a:off x="762000" y="3114675"/>
            <a:ext cx="4191000" cy="9525"/>
          </a:xfrm>
          <a:prstGeom prst="rect">
            <a:avLst/>
          </a:prstGeom>
          <a:solidFill>
            <a:srgbClr val="2D4A85"/>
          </a:solidFill>
          <a:ln/>
        </p:spPr>
        <p:txBody>
          <a:bodyPr/>
          <a:p/>
        </p:txBody>
      </p:sp>
      <p:sp>
        <p:nvSpPr>
          <p:cNvPr id="664" name="" descr="{&quot;isTemplate&quot;:true,&quot;type&quot;:&quot;text&quot;}"/>
          <p:cNvSpPr txBox="1"/>
          <p:nvPr/>
        </p:nvSpPr>
        <p:spPr>
          <a:xfrm rot="0" flipH="0" flipV="0">
            <a:off x="762000" y="3257550"/>
            <a:ext cx="41910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已覆盖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 xml:space="preserve"> OpenAI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Anthropic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Gemini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Groq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DeepSeek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DashScope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（含国际与美国站）、智谱、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Moonshot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>MiniMax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、火山引擎、硅基流动、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 xml:space="preserve">ModelScope 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等。</a:t>
            </a:r>
            <a:endParaRPr/>
          </a:p>
        </p:txBody>
      </p:sp>
      <p:sp>
        <p:nvSpPr>
          <p:cNvPr id="665" name="" descr="{&quot;isTemplate&quot;:true,&quot;type&quot;:&quot;text&quot;}"/>
          <p:cNvSpPr txBox="1"/>
          <p:nvPr/>
        </p:nvSpPr>
        <p:spPr>
          <a:xfrm rot="0" flipH="0" flipV="0">
            <a:off x="762000" y="4124325"/>
            <a:ext cx="4191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逐模型适配推理强度档位，并内置故障转移与</a:t>
            </a:r>
            <a:r>
              <a:rPr lang="en-US" sz="1125">
                <a:solidFill>
                  <a:srgbClr val="CBD9F0"/>
                </a:solidFill>
                <a:latin typeface="Microsoft YaHei"/>
                <a:ea typeface="Microsoft YaHei"/>
              </a:rPr>
              <a:t xml:space="preserve"> Token </a:t>
            </a:r>
            <a:r>
              <a:rPr lang="zh-CN" sz="1125">
                <a:solidFill>
                  <a:srgbClr val="CBD9F0"/>
                </a:solidFill>
                <a:latin typeface="Microsoft YaHei"/>
                <a:ea typeface="Microsoft YaHei"/>
              </a:rPr>
              <a:t>配额中间件。</a:t>
            </a:r>
            <a:endParaRPr/>
          </a:p>
        </p:txBody>
      </p:sp>
      <p:sp>
        <p:nvSpPr>
          <p:cNvPr id="666" name=""/>
          <p:cNvSpPr/>
          <p:nvPr/>
        </p:nvSpPr>
        <p:spPr>
          <a:xfrm rot="0" flipH="0" flipV="0">
            <a:off x="5314950" y="1752600"/>
            <a:ext cx="3619500" cy="3657600"/>
          </a:xfrm>
          <a:prstGeom prst="roundRect">
            <a:avLst>
              <a:gd name="adj" fmla="val 3158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667" name="" descr="{&quot;isTemplate&quot;:true,&quot;type&quot;:&quot;text&quot;}"/>
          <p:cNvSpPr txBox="1"/>
          <p:nvPr/>
        </p:nvSpPr>
        <p:spPr>
          <a:xfrm rot="0" flipH="0" flipV="0">
            <a:off x="5505450" y="1943100"/>
            <a:ext cx="3238500" cy="62865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3900" b="1">
                <a:solidFill>
                  <a:srgbClr val="1D4ED8"/>
                </a:solidFill>
                <a:latin typeface="Microsoft YaHei"/>
                <a:ea typeface="Microsoft YaHei"/>
              </a:rPr>
              <a:t>37/40</a:t>
            </a:r>
            <a:endParaRPr/>
          </a:p>
        </p:txBody>
      </p:sp>
      <p:sp>
        <p:nvSpPr>
          <p:cNvPr id="668" name="" descr="{&quot;isTemplate&quot;:true,&quot;type&quot;:&quot;text&quot;}"/>
          <p:cNvSpPr txBox="1"/>
          <p:nvPr/>
        </p:nvSpPr>
        <p:spPr>
          <a:xfrm rot="0" flipH="0" flipV="0">
            <a:off x="5505450" y="2628900"/>
            <a:ext cx="32385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为</a:t>
            </a:r>
            <a:r>
              <a:rPr lang="en-US" sz="1425" b="1">
                <a:solidFill>
                  <a:srgbClr val="12275A"/>
                </a:solidFill>
                <a:latin typeface="Microsoft YaHei"/>
                <a:ea typeface="Microsoft YaHei"/>
              </a:rPr>
              <a:t xml:space="preserve"> OpenAI </a:t>
            </a: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兼容协议</a:t>
            </a:r>
            <a:endParaRPr/>
          </a:p>
        </p:txBody>
      </p:sp>
      <p:sp>
        <p:nvSpPr>
          <p:cNvPr id="669" name="" descr="{&quot;isTemplate&quot;:true,&quot;type&quot;:&quot;text&quot;}"/>
          <p:cNvSpPr txBox="1"/>
          <p:nvPr/>
        </p:nvSpPr>
        <p:spPr>
          <a:xfrm rot="0" flipH="0" flipV="0">
            <a:off x="5505450" y="3028950"/>
            <a:ext cx="32385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任何提供兼容端点的服务商——包括企业自建网关与私有化部署的模型——都能直接登记使用。</a:t>
            </a:r>
            <a:endParaRPr/>
          </a:p>
        </p:txBody>
      </p:sp>
      <p:sp>
        <p:nvSpPr>
          <p:cNvPr id="670" name=""/>
          <p:cNvSpPr/>
          <p:nvPr/>
        </p:nvSpPr>
        <p:spPr>
          <a:xfrm rot="0" flipH="0" flipV="0">
            <a:off x="5505450" y="3676650"/>
            <a:ext cx="3238500" cy="9525"/>
          </a:xfrm>
          <a:prstGeom prst="rect">
            <a:avLst/>
          </a:prstGeom>
          <a:solidFill>
            <a:srgbClr val="C7D6F5"/>
          </a:solidFill>
          <a:ln/>
        </p:spPr>
        <p:txBody>
          <a:bodyPr/>
          <a:p/>
        </p:txBody>
      </p:sp>
      <p:sp>
        <p:nvSpPr>
          <p:cNvPr id="671" name="" descr="{&quot;isTemplate&quot;:true,&quot;type&quot;:&quot;text&quot;}"/>
          <p:cNvSpPr txBox="1"/>
          <p:nvPr/>
        </p:nvSpPr>
        <p:spPr>
          <a:xfrm rot="0" flipH="0" flipV="0">
            <a:off x="5505450" y="3800475"/>
            <a:ext cx="32385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支持按实例、按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Agent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、按线程、按单轮四个层级选择模型，成本与效果分别调优。</a:t>
            </a:r>
            <a:endParaRPr/>
          </a:p>
        </p:txBody>
      </p:sp>
      <p:sp>
        <p:nvSpPr>
          <p:cNvPr id="672" name=""/>
          <p:cNvSpPr/>
          <p:nvPr/>
        </p:nvSpPr>
        <p:spPr>
          <a:xfrm rot="0" flipH="0" flipV="0">
            <a:off x="9105900" y="1752600"/>
            <a:ext cx="2514600" cy="3657600"/>
          </a:xfrm>
          <a:prstGeom prst="roundRect">
            <a:avLst>
              <a:gd name="adj" fmla="val 4545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673" name="" descr="{&quot;isTemplate&quot;:true,&quot;type&quot;:&quot;text&quot;}"/>
          <p:cNvSpPr txBox="1"/>
          <p:nvPr/>
        </p:nvSpPr>
        <p:spPr>
          <a:xfrm rot="0" flipH="0" flipV="0">
            <a:off x="9277350" y="1924050"/>
            <a:ext cx="2171700" cy="533400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zh-CN" sz="3300" b="1">
                <a:solidFill>
                  <a:srgbClr val="0891B2"/>
                </a:solidFill>
                <a:latin typeface="Microsoft YaHei"/>
                <a:ea typeface="Microsoft YaHei"/>
              </a:rPr>
              <a:t>本地</a:t>
            </a:r>
            <a:endParaRPr/>
          </a:p>
        </p:txBody>
      </p:sp>
      <p:sp>
        <p:nvSpPr>
          <p:cNvPr id="674" name="" descr="{&quot;isTemplate&quot;:true,&quot;type&quot;:&quot;text&quot;}"/>
          <p:cNvSpPr txBox="1"/>
          <p:nvPr/>
        </p:nvSpPr>
        <p:spPr>
          <a:xfrm rot="0" flipH="0" flipV="0">
            <a:off x="9277350" y="2514600"/>
            <a:ext cx="217170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12275A"/>
                </a:solidFill>
                <a:latin typeface="Microsoft YaHei"/>
                <a:ea typeface="Microsoft YaHei"/>
              </a:rPr>
              <a:t>推理与向量化</a:t>
            </a:r>
            <a:endParaRPr/>
          </a:p>
        </p:txBody>
      </p:sp>
      <p:sp>
        <p:nvSpPr>
          <p:cNvPr id="675" name="" descr="{&quot;isTemplate&quot;:true,&quot;type&quot;:&quot;text&quot;}"/>
          <p:cNvSpPr txBox="1"/>
          <p:nvPr/>
        </p:nvSpPr>
        <p:spPr>
          <a:xfrm rot="0" flipH="0" flipV="0">
            <a:off x="9277350" y="2914650"/>
            <a:ext cx="2171700" cy="771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Ollama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本地模型管理，配合本地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ONNX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向量模型，敏感场景可完全离线运行。</a:t>
            </a:r>
            <a:endParaRPr/>
          </a:p>
        </p:txBody>
      </p:sp>
      <p:sp>
        <p:nvSpPr>
          <p:cNvPr id="676" name="" descr="{&quot;isTemplate&quot;:true,&quot;type&quot;:&quot;text&quot;}"/>
          <p:cNvSpPr txBox="1"/>
          <p:nvPr/>
        </p:nvSpPr>
        <p:spPr>
          <a:xfrm rot="0" flipH="0" flipV="0">
            <a:off x="9277350" y="3800475"/>
            <a:ext cx="21717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推理强度与采样参数可按专家单独配置。</a:t>
            </a:r>
            <a:endParaRPr/>
          </a:p>
        </p:txBody>
      </p:sp>
      <p:sp>
        <p:nvSpPr>
          <p:cNvPr id="677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678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679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模型迭代速度远快于企业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 IT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周期——把模型选择做成运行时配置，才能在不改业务的前提下持续换更好的脑子。</a:t>
            </a:r>
            <a:endParaRPr/>
          </a:p>
        </p:txBody>
      </p:sp>
    </p:spTree>
  </p:cSld>
</p:sld>
</file>

<file path=ppt/slides/slide2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0" name="" descr="&lt;Slide style={{ padding: 60, background: '#12275A', position: 'relative' }}&gt;&#10;    {/* 右侧装饰 */}&#10;    &lt;Box style={{ position: 'absolute', right: 60, top: 130, width: 420, height: 460 }}&gt;&#10;        &lt;svg width={420} height={460} viewBox='0 0 420 460'&gt;&#10;            &lt;rect x='90' y='60' width='240' height='70' rx='10' fill='#1D4ED8' opacity='0.35' /&gt;&#10;            &lt;rect x='90' y='160' width='240' height='70' rx='10' fill='#1D4ED8' opacity='0.5' /&gt;&#10;            &lt;rect x='90' y='260' width='240' height='70' rx='10' fill='#2563EB' opacity='0.7' /&gt;&#10;            &lt;rect x='90' y='360' width='240' height='50' rx='10' fill='none' stroke='#F59E0B' strokeWidth='2' /&gt;&#10;            &lt;circle cx='330' cy='95' r='7' fill='#06B6D4' /&gt;&#10;            &lt;circle cx='330' cy='195' r='7' fill='#06B6D4' /&gt;&#10;            &lt;circle cx='330' cy='295' r='7' fill='#06B6D4' /&gt;&#10;        &lt;/svg&gt;&#10;    &lt;/Box&gt;&#10;&#10;    &lt;Box style={{ position: 'absolute', left: 92, top: 168, width: 680 }}&gt;&#10;        &lt;Text style={{ fontSize: 180, fontWeight: 'bold', color: '#1F3C7A', lineHeight: 1.05 }}&gt;&#10;            05&#10;        &lt;/Text&gt;&#10;        &lt;Text style={{ fontSize: 64, fontWeight: 'bold', color: '#FFFFFF', lineHeight: 1.15, marginTop: 12 }}&gt;&#10;            落地与保障&#10;        &lt;/Text&gt;&#10;        &lt;Box style={{ width: 72, height: 6, borderRadius: 3, background: '#F59E0B', marginTop: 30 }} /&gt;&#10;        &lt;Text style={{ fontSize: 22, color: '#9AB4DB', lineHeight: 1.5, marginTop: 26 }}&gt;&#10;            从一条命令开始，到全公司持续运行&#10;        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12275A"/>
          </a:solidFill>
          <a:ln/>
        </p:spPr>
        <p:txBody>
          <a:bodyPr/>
          <a:p/>
        </p:txBody>
      </p:sp>
      <p:pic>
        <p:nvPicPr>
          <p:cNvPr id="68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0" y="1238250"/>
            <a:ext cx="4000500" cy="4381500"/>
          </a:xfrm>
          <a:prstGeom prst="rect">
            <a:avLst/>
          </a:prstGeom>
          <a:ln/>
        </p:spPr>
      </p:pic>
      <p:sp>
        <p:nvSpPr>
          <p:cNvPr id="683" name="" descr="{&quot;isTemplate&quot;:true,&quot;type&quot;:&quot;text&quot;}"/>
          <p:cNvSpPr txBox="1"/>
          <p:nvPr/>
        </p:nvSpPr>
        <p:spPr>
          <a:xfrm rot="0" flipH="0" flipV="0">
            <a:off x="876300" y="1600200"/>
            <a:ext cx="6477000" cy="2162175"/>
          </a:xfrm>
          <a:prstGeom prst="rect"/>
        </p:spPr>
        <p:txBody>
          <a:bodyPr wrap="none" lIns="0" tIns="0" rIns="0" bIns="0"/>
          <a:p>
            <a:pPr>
              <a:lnSpc>
                <a:spcPct val="105000"/>
              </a:lnSpc>
            </a:pPr>
            <a:r>
              <a:rPr lang="en-US" sz="13500" b="1">
                <a:solidFill>
                  <a:srgbClr val="1F3C7A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684" name="" descr="{&quot;isTemplate&quot;:true,&quot;type&quot;:&quot;text&quot;}"/>
          <p:cNvSpPr txBox="1"/>
          <p:nvPr/>
        </p:nvSpPr>
        <p:spPr>
          <a:xfrm rot="0" flipH="0" flipV="0">
            <a:off x="876300" y="3876675"/>
            <a:ext cx="6477000" cy="84772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落地与保障</a:t>
            </a:r>
            <a:endParaRPr/>
          </a:p>
        </p:txBody>
      </p:sp>
      <p:sp>
        <p:nvSpPr>
          <p:cNvPr id="685" name=""/>
          <p:cNvSpPr/>
          <p:nvPr/>
        </p:nvSpPr>
        <p:spPr>
          <a:xfrm rot="0" flipH="0" flipV="0">
            <a:off x="876300" y="5010150"/>
            <a:ext cx="685800" cy="571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/>
          <a:p/>
        </p:txBody>
      </p:sp>
      <p:sp>
        <p:nvSpPr>
          <p:cNvPr id="686" name="" descr="{&quot;isTemplate&quot;:true,&quot;type&quot;:&quot;text&quot;}"/>
          <p:cNvSpPr txBox="1"/>
          <p:nvPr/>
        </p:nvSpPr>
        <p:spPr>
          <a:xfrm rot="0" flipH="0" flipV="0">
            <a:off x="876300" y="5314950"/>
            <a:ext cx="6477000" cy="3810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650">
                <a:solidFill>
                  <a:srgbClr val="9AB4DB"/>
                </a:solidFill>
                <a:latin typeface="Microsoft YaHei"/>
                <a:ea typeface="Microsoft YaHei"/>
              </a:rPr>
              <a:t>从一条命令开始，到全公司持续运行</a:t>
            </a:r>
            <a:endParaRPr/>
          </a:p>
        </p:txBody>
      </p:sp>
    </p:spTree>
  </p:cSld>
</p:sld>
</file>

<file path=ppt/slides/slide30.xml><?xml version="1.0" encoding="utf-8"?>
<p:sld xmlns:p="http://schemas.openxmlformats.org/presentationml/2006/main" xmlns:a="http://schemas.openxmlformats.org/drawingml/2006/main">
  <p:cSld>
    <p:spTree>
      <p:nvGrpSpPr>
        <p:cNvPr id="694" name="" descr="&lt;Slide style={{ padding: 60, background: '#FFFFFF' }}&gt;&#10;    &lt;Box style={{ height: 600 }}&gt;&#10;        &lt;Box style={{ height: 20, flexDirection: 'row', justifyContent: 'space-between', alignItems: 'center' }}&gt;&#10;            &lt;Text style={{ fontSize: 14, color: '#94A3B8', letterSpacing: 2 }}&gt;05 · DEPLOYMENT&lt;/Text&gt;&#10;            &lt;Box style={{ width: 44, height: 4, borderRadius: 2, background: '#1D4ED8' }} /&gt;&#10;        &lt;/Box&gt;&#10;        &lt;Text style={{ fontSize: 34, fontWeight: 'bold', color: '#12275A', marginTop: 16, lineHeight: 1.2 }}&gt;&#10;            控制面与数据面分离：规模变了，不用换产品&#10;        &lt;/Text&gt;&#10;        &lt;Box style={{ height: 1, background: '#E2E8F0', marginTop: 16 }} /&gt;&#10;&#10;        &lt;Box style={{ flex: 1, marginTop: 22 }}&gt;&#10;            {/* 控制面 */}&#10;            &lt;Box style={{ flexDirection: 'row', gap: 20, alignItems: 'stretch' }}&gt;&#10;                &lt;Box style={{ width: 150, background: '#12275A', borderRadius: 10, padding: 14, justifyContent: 'center' }}&gt;&#10;                    &lt;Text style={{ fontSize: 19, fontWeight: '600', color: '#FFFFFF', lineHeight: 1.3 }}&gt;控制面&lt;/Text&gt;&#10;                    &lt;Text style={{ fontSize: 14, color: '#7EA3D6', lineHeight: 1.4, marginTop: 4 }}&gt;账号与配置&lt;/Text&gt;&#10;                &lt;/Box&gt;&#10;                &lt;Box style={{ flex: 1, background: '#F8FAFC', borderWidth: 1, borderColor: '#E2E8F0', borderStyle: 'solid', borderRadius: 10, padding: 14 }}&gt;&#10;                    &lt;Box style={{ flexDirection: 'row', gap: 14 }}&gt;&#10;                        &lt;Box style={{ flex: 1, background: '#E8EEFB', borderWidth: 1, borderColor: '#C7D6F5', borderStyle: 'solid', borderRadius: 8, padding: 11 }}&gt;&#10;                            &lt;Text style={{ fontSize: 17, fontWeight: '600', color: '#1D4ED8', lineHeight: 1.3 }}&gt;SQLite（默认）&lt;/Text&gt;&#10;                            &lt;Text style={{ fontSize: 14, color: '#64748B', lineHeight: 1.4 }}&gt;WAL 模式，单机即可跑&lt;/Text&gt;&#10;                        &lt;/Box&gt;&#10;                        &lt;Box style={{ flex: 1, background: '#E8EEFB', borderWidth: 1, borderColor: '#C7D6F5', borderStyle: 'solid', borderRadius: 8, padding: 11 }}&gt;&#10;                            &lt;Text style={{ fontSize: 17, fontWeight: '600', color: '#1D4ED8', lineHeight: 1.3 }}&gt;PostgreSQL（可选）&lt;/Text&gt;&#10;                            &lt;Text style={{ fontSize: 14, color: '#64748B', lineHeight: 1.4 }}&gt;连接池与高并发行&lt;/Text&gt;&#10;                        &lt;/Box&gt;&#10;                    &lt;/Box&gt;&#10;                    &lt;Text style={{ fontSize: 15, color: '#475569', lineHeight: 1.5, marginTop: 11 }}&gt;&#10;                        21 个版本化迁移，SQLite 与 PostgreSQL 双份脚本同步演进——从单机试点升级到集中部署，数据结构无需推倒重来。&#10;                    &lt;/Text&gt;&#10;                &lt;/Box&gt;&#10;            &lt;/Box&gt;&#10;&#10;            {/* 数据面 */}&#10;            &lt;Box style={{ flexDirection: 'row', gap: 20, alignItems: 'stretch', marginTop: 16 }}&gt;&#10;                &lt;Box style={{ width: 150, background: '#1D4ED8', borderRadius: 10, padding: 14, justifyContent: 'center' }}&gt;&#10;                    &lt;Text style={{ fontSize: 19, fontWeight: '600', color: '#FFFFFF', lineHeight: 1.3 }}&gt;数据面&lt;/Text&gt;&#10;                    &lt;Text style={{ fontSize: 14, color: '#CBD9F0', lineHeight: 1.4, marginTop: 4 }}&gt;Agent 工作区&lt;/Text&gt;&#10;                &lt;/Box&gt;&#10;                &lt;Box style={{ flex: 1, background: '#F8FAFC', borderWidth: 1, borderColor: '#E2E8F0', borderStyle: 'solid', borderRadius: 10, padding: 14 }}&gt;&#10;                    &lt;Box style={{ flexDirection: 'row', gap: 10 }}&gt;&#10;                        &lt;Box style={{ flex: 1, background: '#FFFFFF', borderWidth: 1, borderColor: '#E2E8F0', borderStyle: 'solid', borderRadius: 8, padding: 10, alignItems: 'center' }}&gt;&#10;                            &lt;Text style={{ fontSize: 15, color: '#12275A', lineHeight: 1.3 }}&gt;本地磁盘&lt;/Text&gt;&#10;                        &lt;/Box&gt;&#10;                        &lt;Box style={{ flex: 1, background: '#FFFFFF', borderWidth: 1, borderColor: '#E2E8F0', borderStyle: 'solid', borderRadius: 8, padding: 10, alignItems: 'center' }}&gt;&#10;                            &lt;Text style={{ fontSize: 15, color: '#12275A', lineHeight: 1.3 }}&gt;Docker 沙箱&lt;/Text&gt;&#10;                        &lt;/Box&gt;&#10;                        &lt;Box style={{ flex: 1, background: '#FFFFFF', borderWidth: 1, borderColor: '#E2E8F0', borderStyle: 'solid', borderRadius: 8, padding: 10, alignItems: 'center' }}&gt;&#10;                            &lt;Text style={{ fontSize: 15, color: '#12275A', lineHeight: 1.3 }}&gt;OpenSandbox&lt;/Text&gt;&#10;                        &lt;/Box&gt;&#10;                        &lt;Box style={{ flex: 1, background: '#FFFFFF', borderWidth: 1, borderColor: '#E2E8F0', borderStyle: 'solid', borderRadius: 8, padding: 10, alignItems: 'center' }}&gt;&#10;                            &lt;Text style={{ fontSize: 15, color: '#12275A', lineHeight: 1.3 }}&gt;PostgreSQL&lt;/Text&gt;&#10;                        &lt;/Box&gt;&#10;                    &lt;/Box&gt;&#10;                    &lt;Box style={{ flexDirection: 'row', gap: 10, marginTop: 10 }}&gt;&#10;                        &lt;Box style={{ flex: 1, background: '#E6F7F9', borderWidth: 1, borderColor: '#B6E3EA', borderStyle: 'solid', borderRadius: 8, padding: 10, alignItems: 'center' }}&gt;&#10;                            &lt;Text style={{ fontSize: 15, color: '#12275A', lineHeight: 1.3 }}&gt;腾讯云 COS&lt;/Text&gt;&#10;                        &lt;/Box&gt;&#10;                        &lt;Box style={{ flex: 1, background: '#E6F7F9', borderWidth: 1, borderColor: '#B6E3EA', borderStyle: 'solid', borderRadius: 8, padding: 10, alignItems: 'center' }}&gt;&#10;                            &lt;Text style={{ fontSize: 15, color: '#12275A', lineHeight: 1.3 }}&gt;阿里云 OSS&lt;/Text&gt;&#10;                        &lt;/Box&gt;&#10;                        &lt;Box style={{ flex: 1, background: '#E6F7F9', borderWidth: 1, borderColor: '#B6E3EA', borderStyle: 'solid', borderRadius: 8, padding: 10, alignItems: 'center' }}&gt;&#10;                            &lt;Text style={{ fontSize: 15, color: '#12275A', lineHeight: 1.3 }}&gt;华为云 OBS&lt;/Text&gt;&#10;                        &lt;/Box&gt;&#10;                        &lt;Box style={{ flex: 1, background: '#E6F7F9', borderWidth: 1, borderColor: '#B6E3EA', borderStyle: 'solid', borderRadius: 8, padding: 10, alignItems: 'center' }}&gt;&#10;                            &lt;Text style={{ fontSize: 15, color: '#12275A', lineHeight: 1.3 }}&gt;通用 S3&lt;/Text&gt;&#10;                        &lt;/Box&gt;&#10;                    &lt;/Box&gt;&#10;                    &lt;Text style={{ fontSize: 15, color: '#475569', lineHeight: 1.5, marginTop: 11 }}&gt;&#10;                        工作区文件不直接落控制面：可以留在本地、放进沙箱，也可以托管到企业已有的对象存储，合规策略随存储位置走。&#10;                    &lt;/Text&gt;&#10;                &lt;/Box&gt;&#10;            &lt;/Box&gt;&#10;        &lt;/Box&gt;&#10;&#10;        &lt;Box style={{ marginTop: 20, flexDirection: 'row', alignItems: 'center', background: '#F4F6FB', borderRadius: 8, padding: 16, gap: 16 }}&gt;&#10;            &lt;Box style={{ width: 4, height: 40, borderRadius: 2, background: '#1D4ED8' }} /&gt;&#10;            &lt;Text style={{ flex: 1, fontSize: 19, color: '#12275A', lineHeight: 1.5 }}&gt;&#10;                今天一台笔记本跑 SQLite，明天一台服务器跑 PostgreSQL 加对象存储——产品形态不变，运维复杂度才可控。&#10;            &lt;/Text&gt;&#10;        &lt;/Box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96" name="" descr="{&quot;isTemplate&quot;:true,&quot;type&quot;:&quot;text&quot;}"/>
          <p:cNvSpPr txBox="1"/>
          <p:nvPr/>
        </p:nvSpPr>
        <p:spPr>
          <a:xfrm rot="0" flipH="0" flipV="0">
            <a:off x="571500" y="590550"/>
            <a:ext cx="14573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150">
                <a:solidFill>
                  <a:srgbClr val="94A3B8"/>
                </a:solidFill>
                <a:latin typeface="Microsoft YaHei"/>
                <a:ea typeface="Microsoft YaHei"/>
              </a:rPr>
              <a:t>05 · DEPLOYMENT</a:t>
            </a:r>
            <a:endParaRPr/>
          </a:p>
        </p:txBody>
      </p:sp>
      <p:sp>
        <p:nvSpPr>
          <p:cNvPr id="697" name=""/>
          <p:cNvSpPr/>
          <p:nvPr/>
        </p:nvSpPr>
        <p:spPr>
          <a:xfrm rot="0" flipH="0" flipV="0">
            <a:off x="11201400" y="647700"/>
            <a:ext cx="419100" cy="381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698" name="" descr="{&quot;isTemplate&quot;:true,&quot;type&quot;:&quot;text&quot;}"/>
          <p:cNvSpPr txBox="1"/>
          <p:nvPr/>
        </p:nvSpPr>
        <p:spPr>
          <a:xfrm rot="0" flipH="0" flipV="0">
            <a:off x="571500" y="914400"/>
            <a:ext cx="11049000" cy="466725"/>
          </a:xfrm>
          <a:prstGeom prst="rect"/>
        </p:spPr>
        <p:txBody>
          <a:bodyPr wrap="none" lIns="0" tIns="0" rIns="0" bIns="0"/>
          <a:p>
            <a:pPr>
              <a:lnSpc>
                <a:spcPct val="120000"/>
              </a:lnSpc>
            </a:pPr>
            <a:r>
              <a:rPr lang="zh-CN" sz="2550" b="1">
                <a:solidFill>
                  <a:srgbClr val="12275A"/>
                </a:solidFill>
                <a:latin typeface="Microsoft YaHei"/>
                <a:ea typeface="Microsoft YaHei"/>
              </a:rPr>
              <a:t>控制面与数据面分离：规模变了，不用换产品</a:t>
            </a:r>
            <a:endParaRPr/>
          </a:p>
        </p:txBody>
      </p:sp>
      <p:sp>
        <p:nvSpPr>
          <p:cNvPr id="699" name=""/>
          <p:cNvSpPr/>
          <p:nvPr/>
        </p:nvSpPr>
        <p:spPr>
          <a:xfrm rot="0" flipH="0" flipV="0">
            <a:off x="571500" y="1533525"/>
            <a:ext cx="11049000" cy="952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p/>
        </p:txBody>
      </p:sp>
      <p:sp>
        <p:nvSpPr>
          <p:cNvPr id="700" name=""/>
          <p:cNvSpPr/>
          <p:nvPr/>
        </p:nvSpPr>
        <p:spPr>
          <a:xfrm rot="0" flipH="0" flipV="0">
            <a:off x="571500" y="1752600"/>
            <a:ext cx="1428750" cy="1323975"/>
          </a:xfrm>
          <a:prstGeom prst="roundRect">
            <a:avLst>
              <a:gd name="adj" fmla="val 7194"/>
            </a:avLst>
          </a:prstGeom>
          <a:solidFill>
            <a:srgbClr val="12275A"/>
          </a:solidFill>
          <a:ln/>
        </p:spPr>
        <p:txBody>
          <a:bodyPr/>
          <a:p/>
        </p:txBody>
      </p:sp>
      <p:sp>
        <p:nvSpPr>
          <p:cNvPr id="701" name="" descr="{&quot;isTemplate&quot;:true,&quot;type&quot;:&quot;text&quot;}"/>
          <p:cNvSpPr txBox="1"/>
          <p:nvPr/>
        </p:nvSpPr>
        <p:spPr>
          <a:xfrm rot="0" flipH="0" flipV="0">
            <a:off x="704850" y="2143125"/>
            <a:ext cx="11620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控制面</a:t>
            </a:r>
            <a:endParaRPr/>
          </a:p>
        </p:txBody>
      </p:sp>
      <p:sp>
        <p:nvSpPr>
          <p:cNvPr id="702" name="" descr="{&quot;isTemplate&quot;:true,&quot;type&quot;:&quot;text&quot;}"/>
          <p:cNvSpPr txBox="1"/>
          <p:nvPr/>
        </p:nvSpPr>
        <p:spPr>
          <a:xfrm rot="0" flipH="0" flipV="0">
            <a:off x="704850" y="2466975"/>
            <a:ext cx="11620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7EA3D6"/>
                </a:solidFill>
                <a:latin typeface="Microsoft YaHei"/>
                <a:ea typeface="Microsoft YaHei"/>
              </a:rPr>
              <a:t>账号与配置</a:t>
            </a:r>
            <a:endParaRPr/>
          </a:p>
        </p:txBody>
      </p:sp>
      <p:sp>
        <p:nvSpPr>
          <p:cNvPr id="703" name=""/>
          <p:cNvSpPr/>
          <p:nvPr/>
        </p:nvSpPr>
        <p:spPr>
          <a:xfrm rot="0" flipH="0" flipV="0">
            <a:off x="2190750" y="1752600"/>
            <a:ext cx="9429750" cy="1323975"/>
          </a:xfrm>
          <a:prstGeom prst="roundRect">
            <a:avLst>
              <a:gd name="adj" fmla="val 719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04" name=""/>
          <p:cNvSpPr/>
          <p:nvPr/>
        </p:nvSpPr>
        <p:spPr>
          <a:xfrm rot="0" flipH="0" flipV="0">
            <a:off x="2324100" y="1885950"/>
            <a:ext cx="4514850" cy="695325"/>
          </a:xfrm>
          <a:prstGeom prst="roundRect">
            <a:avLst>
              <a:gd name="adj" fmla="val 1095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05" name="" descr="{&quot;isTemplate&quot;:true,&quot;type&quot;:&quot;text&quot;}"/>
          <p:cNvSpPr txBox="1"/>
          <p:nvPr/>
        </p:nvSpPr>
        <p:spPr>
          <a:xfrm rot="0" flipH="0" flipV="0">
            <a:off x="2428875" y="1990725"/>
            <a:ext cx="43053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D4ED8"/>
                </a:solidFill>
                <a:latin typeface="Microsoft YaHei"/>
                <a:ea typeface="Microsoft YaHei"/>
              </a:rPr>
              <a:t>SQLite</a:t>
            </a: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（默认）</a:t>
            </a:r>
            <a:endParaRPr/>
          </a:p>
        </p:txBody>
      </p:sp>
      <p:sp>
        <p:nvSpPr>
          <p:cNvPr id="706" name="" descr="{&quot;isTemplate&quot;:true,&quot;type&quot;:&quot;text&quot;}"/>
          <p:cNvSpPr txBox="1"/>
          <p:nvPr/>
        </p:nvSpPr>
        <p:spPr>
          <a:xfrm rot="0" flipH="0" flipV="0">
            <a:off x="2428875" y="2247900"/>
            <a:ext cx="43053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 xml:space="preserve">WAL </a:t>
            </a: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模式，单机即可跑</a:t>
            </a:r>
            <a:endParaRPr/>
          </a:p>
        </p:txBody>
      </p:sp>
      <p:sp>
        <p:nvSpPr>
          <p:cNvPr id="707" name=""/>
          <p:cNvSpPr/>
          <p:nvPr/>
        </p:nvSpPr>
        <p:spPr>
          <a:xfrm rot="0" flipH="0" flipV="0">
            <a:off x="6972300" y="1885950"/>
            <a:ext cx="4514850" cy="695325"/>
          </a:xfrm>
          <a:prstGeom prst="roundRect">
            <a:avLst>
              <a:gd name="adj" fmla="val 10959"/>
            </a:avLst>
          </a:prstGeom>
          <a:solidFill>
            <a:srgbClr val="E8EEFB"/>
          </a:solidFill>
          <a:ln w="12700">
            <a:solidFill>
              <a:srgbClr val="C7D6F5"/>
            </a:solidFill>
            <a:prstDash val="solid"/>
          </a:ln>
        </p:spPr>
        <p:txBody>
          <a:bodyPr/>
          <a:p/>
        </p:txBody>
      </p:sp>
      <p:sp>
        <p:nvSpPr>
          <p:cNvPr id="708" name="" descr="{&quot;isTemplate&quot;:true,&quot;type&quot;:&quot;text&quot;}"/>
          <p:cNvSpPr txBox="1"/>
          <p:nvPr/>
        </p:nvSpPr>
        <p:spPr>
          <a:xfrm rot="0" flipH="0" flipV="0">
            <a:off x="7077075" y="1990725"/>
            <a:ext cx="4305300" cy="257175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275" b="1">
                <a:solidFill>
                  <a:srgbClr val="1D4ED8"/>
                </a:solidFill>
                <a:latin typeface="Microsoft YaHei"/>
                <a:ea typeface="Microsoft YaHei"/>
              </a:rPr>
              <a:t>PostgreSQL</a:t>
            </a:r>
            <a:r>
              <a:rPr lang="zh-CN" sz="1275" b="1">
                <a:solidFill>
                  <a:srgbClr val="1D4ED8"/>
                </a:solidFill>
                <a:latin typeface="Microsoft YaHei"/>
                <a:ea typeface="Microsoft YaHei"/>
              </a:rPr>
              <a:t>（可选）</a:t>
            </a:r>
            <a:endParaRPr/>
          </a:p>
        </p:txBody>
      </p:sp>
      <p:sp>
        <p:nvSpPr>
          <p:cNvPr id="709" name="" descr="{&quot;isTemplate&quot;:true,&quot;type&quot;:&quot;text&quot;}"/>
          <p:cNvSpPr txBox="1"/>
          <p:nvPr/>
        </p:nvSpPr>
        <p:spPr>
          <a:xfrm rot="0" flipH="0" flipV="0">
            <a:off x="7077075" y="2247900"/>
            <a:ext cx="430530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050">
                <a:solidFill>
                  <a:srgbClr val="64748B"/>
                </a:solidFill>
                <a:latin typeface="Microsoft YaHei"/>
                <a:ea typeface="Microsoft YaHei"/>
              </a:rPr>
              <a:t>连接池与高并发行</a:t>
            </a:r>
            <a:endParaRPr/>
          </a:p>
        </p:txBody>
      </p:sp>
      <p:sp>
        <p:nvSpPr>
          <p:cNvPr id="710" name="" descr="{&quot;isTemplate&quot;:true,&quot;type&quot;:&quot;text&quot;}"/>
          <p:cNvSpPr txBox="1"/>
          <p:nvPr/>
        </p:nvSpPr>
        <p:spPr>
          <a:xfrm rot="0" flipH="0" flipV="0">
            <a:off x="2324100" y="2686050"/>
            <a:ext cx="9163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21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个版本化迁移，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475569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双份脚本同步演进——从单机试点升级到集中部署，数据结构无需推倒重来。</a:t>
            </a:r>
            <a:endParaRPr/>
          </a:p>
        </p:txBody>
      </p:sp>
      <p:sp>
        <p:nvSpPr>
          <p:cNvPr id="711" name=""/>
          <p:cNvSpPr/>
          <p:nvPr/>
        </p:nvSpPr>
        <p:spPr>
          <a:xfrm rot="0" flipH="0" flipV="0">
            <a:off x="571500" y="3228975"/>
            <a:ext cx="1428750" cy="1562100"/>
          </a:xfrm>
          <a:prstGeom prst="roundRect">
            <a:avLst>
              <a:gd name="adj" fmla="val 6667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712" name="" descr="{&quot;isTemplate&quot;:true,&quot;type&quot;:&quot;text&quot;}"/>
          <p:cNvSpPr txBox="1"/>
          <p:nvPr/>
        </p:nvSpPr>
        <p:spPr>
          <a:xfrm rot="0" flipH="0" flipV="0">
            <a:off x="704850" y="3733800"/>
            <a:ext cx="1162050" cy="2857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数据面</a:t>
            </a:r>
            <a:endParaRPr/>
          </a:p>
        </p:txBody>
      </p:sp>
      <p:sp>
        <p:nvSpPr>
          <p:cNvPr id="713" name="" descr="{&quot;isTemplate&quot;:true,&quot;type&quot;:&quot;text&quot;}"/>
          <p:cNvSpPr txBox="1"/>
          <p:nvPr/>
        </p:nvSpPr>
        <p:spPr>
          <a:xfrm rot="0" flipH="0" flipV="0">
            <a:off x="704850" y="4057650"/>
            <a:ext cx="1162050" cy="2286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050">
                <a:solidFill>
                  <a:srgbClr val="CBD9F0"/>
                </a:solidFill>
                <a:latin typeface="Microsoft YaHei"/>
                <a:ea typeface="Microsoft YaHei"/>
              </a:rPr>
              <a:t xml:space="preserve">Agent </a:t>
            </a:r>
            <a:r>
              <a:rPr lang="zh-CN" sz="1050">
                <a:solidFill>
                  <a:srgbClr val="CBD9F0"/>
                </a:solidFill>
                <a:latin typeface="Microsoft YaHei"/>
                <a:ea typeface="Microsoft YaHei"/>
              </a:rPr>
              <a:t>工作区</a:t>
            </a:r>
            <a:endParaRPr/>
          </a:p>
        </p:txBody>
      </p:sp>
      <p:sp>
        <p:nvSpPr>
          <p:cNvPr id="714" name=""/>
          <p:cNvSpPr/>
          <p:nvPr/>
        </p:nvSpPr>
        <p:spPr>
          <a:xfrm rot="0" flipH="0" flipV="0">
            <a:off x="2190750" y="3228975"/>
            <a:ext cx="9429750" cy="1562100"/>
          </a:xfrm>
          <a:prstGeom prst="roundRect">
            <a:avLst>
              <a:gd name="adj" fmla="val 609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5" name=""/>
          <p:cNvSpPr/>
          <p:nvPr/>
        </p:nvSpPr>
        <p:spPr>
          <a:xfrm rot="0" flipH="0" flipV="0">
            <a:off x="2324100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6" name="" descr="{&quot;isTemplate&quot;:true,&quot;type&quot;:&quot;text&quot;}"/>
          <p:cNvSpPr txBox="1"/>
          <p:nvPr/>
        </p:nvSpPr>
        <p:spPr>
          <a:xfrm rot="0" flipH="0" flipV="0">
            <a:off x="3152775" y="3457575"/>
            <a:ext cx="5715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2275A"/>
                </a:solidFill>
                <a:latin typeface="Microsoft YaHei"/>
                <a:ea typeface="Microsoft YaHei"/>
              </a:rPr>
              <a:t>本地磁盘</a:t>
            </a:r>
            <a:endParaRPr/>
          </a:p>
        </p:txBody>
      </p:sp>
      <p:sp>
        <p:nvSpPr>
          <p:cNvPr id="717" name=""/>
          <p:cNvSpPr/>
          <p:nvPr/>
        </p:nvSpPr>
        <p:spPr>
          <a:xfrm rot="0" flipH="0" flipV="0">
            <a:off x="4638675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18" name="" descr="{&quot;isTemplate&quot;:true,&quot;type&quot;:&quot;text&quot;}"/>
          <p:cNvSpPr txBox="1"/>
          <p:nvPr/>
        </p:nvSpPr>
        <p:spPr>
          <a:xfrm rot="0" flipH="0" flipV="0">
            <a:off x="5343525" y="3457575"/>
            <a:ext cx="8191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2275A"/>
                </a:solidFill>
                <a:latin typeface="Microsoft YaHei"/>
                <a:ea typeface="Microsoft YaHei"/>
              </a:rPr>
              <a:t xml:space="preserve">Docker </a:t>
            </a:r>
            <a:r>
              <a:rPr lang="zh-CN" sz="1125">
                <a:solidFill>
                  <a:srgbClr val="12275A"/>
                </a:solidFill>
                <a:latin typeface="Microsoft YaHei"/>
                <a:ea typeface="Microsoft YaHei"/>
              </a:rPr>
              <a:t>沙箱</a:t>
            </a:r>
            <a:endParaRPr/>
          </a:p>
        </p:txBody>
      </p:sp>
      <p:sp>
        <p:nvSpPr>
          <p:cNvPr id="719" name=""/>
          <p:cNvSpPr/>
          <p:nvPr/>
        </p:nvSpPr>
        <p:spPr>
          <a:xfrm rot="0" flipH="0" flipV="0">
            <a:off x="6953250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20" name="" descr="{&quot;isTemplate&quot;:true,&quot;type&quot;:&quot;text&quot;}"/>
          <p:cNvSpPr txBox="1"/>
          <p:nvPr/>
        </p:nvSpPr>
        <p:spPr>
          <a:xfrm rot="0" flipH="0" flipV="0">
            <a:off x="7581900" y="3457575"/>
            <a:ext cx="97155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2275A"/>
                </a:solidFill>
                <a:latin typeface="Microsoft YaHei"/>
                <a:ea typeface="Microsoft YaHei"/>
              </a:rPr>
              <a:t>OpenSandbox</a:t>
            </a:r>
            <a:endParaRPr/>
          </a:p>
        </p:txBody>
      </p:sp>
      <p:sp>
        <p:nvSpPr>
          <p:cNvPr id="721" name=""/>
          <p:cNvSpPr/>
          <p:nvPr/>
        </p:nvSpPr>
        <p:spPr>
          <a:xfrm rot="0" flipH="0" flipV="0">
            <a:off x="9267825" y="336232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22" name="" descr="{&quot;isTemplate&quot;:true,&quot;type&quot;:&quot;text&quot;}"/>
          <p:cNvSpPr txBox="1"/>
          <p:nvPr/>
        </p:nvSpPr>
        <p:spPr>
          <a:xfrm rot="0" flipH="0" flipV="0">
            <a:off x="9982200" y="3457575"/>
            <a:ext cx="79057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en-US" sz="1125">
                <a:solidFill>
                  <a:srgbClr val="12275A"/>
                </a:solidFill>
                <a:latin typeface="Microsoft YaHei"/>
                <a:ea typeface="Microsoft YaHei"/>
              </a:rPr>
              <a:t>PostgreSQL</a:t>
            </a:r>
            <a:endParaRPr/>
          </a:p>
        </p:txBody>
      </p:sp>
      <p:sp>
        <p:nvSpPr>
          <p:cNvPr id="723" name=""/>
          <p:cNvSpPr/>
          <p:nvPr/>
        </p:nvSpPr>
        <p:spPr>
          <a:xfrm rot="0" flipH="0" flipV="0">
            <a:off x="2324100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24" name="" descr="{&quot;isTemplate&quot;:true,&quot;type&quot;:&quot;text&quot;}"/>
          <p:cNvSpPr txBox="1"/>
          <p:nvPr/>
        </p:nvSpPr>
        <p:spPr>
          <a:xfrm rot="0" flipH="0" flipV="0">
            <a:off x="3048000" y="3971925"/>
            <a:ext cx="77152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2275A"/>
                </a:solidFill>
                <a:latin typeface="Microsoft YaHei"/>
                <a:ea typeface="Microsoft YaHei"/>
              </a:rPr>
              <a:t>腾讯云</a:t>
            </a:r>
            <a:r>
              <a:rPr lang="en-US" sz="1125">
                <a:solidFill>
                  <a:srgbClr val="12275A"/>
                </a:solidFill>
                <a:latin typeface="Microsoft YaHei"/>
                <a:ea typeface="Microsoft YaHei"/>
              </a:rPr>
              <a:t xml:space="preserve"> COS</a:t>
            </a:r>
            <a:endParaRPr/>
          </a:p>
        </p:txBody>
      </p:sp>
      <p:sp>
        <p:nvSpPr>
          <p:cNvPr id="725" name=""/>
          <p:cNvSpPr/>
          <p:nvPr/>
        </p:nvSpPr>
        <p:spPr>
          <a:xfrm rot="0" flipH="0" flipV="0">
            <a:off x="4638675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26" name="" descr="{&quot;isTemplate&quot;:true,&quot;type&quot;:&quot;text&quot;}"/>
          <p:cNvSpPr txBox="1"/>
          <p:nvPr/>
        </p:nvSpPr>
        <p:spPr>
          <a:xfrm rot="0" flipH="0" flipV="0">
            <a:off x="5372100" y="3971925"/>
            <a:ext cx="752475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2275A"/>
                </a:solidFill>
                <a:latin typeface="Microsoft YaHei"/>
                <a:ea typeface="Microsoft YaHei"/>
              </a:rPr>
              <a:t>阿里云</a:t>
            </a:r>
            <a:r>
              <a:rPr lang="en-US" sz="1125">
                <a:solidFill>
                  <a:srgbClr val="12275A"/>
                </a:solidFill>
                <a:latin typeface="Microsoft YaHei"/>
                <a:ea typeface="Microsoft YaHei"/>
              </a:rPr>
              <a:t xml:space="preserve"> OSS</a:t>
            </a:r>
            <a:endParaRPr/>
          </a:p>
        </p:txBody>
      </p:sp>
      <p:sp>
        <p:nvSpPr>
          <p:cNvPr id="727" name=""/>
          <p:cNvSpPr/>
          <p:nvPr/>
        </p:nvSpPr>
        <p:spPr>
          <a:xfrm rot="0" flipH="0" flipV="0">
            <a:off x="6953250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28" name="" descr="{&quot;isTemplate&quot;:true,&quot;type&quot;:&quot;text&quot;}"/>
          <p:cNvSpPr txBox="1"/>
          <p:nvPr/>
        </p:nvSpPr>
        <p:spPr>
          <a:xfrm rot="0" flipH="0" flipV="0">
            <a:off x="7686675" y="397192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2275A"/>
                </a:solidFill>
                <a:latin typeface="Microsoft YaHei"/>
                <a:ea typeface="Microsoft YaHei"/>
              </a:rPr>
              <a:t>华为云</a:t>
            </a:r>
            <a:r>
              <a:rPr lang="en-US" sz="1125">
                <a:solidFill>
                  <a:srgbClr val="12275A"/>
                </a:solidFill>
                <a:latin typeface="Microsoft YaHei"/>
                <a:ea typeface="Microsoft YaHei"/>
              </a:rPr>
              <a:t xml:space="preserve"> OBS</a:t>
            </a:r>
            <a:endParaRPr/>
          </a:p>
        </p:txBody>
      </p:sp>
      <p:sp>
        <p:nvSpPr>
          <p:cNvPr id="729" name=""/>
          <p:cNvSpPr/>
          <p:nvPr/>
        </p:nvSpPr>
        <p:spPr>
          <a:xfrm rot="0" flipH="0" flipV="0">
            <a:off x="9267825" y="3876675"/>
            <a:ext cx="2219325" cy="419100"/>
          </a:xfrm>
          <a:prstGeom prst="roundRect">
            <a:avLst>
              <a:gd name="adj" fmla="val 18182"/>
            </a:avLst>
          </a:prstGeom>
          <a:solidFill>
            <a:srgbClr val="E6F7F9"/>
          </a:solidFill>
          <a:ln w="12700">
            <a:solidFill>
              <a:srgbClr val="B6E3EA"/>
            </a:solidFill>
            <a:prstDash val="solid"/>
          </a:ln>
        </p:spPr>
        <p:txBody>
          <a:bodyPr/>
          <a:p/>
        </p:txBody>
      </p:sp>
      <p:sp>
        <p:nvSpPr>
          <p:cNvPr id="730" name="" descr="{&quot;isTemplate&quot;:true,&quot;type&quot;:&quot;text&quot;}"/>
          <p:cNvSpPr txBox="1"/>
          <p:nvPr/>
        </p:nvSpPr>
        <p:spPr>
          <a:xfrm rot="0" flipH="0" flipV="0">
            <a:off x="10134600" y="3971925"/>
            <a:ext cx="495300" cy="2286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1125">
                <a:solidFill>
                  <a:srgbClr val="12275A"/>
                </a:solidFill>
                <a:latin typeface="Microsoft YaHei"/>
                <a:ea typeface="Microsoft YaHei"/>
              </a:rPr>
              <a:t>通用</a:t>
            </a:r>
            <a:r>
              <a:rPr lang="en-US" sz="1125">
                <a:solidFill>
                  <a:srgbClr val="12275A"/>
                </a:solidFill>
                <a:latin typeface="Microsoft YaHei"/>
                <a:ea typeface="Microsoft YaHei"/>
              </a:rPr>
              <a:t xml:space="preserve"> S3</a:t>
            </a:r>
            <a:endParaRPr/>
          </a:p>
        </p:txBody>
      </p:sp>
      <p:sp>
        <p:nvSpPr>
          <p:cNvPr id="731" name="" descr="{&quot;isTemplate&quot;:true,&quot;type&quot;:&quot;text&quot;}"/>
          <p:cNvSpPr txBox="1"/>
          <p:nvPr/>
        </p:nvSpPr>
        <p:spPr>
          <a:xfrm rot="0" flipH="0" flipV="0">
            <a:off x="2324100" y="4400550"/>
            <a:ext cx="916305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475569"/>
                </a:solidFill>
                <a:latin typeface="Microsoft YaHei"/>
                <a:ea typeface="Microsoft YaHei"/>
              </a:rPr>
              <a:t>工作区文件不直接落控制面：可以留在本地、放进沙箱，也可以托管到企业已有的对象存储，合规策略随存储位置走。</a:t>
            </a:r>
            <a:endParaRPr/>
          </a:p>
        </p:txBody>
      </p:sp>
      <p:sp>
        <p:nvSpPr>
          <p:cNvPr id="732" name=""/>
          <p:cNvSpPr/>
          <p:nvPr/>
        </p:nvSpPr>
        <p:spPr>
          <a:xfrm rot="0" flipH="0" flipV="0">
            <a:off x="571500" y="5600700"/>
            <a:ext cx="11049000" cy="685800"/>
          </a:xfrm>
          <a:prstGeom prst="roundRect">
            <a:avLst>
              <a:gd name="adj" fmla="val 11111"/>
            </a:avLst>
          </a:prstGeom>
          <a:solidFill>
            <a:srgbClr val="F4F6FB"/>
          </a:solidFill>
          <a:ln/>
        </p:spPr>
        <p:txBody>
          <a:bodyPr/>
          <a:p/>
        </p:txBody>
      </p:sp>
      <p:sp>
        <p:nvSpPr>
          <p:cNvPr id="733" name=""/>
          <p:cNvSpPr/>
          <p:nvPr/>
        </p:nvSpPr>
        <p:spPr>
          <a:xfrm rot="0" flipH="0" flipV="0">
            <a:off x="723900" y="5753100"/>
            <a:ext cx="38100" cy="38100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/>
        </p:spPr>
        <p:txBody>
          <a:bodyPr/>
          <a:p/>
        </p:txBody>
      </p:sp>
      <p:sp>
        <p:nvSpPr>
          <p:cNvPr id="734" name="" descr="{&quot;isTemplate&quot;:true,&quot;type&quot;:&quot;text&quot;}"/>
          <p:cNvSpPr txBox="1"/>
          <p:nvPr/>
        </p:nvSpPr>
        <p:spPr>
          <a:xfrm rot="0" flipH="0" flipV="0">
            <a:off x="914400" y="5781675"/>
            <a:ext cx="10553700" cy="3333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今天一台笔记本跑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 SQLite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，明天一台服务器跑</a:t>
            </a:r>
            <a:r>
              <a:rPr lang="en-US" sz="1425">
                <a:solidFill>
                  <a:srgbClr val="12275A"/>
                </a:solidFill>
                <a:latin typeface="Microsoft YaHei"/>
                <a:ea typeface="Microsoft YaHei"/>
              </a:rPr>
              <a:t xml:space="preserve"> PostgreSQL </a:t>
            </a:r>
            <a:r>
              <a:rPr lang="zh-CN" sz="1425">
                <a:solidFill>
                  <a:srgbClr val="12275A"/>
                </a:solidFill>
                <a:latin typeface="Microsoft YaHei"/>
                <a:ea typeface="Microsoft YaHei"/>
              </a:rPr>
              <a:t>加对象存储——产品形态不变，运维复杂度才可控。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2026-10-29T17:29:45Z</dcterms:created>
  <dcterms:modified xsi:type="dcterms:W3CDTF">2026-10-29T17:29:45Z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{"AIGC":{"Label":"1","ContentProducer":"00119111010856365494821B355","ProduceID":"01a186acaa707d36a53fc03491fc3634","ReservedCode1":"","ContentPropagator":"00119111010856365494821B355","PropagateID":"01a186acaa707d36a53fc03491fc3634","ReservedCode2":""}}</vt:lpwstr>
  </property>
</Properties>
</file>