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slides/slide21.xml" ContentType="application/vnd.openxmlformats-officedocument.presentationml.slide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slides/slide31.xml" ContentType="application/vnd.openxmlformats-officedocument.presentationml.slide+xml"/>
  <Override PartName="/ppt/presentation.xml" ContentType="application/vnd.openxmlformats-officedocument.presentationml.presentation.main+xml"/>
  <Override PartName="/ppt/theme/theme2.xml" ContentType="application/vnd.openxmlformats-officedocument.them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23.xml" ContentType="application/vnd.openxmlformats-officedocument.presentationml.slide+xml"/>
  <Override PartName="/ppt/slides/slide43.xml" ContentType="application/vnd.openxmlformats-officedocument.presentationml.slide+xml"/>
  <Override PartName="/ppt/slides/slide10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slides/slide15.xml" ContentType="application/vnd.openxmlformats-officedocument.presentationml.slide+xml"/>
  <Override PartName="/ppt/slides/slide12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11.xml" ContentType="application/vnd.openxmlformats-officedocument.presentationml.slide+xml"/>
  <Override PartName="/ppt/slides/slide40.xml" ContentType="application/vnd.openxmlformats-officedocument.presentationml.slide+xml"/>
  <Override PartName="/ppt/slides/slide13.xml" ContentType="application/vnd.openxmlformats-officedocument.presentationml.slide+xml"/>
  <Override PartName="/ppt/viewProps.xml" ContentType="application/vnd.openxmlformats-officedocument.presentationml.viewProps+xml"/>
  <Override PartName="/ppt/slides/slide27.xml" ContentType="application/vnd.openxmlformats-officedocument.presentationml.slide+xml"/>
  <Override PartName="/ppt/slides/slide7.xml" ContentType="application/vnd.openxmlformats-officedocument.presentationml.slide+xml"/>
  <Override PartName="/ppt/slides/slide16.xml" ContentType="application/vnd.openxmlformats-officedocument.presentationml.slide+xml"/>
  <Override PartName="/ppt/slides/slide33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5.xml" ContentType="application/vnd.openxmlformats-officedocument.presentationml.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39.xml" ContentType="application/vnd.openxmlformats-officedocument.presentationml.slide+xml"/>
  <Override PartName="/ppt/slides/slide22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37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24.xml" ContentType="application/vnd.openxmlformats-officedocument.presentationml.slide+xml"/>
  <Override PartName="/ppt/slides/slide6.xml" ContentType="application/vnd.openxmlformats-officedocument.presentationml.slide+xml"/>
  <Override PartName="/ppt/slides/slide26.xml" ContentType="application/vnd.openxmlformats-officedocument.presentationml.slide+xml"/>
  <Override PartName="/ppt/slides/slide8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9.xml" ContentType="application/vnd.openxmlformats-officedocument.presentationml.slide+xml"/>
  <Override PartName="/ppt/slides/slide30.xml" ContentType="application/vnd.openxmlformats-officedocument.presentationml.slide+xml"/>
  <Override PartName="/ppt/slides/slide32.xml" ContentType="application/vnd.openxmlformats-officedocument.presentationml.slide+xml"/>
  <Override PartName="/ppt/slides/slide34.xml" ContentType="application/vnd.openxmlformats-officedocument.presentationml.slide+xml"/>
  <Override PartName="/ppt/tableStyles.xml" ContentType="application/vnd.openxmlformats-officedocument.presentationml.tableStyles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8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<Relationships xmlns="http://schemas.openxmlformats.org/package/2006/relationships"><Relationship Id="rId1" Type="http://schemas.openxmlformats.org/package/2006/relationships/metadata/core-properties" Target="docProps/core.xml" /><Relationship Id="rId0" Type="http://schemas.openxmlformats.org/officeDocument/2006/relationships/officeDocument" Target="ppt/presentation.xml" /><Relationship Id="rId3" Type="http://schemas.openxmlformats.org/officeDocument/2006/relationships/custom-properties" Target="docProps/custom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44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0" Type="http://schemas.openxmlformats.org/officeDocument/2006/relationships/slideMaster" Target="slideMasters/slideMaster1.xml" /><Relationship Id="rId1" Type="http://schemas.openxmlformats.org/officeDocument/2006/relationships/slide" Target="slides/slide1.xml" /><Relationship Id="rId23" Type="http://schemas.openxmlformats.org/officeDocument/2006/relationships/slide" Target="slides/slide23.xml" /><Relationship Id="rId10" Type="http://schemas.openxmlformats.org/officeDocument/2006/relationships/slide" Target="slides/slide10.xml" /><Relationship Id="rId14" Type="http://schemas.openxmlformats.org/officeDocument/2006/relationships/slide" Target="slides/slide14.xml" /><Relationship Id="rId15" Type="http://schemas.openxmlformats.org/officeDocument/2006/relationships/slide" Target="slides/slide15.xml" /><Relationship Id="rId41" Type="http://schemas.openxmlformats.org/officeDocument/2006/relationships/slide" Target="slides/slide41.xml" /><Relationship Id="rId11" Type="http://schemas.openxmlformats.org/officeDocument/2006/relationships/slide" Target="slides/slide11.xml" /><Relationship Id="rId3" Type="http://schemas.openxmlformats.org/officeDocument/2006/relationships/slide" Target="slides/slide3.xml" /><Relationship Id="rId12" Type="http://schemas.openxmlformats.org/officeDocument/2006/relationships/slide" Target="slides/slide12.xml" /><Relationship Id="rId13" Type="http://schemas.openxmlformats.org/officeDocument/2006/relationships/slide" Target="slides/slide13.xml" /><Relationship Id="rId7" Type="http://schemas.openxmlformats.org/officeDocument/2006/relationships/slide" Target="slides/slide7.xml" /><Relationship Id="rId16" Type="http://schemas.openxmlformats.org/officeDocument/2006/relationships/slide" Target="slides/slide16.xml" /><Relationship Id="rId33" Type="http://schemas.openxmlformats.org/officeDocument/2006/relationships/slide" Target="slides/slide33.xml" /><Relationship Id="rId17" Type="http://schemas.openxmlformats.org/officeDocument/2006/relationships/slide" Target="slides/slide17.xml" /><Relationship Id="rId18" Type="http://schemas.openxmlformats.org/officeDocument/2006/relationships/slide" Target="slides/slide18.xml" /><Relationship Id="rId5" Type="http://schemas.openxmlformats.org/officeDocument/2006/relationships/slide" Target="slides/slide5.xml" /><Relationship Id="rId19" Type="http://schemas.openxmlformats.org/officeDocument/2006/relationships/slide" Target="slides/slide19.xml" /><Relationship Id="rId39" Type="http://schemas.openxmlformats.org/officeDocument/2006/relationships/slide" Target="slides/slide39.xml" /><Relationship Id="rId2" Type="http://schemas.openxmlformats.org/officeDocument/2006/relationships/slide" Target="slides/slide2.xml" /><Relationship Id="rId44" Type="http://schemas.openxmlformats.org/officeDocument/2006/relationships/notesMaster" Target="notesMasters/notesMaster1.xml" /><Relationship Id="rId37" Type="http://schemas.openxmlformats.org/officeDocument/2006/relationships/slide" Target="slides/slide37.xml" /><Relationship Id="rId20" Type="http://schemas.openxmlformats.org/officeDocument/2006/relationships/slide" Target="slides/slide20.xml" /><Relationship Id="rId25" Type="http://schemas.openxmlformats.org/officeDocument/2006/relationships/slide" Target="slides/slide25.xml" /><Relationship Id="rId21" Type="http://schemas.openxmlformats.org/officeDocument/2006/relationships/slide" Target="slides/slide21.xml" /><Relationship Id="rId22" Type="http://schemas.openxmlformats.org/officeDocument/2006/relationships/slide" Target="slides/slide22.xml" /><Relationship Id="rId45" Type="http://schemas.openxmlformats.org/officeDocument/2006/relationships/presProps" Target="presProps.xml" /><Relationship Id="rId24" Type="http://schemas.openxmlformats.org/officeDocument/2006/relationships/slide" Target="slides/slide24.xml" /><Relationship Id="rId26" Type="http://schemas.openxmlformats.org/officeDocument/2006/relationships/slide" Target="slides/slide26.xml" /><Relationship Id="rId27" Type="http://schemas.openxmlformats.org/officeDocument/2006/relationships/slide" Target="slides/slide27.xml" /><Relationship Id="rId28" Type="http://schemas.openxmlformats.org/officeDocument/2006/relationships/slide" Target="slides/slide28.xml" /><Relationship Id="rId9" Type="http://schemas.openxmlformats.org/officeDocument/2006/relationships/slide" Target="slides/slide9.xml" /><Relationship Id="rId29" Type="http://schemas.openxmlformats.org/officeDocument/2006/relationships/slide" Target="slides/slide29.xml" /><Relationship Id="rId30" Type="http://schemas.openxmlformats.org/officeDocument/2006/relationships/slide" Target="slides/slide30.xml" /><Relationship Id="rId31" Type="http://schemas.openxmlformats.org/officeDocument/2006/relationships/slide" Target="slides/slide31.xml" /><Relationship Id="rId32" Type="http://schemas.openxmlformats.org/officeDocument/2006/relationships/slide" Target="slides/slide32.xml" /><Relationship Id="rId34" Type="http://schemas.openxmlformats.org/officeDocument/2006/relationships/slide" Target="slides/slide34.xml" /><Relationship Id="rId35" Type="http://schemas.openxmlformats.org/officeDocument/2006/relationships/slide" Target="slides/slide35.xml" /><Relationship Id="rId36" Type="http://schemas.openxmlformats.org/officeDocument/2006/relationships/slide" Target="slides/slide36.xml" /><Relationship Id="rId38" Type="http://schemas.openxmlformats.org/officeDocument/2006/relationships/slide" Target="slides/slide38.xml" /><Relationship Id="rId4" Type="http://schemas.openxmlformats.org/officeDocument/2006/relationships/slide" Target="slides/slide4.xml" /><Relationship Id="rId40" Type="http://schemas.openxmlformats.org/officeDocument/2006/relationships/slide" Target="slides/slide40.xml" /><Relationship Id="rId8" Type="http://schemas.openxmlformats.org/officeDocument/2006/relationships/slide" Target="slides/slide8.xml" /><Relationship Id="rId42" Type="http://schemas.openxmlformats.org/officeDocument/2006/relationships/slide" Target="slides/slide42.xml" /><Relationship Id="rId43" Type="http://schemas.openxmlformats.org/officeDocument/2006/relationships/slide" Target="slides/slide43.xml" /><Relationship Id="rId46" Type="http://schemas.openxmlformats.org/officeDocument/2006/relationships/tableStyles" Target="tableStyles.xml" /><Relationship Id="rId47" Type="http://schemas.openxmlformats.org/officeDocument/2006/relationships/viewProps" Target="viewProps.xml" /><Relationship Id="rId6" Type="http://schemas.openxmlformats.org/officeDocument/2006/relationships/slide" Target="slides/slide6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svg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.svg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4.svg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image" Target="media/image15.svg" /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.svg" 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image" Target="media/image3.svg" /><Relationship Id="rId0" Type="http://schemas.openxmlformats.org/officeDocument/2006/relationships/slideLayout" Target="../slideLayouts/slideLayout1.xml" /></Relationships>
</file>

<file path=ppt/slides/_rels/slide1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image" Target="media/image4.svg" /><Relationship Id="rId0" Type="http://schemas.openxmlformats.org/officeDocument/2006/relationships/slideLayout" Target="../slideLayouts/slideLayout1.xml" /><Relationship Id="rId3" Type="http://schemas.openxmlformats.org/officeDocument/2006/relationships/image" Target="media/image6.svg" /><Relationship Id="rId2" Type="http://schemas.openxmlformats.org/officeDocument/2006/relationships/image" Target="media/image5.svg" 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image" Target="media/image7.svg" /><Relationship Id="rId0" Type="http://schemas.openxmlformats.org/officeDocument/2006/relationships/slideLayout" Target="../slideLayouts/slideLayout1.xml" /></Relationships>
</file>

<file path=ppt/slides/_rels/slide2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3" Type="http://schemas.openxmlformats.org/officeDocument/2006/relationships/image" Target="media/image10.svg" /><Relationship Id="rId1" Type="http://schemas.openxmlformats.org/officeDocument/2006/relationships/image" Target="media/image8.svg" /><Relationship Id="rId2" Type="http://schemas.openxmlformats.org/officeDocument/2006/relationships/image" Target="media/image9.svg" /></Relationships>
</file>

<file path=ppt/slides/_rels/slide2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image" Target="media/image8.svg" /><Relationship Id="rId0" Type="http://schemas.openxmlformats.org/officeDocument/2006/relationships/slideLayout" Target="../slideLayouts/slideLayout1.xml" /><Relationship Id="rId2" Type="http://schemas.openxmlformats.org/officeDocument/2006/relationships/image" Target="media/image9.svg" /><Relationship Id="rId3" Type="http://schemas.openxmlformats.org/officeDocument/2006/relationships/image" Target="media/image10.svg" /></Relationships>
</file>

<file path=ppt/slides/_rels/slide2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1.svg" /></Relationships>
</file>

<file path=ppt/slides/_rels/slide3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.svg" /></Relationships>
</file>

<file path=ppt/slides/_rels/slide3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4.xml.rels><?xml version="1.0" encoding="UTF-8" standalone="yes"?><Relationships xmlns="http://schemas.openxmlformats.org/package/2006/relationships"><Relationship Id="rId1" Type="http://schemas.openxmlformats.org/officeDocument/2006/relationships/image" Target="media/image12.svg" /><Relationship Id="rId0" Type="http://schemas.openxmlformats.org/officeDocument/2006/relationships/slideLayout" Target="../slideLayouts/slideLayout1.xml" /></Relationships>
</file>

<file path=ppt/slides/_rels/slide3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.svg" /></Relationships>
</file>

<file path=ppt/slides/_rels/slide3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3.svg" /></Relationships>
</file>

<file path=ppt/slides/slide1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" name="" descr="&lt;Slide style={{ padding: 0, position: 'relative', background: 'linear-gradient(120deg, #FFFFFF 0%, #F4F6FB 52%, #E4ECF9 100%)' }}&gt;&#10;    {/* 右侧节点网络主视觉 */}&#10;    &lt;Box style={{ position: 'absolute', top: 0, right: 0, width: 620, height: 720 }}&gt;&#10;        &lt;svg width={620} height={720} viewBox='0 0 620 720'&gt;&#10;            &lt;g stroke='#C7D6F5' strokeWidth='1' opacity='0.9'&gt;&#10;                &lt;line x1='120' y1='150' x2='290' y1='110' /&gt;&#10;                &lt;line x1='120' y1='150' x2='280' y1='260' /&gt;&#10;                &lt;line x1='290' y1='110' x2='450' y1='180' /&gt;&#10;                &lt;line x1='290' y1='110' x2='420' y1='60' /&gt;&#10;                &lt;line x1='280' y1='260' x2='450' y1='180' /&gt;&#10;                &lt;line x1='280' y1='260' x2='380' y1='400' /&gt;&#10;                &lt;line x1='450' y1='180' x2='560' y1='100' /&gt;&#10;                &lt;line x1='450' y1='180' x2='540' y1='300' /&gt;&#10;                &lt;line x1='380' y1='400' x2='540' y1='300' /&gt;&#10;                &lt;line x1='380' y1='400' x2='250' y1='490' /&gt;&#10;                &lt;line x1='250' y1='490' x2='430' y1='580' /&gt;&#10;                &lt;line x1='430' y1='580' x2='540' y1='300' /&gt;&#10;                &lt;line x1='430' y1='580' x2='520' y1='660' /&gt;&#10;                &lt;line x1='560' y1='100' x2='540' y1='300' /&gt;&#10;            &lt;/g&gt;&#10;            &lt;circle cx='120' cy='150' r='9' fill='#0891B2' /&gt;&#10;            &lt;circle cx='290' cy='110' r='6' fill='#93C5FD' /&gt;&#10;            &lt;circle cx='420' cy='60' r='5' fill='#93C5FD' /&gt;&#10;            &lt;circle cx='450' cy='180' r='14' fill='#2563EB' /&gt;&#10;            &lt;circle cx='560' cy='100' r='6' fill='#93C5FD' /&gt;&#10;            &lt;circle cx='280' cy='260' r='9' fill='#0891B2' opacity='0.85' /&gt;&#10;            &lt;circle cx='540' cy='300' r='11' fill='#2563EB' /&gt;&#10;            &lt;circle cx='380' cy='400' r='18' fill='#F59E0B' /&gt;&#10;            &lt;circle cx='250' cy='490' r='7' fill='#93C5FD' /&gt;&#10;            &lt;circle cx='430' cy='580' r='10' fill='#0891B2' opacity='0.85' /&gt;&#10;            &lt;circle cx='520' cy='660' r='7' fill='#93C5FD' /&gt;&#10;        &lt;/svg&gt;&#10;    &lt;/Box&gt;&#10;&#10;    {/* 主文本区 */}&#10;    &lt;Box style={{ position: 'absolute', left: 92, top: 172, width: 560 }}&gt;&#10;        &lt;Box style={{ width: 72, height: 6, borderRadius: 3, background: '#F59E0B', marginBottom: 34 }} /&gt;&#10;        &lt;Text style={{ fontSize: 30, fontWeight: '600', color: '#2563EB', letterSpacing: 6, marginBottom: 22 }}&gt;&#10;            YDSZ WORKER&#10;        &lt;/Text&gt;&#10;        &lt;Text style={{ fontSize: 66, fontWeight: 'bold', color: '#1E293B', lineHeight: 1.15 }}&gt;&#10;            云顶数字工作台&#10;        &lt;/Text&gt;&#10;        &lt;Text style={{ fontSize: 30, color: '#334155', marginTop: 26, lineHeight: 1.4 }}&gt;&#10;            会思考，会干活，陪企业成长的智能伙伴&#10;        &lt;/Text&gt;&#10;        &lt;Box style={{ width: 420, height: 1, background: '#C7D6F5', marginTop: 30 }} /&gt;&#10;        &lt;Text style={{ fontSize: 24, color: '#475569', marginTop: 24, lineHeight: 1.4 }}&gt;&#10;            业务版产品介绍 · 面向管理层与业务团队&#10;        &lt;/Text&gt;&#10;    &lt;/Box&gt;&#10;&#10;    {/* 信息层 */}&#10;    &lt;Box style={{ position: 'absolute', left: 92, bottom: 64 }}&gt;&#10;        &lt;Text style={{ fontSize: 16, color: '#64748B' }}&gt;&#10;            2026 年 10 月&#10;        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52000">
                <a:srgbClr val="F4F6FB"/>
              </a:gs>
              <a:gs pos="100000">
                <a:srgbClr val="E4ECF9"/>
              </a:gs>
            </a:gsLst>
            <a:lin ang="1800000" scaled="1"/>
          </a:gradFill>
          <a:ln/>
        </p:spPr>
        <p:txBody>
          <a:bodyPr/>
          <a:p/>
        </p:txBody>
      </p:sp>
      <p:pic>
        <p:nvPicPr>
          <p:cNvPr id="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286500" y="0"/>
            <a:ext cx="5905500" cy="6858000"/>
          </a:xfrm>
          <a:prstGeom prst="rect">
            <a:avLst/>
          </a:prstGeom>
          <a:ln/>
        </p:spPr>
      </p:pic>
      <p:sp>
        <p:nvSpPr>
          <p:cNvPr id="4" name=""/>
          <p:cNvSpPr/>
          <p:nvPr/>
        </p:nvSpPr>
        <p:spPr>
          <a:xfrm rot="0" flipH="0" flipV="0">
            <a:off x="876300" y="1638300"/>
            <a:ext cx="685800" cy="5715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876300" y="2019300"/>
            <a:ext cx="53340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 spc="450">
                <a:solidFill>
                  <a:srgbClr val="2563EB"/>
                </a:solidFill>
                <a:latin typeface="Microsoft YaHei"/>
                <a:ea typeface="Microsoft YaHei"/>
              </a:rPr>
              <a:t>YDSZ WORKER</a:t>
            </a:r>
            <a:endParaRPr/>
          </a:p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876300" y="2571750"/>
            <a:ext cx="5334000" cy="87630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950" b="1">
                <a:solidFill>
                  <a:srgbClr val="1E293B"/>
                </a:solidFill>
                <a:latin typeface="Microsoft YaHei"/>
                <a:ea typeface="Microsoft YaHei"/>
              </a:rPr>
              <a:t>云顶数字工作台</a:t>
            </a:r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876300" y="3695700"/>
            <a:ext cx="5334000" cy="4857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2250">
                <a:solidFill>
                  <a:srgbClr val="334155"/>
                </a:solidFill>
                <a:latin typeface="Microsoft YaHei"/>
                <a:ea typeface="Microsoft YaHei"/>
              </a:rPr>
              <a:t>会思考，会干活，陪企业成长的智能伙伴</a:t>
            </a:r>
            <a:endParaRPr/>
          </a:p>
        </p:txBody>
      </p:sp>
      <p:sp>
        <p:nvSpPr>
          <p:cNvPr id="8" name=""/>
          <p:cNvSpPr/>
          <p:nvPr/>
        </p:nvSpPr>
        <p:spPr>
          <a:xfrm rot="0" flipH="0" flipV="0">
            <a:off x="876300" y="4467225"/>
            <a:ext cx="4000500" cy="9525"/>
          </a:xfrm>
          <a:prstGeom prst="rect">
            <a:avLst/>
          </a:prstGeom>
          <a:solidFill>
            <a:srgbClr val="C7D6F5"/>
          </a:solidFill>
          <a:ln/>
        </p:spPr>
        <p:txBody>
          <a:bodyPr/>
          <a:p/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876300" y="4705350"/>
            <a:ext cx="5334000" cy="3905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800">
                <a:solidFill>
                  <a:srgbClr val="475569"/>
                </a:solidFill>
                <a:latin typeface="Microsoft YaHei"/>
                <a:ea typeface="Microsoft YaHei"/>
              </a:rPr>
              <a:t>业务版产品介绍</a:t>
            </a:r>
            <a:r>
              <a:rPr lang="en-US" sz="1800">
                <a:solidFill>
                  <a:srgbClr val="47556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800">
                <a:solidFill>
                  <a:srgbClr val="475569"/>
                </a:solidFill>
                <a:latin typeface="Microsoft YaHei"/>
                <a:ea typeface="Microsoft YaHei"/>
              </a:rPr>
              <a:t>面向管理层与业务团队</a:t>
            </a:r>
            <a:endParaRPr/>
          </a:p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876300" y="6057900"/>
            <a:ext cx="9810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 xml:space="preserve">2026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年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 xml:space="preserve"> 10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月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276" name="" descr="&lt;Slide style={{ padding: 60, background: '#FFFFFF' }}&gt;&#10;    &lt;Box style={{ height: 600 }}&gt;&#10;        &lt;Box style={{ height: 20, flexDirection: 'row', justifyContent: 'space-between', alignItems: 'center' }}&gt;&#10;            &lt;Text style={{ fontSize: 14, color: '#94A3B8', letterSpacing: 2 }}&gt;执行摘要 · OVERVIEW&lt;/Text&gt;&#10;            &lt;Box style={{ width: 44, height: 4, borderRadius: 2, background: '#2563EB' }} /&gt;&#10;        &lt;/Box&gt;&#10;        &lt;Text style={{ fontSize: 34, fontWeight: 'bold', color: '#1E293B', marginTop: 16, lineHeight: 1.2 }}&gt;&#10;            一页看懂：把 AI 从「问答工具」变成「能干活的数字员工」&#10;        &lt;/Text&gt;&#10;        &lt;Box style={{ height: 1, background: '#E2E8F0', marginTop: 16 }} /&gt;&#10;&#10;        &lt;Box style={{ flex: 1, marginTop: 20, flexDirection: 'row', gap: 28 }}&gt;&#10;            {/* 左：定位宣言 */}&#10;            &lt;Box style={{ width: 440 }}&gt;&#10;                &lt;Box style={{ background: '#F4F6FB', borderRadius: 12, padding: 24 }}&gt;&#10;                    &lt;Text style={{ fontSize: 22, fontWeight: '600', color: '#1E293B', lineHeight: 1.3 }}&gt;&#10;                        云顶数字工作台是企业自有的数字员工工作台&#10;                    &lt;/Text&gt;&#10;                    &lt;Text style={{ fontSize: 18, color: '#475569', lineHeight: 1.5, marginTop: 14 }}&gt;&#10;                        私有化部署在自己的机器上，让 AI 读懂公司知识、真的动手做事，并且每一步都可控可查。&#10;                    &lt;/Text&gt;&#10;                    &lt;Box style={{ height: 1, background: '#E2E8F0', marginTop: 16 }} /&gt;&#10;                    &lt;Box style={{ marginTop: 14, gap: 8 }}&gt;&#10;                        &lt;Box style={{ height: 42, borderRadius: 8, background: '#E8EEFB', justifyContent: 'center', paddingLeft: 14 }}&gt;&#10;                            &lt;Text style={{ fontSize: 18, fontWeight: 'bold', color: '#2563EB' }}&gt;33 个岗位专家&lt;/Text&gt;&#10;                        &lt;/Box&gt;&#10;                        &lt;Box style={{ height: 42, borderRadius: 8, background: '#E8EEFB', justifyContent: 'center', paddingLeft: 14 }}&gt;&#10;                            &lt;Text style={{ fontSize: 18, fontWeight: 'bold', color: '#2563EB' }}&gt;10 个聊天入口&lt;/Text&gt;&#10;                        &lt;/Box&gt;&#10;                        &lt;Box style={{ height: 42, borderRadius: 8, background: '#FFF7E9', justifyContent: 'center', paddingLeft: 14 }}&gt;&#10;                            &lt;Text style={{ fontSize: 18, fontWeight: 'bold', color: '#B45309' }}&gt;47 个系统连接&lt;/Text&gt;&#10;                        &lt;/Box&gt;&#10;                    &lt;/Box&gt;&#10;                &lt;/Box&gt;&#10;            &lt;/Box&gt;&#10;&#10;            {/* 右：三个业务价值 */}&#10;            &lt;Box style={{ flex: 1, gap: 10 }}&gt;&#10;                &lt;Box style={{ height: 120, flexDirection: 'row', background: '#FFFFFF', borderWidth: 1, borderColor: '#C7D6F5', borderStyle: 'solid', borderRadius: 12, padding: 16 }}&gt;&#10;                    &lt;Box style={{ width: 52, height: 52, borderRadius: 26, background: '#2563EB', justifyContent: 'center', alignItems: 'center' }}&gt;&#10;                        &lt;Text style={{ fontSize: 22, fontWeight: 'bold', color: '#FFFFFF' }}&gt;省&lt;/Text&gt;&#10;                    &lt;/Box&gt;&#10;                    &lt;Box style={{ flex: 1, marginLeft: 14 }}&gt;&#10;                        &lt;Text style={{ fontSize: 22, fontWeight: '600', color: '#1E293B', lineHeight: 1.3 }}&gt;重复工作自动化，人力用在刀刃上&lt;/Text&gt;&#10;                        &lt;Text style={{ fontSize: 18, color: '#475569', lineHeight: 1.5, marginTop: 4 }}&gt;日报周报、数据汇总、批量填报这类「该做但没人爱做」的事，交给定时任务到点自动完成。&lt;/Text&gt;&#10;                    &lt;/Box&gt;&#10;                &lt;/Box&gt;&#10;                &lt;Box style={{ height: 120, flexDirection: 'row', background: '#FFFFFF', borderWidth: 1, borderColor: '#C7D6F5', borderStyle: 'solid', borderRadius: 12, padding: 16 }}&gt;&#10;                    &lt;Box style={{ width: 52, height: 52, borderRadius: 26, background: '#0891B2', justifyContent: 'center', alignItems: 'center' }}&gt;&#10;                        &lt;Text style={{ fontSize: 22, fontWeight: 'bold', color: '#FFFFFF' }}&gt;快&lt;/Text&gt;&#10;                    &lt;/Box&gt;&#10;                    &lt;Box style={{ flex: 1, marginLeft: 14 }}&gt;&#10;                        &lt;Text style={{ fontSize: 22, fontWeight: '600', color: '#1E293B', lineHeight: 1.3 }}&gt;知识随问随答，答案带得出出处&lt;/Text&gt;&#10;                        &lt;Text style={{ fontSize: 18, color: '#475569', lineHeight: 1.5, marginTop: 4 }}&gt;制度、合同、案例入库后随时提问，回答可回溯到原文，新人也能给出统一口径。&lt;/Text&gt;&#10;                    &lt;/Box&gt;&#10;                &lt;/Box&gt;&#10;                &lt;Box style={{ height: 120, flexDirection: 'row', background: '#FFFFFF', borderWidth: 1, borderColor: '#C7D6F5', borderStyle: 'solid', borderRadius: 12, padding: 16 }}&gt;&#10;                    &lt;Box style={{ width: 52, height: 52, borderRadius: 26, background: '#F59E0B', justifyContent: 'center', alignItems: 'center' }}&gt;&#10;                        &lt;Text style={{ fontSize: 22, fontWeight: 'bold', color: '#FFFFFF' }}&gt;稳&lt;/Text&gt;&#10;                    &lt;/Box&gt;&#10;                    &lt;Box style={{ flex: 1, marginLeft: 14 }}&gt;&#10;                        &lt;Text style={{ fontSize: 22, fontWeight: '600', color: '#1E293B', lineHeight: 1.3 }}&gt;数据不出内网，动作先过审批&lt;/Text&gt;&#10;                        &lt;Text style={{ fontSize: 18, color: '#475569', lineHeight: 1.5, marginTop: 4 }}&gt;系统部署在自己机器上，越界动作由人拍板，全过程留痕可回放，合规拿得出证据。&lt;/Text&gt;&#10;                    &lt;/Box&gt;&#10;                &lt;/Box&gt;&#10;            &lt;/Box&gt;&#10;        &lt;/Box&gt;&#10;&#10;        {/* 行动建议条 */}&#10;        &lt;Box style={{ height: 88, background: '#FFF7E9', borderRadius: 10, padding: 14, marginTop: 12 }}&gt;&#10;            &lt;Text style={{ fontSize: 19, fontWeight: '600', color: '#B45309', lineHeight: 1.3 }}&gt;行动建议&lt;/Text&gt;&#10;            &lt;Text style={{ fontSize: 18, color: '#7C2D12', lineHeight: 1.5, marginTop: 4 }}&gt;&#10;                从 1 个真实业务场景开始，用 30 天试点验证效果，再决定是否扩大到全公司。&#10;            &lt;/Text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78" name="" descr="{&quot;isTemplate&quot;:true,&quot;type&quot;:&quot;text&quot;}"/>
          <p:cNvSpPr txBox="1"/>
          <p:nvPr/>
        </p:nvSpPr>
        <p:spPr>
          <a:xfrm rot="0" flipH="0" flipV="0">
            <a:off x="571500" y="590550"/>
            <a:ext cx="1628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150">
                <a:solidFill>
                  <a:srgbClr val="94A3B8"/>
                </a:solidFill>
                <a:latin typeface="Microsoft YaHei"/>
                <a:ea typeface="Microsoft YaHei"/>
              </a:rPr>
              <a:t>执行摘要</a:t>
            </a:r>
            <a:r>
              <a:rPr lang="en-US" sz="1050" spc="150">
                <a:solidFill>
                  <a:srgbClr val="94A3B8"/>
                </a:solidFill>
                <a:latin typeface="Microsoft YaHei"/>
                <a:ea typeface="Microsoft YaHei"/>
              </a:rPr>
              <a:t xml:space="preserve"> · OVERVIEW</a:t>
            </a:r>
            <a:endParaRPr/>
          </a:p>
        </p:txBody>
      </p:sp>
      <p:sp>
        <p:nvSpPr>
          <p:cNvPr id="279" name=""/>
          <p:cNvSpPr/>
          <p:nvPr/>
        </p:nvSpPr>
        <p:spPr>
          <a:xfrm rot="0" flipH="0" flipV="0">
            <a:off x="11201400" y="647700"/>
            <a:ext cx="419100" cy="38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280" name="" descr="{&quot;isTemplate&quot;:true,&quot;type&quot;:&quot;text&quot;}"/>
          <p:cNvSpPr txBox="1"/>
          <p:nvPr/>
        </p:nvSpPr>
        <p:spPr>
          <a:xfrm rot="0" flipH="0" flipV="0">
            <a:off x="571500" y="914400"/>
            <a:ext cx="110490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E293B"/>
                </a:solidFill>
                <a:latin typeface="Microsoft YaHei"/>
                <a:ea typeface="Microsoft YaHei"/>
              </a:rPr>
              <a:t>一页看懂：把</a:t>
            </a:r>
            <a:r>
              <a:rPr lang="en-US" sz="2550" b="1">
                <a:solidFill>
                  <a:srgbClr val="1E293B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2550" b="1">
                <a:solidFill>
                  <a:srgbClr val="1E293B"/>
                </a:solidFill>
                <a:latin typeface="Microsoft YaHei"/>
                <a:ea typeface="Microsoft YaHei"/>
              </a:rPr>
              <a:t>从「问答工具」变成「能干活的数字员工」</a:t>
            </a:r>
            <a:endParaRPr/>
          </a:p>
        </p:txBody>
      </p:sp>
      <p:sp>
        <p:nvSpPr>
          <p:cNvPr id="281" name=""/>
          <p:cNvSpPr/>
          <p:nvPr/>
        </p:nvSpPr>
        <p:spPr>
          <a:xfrm rot="0" flipH="0" flipV="0">
            <a:off x="571500" y="1533525"/>
            <a:ext cx="1104900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282" name=""/>
          <p:cNvSpPr/>
          <p:nvPr/>
        </p:nvSpPr>
        <p:spPr>
          <a:xfrm rot="0" flipH="0" flipV="0">
            <a:off x="571500" y="1733550"/>
            <a:ext cx="4191000" cy="3514725"/>
          </a:xfrm>
          <a:prstGeom prst="roundRect">
            <a:avLst>
              <a:gd name="adj" fmla="val 3252"/>
            </a:avLst>
          </a:prstGeom>
          <a:solidFill>
            <a:srgbClr val="F4F6FB"/>
          </a:solidFill>
          <a:ln/>
        </p:spPr>
        <p:txBody>
          <a:bodyPr/>
          <a:p/>
        </p:txBody>
      </p:sp>
      <p:sp>
        <p:nvSpPr>
          <p:cNvPr id="283" name="" descr="{&quot;isTemplate&quot;:true,&quot;type&quot;:&quot;text&quot;}"/>
          <p:cNvSpPr txBox="1"/>
          <p:nvPr/>
        </p:nvSpPr>
        <p:spPr>
          <a:xfrm rot="0" flipH="0" flipV="0">
            <a:off x="800100" y="1962150"/>
            <a:ext cx="3733800" cy="657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1E293B"/>
                </a:solidFill>
                <a:latin typeface="Microsoft YaHei"/>
                <a:ea typeface="Microsoft YaHei"/>
              </a:rPr>
              <a:t>云顶数字工作台是企业自有的数字员工工作台</a:t>
            </a:r>
            <a:endParaRPr/>
          </a:p>
        </p:txBody>
      </p:sp>
      <p:sp>
        <p:nvSpPr>
          <p:cNvPr id="284" name="" descr="{&quot;isTemplate&quot;:true,&quot;type&quot;:&quot;text&quot;}"/>
          <p:cNvSpPr txBox="1"/>
          <p:nvPr/>
        </p:nvSpPr>
        <p:spPr>
          <a:xfrm rot="0" flipH="0" flipV="0">
            <a:off x="800100" y="2752725"/>
            <a:ext cx="373380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私有化部署在自己的机器上，让</a:t>
            </a: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读懂公司知识、真的动手做事，并且每一步都可控可查。</a:t>
            </a:r>
            <a:endParaRPr/>
          </a:p>
        </p:txBody>
      </p:sp>
      <p:sp>
        <p:nvSpPr>
          <p:cNvPr id="285" name=""/>
          <p:cNvSpPr/>
          <p:nvPr/>
        </p:nvSpPr>
        <p:spPr>
          <a:xfrm rot="0" flipH="0" flipV="0">
            <a:off x="800100" y="3524250"/>
            <a:ext cx="373380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286" name=""/>
          <p:cNvSpPr/>
          <p:nvPr/>
        </p:nvSpPr>
        <p:spPr>
          <a:xfrm rot="0" flipH="0" flipV="0">
            <a:off x="800100" y="3667125"/>
            <a:ext cx="3733800" cy="400050"/>
          </a:xfrm>
          <a:prstGeom prst="roundRect">
            <a:avLst>
              <a:gd name="adj" fmla="val 19048"/>
            </a:avLst>
          </a:prstGeom>
          <a:solidFill>
            <a:srgbClr val="E8EEFB"/>
          </a:solidFill>
          <a:ln/>
        </p:spPr>
        <p:txBody>
          <a:bodyPr/>
          <a:p/>
        </p:txBody>
      </p:sp>
      <p:sp>
        <p:nvSpPr>
          <p:cNvPr id="287" name="" descr="{&quot;isTemplate&quot;:true,&quot;type&quot;:&quot;text&quot;}"/>
          <p:cNvSpPr txBox="1"/>
          <p:nvPr/>
        </p:nvSpPr>
        <p:spPr>
          <a:xfrm rot="0" flipH="0" flipV="0">
            <a:off x="933450" y="3762375"/>
            <a:ext cx="3600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2563EB"/>
                </a:solidFill>
                <a:latin typeface="Microsoft YaHei"/>
                <a:ea typeface="Microsoft YaHei"/>
              </a:rPr>
              <a:t xml:space="preserve">33 </a:t>
            </a:r>
            <a:r>
              <a:rPr lang="zh-CN" sz="1350" b="1">
                <a:solidFill>
                  <a:srgbClr val="2563EB"/>
                </a:solidFill>
                <a:latin typeface="Microsoft YaHei"/>
                <a:ea typeface="Microsoft YaHei"/>
              </a:rPr>
              <a:t>个岗位专家</a:t>
            </a:r>
            <a:endParaRPr/>
          </a:p>
        </p:txBody>
      </p:sp>
      <p:sp>
        <p:nvSpPr>
          <p:cNvPr id="288" name=""/>
          <p:cNvSpPr/>
          <p:nvPr/>
        </p:nvSpPr>
        <p:spPr>
          <a:xfrm rot="0" flipH="0" flipV="0">
            <a:off x="800100" y="4143375"/>
            <a:ext cx="3733800" cy="400050"/>
          </a:xfrm>
          <a:prstGeom prst="roundRect">
            <a:avLst>
              <a:gd name="adj" fmla="val 19048"/>
            </a:avLst>
          </a:prstGeom>
          <a:solidFill>
            <a:srgbClr val="E8EEFB"/>
          </a:solidFill>
          <a:ln/>
        </p:spPr>
        <p:txBody>
          <a:bodyPr/>
          <a:p/>
        </p:txBody>
      </p:sp>
      <p:sp>
        <p:nvSpPr>
          <p:cNvPr id="289" name="" descr="{&quot;isTemplate&quot;:true,&quot;type&quot;:&quot;text&quot;}"/>
          <p:cNvSpPr txBox="1"/>
          <p:nvPr/>
        </p:nvSpPr>
        <p:spPr>
          <a:xfrm rot="0" flipH="0" flipV="0">
            <a:off x="933450" y="4238625"/>
            <a:ext cx="3600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2563EB"/>
                </a:solidFill>
                <a:latin typeface="Microsoft YaHei"/>
                <a:ea typeface="Microsoft YaHei"/>
              </a:rPr>
              <a:t xml:space="preserve">10 </a:t>
            </a:r>
            <a:r>
              <a:rPr lang="zh-CN" sz="1350" b="1">
                <a:solidFill>
                  <a:srgbClr val="2563EB"/>
                </a:solidFill>
                <a:latin typeface="Microsoft YaHei"/>
                <a:ea typeface="Microsoft YaHei"/>
              </a:rPr>
              <a:t>个聊天入口</a:t>
            </a:r>
            <a:endParaRPr/>
          </a:p>
        </p:txBody>
      </p:sp>
      <p:sp>
        <p:nvSpPr>
          <p:cNvPr id="290" name=""/>
          <p:cNvSpPr/>
          <p:nvPr/>
        </p:nvSpPr>
        <p:spPr>
          <a:xfrm rot="0" flipH="0" flipV="0">
            <a:off x="800100" y="4619625"/>
            <a:ext cx="3733800" cy="400050"/>
          </a:xfrm>
          <a:prstGeom prst="roundRect">
            <a:avLst>
              <a:gd name="adj" fmla="val 19048"/>
            </a:avLst>
          </a:prstGeom>
          <a:solidFill>
            <a:srgbClr val="FFF7E9"/>
          </a:solidFill>
          <a:ln/>
        </p:spPr>
        <p:txBody>
          <a:bodyPr/>
          <a:p/>
        </p:txBody>
      </p:sp>
      <p:sp>
        <p:nvSpPr>
          <p:cNvPr id="291" name="" descr="{&quot;isTemplate&quot;:true,&quot;type&quot;:&quot;text&quot;}"/>
          <p:cNvSpPr txBox="1"/>
          <p:nvPr/>
        </p:nvSpPr>
        <p:spPr>
          <a:xfrm rot="0" flipH="0" flipV="0">
            <a:off x="933450" y="4714875"/>
            <a:ext cx="3600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B45309"/>
                </a:solidFill>
                <a:latin typeface="Microsoft YaHei"/>
                <a:ea typeface="Microsoft YaHei"/>
              </a:rPr>
              <a:t xml:space="preserve">47 </a:t>
            </a:r>
            <a:r>
              <a:rPr lang="zh-CN" sz="1350" b="1">
                <a:solidFill>
                  <a:srgbClr val="B45309"/>
                </a:solidFill>
                <a:latin typeface="Microsoft YaHei"/>
                <a:ea typeface="Microsoft YaHei"/>
              </a:rPr>
              <a:t>个系统连接</a:t>
            </a:r>
            <a:endParaRPr/>
          </a:p>
        </p:txBody>
      </p:sp>
      <p:sp>
        <p:nvSpPr>
          <p:cNvPr id="292" name=""/>
          <p:cNvSpPr/>
          <p:nvPr/>
        </p:nvSpPr>
        <p:spPr>
          <a:xfrm rot="0" flipH="0" flipV="0">
            <a:off x="5029200" y="1733550"/>
            <a:ext cx="6591300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D6F5"/>
            </a:solidFill>
            <a:prstDash val="solid"/>
          </a:ln>
        </p:spPr>
        <p:txBody>
          <a:bodyPr/>
          <a:p/>
        </p:txBody>
      </p:sp>
      <p:sp>
        <p:nvSpPr>
          <p:cNvPr id="293" name=""/>
          <p:cNvSpPr/>
          <p:nvPr/>
        </p:nvSpPr>
        <p:spPr>
          <a:xfrm rot="0" flipH="0" flipV="0">
            <a:off x="5181600" y="1885950"/>
            <a:ext cx="495300" cy="4953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294" name="" descr="{&quot;isTemplate&quot;:true,&quot;type&quot;:&quot;text&quot;}"/>
          <p:cNvSpPr txBox="1"/>
          <p:nvPr/>
        </p:nvSpPr>
        <p:spPr>
          <a:xfrm rot="0" flipH="0" flipV="0">
            <a:off x="5324475" y="2009775"/>
            <a:ext cx="2095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省</a:t>
            </a:r>
            <a:endParaRPr/>
          </a:p>
        </p:txBody>
      </p:sp>
      <p:sp>
        <p:nvSpPr>
          <p:cNvPr id="295" name="" descr="{&quot;isTemplate&quot;:true,&quot;type&quot;:&quot;text&quot;}"/>
          <p:cNvSpPr txBox="1"/>
          <p:nvPr/>
        </p:nvSpPr>
        <p:spPr>
          <a:xfrm rot="0" flipH="0" flipV="0">
            <a:off x="5810250" y="1885950"/>
            <a:ext cx="5657850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1E293B"/>
                </a:solidFill>
                <a:latin typeface="Microsoft YaHei"/>
                <a:ea typeface="Microsoft YaHei"/>
              </a:rPr>
              <a:t>重复工作自动化，人力用在刀刃上</a:t>
            </a:r>
            <a:endParaRPr/>
          </a:p>
        </p:txBody>
      </p:sp>
      <p:sp>
        <p:nvSpPr>
          <p:cNvPr id="296" name="" descr="{&quot;isTemplate&quot;:true,&quot;type&quot;:&quot;text&quot;}"/>
          <p:cNvSpPr txBox="1"/>
          <p:nvPr/>
        </p:nvSpPr>
        <p:spPr>
          <a:xfrm rot="0" flipH="0" flipV="0">
            <a:off x="5810250" y="2257425"/>
            <a:ext cx="565785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日报周报、数据汇总、批量填报这类「该做但没人爱做」的事，交给定时任务到点自动完成。</a:t>
            </a:r>
            <a:endParaRPr/>
          </a:p>
        </p:txBody>
      </p:sp>
      <p:sp>
        <p:nvSpPr>
          <p:cNvPr id="297" name=""/>
          <p:cNvSpPr/>
          <p:nvPr/>
        </p:nvSpPr>
        <p:spPr>
          <a:xfrm rot="0" flipH="0" flipV="0">
            <a:off x="5029200" y="2971800"/>
            <a:ext cx="6591300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D6F5"/>
            </a:solidFill>
            <a:prstDash val="solid"/>
          </a:ln>
        </p:spPr>
        <p:txBody>
          <a:bodyPr/>
          <a:p/>
        </p:txBody>
      </p:sp>
      <p:sp>
        <p:nvSpPr>
          <p:cNvPr id="298" name=""/>
          <p:cNvSpPr/>
          <p:nvPr/>
        </p:nvSpPr>
        <p:spPr>
          <a:xfrm rot="0" flipH="0" flipV="0">
            <a:off x="5181600" y="3124200"/>
            <a:ext cx="495300" cy="495300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/>
        </p:spPr>
        <p:txBody>
          <a:bodyPr/>
          <a:p/>
        </p:txBody>
      </p:sp>
      <p:sp>
        <p:nvSpPr>
          <p:cNvPr id="299" name="" descr="{&quot;isTemplate&quot;:true,&quot;type&quot;:&quot;text&quot;}"/>
          <p:cNvSpPr txBox="1"/>
          <p:nvPr/>
        </p:nvSpPr>
        <p:spPr>
          <a:xfrm rot="0" flipH="0" flipV="0">
            <a:off x="5324475" y="3248025"/>
            <a:ext cx="2095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快</a:t>
            </a:r>
            <a:endParaRPr/>
          </a:p>
        </p:txBody>
      </p:sp>
      <p:sp>
        <p:nvSpPr>
          <p:cNvPr id="300" name="" descr="{&quot;isTemplate&quot;:true,&quot;type&quot;:&quot;text&quot;}"/>
          <p:cNvSpPr txBox="1"/>
          <p:nvPr/>
        </p:nvSpPr>
        <p:spPr>
          <a:xfrm rot="0" flipH="0" flipV="0">
            <a:off x="5810250" y="3124200"/>
            <a:ext cx="5657850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1E293B"/>
                </a:solidFill>
                <a:latin typeface="Microsoft YaHei"/>
                <a:ea typeface="Microsoft YaHei"/>
              </a:rPr>
              <a:t>知识随问随答，答案带得出出处</a:t>
            </a:r>
            <a:endParaRPr/>
          </a:p>
        </p:txBody>
      </p:sp>
      <p:sp>
        <p:nvSpPr>
          <p:cNvPr id="301" name="" descr="{&quot;isTemplate&quot;:true,&quot;type&quot;:&quot;text&quot;}"/>
          <p:cNvSpPr txBox="1"/>
          <p:nvPr/>
        </p:nvSpPr>
        <p:spPr>
          <a:xfrm rot="0" flipH="0" flipV="0">
            <a:off x="5810250" y="3495675"/>
            <a:ext cx="565785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制度、合同、案例入库后随时提问，回答可回溯到原文，新人也能给出统一口径。</a:t>
            </a:r>
            <a:endParaRPr/>
          </a:p>
        </p:txBody>
      </p:sp>
      <p:sp>
        <p:nvSpPr>
          <p:cNvPr id="302" name=""/>
          <p:cNvSpPr/>
          <p:nvPr/>
        </p:nvSpPr>
        <p:spPr>
          <a:xfrm rot="0" flipH="0" flipV="0">
            <a:off x="5029200" y="4210050"/>
            <a:ext cx="6591300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D6F5"/>
            </a:solidFill>
            <a:prstDash val="solid"/>
          </a:ln>
        </p:spPr>
        <p:txBody>
          <a:bodyPr/>
          <a:p/>
        </p:txBody>
      </p:sp>
      <p:sp>
        <p:nvSpPr>
          <p:cNvPr id="303" name=""/>
          <p:cNvSpPr/>
          <p:nvPr/>
        </p:nvSpPr>
        <p:spPr>
          <a:xfrm rot="0" flipH="0" flipV="0">
            <a:off x="5181600" y="4362450"/>
            <a:ext cx="495300" cy="4953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304" name="" descr="{&quot;isTemplate&quot;:true,&quot;type&quot;:&quot;text&quot;}"/>
          <p:cNvSpPr txBox="1"/>
          <p:nvPr/>
        </p:nvSpPr>
        <p:spPr>
          <a:xfrm rot="0" flipH="0" flipV="0">
            <a:off x="5324475" y="4486275"/>
            <a:ext cx="2095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稳</a:t>
            </a:r>
            <a:endParaRPr/>
          </a:p>
        </p:txBody>
      </p:sp>
      <p:sp>
        <p:nvSpPr>
          <p:cNvPr id="305" name="" descr="{&quot;isTemplate&quot;:true,&quot;type&quot;:&quot;text&quot;}"/>
          <p:cNvSpPr txBox="1"/>
          <p:nvPr/>
        </p:nvSpPr>
        <p:spPr>
          <a:xfrm rot="0" flipH="0" flipV="0">
            <a:off x="5810250" y="4362450"/>
            <a:ext cx="5657850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1E293B"/>
                </a:solidFill>
                <a:latin typeface="Microsoft YaHei"/>
                <a:ea typeface="Microsoft YaHei"/>
              </a:rPr>
              <a:t>数据不出内网，动作先过审批</a:t>
            </a:r>
            <a:endParaRPr/>
          </a:p>
        </p:txBody>
      </p:sp>
      <p:sp>
        <p:nvSpPr>
          <p:cNvPr id="306" name="" descr="{&quot;isTemplate&quot;:true,&quot;type&quot;:&quot;text&quot;}"/>
          <p:cNvSpPr txBox="1"/>
          <p:nvPr/>
        </p:nvSpPr>
        <p:spPr>
          <a:xfrm rot="0" flipH="0" flipV="0">
            <a:off x="5810250" y="4733925"/>
            <a:ext cx="565785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系统部署在自己机器上，越界动作由人拍板，全过程留痕可回放，合规拿得出证据。</a:t>
            </a:r>
            <a:endParaRPr/>
          </a:p>
        </p:txBody>
      </p:sp>
      <p:sp>
        <p:nvSpPr>
          <p:cNvPr id="307" name=""/>
          <p:cNvSpPr/>
          <p:nvPr/>
        </p:nvSpPr>
        <p:spPr>
          <a:xfrm rot="0" flipH="0" flipV="0">
            <a:off x="571500" y="5467350"/>
            <a:ext cx="11049000" cy="838200"/>
          </a:xfrm>
          <a:prstGeom prst="roundRect">
            <a:avLst>
              <a:gd name="adj" fmla="val 11364"/>
            </a:avLst>
          </a:prstGeom>
          <a:solidFill>
            <a:srgbClr val="FFF7E9"/>
          </a:solidFill>
          <a:ln/>
        </p:spPr>
        <p:txBody>
          <a:bodyPr/>
          <a:p/>
        </p:txBody>
      </p:sp>
      <p:sp>
        <p:nvSpPr>
          <p:cNvPr id="308" name="" descr="{&quot;isTemplate&quot;:true,&quot;type&quot;:&quot;text&quot;}"/>
          <p:cNvSpPr txBox="1"/>
          <p:nvPr/>
        </p:nvSpPr>
        <p:spPr>
          <a:xfrm rot="0" flipH="0" flipV="0">
            <a:off x="704850" y="5600700"/>
            <a:ext cx="10782300" cy="2857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425" b="1">
                <a:solidFill>
                  <a:srgbClr val="B45309"/>
                </a:solidFill>
                <a:latin typeface="Microsoft YaHei"/>
                <a:ea typeface="Microsoft YaHei"/>
              </a:rPr>
              <a:t>行动建议</a:t>
            </a:r>
            <a:endParaRPr/>
          </a:p>
        </p:txBody>
      </p:sp>
      <p:sp>
        <p:nvSpPr>
          <p:cNvPr id="309" name="" descr="{&quot;isTemplate&quot;:true,&quot;type&quot;:&quot;text&quot;}"/>
          <p:cNvSpPr txBox="1"/>
          <p:nvPr/>
        </p:nvSpPr>
        <p:spPr>
          <a:xfrm rot="0" flipH="0" flipV="0">
            <a:off x="704850" y="5924550"/>
            <a:ext cx="107823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7C2D12"/>
                </a:solidFill>
                <a:latin typeface="Microsoft YaHei"/>
                <a:ea typeface="Microsoft YaHei"/>
              </a:rPr>
              <a:t>从</a:t>
            </a:r>
            <a:r>
              <a:rPr lang="en-US" sz="1350">
                <a:solidFill>
                  <a:srgbClr val="7C2D12"/>
                </a:solidFill>
                <a:latin typeface="Microsoft YaHei"/>
                <a:ea typeface="Microsoft YaHei"/>
              </a:rPr>
              <a:t xml:space="preserve"> 1 </a:t>
            </a:r>
            <a:r>
              <a:rPr lang="zh-CN" sz="1350">
                <a:solidFill>
                  <a:srgbClr val="7C2D12"/>
                </a:solidFill>
                <a:latin typeface="Microsoft YaHei"/>
                <a:ea typeface="Microsoft YaHei"/>
              </a:rPr>
              <a:t>个真实业务场景开始，用</a:t>
            </a:r>
            <a:r>
              <a:rPr lang="en-US" sz="1350">
                <a:solidFill>
                  <a:srgbClr val="7C2D12"/>
                </a:solidFill>
                <a:latin typeface="Microsoft YaHei"/>
                <a:ea typeface="Microsoft YaHei"/>
              </a:rPr>
              <a:t xml:space="preserve"> 30 </a:t>
            </a:r>
            <a:r>
              <a:rPr lang="zh-CN" sz="1350">
                <a:solidFill>
                  <a:srgbClr val="7C2D12"/>
                </a:solidFill>
                <a:latin typeface="Microsoft YaHei"/>
                <a:ea typeface="Microsoft YaHei"/>
              </a:rPr>
              <a:t>天试点验证效果，再决定是否扩大到全公司。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617" name="" descr="&lt;Slide style={{ padding: 60, background: '#FFFFFF' }}&gt;&#13;&#10;    &lt;Box style={{ height: 600, flexDirection: 'row' }}&gt;&#13;&#10;        {/* 左侧标题区 */}&#13;&#10;        &lt;Box style={{ width: 400 }}&gt;&#13;&#10;            &lt;Box style={{ width: 72, height: 6, borderRadius: 3, background: '#2563EB' }} /&gt;&#13;&#10;            &lt;Text style={{ fontSize: 64, fontWeight: 'bold', color: '#1E293B', marginTop: 30, lineHeight: 1.15 }}&gt;&#13;&#10;                目录&#13;&#10;            &lt;/Text&gt;&#13;&#10;            &lt;Text style={{ fontSize: 18, color: '#94A3B8', letterSpacing: 6, marginTop: 18 }}&gt;&#13;&#10;                CONTENTS&#13;&#10;            &lt;/Text&gt;&#13;&#10;            &lt;Box style={{ width: 300, height: 1, background: '#E2E8F0', marginTop: 40 }} /&gt;&#13;&#10;        &lt;/Box&gt;&#13;&#10;&#13;&#10;        {/* 右侧章节清单 */}&#13;&#10;        &lt;Box style={{ width: 720, marginLeft: 40 }}&gt;&#13;&#10;            &lt;Box style={{ height: 130, flexDirection: 'row', alignItems: 'center', borderBottomWidth: 1, borderBottomColor: '#E2E8F0', borderBottomStyle: 'solid' }}&gt;&#13;&#10;                &lt;Text style={{ width: 90, fontSize: 32, fontWeight: 'bold', color: '#2563EB' }}&gt;01&lt;/Text&gt;&#13;&#10;                &lt;Text style={{ flex: 1, fontSize: 26, fontWeight: '600', color: '#1E293B' }}&gt;为什么需要&lt;/Text&gt;&#13;&#10;                &lt;Text style={{ width: 70, fontSize: 16, color: '#64748B', textAlign: 'right' }}&gt;P 4&lt;/Text&gt;&#13;&#10;            &lt;/Box&gt;&#13;&#10;            &lt;Box style={{ height: 130, flexDirection: 'row', alignItems: 'center', borderBottomWidth: 1, borderBottomColor: '#E2E8F0', borderBottomStyle: 'solid' }}&gt;&#13;&#10;                &lt;Text style={{ width: 90, fontSize: 32, fontWeight: 'bold', color: '#2563EB' }}&gt;02&lt;/Text&gt;&#13;&#10;                &lt;Text style={{ flex: 1, fontSize: 26, fontWeight: '600', color: '#1E293B' }}&gt;业务怎么用&lt;/Text&gt;&#13;&#10;                &lt;Text style={{ width: 70, fontSize: 16, color: '#64748B', textAlign: 'right' }}&gt;P 12&lt;/Text&gt;&#13;&#10;            &lt;/Box&gt;&#13;&#10;            &lt;Box style={{ height: 130, flexDirection: 'row', alignItems: 'center', borderBottomWidth: 1, borderBottomColor: '#E2E8F0', borderBottomStyle: 'solid' }}&gt;&#13;&#10;                &lt;Text style={{ width: 90, fontSize: 32, fontWeight: 'bold', color: '#2563EB' }}&gt;03&lt;/Text&gt;&#13;&#10;                &lt;Text style={{ flex: 1, fontSize: 26, fontWeight: '600', color: '#1E293B' }}&gt;为什么放心&lt;/Text&gt;&#13;&#10;                &lt;Text style={{ width: 70, fontSize: 16, color: '#64748B', textAlign: 'right' }}&gt;P 31&lt;/Text&gt;&#13;&#10;            &lt;/Box&gt;&#13;&#10;            &lt;Box style={{ height: 130, flexDirection: 'row', alignItems: 'center', borderBottomWidth: 1, borderBottomColor: '#E2E8F0', borderBottomStyle: 'solid' }}&gt;&#13;&#10;                &lt;Text style={{ width: 90, fontSize: 32, fontWeight: 'bold', color: '#2563EB' }}&gt;04&lt;/Text&gt;&#13;&#10;                &lt;Text style={{ flex: 1, fontSize: 26, fontWeight: '600', color: '#1E293B' }}&gt;怎么开始&lt;/Text&gt;&#13;&#10;                &lt;Text style={{ width: 70, fontSize: 16, color: '#64748B', textAlign: 'right' }}&gt;P 37&lt;/Text&gt;&#13;&#10;            &lt;/Box&gt;&#13;&#10;        &lt;/Box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19" name=""/>
          <p:cNvSpPr/>
          <p:nvPr/>
        </p:nvSpPr>
        <p:spPr>
          <a:xfrm rot="0" flipH="0" flipV="0">
            <a:off x="571500" y="571500"/>
            <a:ext cx="685800" cy="571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620" name="" descr="{&quot;isTemplate&quot;:true,&quot;type&quot;:&quot;text&quot;}"/>
          <p:cNvSpPr txBox="1"/>
          <p:nvPr/>
        </p:nvSpPr>
        <p:spPr>
          <a:xfrm rot="0" flipH="0" flipV="0">
            <a:off x="571500" y="914400"/>
            <a:ext cx="3810000" cy="847725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800" b="1">
                <a:solidFill>
                  <a:srgbClr val="1E293B"/>
                </a:solidFill>
                <a:latin typeface="Microsoft YaHei"/>
                <a:ea typeface="Microsoft YaHei"/>
              </a:rPr>
              <a:t>目录</a:t>
            </a:r>
            <a:endParaRPr/>
          </a:p>
        </p:txBody>
      </p:sp>
      <p:sp>
        <p:nvSpPr>
          <p:cNvPr id="621" name="" descr="{&quot;isTemplate&quot;:true,&quot;type&quot;:&quot;text&quot;}"/>
          <p:cNvSpPr txBox="1"/>
          <p:nvPr/>
        </p:nvSpPr>
        <p:spPr>
          <a:xfrm rot="0" flipH="0" flipV="0">
            <a:off x="571500" y="1933575"/>
            <a:ext cx="3810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spc="450">
                <a:solidFill>
                  <a:srgbClr val="94A3B8"/>
                </a:solidFill>
                <a:latin typeface="Microsoft YaHei"/>
                <a:ea typeface="Microsoft YaHei"/>
              </a:rPr>
              <a:t>CONTENTS</a:t>
            </a:r>
            <a:endParaRPr/>
          </a:p>
        </p:txBody>
      </p:sp>
      <p:sp>
        <p:nvSpPr>
          <p:cNvPr id="622" name=""/>
          <p:cNvSpPr/>
          <p:nvPr/>
        </p:nvSpPr>
        <p:spPr>
          <a:xfrm rot="0" flipH="0" flipV="0">
            <a:off x="571500" y="2524125"/>
            <a:ext cx="285750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623" name=""/>
          <p:cNvSpPr/>
          <p:nvPr/>
        </p:nvSpPr>
        <p:spPr>
          <a:xfrm rot="0" flipH="0" flipV="0">
            <a:off x="4762500" y="571500"/>
            <a:ext cx="6858000" cy="1238250"/>
          </a:xfrm>
          <a:custGeom>
            <a:pathLst>
              <a:path w="720" h="130">
                <a:moveTo>
                  <a:pt x="0" y="129"/>
                </a:moveTo>
                <a:lnTo>
                  <a:pt x="720" y="129"/>
                </a:lnTo>
                <a:lnTo>
                  <a:pt x="720" y="130"/>
                </a:lnTo>
                <a:lnTo>
                  <a:pt x="0" y="130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p/>
        </p:txBody>
      </p:sp>
      <p:sp>
        <p:nvSpPr>
          <p:cNvPr id="624" name="" descr="{&quot;isTemplate&quot;:true,&quot;type&quot;:&quot;text&quot;}"/>
          <p:cNvSpPr txBox="1"/>
          <p:nvPr/>
        </p:nvSpPr>
        <p:spPr>
          <a:xfrm rot="0" flipH="0" flipV="0">
            <a:off x="4762500" y="1000125"/>
            <a:ext cx="85725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2563EB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625" name="" descr="{&quot;isTemplate&quot;:true,&quot;type&quot;:&quot;text&quot;}"/>
          <p:cNvSpPr txBox="1"/>
          <p:nvPr/>
        </p:nvSpPr>
        <p:spPr>
          <a:xfrm rot="0" flipH="0" flipV="0">
            <a:off x="5619750" y="1038225"/>
            <a:ext cx="53340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E293B"/>
                </a:solidFill>
                <a:latin typeface="Microsoft YaHei"/>
                <a:ea typeface="Microsoft YaHei"/>
              </a:rPr>
              <a:t>为什么需要</a:t>
            </a:r>
            <a:endParaRPr/>
          </a:p>
        </p:txBody>
      </p:sp>
      <p:sp>
        <p:nvSpPr>
          <p:cNvPr id="626" name="" descr="{&quot;isTemplate&quot;:true,&quot;type&quot;:&quot;text&quot;}"/>
          <p:cNvSpPr txBox="1"/>
          <p:nvPr/>
        </p:nvSpPr>
        <p:spPr>
          <a:xfrm rot="0" flipH="0" flipV="0">
            <a:off x="10953750" y="1095375"/>
            <a:ext cx="666750" cy="19050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P 4</a:t>
            </a:r>
            <a:endParaRPr/>
          </a:p>
        </p:txBody>
      </p:sp>
      <p:sp>
        <p:nvSpPr>
          <p:cNvPr id="627" name=""/>
          <p:cNvSpPr/>
          <p:nvPr/>
        </p:nvSpPr>
        <p:spPr>
          <a:xfrm rot="0" flipH="0" flipV="0">
            <a:off x="4762500" y="1809750"/>
            <a:ext cx="6858000" cy="1238250"/>
          </a:xfrm>
          <a:custGeom>
            <a:pathLst>
              <a:path w="720" h="130">
                <a:moveTo>
                  <a:pt x="0" y="129"/>
                </a:moveTo>
                <a:lnTo>
                  <a:pt x="720" y="129"/>
                </a:lnTo>
                <a:lnTo>
                  <a:pt x="720" y="130"/>
                </a:lnTo>
                <a:lnTo>
                  <a:pt x="0" y="130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p/>
        </p:txBody>
      </p:sp>
      <p:sp>
        <p:nvSpPr>
          <p:cNvPr id="628" name="" descr="{&quot;isTemplate&quot;:true,&quot;type&quot;:&quot;text&quot;}"/>
          <p:cNvSpPr txBox="1"/>
          <p:nvPr/>
        </p:nvSpPr>
        <p:spPr>
          <a:xfrm rot="0" flipH="0" flipV="0">
            <a:off x="4762500" y="2238375"/>
            <a:ext cx="85725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2563EB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629" name="" descr="{&quot;isTemplate&quot;:true,&quot;type&quot;:&quot;text&quot;}"/>
          <p:cNvSpPr txBox="1"/>
          <p:nvPr/>
        </p:nvSpPr>
        <p:spPr>
          <a:xfrm rot="0" flipH="0" flipV="0">
            <a:off x="5619750" y="2276475"/>
            <a:ext cx="53340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E293B"/>
                </a:solidFill>
                <a:latin typeface="Microsoft YaHei"/>
                <a:ea typeface="Microsoft YaHei"/>
              </a:rPr>
              <a:t>业务怎么用</a:t>
            </a:r>
            <a:endParaRPr/>
          </a:p>
        </p:txBody>
      </p:sp>
      <p:sp>
        <p:nvSpPr>
          <p:cNvPr id="630" name="" descr="{&quot;isTemplate&quot;:true,&quot;type&quot;:&quot;text&quot;}"/>
          <p:cNvSpPr txBox="1"/>
          <p:nvPr/>
        </p:nvSpPr>
        <p:spPr>
          <a:xfrm rot="0" flipH="0" flipV="0">
            <a:off x="10953750" y="2333625"/>
            <a:ext cx="666750" cy="19050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P 12</a:t>
            </a:r>
            <a:endParaRPr/>
          </a:p>
        </p:txBody>
      </p:sp>
      <p:sp>
        <p:nvSpPr>
          <p:cNvPr id="631" name=""/>
          <p:cNvSpPr/>
          <p:nvPr/>
        </p:nvSpPr>
        <p:spPr>
          <a:xfrm rot="0" flipH="0" flipV="0">
            <a:off x="4762500" y="3048000"/>
            <a:ext cx="6858000" cy="1238250"/>
          </a:xfrm>
          <a:custGeom>
            <a:pathLst>
              <a:path w="720" h="130">
                <a:moveTo>
                  <a:pt x="0" y="129"/>
                </a:moveTo>
                <a:lnTo>
                  <a:pt x="720" y="129"/>
                </a:lnTo>
                <a:lnTo>
                  <a:pt x="720" y="130"/>
                </a:lnTo>
                <a:lnTo>
                  <a:pt x="0" y="130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p/>
        </p:txBody>
      </p:sp>
      <p:sp>
        <p:nvSpPr>
          <p:cNvPr id="632" name="" descr="{&quot;isTemplate&quot;:true,&quot;type&quot;:&quot;text&quot;}"/>
          <p:cNvSpPr txBox="1"/>
          <p:nvPr/>
        </p:nvSpPr>
        <p:spPr>
          <a:xfrm rot="0" flipH="0" flipV="0">
            <a:off x="4762500" y="3476625"/>
            <a:ext cx="85725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2563EB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633" name="" descr="{&quot;isTemplate&quot;:true,&quot;type&quot;:&quot;text&quot;}"/>
          <p:cNvSpPr txBox="1"/>
          <p:nvPr/>
        </p:nvSpPr>
        <p:spPr>
          <a:xfrm rot="0" flipH="0" flipV="0">
            <a:off x="5619750" y="3514725"/>
            <a:ext cx="53340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E293B"/>
                </a:solidFill>
                <a:latin typeface="Microsoft YaHei"/>
                <a:ea typeface="Microsoft YaHei"/>
              </a:rPr>
              <a:t>为什么放心</a:t>
            </a:r>
            <a:endParaRPr/>
          </a:p>
        </p:txBody>
      </p:sp>
      <p:sp>
        <p:nvSpPr>
          <p:cNvPr id="634" name="" descr="{&quot;isTemplate&quot;:true,&quot;type&quot;:&quot;text&quot;}"/>
          <p:cNvSpPr txBox="1"/>
          <p:nvPr/>
        </p:nvSpPr>
        <p:spPr>
          <a:xfrm rot="0" flipH="0" flipV="0">
            <a:off x="10953750" y="3571875"/>
            <a:ext cx="666750" cy="19050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P 31</a:t>
            </a:r>
            <a:endParaRPr/>
          </a:p>
        </p:txBody>
      </p:sp>
      <p:sp>
        <p:nvSpPr>
          <p:cNvPr id="635" name=""/>
          <p:cNvSpPr/>
          <p:nvPr/>
        </p:nvSpPr>
        <p:spPr>
          <a:xfrm rot="0" flipH="0" flipV="0">
            <a:off x="4762500" y="4286250"/>
            <a:ext cx="6858000" cy="1238250"/>
          </a:xfrm>
          <a:custGeom>
            <a:pathLst>
              <a:path w="720" h="130">
                <a:moveTo>
                  <a:pt x="0" y="129"/>
                </a:moveTo>
                <a:lnTo>
                  <a:pt x="720" y="129"/>
                </a:lnTo>
                <a:lnTo>
                  <a:pt x="720" y="130"/>
                </a:lnTo>
                <a:lnTo>
                  <a:pt x="0" y="130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p/>
        </p:txBody>
      </p:sp>
      <p:sp>
        <p:nvSpPr>
          <p:cNvPr id="636" name="" descr="{&quot;isTemplate&quot;:true,&quot;type&quot;:&quot;text&quot;}"/>
          <p:cNvSpPr txBox="1"/>
          <p:nvPr/>
        </p:nvSpPr>
        <p:spPr>
          <a:xfrm rot="0" flipH="0" flipV="0">
            <a:off x="4762500" y="4714875"/>
            <a:ext cx="85725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2563EB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637" name="" descr="{&quot;isTemplate&quot;:true,&quot;type&quot;:&quot;text&quot;}"/>
          <p:cNvSpPr txBox="1"/>
          <p:nvPr/>
        </p:nvSpPr>
        <p:spPr>
          <a:xfrm rot="0" flipH="0" flipV="0">
            <a:off x="5619750" y="4752975"/>
            <a:ext cx="53340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E293B"/>
                </a:solidFill>
                <a:latin typeface="Microsoft YaHei"/>
                <a:ea typeface="Microsoft YaHei"/>
              </a:rPr>
              <a:t>怎么开始</a:t>
            </a:r>
            <a:endParaRPr/>
          </a:p>
        </p:txBody>
      </p:sp>
      <p:sp>
        <p:nvSpPr>
          <p:cNvPr id="638" name="" descr="{&quot;isTemplate&quot;:true,&quot;type&quot;:&quot;text&quot;}"/>
          <p:cNvSpPr txBox="1"/>
          <p:nvPr/>
        </p:nvSpPr>
        <p:spPr>
          <a:xfrm rot="0" flipH="0" flipV="0">
            <a:off x="10953750" y="4810125"/>
            <a:ext cx="666750" cy="19050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P 37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859" name="" descr="&lt;Slide style={{ padding: 60, background: '#F4F6FB', position: 'relative' }}&gt;&#10;    &lt;Box style={{ position: 'absolute', right: 60, top: 130, width: 420, height: 460 }}&gt;&#10;        &lt;svg width={420} height={460} viewBox='0 0 420 460'&gt;&#10;            &lt;circle cx='210' cy='240' r='150' fill='none' stroke='#C7D6F5' strokeWidth='1' /&gt;&#10;            &lt;circle cx='210' cy='240' r='200' fill='none' stroke='#C7D6F5' strokeWidth='1' /&gt;&#10;            &lt;path d='M10 240 A200 200 0 0 1 410 240' fill='none' stroke='#0891B2' strokeWidth='3' opacity='0.6' /&gt;&#10;            &lt;circle cx='360' cy='240' r='8' fill='#F59E0B' /&gt;&#10;            &lt;circle cx='60' cy='240' r='8' fill='#2563EB' /&gt;&#10;            &lt;circle cx='210' cy='40' r='6' fill='#0891B2' /&gt;&#10;        &lt;/svg&gt;&#10;    &lt;/Box&gt;&#10;&#10;    &lt;Box style={{ position: 'absolute', left: 92, top: 168, width: 680 }}&gt;&#10;        &lt;Text style={{ fontSize: 180, fontWeight: 'bold', color: '#CBD9F0', lineHeight: 1.05 }}&gt;&#10;            01&#10;        &lt;/Text&gt;&#10;        &lt;Text style={{ fontSize: 64, fontWeight: 'bold', color: '#1E293B', lineHeight: 1.15, marginTop: 12 }}&gt;&#10;            为什么需要&#10;        &lt;/Text&gt;&#10;        &lt;Box style={{ width: 72, height: 6, borderRadius: 3, background: '#F59E0B', marginTop: 30 }} /&gt;&#10;        &lt;Text style={{ fontSize: 22, color: '#64748B', lineHeight: 1.5, marginTop: 26 }}&gt;&#10;            AI 落地的三道坎：数据、工具、管控&#10;        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4F6FB"/>
          </a:solidFill>
          <a:ln/>
        </p:spPr>
        <p:txBody>
          <a:bodyPr/>
          <a:p/>
        </p:txBody>
      </p:sp>
      <p:pic>
        <p:nvPicPr>
          <p:cNvPr id="86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620000" y="1238250"/>
            <a:ext cx="4000500" cy="4381500"/>
          </a:xfrm>
          <a:prstGeom prst="rect">
            <a:avLst/>
          </a:prstGeom>
          <a:ln/>
        </p:spPr>
      </p:pic>
      <p:sp>
        <p:nvSpPr>
          <p:cNvPr id="862" name="" descr="{&quot;isTemplate&quot;:true,&quot;type&quot;:&quot;text&quot;}"/>
          <p:cNvSpPr txBox="1"/>
          <p:nvPr/>
        </p:nvSpPr>
        <p:spPr>
          <a:xfrm rot="0" flipH="0" flipV="0">
            <a:off x="876300" y="1600200"/>
            <a:ext cx="6477000" cy="2162175"/>
          </a:xfrm>
          <a:prstGeom prst="rect"/>
        </p:spPr>
        <p:txBody>
          <a:bodyPr wrap="none" lIns="0" tIns="0" rIns="0" bIns="0"/>
          <a:p>
            <a:pPr>
              <a:lnSpc>
                <a:spcPct val="105000"/>
              </a:lnSpc>
            </a:pPr>
            <a:r>
              <a:rPr lang="en-US" sz="13500" b="1">
                <a:solidFill>
                  <a:srgbClr val="CBD9F0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863" name="" descr="{&quot;isTemplate&quot;:true,&quot;type&quot;:&quot;text&quot;}"/>
          <p:cNvSpPr txBox="1"/>
          <p:nvPr/>
        </p:nvSpPr>
        <p:spPr>
          <a:xfrm rot="0" flipH="0" flipV="0">
            <a:off x="876300" y="3876675"/>
            <a:ext cx="6477000" cy="847725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800" b="1">
                <a:solidFill>
                  <a:srgbClr val="1E293B"/>
                </a:solidFill>
                <a:latin typeface="Microsoft YaHei"/>
                <a:ea typeface="Microsoft YaHei"/>
              </a:rPr>
              <a:t>为什么需要</a:t>
            </a:r>
            <a:endParaRPr/>
          </a:p>
        </p:txBody>
      </p:sp>
      <p:sp>
        <p:nvSpPr>
          <p:cNvPr id="864" name=""/>
          <p:cNvSpPr/>
          <p:nvPr/>
        </p:nvSpPr>
        <p:spPr>
          <a:xfrm rot="0" flipH="0" flipV="0">
            <a:off x="876300" y="5010150"/>
            <a:ext cx="685800" cy="5715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865" name="" descr="{&quot;isTemplate&quot;:true,&quot;type&quot;:&quot;text&quot;}"/>
          <p:cNvSpPr txBox="1"/>
          <p:nvPr/>
        </p:nvSpPr>
        <p:spPr>
          <a:xfrm rot="0" flipH="0" flipV="0">
            <a:off x="876300" y="5314950"/>
            <a:ext cx="6477000" cy="3810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650">
                <a:solidFill>
                  <a:srgbClr val="64748B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1650">
                <a:solidFill>
                  <a:srgbClr val="64748B"/>
                </a:solidFill>
                <a:latin typeface="Microsoft YaHei"/>
                <a:ea typeface="Microsoft YaHei"/>
              </a:rPr>
              <a:t>落地的三道坎：数据、工具、管控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951" name="" descr="&lt;Slide style={{ padding: 60, background: '#FFFFFF' }}&gt;&#10;    &lt;Box style={{ height: 600 }}&gt;&#10;        &lt;Box style={{ height: 20, flexDirection: 'row', justifyContent: 'space-between', alignItems: 'center' }}&gt;&#10;            &lt;Text style={{ fontSize: 14, color: '#94A3B8', letterSpacing: 2 }}&gt;01 · 为什么需要&lt;/Text&gt;&#10;            &lt;Box style={{ width: 44, height: 4, borderRadius: 2, background: '#2563EB' }} /&gt;&#10;        &lt;/Box&gt;&#10;        &lt;Text style={{ fontSize: 34, fontWeight: 'bold', color: '#1E293B', marginTop: 16, lineHeight: 1.2 }}&gt;&#10;            为什么 AI 试了很多，业务却没有变化&#10;        &lt;/Text&gt;&#10;        &lt;Box style={{ height: 1, background: '#E2E8F0', marginTop: 16 }} /&gt;&#10;&#10;        &lt;Box style={{ flex: 1, marginTop: 20, flexDirection: 'row', gap: 32 }}&gt;&#10;            {/* 左：现状卡 */}&#10;            &lt;Box style={{ width: 380, background: '#F4F6FB', borderRadius: 12, padding: 24 }}&gt;&#10;                &lt;Text style={{ fontSize: 22, fontWeight: '600', color: '#1E293B', lineHeight: 1.35 }}&gt;&#10;                    演示很惊艳，落地没变化&#10;                &lt;/Text&gt;&#10;                &lt;Text style={{ fontSize: 18, color: '#475569', lineHeight: 1.55, marginTop: 12 }}&gt;&#10;                    模型能力已经足够强。卡住企业的，不是「AI 不够聪明」，而是它进不了业务的三段路。&#10;                &lt;/Text&gt;&#10;                &lt;Box style={{ height: 1, background: '#E2E8F0', marginTop: 16 }} /&gt;&#10;                &lt;Box style={{ marginTop: 16 }}&gt;&#10;                    &lt;svg width={332} height={72} viewBox='0 0 332 72'&gt;&#10;                        &lt;rect x='8' y='22' width='84' height='28' rx='8' fill='#E8EEFB' /&gt;&#10;                        &lt;rect x='124' y='22' width='84' height='28' rx='8' fill='#FDEBC8' /&gt;&#10;                        &lt;rect x='240' y='22' width='84' height='28' rx='8' fill='#E8EEFB' /&gt;&#10;                        &lt;path d='M92 36 L118 36' stroke='#94A3B8' strokeWidth='2' strokeDasharray='4 4' /&gt;&#10;                        &lt;path d='M208 36 L234 36' stroke='#94A3B8' strokeWidth='2' strokeDasharray='4 4' /&gt;&#10;                        &lt;text x='50' y='41' textAnchor='middle' fontSize='13' fill='#2563EB' fontFamily='Microsoft YaHei'&gt;数据&lt;/text&gt;&#10;                        &lt;text x='166' y='41' textAnchor='middle' fontSize='13' fill='#B45309' fontFamily='Microsoft YaHei'&gt;工具&lt;/text&gt;&#10;                        &lt;text x='282' y='41' textAnchor='middle' fontSize='13' fill='#2563EB' fontFamily='Microsoft YaHei'&gt;管控&lt;/text&gt;&#10;                    &lt;/svg&gt;&#10;                    &lt;Text style={{ fontSize: 16, color: '#64748B', lineHeight: 1.5, marginTop: 8 }}&gt;&#10;                        三段路都通了，AI 才进得了生产&#10;                    &lt;/Text&gt;&#10;                &lt;/Box&gt;&#10;            &lt;/Box&gt;&#10;&#10;            {/* 右：三行断层 */}&#10;            &lt;Box style={{ flex: 1 }}&gt;&#10;                &lt;Box style={{ height: 126, borderBottomWidth: 1, borderBottomColor: '#E2E8F0', borderBottomStyle: 'solid' }}&gt;&#10;                    &lt;Box style={{ flexDirection: 'row', alignItems: 'center', marginTop: 4 }}&gt;&#10;                        &lt;Text style={{ fontSize: 22, fontWeight: 'bold', color: '#2563EB', width: 56 }}&gt;01&lt;/Text&gt;&#10;                        &lt;Text style={{ fontSize: 22, fontWeight: '600', color: '#1E293B' }}&gt;不懂业务&lt;/Text&gt;&#10;                    &lt;/Box&gt;&#10;                    &lt;Text style={{ fontSize: 18, color: '#475569', lineHeight: 1.5, marginTop: 8 }}&gt;&#10;                        通用 AI 没读过你的制度、合同、工单，回答「放之四海皆准」，落不到具体业务上。&#10;                    &lt;/Text&gt;&#10;                &lt;/Box&gt;&#10;                &lt;Box style={{ height: 126, borderBottomWidth: 1, borderBottomColor: '#E2E8F0', borderBottomStyle: 'solid' }}&gt;&#10;                    &lt;Box style={{ flexDirection: 'row', alignItems: 'center', marginTop: 4 }}&gt;&#10;                        &lt;Text style={{ fontSize: 22, fontWeight: 'bold', color: '#2563EB', width: 56 }}&gt;02&lt;/Text&gt;&#10;                        &lt;Text style={{ fontSize: 22, fontWeight: '600', color: '#1E293B' }}&gt;不会干活&lt;/Text&gt;&#10;                    &lt;/Box&gt;&#10;                    &lt;Text style={{ fontSize: 18, color: '#475569', lineHeight: 1.5, marginTop: 8 }}&gt;&#10;                        只能给建议，不能真的改文件、跑流程、发通知——结论停在聊天框里，价值进不了业务流程。&#10;                    &lt;/Text&gt;&#10;                &lt;/Box&gt;&#10;                &lt;Box style={{ height: 126 }}&gt;&#10;                    &lt;Box style={{ flexDirection: 'row', alignItems: 'center', marginTop: 4 }}&gt;&#10;                        &lt;Text style={{ fontSize: 22, fontWeight: 'bold', color: '#2563EB', width: 56 }}&gt;03&lt;/Text&gt;&#10;                        &lt;Text style={{ fontSize: 22, fontWeight: '600', color: '#1E293B' }}&gt;不敢放手&lt;/Text&gt;&#10;                    &lt;/Box&gt;&#10;                    &lt;Text style={{ fontSize: 18, color: '#475569', lineHeight: 1.5, marginTop: 8 }}&gt;&#10;                        说不清它做了什么，管理层不敢批准它进入业务流程——越能干，越不敢用。&#10;                    &lt;/Text&gt;&#10;                &lt;/Box&gt;&#10;            &lt;/Box&gt;&#10;        &lt;/Box&gt;&#10;&#10;        {/* 结论条 */}&#10;        &lt;Box style={{ height: 62, background: '#E8EEFB', borderRadius: 10, padding: 16, marginTop: 12, justifyContent: 'center' }}&gt;&#10;            &lt;Text style={{ fontSize: 19, fontWeight: '600', color: '#1E293B', lineHeight: 1.4 }}&gt;&#10;                模型不是瓶颈——缺的是让 AI 进业务的三段路：数据、工具、管控。三项补齐，AI 才进得了生产。&#10;            &lt;/Text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53" name="" descr="{&quot;isTemplate&quot;:true,&quot;type&quot;:&quot;text&quot;}"/>
          <p:cNvSpPr txBox="1"/>
          <p:nvPr/>
        </p:nvSpPr>
        <p:spPr>
          <a:xfrm rot="0" flipH="0" flipV="0">
            <a:off x="571500" y="590550"/>
            <a:ext cx="1133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94A3B8"/>
                </a:solidFill>
                <a:latin typeface="Microsoft YaHei"/>
                <a:ea typeface="Microsoft YaHei"/>
              </a:rPr>
              <a:t xml:space="preserve">01 · </a:t>
            </a:r>
            <a:r>
              <a:rPr lang="zh-CN" sz="1050" spc="150">
                <a:solidFill>
                  <a:srgbClr val="94A3B8"/>
                </a:solidFill>
                <a:latin typeface="Microsoft YaHei"/>
                <a:ea typeface="Microsoft YaHei"/>
              </a:rPr>
              <a:t>为什么需要</a:t>
            </a:r>
            <a:endParaRPr/>
          </a:p>
        </p:txBody>
      </p:sp>
      <p:sp>
        <p:nvSpPr>
          <p:cNvPr id="954" name=""/>
          <p:cNvSpPr/>
          <p:nvPr/>
        </p:nvSpPr>
        <p:spPr>
          <a:xfrm rot="0" flipH="0" flipV="0">
            <a:off x="11201400" y="647700"/>
            <a:ext cx="419100" cy="38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955" name="" descr="{&quot;isTemplate&quot;:true,&quot;type&quot;:&quot;text&quot;}"/>
          <p:cNvSpPr txBox="1"/>
          <p:nvPr/>
        </p:nvSpPr>
        <p:spPr>
          <a:xfrm rot="0" flipH="0" flipV="0">
            <a:off x="571500" y="914400"/>
            <a:ext cx="110490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E293B"/>
                </a:solidFill>
                <a:latin typeface="Microsoft YaHei"/>
                <a:ea typeface="Microsoft YaHei"/>
              </a:rPr>
              <a:t>为什么</a:t>
            </a:r>
            <a:r>
              <a:rPr lang="en-US" sz="2550" b="1">
                <a:solidFill>
                  <a:srgbClr val="1E293B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2550" b="1">
                <a:solidFill>
                  <a:srgbClr val="1E293B"/>
                </a:solidFill>
                <a:latin typeface="Microsoft YaHei"/>
                <a:ea typeface="Microsoft YaHei"/>
              </a:rPr>
              <a:t>试了很多，业务却没有变化</a:t>
            </a:r>
            <a:endParaRPr/>
          </a:p>
        </p:txBody>
      </p:sp>
      <p:sp>
        <p:nvSpPr>
          <p:cNvPr id="956" name=""/>
          <p:cNvSpPr/>
          <p:nvPr/>
        </p:nvSpPr>
        <p:spPr>
          <a:xfrm rot="0" flipH="0" flipV="0">
            <a:off x="571500" y="1533525"/>
            <a:ext cx="1104900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957" name=""/>
          <p:cNvSpPr/>
          <p:nvPr/>
        </p:nvSpPr>
        <p:spPr>
          <a:xfrm rot="0" flipH="0" flipV="0">
            <a:off x="571500" y="1733550"/>
            <a:ext cx="3619500" cy="3848100"/>
          </a:xfrm>
          <a:prstGeom prst="roundRect">
            <a:avLst>
              <a:gd name="adj" fmla="val 3158"/>
            </a:avLst>
          </a:prstGeom>
          <a:solidFill>
            <a:srgbClr val="F4F6FB"/>
          </a:solidFill>
          <a:ln/>
        </p:spPr>
        <p:txBody>
          <a:bodyPr/>
          <a:p/>
        </p:txBody>
      </p:sp>
      <p:sp>
        <p:nvSpPr>
          <p:cNvPr id="958" name="" descr="{&quot;isTemplate&quot;:true,&quot;type&quot;:&quot;text&quot;}"/>
          <p:cNvSpPr txBox="1"/>
          <p:nvPr/>
        </p:nvSpPr>
        <p:spPr>
          <a:xfrm rot="0" flipH="0" flipV="0">
            <a:off x="800100" y="1962150"/>
            <a:ext cx="3162300" cy="3429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650" b="1">
                <a:solidFill>
                  <a:srgbClr val="1E293B"/>
                </a:solidFill>
                <a:latin typeface="Microsoft YaHei"/>
                <a:ea typeface="Microsoft YaHei"/>
              </a:rPr>
              <a:t>演示很惊艳，落地没变化</a:t>
            </a:r>
            <a:endParaRPr/>
          </a:p>
        </p:txBody>
      </p:sp>
      <p:sp>
        <p:nvSpPr>
          <p:cNvPr id="959" name="" descr="{&quot;isTemplate&quot;:true,&quot;type&quot;:&quot;text&quot;}"/>
          <p:cNvSpPr txBox="1"/>
          <p:nvPr/>
        </p:nvSpPr>
        <p:spPr>
          <a:xfrm rot="0" flipH="0" flipV="0">
            <a:off x="800100" y="2419350"/>
            <a:ext cx="3162300" cy="9620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模型能力已经足够强。卡住企业的，不是「</a:t>
            </a: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不够聪明」，而是它进不了业务的三段路。</a:t>
            </a:r>
            <a:endParaRPr/>
          </a:p>
        </p:txBody>
      </p:sp>
      <p:sp>
        <p:nvSpPr>
          <p:cNvPr id="960" name=""/>
          <p:cNvSpPr/>
          <p:nvPr/>
        </p:nvSpPr>
        <p:spPr>
          <a:xfrm rot="0" flipH="0" flipV="0">
            <a:off x="800100" y="3533775"/>
            <a:ext cx="316230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pic>
        <p:nvPicPr>
          <p:cNvPr id="96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00100" y="3695700"/>
            <a:ext cx="3162300" cy="685800"/>
          </a:xfrm>
          <a:prstGeom prst="rect">
            <a:avLst/>
          </a:prstGeom>
          <a:ln/>
        </p:spPr>
      </p:pic>
      <p:sp>
        <p:nvSpPr>
          <p:cNvPr id="962" name="" descr="{&quot;isTemplate&quot;:true,&quot;type&quot;:&quot;text&quot;}"/>
          <p:cNvSpPr txBox="1"/>
          <p:nvPr/>
        </p:nvSpPr>
        <p:spPr>
          <a:xfrm rot="0" flipH="0" flipV="0">
            <a:off x="800100" y="4457700"/>
            <a:ext cx="31623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三段路都通了，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才进得了生产</a:t>
            </a:r>
            <a:endParaRPr/>
          </a:p>
        </p:txBody>
      </p:sp>
      <p:sp>
        <p:nvSpPr>
          <p:cNvPr id="963" name=""/>
          <p:cNvSpPr/>
          <p:nvPr/>
        </p:nvSpPr>
        <p:spPr>
          <a:xfrm rot="0" flipH="0" flipV="0">
            <a:off x="4495800" y="1733550"/>
            <a:ext cx="7124700" cy="1200150"/>
          </a:xfrm>
          <a:custGeom>
            <a:pathLst>
              <a:path w="748" h="126">
                <a:moveTo>
                  <a:pt x="0" y="125"/>
                </a:moveTo>
                <a:lnTo>
                  <a:pt x="748" y="125"/>
                </a:lnTo>
                <a:lnTo>
                  <a:pt x="748" y="126"/>
                </a:lnTo>
                <a:lnTo>
                  <a:pt x="0" y="126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p/>
        </p:txBody>
      </p:sp>
      <p:sp>
        <p:nvSpPr>
          <p:cNvPr id="964" name="" descr="{&quot;isTemplate&quot;:true,&quot;type&quot;:&quot;text&quot;}"/>
          <p:cNvSpPr txBox="1"/>
          <p:nvPr/>
        </p:nvSpPr>
        <p:spPr>
          <a:xfrm rot="0" flipH="0" flipV="0">
            <a:off x="4495800" y="1771650"/>
            <a:ext cx="5334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2563EB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965" name="" descr="{&quot;isTemplate&quot;:true,&quot;type&quot;:&quot;text&quot;}"/>
          <p:cNvSpPr txBox="1"/>
          <p:nvPr/>
        </p:nvSpPr>
        <p:spPr>
          <a:xfrm rot="0" flipH="0" flipV="0">
            <a:off x="5029200" y="1771650"/>
            <a:ext cx="838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E293B"/>
                </a:solidFill>
                <a:latin typeface="Microsoft YaHei"/>
                <a:ea typeface="Microsoft YaHei"/>
              </a:rPr>
              <a:t>不懂业务</a:t>
            </a:r>
            <a:endParaRPr/>
          </a:p>
        </p:txBody>
      </p:sp>
      <p:sp>
        <p:nvSpPr>
          <p:cNvPr id="966" name="" descr="{&quot;isTemplate&quot;:true,&quot;type&quot;:&quot;text&quot;}"/>
          <p:cNvSpPr txBox="1"/>
          <p:nvPr/>
        </p:nvSpPr>
        <p:spPr>
          <a:xfrm rot="0" flipH="0" flipV="0">
            <a:off x="4495800" y="2105025"/>
            <a:ext cx="71247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通用</a:t>
            </a: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没读过你的制度、合同、工单，回答「放之四海皆准」，落不到具体业务上。</a:t>
            </a:r>
            <a:endParaRPr/>
          </a:p>
        </p:txBody>
      </p:sp>
      <p:sp>
        <p:nvSpPr>
          <p:cNvPr id="967" name=""/>
          <p:cNvSpPr/>
          <p:nvPr/>
        </p:nvSpPr>
        <p:spPr>
          <a:xfrm rot="0" flipH="0" flipV="0">
            <a:off x="4495800" y="2933700"/>
            <a:ext cx="7124700" cy="1200150"/>
          </a:xfrm>
          <a:custGeom>
            <a:pathLst>
              <a:path w="748" h="126">
                <a:moveTo>
                  <a:pt x="0" y="125"/>
                </a:moveTo>
                <a:lnTo>
                  <a:pt x="748" y="125"/>
                </a:lnTo>
                <a:lnTo>
                  <a:pt x="748" y="126"/>
                </a:lnTo>
                <a:lnTo>
                  <a:pt x="0" y="126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p/>
        </p:txBody>
      </p:sp>
      <p:sp>
        <p:nvSpPr>
          <p:cNvPr id="968" name="" descr="{&quot;isTemplate&quot;:true,&quot;type&quot;:&quot;text&quot;}"/>
          <p:cNvSpPr txBox="1"/>
          <p:nvPr/>
        </p:nvSpPr>
        <p:spPr>
          <a:xfrm rot="0" flipH="0" flipV="0">
            <a:off x="4495800" y="2971800"/>
            <a:ext cx="5334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2563EB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969" name="" descr="{&quot;isTemplate&quot;:true,&quot;type&quot;:&quot;text&quot;}"/>
          <p:cNvSpPr txBox="1"/>
          <p:nvPr/>
        </p:nvSpPr>
        <p:spPr>
          <a:xfrm rot="0" flipH="0" flipV="0">
            <a:off x="5029200" y="2971800"/>
            <a:ext cx="838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E293B"/>
                </a:solidFill>
                <a:latin typeface="Microsoft YaHei"/>
                <a:ea typeface="Microsoft YaHei"/>
              </a:rPr>
              <a:t>不会干活</a:t>
            </a:r>
            <a:endParaRPr/>
          </a:p>
        </p:txBody>
      </p:sp>
      <p:sp>
        <p:nvSpPr>
          <p:cNvPr id="970" name="" descr="{&quot;isTemplate&quot;:true,&quot;type&quot;:&quot;text&quot;}"/>
          <p:cNvSpPr txBox="1"/>
          <p:nvPr/>
        </p:nvSpPr>
        <p:spPr>
          <a:xfrm rot="0" flipH="0" flipV="0">
            <a:off x="4495800" y="3305175"/>
            <a:ext cx="712470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只能给建议，不能真的改文件、跑流程、发通知——结论停在聊天框里，价值进不了业务流程。</a:t>
            </a:r>
            <a:endParaRPr/>
          </a:p>
        </p:txBody>
      </p:sp>
      <p:sp>
        <p:nvSpPr>
          <p:cNvPr id="971" name="" descr="{&quot;isTemplate&quot;:true,&quot;type&quot;:&quot;text&quot;}"/>
          <p:cNvSpPr txBox="1"/>
          <p:nvPr/>
        </p:nvSpPr>
        <p:spPr>
          <a:xfrm rot="0" flipH="0" flipV="0">
            <a:off x="4495800" y="4171950"/>
            <a:ext cx="5334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2563EB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972" name="" descr="{&quot;isTemplate&quot;:true,&quot;type&quot;:&quot;text&quot;}"/>
          <p:cNvSpPr txBox="1"/>
          <p:nvPr/>
        </p:nvSpPr>
        <p:spPr>
          <a:xfrm rot="0" flipH="0" flipV="0">
            <a:off x="5029200" y="4171950"/>
            <a:ext cx="838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E293B"/>
                </a:solidFill>
                <a:latin typeface="Microsoft YaHei"/>
                <a:ea typeface="Microsoft YaHei"/>
              </a:rPr>
              <a:t>不敢放手</a:t>
            </a:r>
            <a:endParaRPr/>
          </a:p>
        </p:txBody>
      </p:sp>
      <p:sp>
        <p:nvSpPr>
          <p:cNvPr id="973" name="" descr="{&quot;isTemplate&quot;:true,&quot;type&quot;:&quot;text&quot;}"/>
          <p:cNvSpPr txBox="1"/>
          <p:nvPr/>
        </p:nvSpPr>
        <p:spPr>
          <a:xfrm rot="0" flipH="0" flipV="0">
            <a:off x="4495800" y="4505325"/>
            <a:ext cx="71247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说不清它做了什么，管理层不敢批准它进入业务流程——越能干，越不敢用。</a:t>
            </a:r>
            <a:endParaRPr/>
          </a:p>
        </p:txBody>
      </p:sp>
      <p:sp>
        <p:nvSpPr>
          <p:cNvPr id="974" name=""/>
          <p:cNvSpPr/>
          <p:nvPr/>
        </p:nvSpPr>
        <p:spPr>
          <a:xfrm rot="0" flipH="0" flipV="0">
            <a:off x="571500" y="5695950"/>
            <a:ext cx="11049000" cy="590550"/>
          </a:xfrm>
          <a:prstGeom prst="roundRect">
            <a:avLst>
              <a:gd name="adj" fmla="val 16129"/>
            </a:avLst>
          </a:prstGeom>
          <a:solidFill>
            <a:srgbClr val="E8EEFB"/>
          </a:solidFill>
          <a:ln/>
        </p:spPr>
        <p:txBody>
          <a:bodyPr/>
          <a:p/>
        </p:txBody>
      </p:sp>
      <p:sp>
        <p:nvSpPr>
          <p:cNvPr id="975" name="" descr="{&quot;isTemplate&quot;:true,&quot;type&quot;:&quot;text&quot;}"/>
          <p:cNvSpPr txBox="1"/>
          <p:nvPr/>
        </p:nvSpPr>
        <p:spPr>
          <a:xfrm rot="0" flipH="0" flipV="0">
            <a:off x="723900" y="5838825"/>
            <a:ext cx="10744200" cy="3048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425" b="1">
                <a:solidFill>
                  <a:srgbClr val="1E293B"/>
                </a:solidFill>
                <a:latin typeface="Microsoft YaHei"/>
                <a:ea typeface="Microsoft YaHei"/>
              </a:rPr>
              <a:t>模型不是瓶颈——缺的是让</a:t>
            </a:r>
            <a:r>
              <a:rPr lang="en-US" sz="1425" b="1">
                <a:solidFill>
                  <a:srgbClr val="1E293B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1425" b="1">
                <a:solidFill>
                  <a:srgbClr val="1E293B"/>
                </a:solidFill>
                <a:latin typeface="Microsoft YaHei"/>
                <a:ea typeface="Microsoft YaHei"/>
              </a:rPr>
              <a:t>进业务的三段路：数据、工具、管控。三项补齐，</a:t>
            </a:r>
            <a:r>
              <a:rPr lang="en-US" sz="1425" b="1">
                <a:solidFill>
                  <a:srgbClr val="1E293B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1425" b="1">
                <a:solidFill>
                  <a:srgbClr val="1E293B"/>
                </a:solidFill>
                <a:latin typeface="Microsoft YaHei"/>
                <a:ea typeface="Microsoft YaHei"/>
              </a:rPr>
              <a:t>才进得了生产。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976" name="" descr="&lt;Slide style={{ padding: 60, background: '#FFFFFF' }}&gt;&#10;    &lt;Box style={{ height: 600 }}&gt;&#10;        &lt;Box style={{ height: 20, flexDirection: 'row', justifyContent: 'space-between', alignItems: 'center' }}&gt;&#10;            &lt;Text style={{ fontSize: 14, color: '#94A3B8', letterSpacing: 2 }}&gt;01 · 为什么需要&lt;/Text&gt;&#10;            &lt;Box style={{ width: 44, height: 4, borderRadius: 2, background: '#2563EB' }} /&gt;&#10;        &lt;/Box&gt;&#10;        &lt;Text style={{ fontSize: 34, fontWeight: 'bold', color: '#1E293B', marginTop: 16, lineHeight: 1.2 }}&gt;&#10;            老板最关心的三个问题，先说清楚&#10;        &lt;/Text&gt;&#10;        &lt;Box style={{ height: 1, background: '#E2E8F0', marginTop: 16 }} /&gt;&#10;&#10;        &lt;Box style={{ marginTop: 20, gap: 12 }}&gt;&#10;            &lt;Box style={{ height: 118, flexDirection: 'row', background: '#E8EEFB', borderRadius: 12, padding: 18 }}&gt;&#10;                &lt;Box style={{ width: 220, justifyContent: 'center' }}&gt;&#10;                    &lt;Text style={{ fontSize: 22, fontWeight: 'bold', color: '#2563EB', lineHeight: 1.3 }}&gt;能不能落地？&lt;/Text&gt;&#10;                &lt;/Box&gt;&#10;                &lt;Box style={{ flex: 1, justifyContent: 'center', marginLeft: 12 }}&gt;&#10;                    &lt;Text style={{ fontSize: 18, color: '#1E293B', lineHeight: 1.55 }}&gt;&#10;                        不是新造概念：33 个岗位专家、24 个技能包、47 个系统连接开箱即用；从一个真实场景开始，30 天就能验证。&#10;                    &lt;/Text&gt;&#10;                &lt;/Box&gt;&#10;            &lt;/Box&gt;&#10;            &lt;Box style={{ height: 118, flexDirection: 'row', background: '#D6E4F9', borderRadius: 12, padding: 18 }}&gt;&#10;                &lt;Box style={{ width: 220, justifyContent: 'center' }}&gt;&#10;                    &lt;Text style={{ fontSize: 22, fontWeight: 'bold', color: '#1E293B', lineHeight: 1.3 }}&gt;安不安全？&lt;/Text&gt;&#10;                &lt;/Box&gt;&#10;                &lt;Box style={{ flex: 1, justifyContent: 'center', marginLeft: 12 }}&gt;&#10;                    &lt;Text style={{ fontSize: 18, color: '#1E293B', lineHeight: 1.55 }}&gt;&#10;                        部署在公司自己的机器上，数据不出内网；高风险动作先由人审批，每一步留痕可回放——合规拿得出证据。&#10;                    &lt;/Text&gt;&#10;                &lt;/Box&gt;&#10;            &lt;/Box&gt;&#10;            &lt;Box style={{ height: 118, flexDirection: 'row', background: '#FFF7E9', borderRadius: 12, padding: 18 }}&gt;&#10;                &lt;Box style={{ width: 220, justifyContent: 'center' }}&gt;&#10;                    &lt;Text style={{ fontSize: 22, fontWeight: 'bold', color: '#B45309', lineHeight: 1.3 }}&gt;值不值？&lt;/Text&gt;&#10;                &lt;/Box&gt;&#10;                &lt;Box style={{ flex: 1, justifyContent: 'center', marginLeft: 12 }}&gt;&#10;                    &lt;Text style={{ fontSize: 18, color: '#1E293B', lineHeight: 1.55 }}&gt;&#10;                        不承诺编造的百分比：用试点回答三个可衡量的问题——答得准不准、处理快没快、员工愿不愿用。&#10;                    &lt;/Text&gt;&#10;                &lt;/Box&gt;&#10;            &lt;/Box&gt;&#10;        &lt;/Box&gt;&#10;&#10;        {/* 结论条 */}&#10;        &lt;Box style={{ height: 62, background: '#E8EEFB', borderRadius: 10, padding: 14, marginTop: 16, justifyContent: 'center' }}&gt;&#10;            &lt;Text style={{ fontSize: 19, fontWeight: '600', color: '#1E293B', lineHeight: 1.4 }}&gt;&#10;                把这三个问题的答案放在前面，后面所有内容都是在支撑它们——价值、场景、风控、路径，一节一节展开。&#10;            &lt;/Text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78" name="" descr="{&quot;isTemplate&quot;:true,&quot;type&quot;:&quot;text&quot;}"/>
          <p:cNvSpPr txBox="1"/>
          <p:nvPr/>
        </p:nvSpPr>
        <p:spPr>
          <a:xfrm rot="0" flipH="0" flipV="0">
            <a:off x="571500" y="590550"/>
            <a:ext cx="1133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94A3B8"/>
                </a:solidFill>
                <a:latin typeface="Microsoft YaHei"/>
                <a:ea typeface="Microsoft YaHei"/>
              </a:rPr>
              <a:t xml:space="preserve">01 · </a:t>
            </a:r>
            <a:r>
              <a:rPr lang="zh-CN" sz="1050" spc="150">
                <a:solidFill>
                  <a:srgbClr val="94A3B8"/>
                </a:solidFill>
                <a:latin typeface="Microsoft YaHei"/>
                <a:ea typeface="Microsoft YaHei"/>
              </a:rPr>
              <a:t>为什么需要</a:t>
            </a:r>
            <a:endParaRPr/>
          </a:p>
        </p:txBody>
      </p:sp>
      <p:sp>
        <p:nvSpPr>
          <p:cNvPr id="979" name=""/>
          <p:cNvSpPr/>
          <p:nvPr/>
        </p:nvSpPr>
        <p:spPr>
          <a:xfrm rot="0" flipH="0" flipV="0">
            <a:off x="11201400" y="647700"/>
            <a:ext cx="419100" cy="38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980" name="" descr="{&quot;isTemplate&quot;:true,&quot;type&quot;:&quot;text&quot;}"/>
          <p:cNvSpPr txBox="1"/>
          <p:nvPr/>
        </p:nvSpPr>
        <p:spPr>
          <a:xfrm rot="0" flipH="0" flipV="0">
            <a:off x="571500" y="914400"/>
            <a:ext cx="110490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E293B"/>
                </a:solidFill>
                <a:latin typeface="Microsoft YaHei"/>
                <a:ea typeface="Microsoft YaHei"/>
              </a:rPr>
              <a:t>老板最关心的三个问题，先说清楚</a:t>
            </a:r>
            <a:endParaRPr/>
          </a:p>
        </p:txBody>
      </p:sp>
      <p:sp>
        <p:nvSpPr>
          <p:cNvPr id="981" name=""/>
          <p:cNvSpPr/>
          <p:nvPr/>
        </p:nvSpPr>
        <p:spPr>
          <a:xfrm rot="0" flipH="0" flipV="0">
            <a:off x="571500" y="1533525"/>
            <a:ext cx="1104900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982" name=""/>
          <p:cNvSpPr/>
          <p:nvPr/>
        </p:nvSpPr>
        <p:spPr>
          <a:xfrm rot="0" flipH="0" flipV="0">
            <a:off x="571500" y="1733550"/>
            <a:ext cx="11049000" cy="1123950"/>
          </a:xfrm>
          <a:prstGeom prst="roundRect">
            <a:avLst>
              <a:gd name="adj" fmla="val 10169"/>
            </a:avLst>
          </a:prstGeom>
          <a:solidFill>
            <a:srgbClr val="E8EEFB"/>
          </a:solidFill>
          <a:ln/>
        </p:spPr>
        <p:txBody>
          <a:bodyPr/>
          <a:p/>
        </p:txBody>
      </p:sp>
      <p:sp>
        <p:nvSpPr>
          <p:cNvPr id="983" name="" descr="{&quot;isTemplate&quot;:true,&quot;type&quot;:&quot;text&quot;}"/>
          <p:cNvSpPr txBox="1"/>
          <p:nvPr/>
        </p:nvSpPr>
        <p:spPr>
          <a:xfrm rot="0" flipH="0" flipV="0">
            <a:off x="742950" y="2133600"/>
            <a:ext cx="2095500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2563EB"/>
                </a:solidFill>
                <a:latin typeface="Microsoft YaHei"/>
                <a:ea typeface="Microsoft YaHei"/>
              </a:rPr>
              <a:t>能不能落地？</a:t>
            </a:r>
            <a:endParaRPr/>
          </a:p>
        </p:txBody>
      </p:sp>
      <p:sp>
        <p:nvSpPr>
          <p:cNvPr id="984" name="" descr="{&quot;isTemplate&quot;:true,&quot;type&quot;:&quot;text&quot;}"/>
          <p:cNvSpPr txBox="1"/>
          <p:nvPr/>
        </p:nvSpPr>
        <p:spPr>
          <a:xfrm rot="0" flipH="0" flipV="0">
            <a:off x="2952750" y="1981200"/>
            <a:ext cx="8496300" cy="638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350">
                <a:solidFill>
                  <a:srgbClr val="1E293B"/>
                </a:solidFill>
                <a:latin typeface="Microsoft YaHei"/>
                <a:ea typeface="Microsoft YaHei"/>
              </a:rPr>
              <a:t>不是新造概念：</a:t>
            </a:r>
            <a:r>
              <a:rPr lang="en-US" sz="1350">
                <a:solidFill>
                  <a:srgbClr val="1E293B"/>
                </a:solidFill>
                <a:latin typeface="Microsoft YaHei"/>
                <a:ea typeface="Microsoft YaHei"/>
              </a:rPr>
              <a:t xml:space="preserve">33 </a:t>
            </a:r>
            <a:r>
              <a:rPr lang="zh-CN" sz="1350">
                <a:solidFill>
                  <a:srgbClr val="1E293B"/>
                </a:solidFill>
                <a:latin typeface="Microsoft YaHei"/>
                <a:ea typeface="Microsoft YaHei"/>
              </a:rPr>
              <a:t>个岗位专家、</a:t>
            </a:r>
            <a:r>
              <a:rPr lang="en-US" sz="1350">
                <a:solidFill>
                  <a:srgbClr val="1E293B"/>
                </a:solidFill>
                <a:latin typeface="Microsoft YaHei"/>
                <a:ea typeface="Microsoft YaHei"/>
              </a:rPr>
              <a:t xml:space="preserve">24 </a:t>
            </a:r>
            <a:r>
              <a:rPr lang="zh-CN" sz="1350">
                <a:solidFill>
                  <a:srgbClr val="1E293B"/>
                </a:solidFill>
                <a:latin typeface="Microsoft YaHei"/>
                <a:ea typeface="Microsoft YaHei"/>
              </a:rPr>
              <a:t>个技能包、</a:t>
            </a:r>
            <a:r>
              <a:rPr lang="en-US" sz="1350">
                <a:solidFill>
                  <a:srgbClr val="1E293B"/>
                </a:solidFill>
                <a:latin typeface="Microsoft YaHei"/>
                <a:ea typeface="Microsoft YaHei"/>
              </a:rPr>
              <a:t xml:space="preserve">47 </a:t>
            </a:r>
            <a:r>
              <a:rPr lang="zh-CN" sz="1350">
                <a:solidFill>
                  <a:srgbClr val="1E293B"/>
                </a:solidFill>
                <a:latin typeface="Microsoft YaHei"/>
                <a:ea typeface="Microsoft YaHei"/>
              </a:rPr>
              <a:t>个系统连接开箱即用；从一个真实场景开始，</a:t>
            </a:r>
            <a:r>
              <a:rPr lang="en-US" sz="1350">
                <a:solidFill>
                  <a:srgbClr val="1E293B"/>
                </a:solidFill>
                <a:latin typeface="Microsoft YaHei"/>
                <a:ea typeface="Microsoft YaHei"/>
              </a:rPr>
              <a:t xml:space="preserve">30 </a:t>
            </a:r>
            <a:r>
              <a:rPr lang="zh-CN" sz="1350">
                <a:solidFill>
                  <a:srgbClr val="1E293B"/>
                </a:solidFill>
                <a:latin typeface="Microsoft YaHei"/>
                <a:ea typeface="Microsoft YaHei"/>
              </a:rPr>
              <a:t>天就能验证。</a:t>
            </a:r>
            <a:endParaRPr/>
          </a:p>
        </p:txBody>
      </p:sp>
      <p:sp>
        <p:nvSpPr>
          <p:cNvPr id="985" name=""/>
          <p:cNvSpPr/>
          <p:nvPr/>
        </p:nvSpPr>
        <p:spPr>
          <a:xfrm rot="0" flipH="0" flipV="0">
            <a:off x="571500" y="2971800"/>
            <a:ext cx="11049000" cy="1123950"/>
          </a:xfrm>
          <a:prstGeom prst="roundRect">
            <a:avLst>
              <a:gd name="adj" fmla="val 10169"/>
            </a:avLst>
          </a:prstGeom>
          <a:solidFill>
            <a:srgbClr val="D6E4F9"/>
          </a:solidFill>
          <a:ln/>
        </p:spPr>
        <p:txBody>
          <a:bodyPr/>
          <a:p/>
        </p:txBody>
      </p:sp>
      <p:sp>
        <p:nvSpPr>
          <p:cNvPr id="986" name="" descr="{&quot;isTemplate&quot;:true,&quot;type&quot;:&quot;text&quot;}"/>
          <p:cNvSpPr txBox="1"/>
          <p:nvPr/>
        </p:nvSpPr>
        <p:spPr>
          <a:xfrm rot="0" flipH="0" flipV="0">
            <a:off x="742950" y="3371850"/>
            <a:ext cx="2095500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1E293B"/>
                </a:solidFill>
                <a:latin typeface="Microsoft YaHei"/>
                <a:ea typeface="Microsoft YaHei"/>
              </a:rPr>
              <a:t>安不安全？</a:t>
            </a:r>
            <a:endParaRPr/>
          </a:p>
        </p:txBody>
      </p:sp>
      <p:sp>
        <p:nvSpPr>
          <p:cNvPr id="987" name="" descr="{&quot;isTemplate&quot;:true,&quot;type&quot;:&quot;text&quot;}"/>
          <p:cNvSpPr txBox="1"/>
          <p:nvPr/>
        </p:nvSpPr>
        <p:spPr>
          <a:xfrm rot="0" flipH="0" flipV="0">
            <a:off x="2952750" y="3371850"/>
            <a:ext cx="8496300" cy="3238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350">
                <a:solidFill>
                  <a:srgbClr val="1E293B"/>
                </a:solidFill>
                <a:latin typeface="Microsoft YaHei"/>
                <a:ea typeface="Microsoft YaHei"/>
              </a:rPr>
              <a:t>部署在公司自己的机器上，数据不出内网；高风险动作先由人审批，每一步留痕可回放——合规拿得出证据。</a:t>
            </a:r>
            <a:endParaRPr/>
          </a:p>
        </p:txBody>
      </p:sp>
      <p:sp>
        <p:nvSpPr>
          <p:cNvPr id="988" name=""/>
          <p:cNvSpPr/>
          <p:nvPr/>
        </p:nvSpPr>
        <p:spPr>
          <a:xfrm rot="0" flipH="0" flipV="0">
            <a:off x="571500" y="4210050"/>
            <a:ext cx="11049000" cy="1123950"/>
          </a:xfrm>
          <a:prstGeom prst="roundRect">
            <a:avLst>
              <a:gd name="adj" fmla="val 10169"/>
            </a:avLst>
          </a:prstGeom>
          <a:solidFill>
            <a:srgbClr val="FFF7E9"/>
          </a:solidFill>
          <a:ln/>
        </p:spPr>
        <p:txBody>
          <a:bodyPr/>
          <a:p/>
        </p:txBody>
      </p:sp>
      <p:sp>
        <p:nvSpPr>
          <p:cNvPr id="989" name="" descr="{&quot;isTemplate&quot;:true,&quot;type&quot;:&quot;text&quot;}"/>
          <p:cNvSpPr txBox="1"/>
          <p:nvPr/>
        </p:nvSpPr>
        <p:spPr>
          <a:xfrm rot="0" flipH="0" flipV="0">
            <a:off x="742950" y="4610100"/>
            <a:ext cx="2095500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B45309"/>
                </a:solidFill>
                <a:latin typeface="Microsoft YaHei"/>
                <a:ea typeface="Microsoft YaHei"/>
              </a:rPr>
              <a:t>值不值？</a:t>
            </a:r>
            <a:endParaRPr/>
          </a:p>
        </p:txBody>
      </p:sp>
      <p:sp>
        <p:nvSpPr>
          <p:cNvPr id="990" name="" descr="{&quot;isTemplate&quot;:true,&quot;type&quot;:&quot;text&quot;}"/>
          <p:cNvSpPr txBox="1"/>
          <p:nvPr/>
        </p:nvSpPr>
        <p:spPr>
          <a:xfrm rot="0" flipH="0" flipV="0">
            <a:off x="2952750" y="4610100"/>
            <a:ext cx="8496300" cy="3238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350">
                <a:solidFill>
                  <a:srgbClr val="1E293B"/>
                </a:solidFill>
                <a:latin typeface="Microsoft YaHei"/>
                <a:ea typeface="Microsoft YaHei"/>
              </a:rPr>
              <a:t>不承诺编造的百分比：用试点回答三个可衡量的问题——答得准不准、处理快没快、员工愿不愿用。</a:t>
            </a:r>
            <a:endParaRPr/>
          </a:p>
        </p:txBody>
      </p:sp>
      <p:sp>
        <p:nvSpPr>
          <p:cNvPr id="991" name=""/>
          <p:cNvSpPr/>
          <p:nvPr/>
        </p:nvSpPr>
        <p:spPr>
          <a:xfrm rot="0" flipH="0" flipV="0">
            <a:off x="571500" y="5486400"/>
            <a:ext cx="11049000" cy="590550"/>
          </a:xfrm>
          <a:prstGeom prst="roundRect">
            <a:avLst>
              <a:gd name="adj" fmla="val 16129"/>
            </a:avLst>
          </a:prstGeom>
          <a:solidFill>
            <a:srgbClr val="E8EEFB"/>
          </a:solidFill>
          <a:ln/>
        </p:spPr>
        <p:txBody>
          <a:bodyPr/>
          <a:p/>
        </p:txBody>
      </p:sp>
      <p:sp>
        <p:nvSpPr>
          <p:cNvPr id="992" name="" descr="{&quot;isTemplate&quot;:true,&quot;type&quot;:&quot;text&quot;}"/>
          <p:cNvSpPr txBox="1"/>
          <p:nvPr/>
        </p:nvSpPr>
        <p:spPr>
          <a:xfrm rot="0" flipH="0" flipV="0">
            <a:off x="704850" y="5629275"/>
            <a:ext cx="10782300" cy="3048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425" b="1">
                <a:solidFill>
                  <a:srgbClr val="1E293B"/>
                </a:solidFill>
                <a:latin typeface="Microsoft YaHei"/>
                <a:ea typeface="Microsoft YaHei"/>
              </a:rPr>
              <a:t>把这三个问题的答案放在前面，后面所有内容都是在支撑它们——价值、场景、风控、路径，一节一节展开。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993" name="" descr="&lt;Slide style={{ padding: 60, background: '#FFFFFF' }}&gt;&#10;    &lt;Box style={{ height: 600 }}&gt;&#10;        &lt;Box style={{ height: 20, flexDirection: 'row', justifyContent: 'space-between', alignItems: 'center' }}&gt;&#10;            &lt;Text style={{ fontSize: 14, color: '#94A3B8', letterSpacing: 2 }}&gt;01 · 为什么需要&lt;/Text&gt;&#10;            &lt;Box style={{ width: 44, height: 4, borderRadius: 2, background: '#2563EB' }} /&gt;&#10;        &lt;/Box&gt;&#10;        &lt;Text style={{ fontSize: 34, fontWeight: 'bold', color: '#1E293B', marginTop: 16, lineHeight: 1.2 }}&gt;&#10;            不是又一个聊天框，是企业的「数字员工工作台」&#10;        &lt;/Text&gt;&#10;        &lt;Box style={{ height: 1, background: '#E2E8F0', marginTop: 16 }} /&gt;&#10;&#10;        {/* 宣言行 */}&#10;        &lt;Box style={{ flexDirection: 'row', alignItems: 'center', marginTop: 18, gap: 18 }}&gt;&#10;            &lt;Text style={{ fontSize: 30, fontWeight: 'bold', color: '#1E293B' }}&gt;会思考&lt;/Text&gt;&#10;            &lt;Box style={{ width: 24, height: 3, borderRadius: 2, background: '#F59E0B' }} /&gt;&#10;            &lt;Text style={{ fontSize: 30, fontWeight: 'bold', color: '#1E293B' }}&gt;会干活&lt;/Text&gt;&#10;            &lt;Box style={{ width: 24, height: 3, borderRadius: 2, background: '#F59E0B' }} /&gt;&#10;            &lt;Text style={{ fontSize: 30, fontWeight: 'bold', color: '#1E293B' }}&gt;陪企业成长&lt;/Text&gt;&#10;        &lt;/Box&gt;&#10;&#10;        &lt;Box style={{ flex: 1, marginTop: 18, flexDirection: 'row', gap: 24 }}&gt;&#10;            {/* 左大卡：会思考 */}&#10;            &lt;Box style={{ width: 560, background: '#2563EB', borderRadius: 14, padding: 28 }}&gt;&#10;                &lt;Text style={{ fontSize: 24, fontWeight: '600', color: '#FFFFFF', lineHeight: 1.3 }}&gt;会思考：答案懂你的业务&lt;/Text&gt;&#10;                &lt;Text style={{ fontSize: 18, color: '#DBEAFE', lineHeight: 1.6, marginTop: 14 }}&gt;&#10;                    公司的制度、合同、案例、话术都进知识库；AI 基于这些私有知识作答，每个答案都带得出出处。&#10;                &lt;/Text&gt;&#10;                &lt;Box style={{ height: 1, background: '#3B82F6', marginTop: 18 }} /&gt;&#10;                &lt;Text style={{ fontSize: 18, color: '#DBEAFE', lineHeight: 1.6, marginTop: 14 }}&gt;&#10;                    长期记忆让它记得住你的偏好、项目和上一次的结论——换个会话还认得你，越合作越懂你的公司。&#10;                &lt;/Text&gt;&#10;            &lt;/Box&gt;&#10;&#10;            {/* 右两卡 */}&#10;            &lt;Box style={{ flex: 1, gap: 16 }}&gt;&#10;                &lt;Box style={{ flex: 1, background: '#F4F6FB', borderRadius: 12, padding: 22 }}&gt;&#10;                    &lt;Text style={{ fontSize: 22, fontWeight: '600', color: '#1E293B', lineHeight: 1.3 }}&gt;会干活：动作真的发生&lt;/Text&gt;&#10;                    &lt;Text style={{ fontSize: 18, color: '#475569', lineHeight: 1.55, marginTop: 10 }}&gt;&#10;                        读写文件、执行任务、生成报表、定时推送、操作浏览器——不是「建议你这样做」，而是真的帮你做完。&#10;                    &lt;/Text&gt;&#10;                &lt;/Box&gt;&#10;                &lt;Box style={{ flex: 1, background: '#F4F6FB', borderRadius: 12, padding: 22 }}&gt;&#10;                    &lt;Text style={{ fontSize: 22, fontWeight: '600', color: '#1E293B', lineHeight: 1.3 }}&gt;陪成长：能力沉淀下来&lt;/Text&gt;&#10;                    &lt;Text style={{ fontSize: 18, color: '#475569', lineHeight: 1.55, marginTop: 10 }}&gt;&#10;                        岗位专家、技能、记忆都是组织资产：配好一次，全公司复用；人员流动，能力不留失。&#10;                    &lt;/Text&gt;&#10;                &lt;/Box&gt;&#10;            &lt;/Box&gt;&#10;        &lt;/Box&gt;&#10;&#10;        {/* 结论条 */}&#10;        &lt;Box style={{ height: 62, background: '#E8EEFB', borderRadius: 10, padding: 16, marginTop: 12, justifyContent: 'center' }}&gt;&#10;            &lt;Text style={{ fontSize: 19, fontWeight: '600', color: '#1E293B', lineHeight: 1.4 }}&gt;&#10;                一个平台全员共用：每位员工有自己的数字同事，共用一台服务器，数据彼此隔离。&#10;            &lt;/Text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95" name="" descr="{&quot;isTemplate&quot;:true,&quot;type&quot;:&quot;text&quot;}"/>
          <p:cNvSpPr txBox="1"/>
          <p:nvPr/>
        </p:nvSpPr>
        <p:spPr>
          <a:xfrm rot="0" flipH="0" flipV="0">
            <a:off x="571500" y="590550"/>
            <a:ext cx="1133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94A3B8"/>
                </a:solidFill>
                <a:latin typeface="Microsoft YaHei"/>
                <a:ea typeface="Microsoft YaHei"/>
              </a:rPr>
              <a:t xml:space="preserve">01 · </a:t>
            </a:r>
            <a:r>
              <a:rPr lang="zh-CN" sz="1050" spc="150">
                <a:solidFill>
                  <a:srgbClr val="94A3B8"/>
                </a:solidFill>
                <a:latin typeface="Microsoft YaHei"/>
                <a:ea typeface="Microsoft YaHei"/>
              </a:rPr>
              <a:t>为什么需要</a:t>
            </a:r>
            <a:endParaRPr/>
          </a:p>
        </p:txBody>
      </p:sp>
      <p:sp>
        <p:nvSpPr>
          <p:cNvPr id="996" name=""/>
          <p:cNvSpPr/>
          <p:nvPr/>
        </p:nvSpPr>
        <p:spPr>
          <a:xfrm rot="0" flipH="0" flipV="0">
            <a:off x="11201400" y="647700"/>
            <a:ext cx="419100" cy="38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997" name="" descr="{&quot;isTemplate&quot;:true,&quot;type&quot;:&quot;text&quot;}"/>
          <p:cNvSpPr txBox="1"/>
          <p:nvPr/>
        </p:nvSpPr>
        <p:spPr>
          <a:xfrm rot="0" flipH="0" flipV="0">
            <a:off x="571500" y="914400"/>
            <a:ext cx="110490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E293B"/>
                </a:solidFill>
                <a:latin typeface="Microsoft YaHei"/>
                <a:ea typeface="Microsoft YaHei"/>
              </a:rPr>
              <a:t>不是又一个聊天框，是企业的「数字员工工作台」</a:t>
            </a:r>
            <a:endParaRPr/>
          </a:p>
        </p:txBody>
      </p:sp>
      <p:sp>
        <p:nvSpPr>
          <p:cNvPr id="998" name=""/>
          <p:cNvSpPr/>
          <p:nvPr/>
        </p:nvSpPr>
        <p:spPr>
          <a:xfrm rot="0" flipH="0" flipV="0">
            <a:off x="571500" y="1533525"/>
            <a:ext cx="1104900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999" name="" descr="{&quot;isTemplate&quot;:true,&quot;type&quot;:&quot;text&quot;}"/>
          <p:cNvSpPr txBox="1"/>
          <p:nvPr/>
        </p:nvSpPr>
        <p:spPr>
          <a:xfrm rot="0" flipH="0" flipV="0">
            <a:off x="571500" y="1714500"/>
            <a:ext cx="8572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E293B"/>
                </a:solidFill>
                <a:latin typeface="Microsoft YaHei"/>
                <a:ea typeface="Microsoft YaHei"/>
              </a:rPr>
              <a:t>会思考</a:t>
            </a:r>
            <a:endParaRPr/>
          </a:p>
        </p:txBody>
      </p:sp>
      <p:sp>
        <p:nvSpPr>
          <p:cNvPr id="1000" name=""/>
          <p:cNvSpPr/>
          <p:nvPr/>
        </p:nvSpPr>
        <p:spPr>
          <a:xfrm rot="0" flipH="0" flipV="0">
            <a:off x="1600200" y="1876425"/>
            <a:ext cx="228600" cy="28575"/>
          </a:xfrm>
          <a:prstGeom prst="roundRect">
            <a:avLst>
              <a:gd name="adj" fmla="val 66667"/>
            </a:avLst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1001" name="" descr="{&quot;isTemplate&quot;:true,&quot;type&quot;:&quot;text&quot;}"/>
          <p:cNvSpPr txBox="1"/>
          <p:nvPr/>
        </p:nvSpPr>
        <p:spPr>
          <a:xfrm rot="0" flipH="0" flipV="0">
            <a:off x="2000250" y="1714500"/>
            <a:ext cx="8572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E293B"/>
                </a:solidFill>
                <a:latin typeface="Microsoft YaHei"/>
                <a:ea typeface="Microsoft YaHei"/>
              </a:rPr>
              <a:t>会干活</a:t>
            </a:r>
            <a:endParaRPr/>
          </a:p>
        </p:txBody>
      </p:sp>
      <p:sp>
        <p:nvSpPr>
          <p:cNvPr id="1002" name=""/>
          <p:cNvSpPr/>
          <p:nvPr/>
        </p:nvSpPr>
        <p:spPr>
          <a:xfrm rot="0" flipH="0" flipV="0">
            <a:off x="3028950" y="1876425"/>
            <a:ext cx="228600" cy="28575"/>
          </a:xfrm>
          <a:prstGeom prst="roundRect">
            <a:avLst>
              <a:gd name="adj" fmla="val 66667"/>
            </a:avLst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1003" name="" descr="{&quot;isTemplate&quot;:true,&quot;type&quot;:&quot;text&quot;}"/>
          <p:cNvSpPr txBox="1"/>
          <p:nvPr/>
        </p:nvSpPr>
        <p:spPr>
          <a:xfrm rot="0" flipH="0" flipV="0">
            <a:off x="3429000" y="1714500"/>
            <a:ext cx="1428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E293B"/>
                </a:solidFill>
                <a:latin typeface="Microsoft YaHei"/>
                <a:ea typeface="Microsoft YaHei"/>
              </a:rPr>
              <a:t>陪企业成长</a:t>
            </a:r>
            <a:endParaRPr/>
          </a:p>
        </p:txBody>
      </p:sp>
      <p:sp>
        <p:nvSpPr>
          <p:cNvPr id="1004" name=""/>
          <p:cNvSpPr/>
          <p:nvPr/>
        </p:nvSpPr>
        <p:spPr>
          <a:xfrm rot="0" flipH="0" flipV="0">
            <a:off x="571500" y="2228850"/>
            <a:ext cx="5334000" cy="3352800"/>
          </a:xfrm>
          <a:prstGeom prst="roundRect">
            <a:avLst>
              <a:gd name="adj" fmla="val 3977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1005" name="" descr="{&quot;isTemplate&quot;:true,&quot;type&quot;:&quot;text&quot;}"/>
          <p:cNvSpPr txBox="1"/>
          <p:nvPr/>
        </p:nvSpPr>
        <p:spPr>
          <a:xfrm rot="0" flipH="0" flipV="0">
            <a:off x="838200" y="2495550"/>
            <a:ext cx="4800600" cy="3619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800" b="1">
                <a:solidFill>
                  <a:srgbClr val="FFFFFF"/>
                </a:solidFill>
                <a:latin typeface="Microsoft YaHei"/>
                <a:ea typeface="Microsoft YaHei"/>
              </a:rPr>
              <a:t>会思考：答案懂你的业务</a:t>
            </a:r>
            <a:endParaRPr/>
          </a:p>
        </p:txBody>
      </p:sp>
      <p:sp>
        <p:nvSpPr>
          <p:cNvPr id="1006" name="" descr="{&quot;isTemplate&quot;:true,&quot;type&quot;:&quot;text&quot;}"/>
          <p:cNvSpPr txBox="1"/>
          <p:nvPr/>
        </p:nvSpPr>
        <p:spPr>
          <a:xfrm rot="0" flipH="0" flipV="0">
            <a:off x="838200" y="2990850"/>
            <a:ext cx="480060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>
                <a:solidFill>
                  <a:srgbClr val="DBEAFE"/>
                </a:solidFill>
                <a:latin typeface="Microsoft YaHei"/>
                <a:ea typeface="Microsoft YaHei"/>
              </a:rPr>
              <a:t>公司的制度、合同、案例、话术都进知识库；</a:t>
            </a:r>
            <a:r>
              <a:rPr lang="en-US" sz="1350">
                <a:solidFill>
                  <a:srgbClr val="DBEAFE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1350">
                <a:solidFill>
                  <a:srgbClr val="DBEAFE"/>
                </a:solidFill>
                <a:latin typeface="Microsoft YaHei"/>
                <a:ea typeface="Microsoft YaHei"/>
              </a:rPr>
              <a:t>基于这些私有知识作答，每个答案都带得出出处。</a:t>
            </a:r>
            <a:endParaRPr/>
          </a:p>
        </p:txBody>
      </p:sp>
      <p:sp>
        <p:nvSpPr>
          <p:cNvPr id="1007" name=""/>
          <p:cNvSpPr/>
          <p:nvPr/>
        </p:nvSpPr>
        <p:spPr>
          <a:xfrm rot="0" flipH="0" flipV="0">
            <a:off x="838200" y="3829050"/>
            <a:ext cx="4800600" cy="952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1008" name="" descr="{&quot;isTemplate&quot;:true,&quot;type&quot;:&quot;text&quot;}"/>
          <p:cNvSpPr txBox="1"/>
          <p:nvPr/>
        </p:nvSpPr>
        <p:spPr>
          <a:xfrm rot="0" flipH="0" flipV="0">
            <a:off x="838200" y="3971925"/>
            <a:ext cx="480060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>
                <a:solidFill>
                  <a:srgbClr val="DBEAFE"/>
                </a:solidFill>
                <a:latin typeface="Microsoft YaHei"/>
                <a:ea typeface="Microsoft YaHei"/>
              </a:rPr>
              <a:t>长期记忆让它记得住你的偏好、项目和上一次的结论——换个会话还认得你，越合作越懂你的公司。</a:t>
            </a:r>
            <a:endParaRPr/>
          </a:p>
        </p:txBody>
      </p:sp>
      <p:sp>
        <p:nvSpPr>
          <p:cNvPr id="1009" name=""/>
          <p:cNvSpPr/>
          <p:nvPr/>
        </p:nvSpPr>
        <p:spPr>
          <a:xfrm rot="0" flipH="0" flipV="0">
            <a:off x="6134100" y="2228850"/>
            <a:ext cx="5486400" cy="1600200"/>
          </a:xfrm>
          <a:prstGeom prst="roundRect">
            <a:avLst>
              <a:gd name="adj" fmla="val 7143"/>
            </a:avLst>
          </a:prstGeom>
          <a:solidFill>
            <a:srgbClr val="F4F6FB"/>
          </a:solidFill>
          <a:ln/>
        </p:spPr>
        <p:txBody>
          <a:bodyPr/>
          <a:p/>
        </p:txBody>
      </p:sp>
      <p:sp>
        <p:nvSpPr>
          <p:cNvPr id="1010" name="" descr="{&quot;isTemplate&quot;:true,&quot;type&quot;:&quot;text&quot;}"/>
          <p:cNvSpPr txBox="1"/>
          <p:nvPr/>
        </p:nvSpPr>
        <p:spPr>
          <a:xfrm rot="0" flipH="0" flipV="0">
            <a:off x="6343650" y="2438400"/>
            <a:ext cx="5067300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1E293B"/>
                </a:solidFill>
                <a:latin typeface="Microsoft YaHei"/>
                <a:ea typeface="Microsoft YaHei"/>
              </a:rPr>
              <a:t>会干活：动作真的发生</a:t>
            </a:r>
            <a:endParaRPr/>
          </a:p>
        </p:txBody>
      </p:sp>
      <p:sp>
        <p:nvSpPr>
          <p:cNvPr id="1011" name="" descr="{&quot;isTemplate&quot;:true,&quot;type&quot;:&quot;text&quot;}"/>
          <p:cNvSpPr txBox="1"/>
          <p:nvPr/>
        </p:nvSpPr>
        <p:spPr>
          <a:xfrm rot="0" flipH="0" flipV="0">
            <a:off x="6343650" y="2867025"/>
            <a:ext cx="5067300" cy="638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读写文件、执行任务、生成报表、定时推送、操作浏览器——不是「建议你这样做」，而是真的帮你做完。</a:t>
            </a:r>
            <a:endParaRPr/>
          </a:p>
        </p:txBody>
      </p:sp>
      <p:sp>
        <p:nvSpPr>
          <p:cNvPr id="1012" name=""/>
          <p:cNvSpPr/>
          <p:nvPr/>
        </p:nvSpPr>
        <p:spPr>
          <a:xfrm rot="0" flipH="0" flipV="0">
            <a:off x="6134100" y="3981450"/>
            <a:ext cx="5486400" cy="1600200"/>
          </a:xfrm>
          <a:prstGeom prst="roundRect">
            <a:avLst>
              <a:gd name="adj" fmla="val 7143"/>
            </a:avLst>
          </a:prstGeom>
          <a:solidFill>
            <a:srgbClr val="F4F6FB"/>
          </a:solidFill>
          <a:ln/>
        </p:spPr>
        <p:txBody>
          <a:bodyPr/>
          <a:p/>
        </p:txBody>
      </p:sp>
      <p:sp>
        <p:nvSpPr>
          <p:cNvPr id="1013" name="" descr="{&quot;isTemplate&quot;:true,&quot;type&quot;:&quot;text&quot;}"/>
          <p:cNvSpPr txBox="1"/>
          <p:nvPr/>
        </p:nvSpPr>
        <p:spPr>
          <a:xfrm rot="0" flipH="0" flipV="0">
            <a:off x="6343650" y="4191000"/>
            <a:ext cx="5067300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1E293B"/>
                </a:solidFill>
                <a:latin typeface="Microsoft YaHei"/>
                <a:ea typeface="Microsoft YaHei"/>
              </a:rPr>
              <a:t>陪成长：能力沉淀下来</a:t>
            </a:r>
            <a:endParaRPr/>
          </a:p>
        </p:txBody>
      </p:sp>
      <p:sp>
        <p:nvSpPr>
          <p:cNvPr id="1014" name="" descr="{&quot;isTemplate&quot;:true,&quot;type&quot;:&quot;text&quot;}"/>
          <p:cNvSpPr txBox="1"/>
          <p:nvPr/>
        </p:nvSpPr>
        <p:spPr>
          <a:xfrm rot="0" flipH="0" flipV="0">
            <a:off x="6343650" y="4619625"/>
            <a:ext cx="5067300" cy="638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岗位专家、技能、记忆都是组织资产：配好一次，全公司复用；人员流动，能力不留失。</a:t>
            </a:r>
            <a:endParaRPr/>
          </a:p>
        </p:txBody>
      </p:sp>
      <p:sp>
        <p:nvSpPr>
          <p:cNvPr id="1015" name=""/>
          <p:cNvSpPr/>
          <p:nvPr/>
        </p:nvSpPr>
        <p:spPr>
          <a:xfrm rot="0" flipH="0" flipV="0">
            <a:off x="571500" y="5695950"/>
            <a:ext cx="11049000" cy="590550"/>
          </a:xfrm>
          <a:prstGeom prst="roundRect">
            <a:avLst>
              <a:gd name="adj" fmla="val 16129"/>
            </a:avLst>
          </a:prstGeom>
          <a:solidFill>
            <a:srgbClr val="E8EEFB"/>
          </a:solidFill>
          <a:ln/>
        </p:spPr>
        <p:txBody>
          <a:bodyPr/>
          <a:p/>
        </p:txBody>
      </p:sp>
      <p:sp>
        <p:nvSpPr>
          <p:cNvPr id="1016" name="" descr="{&quot;isTemplate&quot;:true,&quot;type&quot;:&quot;text&quot;}"/>
          <p:cNvSpPr txBox="1"/>
          <p:nvPr/>
        </p:nvSpPr>
        <p:spPr>
          <a:xfrm rot="0" flipH="0" flipV="0">
            <a:off x="723900" y="5838825"/>
            <a:ext cx="10744200" cy="3048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425" b="1">
                <a:solidFill>
                  <a:srgbClr val="1E293B"/>
                </a:solidFill>
                <a:latin typeface="Microsoft YaHei"/>
                <a:ea typeface="Microsoft YaHei"/>
              </a:rPr>
              <a:t>一个平台全员共用：每位员工有自己的数字同事，共用一台服务器，数据彼此隔离。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017" name="" descr="&lt;Slide style={{ padding: 60, background: '#FFFFFF' }}&gt;&#10;    &lt;Box style={{ height: 600 }}&gt;&#10;        &lt;Box style={{ height: 20, flexDirection: 'row', justifyContent: 'space-between', alignItems: 'center' }}&gt;&#10;            &lt;Text style={{ fontSize: 14, color: '#94A3B8', letterSpacing: 2 }}&gt;01 · 为什么需要&lt;/Text&gt;&#10;            &lt;Box style={{ width: 44, height: 4, borderRadius: 2, background: '#2563EB' }} /&gt;&#10;        &lt;/Box&gt;&#10;        &lt;Text style={{ fontSize: 34, fontWeight: 'bold', color: '#1E293B', marginTop: 16, lineHeight: 1.2 }}&gt;&#10;            会思考：答案来自你的业务，不是网上的话&#10;        &lt;/Text&gt;&#10;        &lt;Box style={{ height: 1, background: '#E2E8F0', marginTop: 16 }} /&gt;&#10;&#10;        &lt;Box style={{ flex: 1, marginTop: 20, flexDirection: 'row', gap: 32 }}&gt;&#10;            {/* 左：主视觉 */}&#10;            &lt;Box style={{ width: 380, background: '#F4F6FB', borderRadius: 12, padding: 22, justifyContent: 'center', alignItems: 'center' }}&gt;&#10;                &lt;svg width={300} height={230} viewBox='0 0 300 230'&gt;&#10;                    &lt;rect x='30' y='30' width='150' height='100' rx='10' fill='#E8EEFB' stroke='#C7D6F5' strokeWidth='2' /&gt;&#10;                    &lt;rect x='120' y='70' width='150' height='100' rx='10' fill='#FFFFFF' stroke='#2563EB' strokeWidth='2' /&gt;&#10;                    &lt;rect x='75' y='110' width='150' height='100' rx='10' fill='#D6E4F9' stroke='#C7D6F5' strokeWidth='2' /&gt;&#10;                    &lt;text x='105' y='85' textAnchor='middle' fontSize='15' fill='#2563EB' fontFamily='Microsoft YaHei'&gt;公司文档&lt;/text&gt;&#10;                    &lt;text x='195' y='125' textAnchor='middle' fontSize='15' fill='#1E293B' fontFamily='Microsoft YaHei'&gt;知识库&lt;/text&gt;&#10;                    &lt;text x='150' y='165' textAnchor='middle' fontSize='15' fill='#1E293B' fontFamily='Microsoft YaHei'&gt;长期记忆&lt;/text&gt;&#10;                &lt;/svg&gt;&#10;                &lt;Text style={{ fontSize: 18, color: '#475569', lineHeight: 1.55, marginTop: 14 }}&gt;&#10;                    AI 只在公司的知识范围内作答，答不上来就明说、就转人工，不编故事。&#10;                &lt;/Text&gt;&#10;            &lt;/Box&gt;&#10;&#10;            {/* 右：三条 */}&#10;            &lt;Box style={{ flex: 1 }}&gt;&#10;                &lt;Box style={{ height: 128, borderBottomWidth: 1, borderBottomColor: '#E2E8F0', borderBottomStyle: 'solid' }}&gt;&#10;                    &lt;Text style={{ fontSize: 22, fontWeight: '600', color: '#1E293B', lineHeight: 1.3, marginTop: 4 }}&gt;私有知识库：基于公司资料回答&lt;/Text&gt;&#10;                    &lt;Text style={{ fontSize: 18, color: '#475569', lineHeight: 1.5, marginTop: 8 }}&gt;&#10;                        制度、合同、案例、话术统一入库，问答从这些资料出发，而不是凭空生成。&#10;                    &lt;/Text&gt;&#10;                &lt;/Box&gt;&#10;                &lt;Box style={{ height: 128, borderBottomWidth: 1, borderBottomColor: '#E2E8F0', borderBottomStyle: 'solid' }}&gt;&#10;                    &lt;Text style={{ fontSize: 22, fontWeight: '600', color: '#1E293B', lineHeight: 1.3, marginTop: 4 }}&gt;引用溯源：每个答案带得出出处&lt;/Text&gt;&#10;                    &lt;Text style={{ fontSize: 18, color: '#475569', lineHeight: 1.5, marginTop: 8 }}&gt;&#10;                        回答附来源标记，点得开原文核对——敢用的前提是说得清「凭什么这么答」。&#10;                    &lt;/Text&gt;&#10;                &lt;/Box&gt;&#10;                &lt;Box style={{ height: 128 }}&gt;&#10;                    &lt;Text style={{ fontSize: 22, fontWeight: '600', color: '#1E293B', lineHeight: 1.3, marginTop: 4 }}&gt;长期记忆：换个会话还认得你&lt;/Text&gt;&#10;                    &lt;Text style={{ fontSize: 18, color: '#475569', lineHeight: 1.5, marginTop: 8 }}&gt;&#10;                        记得住你的项目、偏好和上一次的结论，背景不用每次重讲，纠错一次就改一次。&#10;                    &lt;/Text&gt;&#10;                &lt;/Box&gt;&#10;            &lt;/Box&gt;&#10;        &lt;/Box&gt;&#10;&#10;        {/* 结论条 */}&#10;        &lt;Box style={{ height: 58, background: '#E8EEFB', borderRadius: 10, padding: 14, marginTop: 12, justifyContent: 'center' }}&gt;&#10;            &lt;Text style={{ fontSize: 19, fontWeight: '600', color: '#1E293B', lineHeight: 1.4 }}&gt;&#10;                AI 的「聪明」要用在你的业务上，而不是用在编得像上——知识、出处、记忆三件事定住这一点。&#10;            &lt;/Text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19" name="" descr="{&quot;isTemplate&quot;:true,&quot;type&quot;:&quot;text&quot;}"/>
          <p:cNvSpPr txBox="1"/>
          <p:nvPr/>
        </p:nvSpPr>
        <p:spPr>
          <a:xfrm rot="0" flipH="0" flipV="0">
            <a:off x="571500" y="590550"/>
            <a:ext cx="1133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94A3B8"/>
                </a:solidFill>
                <a:latin typeface="Microsoft YaHei"/>
                <a:ea typeface="Microsoft YaHei"/>
              </a:rPr>
              <a:t xml:space="preserve">01 · </a:t>
            </a:r>
            <a:r>
              <a:rPr lang="zh-CN" sz="1050" spc="150">
                <a:solidFill>
                  <a:srgbClr val="94A3B8"/>
                </a:solidFill>
                <a:latin typeface="Microsoft YaHei"/>
                <a:ea typeface="Microsoft YaHei"/>
              </a:rPr>
              <a:t>为什么需要</a:t>
            </a:r>
            <a:endParaRPr/>
          </a:p>
        </p:txBody>
      </p:sp>
      <p:sp>
        <p:nvSpPr>
          <p:cNvPr id="1020" name=""/>
          <p:cNvSpPr/>
          <p:nvPr/>
        </p:nvSpPr>
        <p:spPr>
          <a:xfrm rot="0" flipH="0" flipV="0">
            <a:off x="11201400" y="647700"/>
            <a:ext cx="419100" cy="38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1021" name="" descr="{&quot;isTemplate&quot;:true,&quot;type&quot;:&quot;text&quot;}"/>
          <p:cNvSpPr txBox="1"/>
          <p:nvPr/>
        </p:nvSpPr>
        <p:spPr>
          <a:xfrm rot="0" flipH="0" flipV="0">
            <a:off x="571500" y="914400"/>
            <a:ext cx="110490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E293B"/>
                </a:solidFill>
                <a:latin typeface="Microsoft YaHei"/>
                <a:ea typeface="Microsoft YaHei"/>
              </a:rPr>
              <a:t>会思考：答案来自你的业务，不是网上的话</a:t>
            </a:r>
            <a:endParaRPr/>
          </a:p>
        </p:txBody>
      </p:sp>
      <p:sp>
        <p:nvSpPr>
          <p:cNvPr id="1022" name=""/>
          <p:cNvSpPr/>
          <p:nvPr/>
        </p:nvSpPr>
        <p:spPr>
          <a:xfrm rot="0" flipH="0" flipV="0">
            <a:off x="571500" y="1533525"/>
            <a:ext cx="1104900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1023" name=""/>
          <p:cNvSpPr/>
          <p:nvPr/>
        </p:nvSpPr>
        <p:spPr>
          <a:xfrm rot="0" flipH="0" flipV="0">
            <a:off x="571500" y="1733550"/>
            <a:ext cx="3619500" cy="3886200"/>
          </a:xfrm>
          <a:prstGeom prst="roundRect">
            <a:avLst>
              <a:gd name="adj" fmla="val 3158"/>
            </a:avLst>
          </a:prstGeom>
          <a:solidFill>
            <a:srgbClr val="F4F6FB"/>
          </a:solidFill>
          <a:ln/>
        </p:spPr>
        <p:txBody>
          <a:bodyPr/>
          <a:p/>
        </p:txBody>
      </p:sp>
      <p:pic>
        <p:nvPicPr>
          <p:cNvPr id="102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952500" y="2200275"/>
            <a:ext cx="2857500" cy="2190750"/>
          </a:xfrm>
          <a:prstGeom prst="rect">
            <a:avLst/>
          </a:prstGeom>
          <a:ln/>
        </p:spPr>
      </p:pic>
      <p:sp>
        <p:nvSpPr>
          <p:cNvPr id="1025" name="" descr="{&quot;isTemplate&quot;:true,&quot;type&quot;:&quot;text&quot;}"/>
          <p:cNvSpPr txBox="1"/>
          <p:nvPr/>
        </p:nvSpPr>
        <p:spPr>
          <a:xfrm rot="0" flipH="0" flipV="0">
            <a:off x="781050" y="4524375"/>
            <a:ext cx="3200400" cy="638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只在公司的知识范围内作答，答不上来就明说、就转人工，不编故事。</a:t>
            </a:r>
            <a:endParaRPr/>
          </a:p>
        </p:txBody>
      </p:sp>
      <p:sp>
        <p:nvSpPr>
          <p:cNvPr id="1026" name=""/>
          <p:cNvSpPr/>
          <p:nvPr/>
        </p:nvSpPr>
        <p:spPr>
          <a:xfrm rot="0" flipH="0" flipV="0">
            <a:off x="4495800" y="1733550"/>
            <a:ext cx="7124700" cy="1219200"/>
          </a:xfrm>
          <a:custGeom>
            <a:pathLst>
              <a:path w="748" h="128">
                <a:moveTo>
                  <a:pt x="0" y="127"/>
                </a:moveTo>
                <a:lnTo>
                  <a:pt x="748" y="127"/>
                </a:lnTo>
                <a:lnTo>
                  <a:pt x="748" y="128"/>
                </a:lnTo>
                <a:lnTo>
                  <a:pt x="0" y="128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p/>
        </p:txBody>
      </p:sp>
      <p:sp>
        <p:nvSpPr>
          <p:cNvPr id="1027" name="" descr="{&quot;isTemplate&quot;:true,&quot;type&quot;:&quot;text&quot;}"/>
          <p:cNvSpPr txBox="1"/>
          <p:nvPr/>
        </p:nvSpPr>
        <p:spPr>
          <a:xfrm rot="0" flipH="0" flipV="0">
            <a:off x="4495800" y="1771650"/>
            <a:ext cx="7124700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1E293B"/>
                </a:solidFill>
                <a:latin typeface="Microsoft YaHei"/>
                <a:ea typeface="Microsoft YaHei"/>
              </a:rPr>
              <a:t>私有知识库：基于公司资料回答</a:t>
            </a:r>
            <a:endParaRPr/>
          </a:p>
        </p:txBody>
      </p:sp>
      <p:sp>
        <p:nvSpPr>
          <p:cNvPr id="1028" name="" descr="{&quot;isTemplate&quot;:true,&quot;type&quot;:&quot;text&quot;}"/>
          <p:cNvSpPr txBox="1"/>
          <p:nvPr/>
        </p:nvSpPr>
        <p:spPr>
          <a:xfrm rot="0" flipH="0" flipV="0">
            <a:off x="4495800" y="2181225"/>
            <a:ext cx="71247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制度、合同、案例、话术统一入库，问答从这些资料出发，而不是凭空生成。</a:t>
            </a:r>
            <a:endParaRPr/>
          </a:p>
        </p:txBody>
      </p:sp>
      <p:sp>
        <p:nvSpPr>
          <p:cNvPr id="1029" name=""/>
          <p:cNvSpPr/>
          <p:nvPr/>
        </p:nvSpPr>
        <p:spPr>
          <a:xfrm rot="0" flipH="0" flipV="0">
            <a:off x="4495800" y="2952750"/>
            <a:ext cx="7124700" cy="1219200"/>
          </a:xfrm>
          <a:custGeom>
            <a:pathLst>
              <a:path w="748" h="128">
                <a:moveTo>
                  <a:pt x="0" y="127"/>
                </a:moveTo>
                <a:lnTo>
                  <a:pt x="748" y="127"/>
                </a:lnTo>
                <a:lnTo>
                  <a:pt x="748" y="128"/>
                </a:lnTo>
                <a:lnTo>
                  <a:pt x="0" y="128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p/>
        </p:txBody>
      </p:sp>
      <p:sp>
        <p:nvSpPr>
          <p:cNvPr id="1030" name="" descr="{&quot;isTemplate&quot;:true,&quot;type&quot;:&quot;text&quot;}"/>
          <p:cNvSpPr txBox="1"/>
          <p:nvPr/>
        </p:nvSpPr>
        <p:spPr>
          <a:xfrm rot="0" flipH="0" flipV="0">
            <a:off x="4495800" y="2990850"/>
            <a:ext cx="7124700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1E293B"/>
                </a:solidFill>
                <a:latin typeface="Microsoft YaHei"/>
                <a:ea typeface="Microsoft YaHei"/>
              </a:rPr>
              <a:t>引用溯源：每个答案带得出出处</a:t>
            </a:r>
            <a:endParaRPr/>
          </a:p>
        </p:txBody>
      </p:sp>
      <p:sp>
        <p:nvSpPr>
          <p:cNvPr id="1031" name="" descr="{&quot;isTemplate&quot;:true,&quot;type&quot;:&quot;text&quot;}"/>
          <p:cNvSpPr txBox="1"/>
          <p:nvPr/>
        </p:nvSpPr>
        <p:spPr>
          <a:xfrm rot="0" flipH="0" flipV="0">
            <a:off x="4495800" y="3400425"/>
            <a:ext cx="71247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回答附来源标记，点得开原文核对——敢用的前提是说得清「凭什么这么答」。</a:t>
            </a:r>
            <a:endParaRPr/>
          </a:p>
        </p:txBody>
      </p:sp>
      <p:sp>
        <p:nvSpPr>
          <p:cNvPr id="1032" name="" descr="{&quot;isTemplate&quot;:true,&quot;type&quot;:&quot;text&quot;}"/>
          <p:cNvSpPr txBox="1"/>
          <p:nvPr/>
        </p:nvSpPr>
        <p:spPr>
          <a:xfrm rot="0" flipH="0" flipV="0">
            <a:off x="4495800" y="4210050"/>
            <a:ext cx="7124700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1E293B"/>
                </a:solidFill>
                <a:latin typeface="Microsoft YaHei"/>
                <a:ea typeface="Microsoft YaHei"/>
              </a:rPr>
              <a:t>长期记忆：换个会话还认得你</a:t>
            </a:r>
            <a:endParaRPr/>
          </a:p>
        </p:txBody>
      </p:sp>
      <p:sp>
        <p:nvSpPr>
          <p:cNvPr id="1033" name="" descr="{&quot;isTemplate&quot;:true,&quot;type&quot;:&quot;text&quot;}"/>
          <p:cNvSpPr txBox="1"/>
          <p:nvPr/>
        </p:nvSpPr>
        <p:spPr>
          <a:xfrm rot="0" flipH="0" flipV="0">
            <a:off x="4495800" y="4619625"/>
            <a:ext cx="71247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记得住你的项目、偏好和上一次的结论，背景不用每次重讲，纠错一次就改一次。</a:t>
            </a:r>
            <a:endParaRPr/>
          </a:p>
        </p:txBody>
      </p:sp>
      <p:sp>
        <p:nvSpPr>
          <p:cNvPr id="1034" name=""/>
          <p:cNvSpPr/>
          <p:nvPr/>
        </p:nvSpPr>
        <p:spPr>
          <a:xfrm rot="0" flipH="0" flipV="0">
            <a:off x="571500" y="5734050"/>
            <a:ext cx="11049000" cy="552450"/>
          </a:xfrm>
          <a:prstGeom prst="roundRect">
            <a:avLst>
              <a:gd name="adj" fmla="val 17241"/>
            </a:avLst>
          </a:prstGeom>
          <a:solidFill>
            <a:srgbClr val="E8EEFB"/>
          </a:solidFill>
          <a:ln/>
        </p:spPr>
        <p:txBody>
          <a:bodyPr/>
          <a:p/>
        </p:txBody>
      </p:sp>
      <p:sp>
        <p:nvSpPr>
          <p:cNvPr id="1035" name="" descr="{&quot;isTemplate&quot;:true,&quot;type&quot;:&quot;text&quot;}"/>
          <p:cNvSpPr txBox="1"/>
          <p:nvPr/>
        </p:nvSpPr>
        <p:spPr>
          <a:xfrm rot="0" flipH="0" flipV="0">
            <a:off x="704850" y="5857875"/>
            <a:ext cx="10782300" cy="3048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425" b="1">
                <a:solidFill>
                  <a:srgbClr val="1E293B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1425" b="1">
                <a:solidFill>
                  <a:srgbClr val="1E293B"/>
                </a:solidFill>
                <a:latin typeface="Microsoft YaHei"/>
                <a:ea typeface="Microsoft YaHei"/>
              </a:rPr>
              <a:t>的「聪明」要用在你的业务上，而不是用在编得像上——知识、出处、记忆三件事定住这一点。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036" name="" descr="&lt;Slide style={{ padding: 60, background: '#FFFFFF' }}&gt;&#10;    &lt;Box style={{ height: 600 }}&gt;&#10;        &lt;Box style={{ height: 20, flexDirection: 'row', justifyContent: 'space-between', alignItems: 'center' }}&gt;&#10;            &lt;Text style={{ fontSize: 14, color: '#94A3B8', letterSpacing: 2 }}&gt;01 · 为什么需要&lt;/Text&gt;&#10;            &lt;Box style={{ width: 44, height: 4, borderRadius: 2, background: '#2563EB' }} /&gt;&#10;        &lt;/Box&gt;&#10;        &lt;Text style={{ fontSize: 34, fontWeight: 'bold', color: '#1E293B', marginTop: 16, lineHeight: 1.2 }}&gt;&#10;            会干活：动作真的发生在你的业务里&#10;        &lt;/Text&gt;&#10;        &lt;Box style={{ height: 1, background: '#E2E8F0', marginTop: 16 }} /&gt;&#10;&#10;        &lt;Box style={{ flex: 1, marginTop: 20, flexDirection: 'row', gap: 18 }}&gt;&#10;            &lt;Box style={{ width: 460, background: '#2563EB', borderRadius: 14, padding: 24 }}&gt;&#10;                &lt;Text style={{ fontSize: 24, fontWeight: '600', color: '#FFFFFF', lineHeight: 1.3 }}&gt;不是「建议你这样做」&lt;/Text&gt;&#10;                &lt;Text style={{ fontSize: 18, color: '#DBEAFE', lineHeight: 1.6, marginTop: 12 }}&gt;&#10;                    读文件、写文件、跑任务、查信息、生成报表、回传结果——每一步都真实执行，结果直接交到你手上。&#10;                &lt;/Text&gt;&#10;                &lt;Box style={{ height: 1, background: '#3B82F6', marginTop: 16 }} /&gt;&#10;                &lt;Text style={{ fontSize: 18, color: '#DBEAFE', lineHeight: 1.6, marginTop: 12 }}&gt;&#10;                    执行发生在公司自己的机器或沙箱里；该审批的动作先停下来问人，干完的活全程留痕。&#10;                &lt;/Text&gt;&#10;            &lt;/Box&gt;&#10;            &lt;Box style={{ flex: 1, gap: 12 }}&gt;&#10;                &lt;Box style={{ flex: 1, background: '#F4F6FB', borderRadius: 12, padding: 18 }}&gt;&#10;                    &lt;Text style={{ fontSize: 22, fontWeight: '600', color: '#1E293B', lineHeight: 1.3 }}&gt;文件与内容&lt;/Text&gt;&#10;                    &lt;Text style={{ fontSize: 18, color: '#475569', lineHeight: 1.5, marginTop: 6 }}&gt;&#10;                        读文档、写文档、增量修改、全文检索，资料整理不再手工搬运。&#10;                    &lt;/Text&gt;&#10;                &lt;/Box&gt;&#10;                &lt;Box style={{ flex: 1, background: '#F4F6FB', borderRadius: 12, padding: 18 }}&gt;&#10;                    &lt;Text style={{ fontSize: 22, fontWeight: '600', color: '#1E293B', lineHeight: 1.3 }}&gt;联网与查证&lt;/Text&gt;&#10;                    &lt;Text style={{ fontSize: 18, color: '#475569', lineHeight: 1.5, marginTop: 6 }}&gt;&#10;                        搜索公开信息、抓取网页、操作浏览器，调研类工作先帮你跑一遍。&#10;                    &lt;/Text&gt;&#10;                &lt;/Box&gt;&#10;                &lt;Box style={{ flex: 1, background: '#F4F6FB', borderRadius: 12, padding: 18 }}&gt;&#10;                    &lt;Text style={{ fontSize: 22, fontWeight: '600', color: '#1E293B', lineHeight: 1.3 }}&gt;交付与排程&lt;/Text&gt;&#10;                    &lt;Text style={{ fontSize: 18, color: '#475569', lineHeight: 1.5, marginTop: 6 }}&gt;&#10;                        生成文件直接回传，定时任务到点执行，结果推送到指定会话。&#10;                    &lt;/Text&gt;&#10;                &lt;/Box&gt;&#10;            &lt;/Box&gt;&#10;        &lt;/Box&gt;&#10;&#10;        {/* 结论条 */}&#10;        &lt;Box style={{ height: 58, background: '#E8EEFB', borderRadius: 10, padding: 14, marginTop: 12, justifyContent: 'center' }}&gt;&#10;            &lt;Text style={{ fontSize: 19, fontWeight: '600', color: '#1E293B', lineHeight: 1.4 }}&gt;&#10;                价值的分界线在这里：聊天工具帮你省打字，数字员工帮你把活干完。&#10;            &lt;/Text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38" name="" descr="{&quot;isTemplate&quot;:true,&quot;type&quot;:&quot;text&quot;}"/>
          <p:cNvSpPr txBox="1"/>
          <p:nvPr/>
        </p:nvSpPr>
        <p:spPr>
          <a:xfrm rot="0" flipH="0" flipV="0">
            <a:off x="571500" y="590550"/>
            <a:ext cx="1133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94A3B8"/>
                </a:solidFill>
                <a:latin typeface="Microsoft YaHei"/>
                <a:ea typeface="Microsoft YaHei"/>
              </a:rPr>
              <a:t xml:space="preserve">01 · </a:t>
            </a:r>
            <a:r>
              <a:rPr lang="zh-CN" sz="1050" spc="150">
                <a:solidFill>
                  <a:srgbClr val="94A3B8"/>
                </a:solidFill>
                <a:latin typeface="Microsoft YaHei"/>
                <a:ea typeface="Microsoft YaHei"/>
              </a:rPr>
              <a:t>为什么需要</a:t>
            </a:r>
            <a:endParaRPr/>
          </a:p>
        </p:txBody>
      </p:sp>
      <p:sp>
        <p:nvSpPr>
          <p:cNvPr id="1039" name=""/>
          <p:cNvSpPr/>
          <p:nvPr/>
        </p:nvSpPr>
        <p:spPr>
          <a:xfrm rot="0" flipH="0" flipV="0">
            <a:off x="11201400" y="647700"/>
            <a:ext cx="419100" cy="38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1040" name="" descr="{&quot;isTemplate&quot;:true,&quot;type&quot;:&quot;text&quot;}"/>
          <p:cNvSpPr txBox="1"/>
          <p:nvPr/>
        </p:nvSpPr>
        <p:spPr>
          <a:xfrm rot="0" flipH="0" flipV="0">
            <a:off x="571500" y="914400"/>
            <a:ext cx="110490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E293B"/>
                </a:solidFill>
                <a:latin typeface="Microsoft YaHei"/>
                <a:ea typeface="Microsoft YaHei"/>
              </a:rPr>
              <a:t>会干活：动作真的发生在你的业务里</a:t>
            </a:r>
            <a:endParaRPr/>
          </a:p>
        </p:txBody>
      </p:sp>
      <p:sp>
        <p:nvSpPr>
          <p:cNvPr id="1041" name=""/>
          <p:cNvSpPr/>
          <p:nvPr/>
        </p:nvSpPr>
        <p:spPr>
          <a:xfrm rot="0" flipH="0" flipV="0">
            <a:off x="571500" y="1533525"/>
            <a:ext cx="1104900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1042" name=""/>
          <p:cNvSpPr/>
          <p:nvPr/>
        </p:nvSpPr>
        <p:spPr>
          <a:xfrm rot="0" flipH="0" flipV="0">
            <a:off x="571500" y="1733550"/>
            <a:ext cx="4381500" cy="3886200"/>
          </a:xfrm>
          <a:prstGeom prst="roundRect">
            <a:avLst>
              <a:gd name="adj" fmla="val 3431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1043" name="" descr="{&quot;isTemplate&quot;:true,&quot;type&quot;:&quot;text&quot;}"/>
          <p:cNvSpPr txBox="1"/>
          <p:nvPr/>
        </p:nvSpPr>
        <p:spPr>
          <a:xfrm rot="0" flipH="0" flipV="0">
            <a:off x="800100" y="1962150"/>
            <a:ext cx="3924300" cy="3619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800" b="1">
                <a:solidFill>
                  <a:srgbClr val="FFFFFF"/>
                </a:solidFill>
                <a:latin typeface="Microsoft YaHei"/>
                <a:ea typeface="Microsoft YaHei"/>
              </a:rPr>
              <a:t>不是「建议你这样做」</a:t>
            </a:r>
            <a:endParaRPr/>
          </a:p>
        </p:txBody>
      </p:sp>
      <p:sp>
        <p:nvSpPr>
          <p:cNvPr id="1044" name="" descr="{&quot;isTemplate&quot;:true,&quot;type&quot;:&quot;text&quot;}"/>
          <p:cNvSpPr txBox="1"/>
          <p:nvPr/>
        </p:nvSpPr>
        <p:spPr>
          <a:xfrm rot="0" flipH="0" flipV="0">
            <a:off x="800100" y="2438400"/>
            <a:ext cx="3924300" cy="990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>
                <a:solidFill>
                  <a:srgbClr val="DBEAFE"/>
                </a:solidFill>
                <a:latin typeface="Microsoft YaHei"/>
                <a:ea typeface="Microsoft YaHei"/>
              </a:rPr>
              <a:t>读文件、写文件、跑任务、查信息、生成报表、回传结果——每一步都真实执行，结果直接交到你手上。</a:t>
            </a:r>
            <a:endParaRPr/>
          </a:p>
        </p:txBody>
      </p:sp>
      <p:sp>
        <p:nvSpPr>
          <p:cNvPr id="1045" name=""/>
          <p:cNvSpPr/>
          <p:nvPr/>
        </p:nvSpPr>
        <p:spPr>
          <a:xfrm rot="0" flipH="0" flipV="0">
            <a:off x="800100" y="3581400"/>
            <a:ext cx="3924300" cy="952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1046" name="" descr="{&quot;isTemplate&quot;:true,&quot;type&quot;:&quot;text&quot;}"/>
          <p:cNvSpPr txBox="1"/>
          <p:nvPr/>
        </p:nvSpPr>
        <p:spPr>
          <a:xfrm rot="0" flipH="0" flipV="0">
            <a:off x="800100" y="3705225"/>
            <a:ext cx="392430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>
                <a:solidFill>
                  <a:srgbClr val="DBEAFE"/>
                </a:solidFill>
                <a:latin typeface="Microsoft YaHei"/>
                <a:ea typeface="Microsoft YaHei"/>
              </a:rPr>
              <a:t>执行发生在公司自己的机器或沙箱里；该审批的动作先停下来问人，干完的活全程留痕。</a:t>
            </a:r>
            <a:endParaRPr/>
          </a:p>
        </p:txBody>
      </p:sp>
      <p:sp>
        <p:nvSpPr>
          <p:cNvPr id="1047" name=""/>
          <p:cNvSpPr/>
          <p:nvPr/>
        </p:nvSpPr>
        <p:spPr>
          <a:xfrm rot="0" flipH="0" flipV="0">
            <a:off x="5124450" y="1733550"/>
            <a:ext cx="6496050" cy="1219200"/>
          </a:xfrm>
          <a:prstGeom prst="roundRect">
            <a:avLst>
              <a:gd name="adj" fmla="val 9375"/>
            </a:avLst>
          </a:prstGeom>
          <a:solidFill>
            <a:srgbClr val="F4F6FB"/>
          </a:solidFill>
          <a:ln/>
        </p:spPr>
        <p:txBody>
          <a:bodyPr/>
          <a:p/>
        </p:txBody>
      </p:sp>
      <p:sp>
        <p:nvSpPr>
          <p:cNvPr id="1048" name="" descr="{&quot;isTemplate&quot;:true,&quot;type&quot;:&quot;text&quot;}"/>
          <p:cNvSpPr txBox="1"/>
          <p:nvPr/>
        </p:nvSpPr>
        <p:spPr>
          <a:xfrm rot="0" flipH="0" flipV="0">
            <a:off x="5295900" y="1905000"/>
            <a:ext cx="6153150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1E293B"/>
                </a:solidFill>
                <a:latin typeface="Microsoft YaHei"/>
                <a:ea typeface="Microsoft YaHei"/>
              </a:rPr>
              <a:t>文件与内容</a:t>
            </a:r>
            <a:endParaRPr/>
          </a:p>
        </p:txBody>
      </p:sp>
      <p:sp>
        <p:nvSpPr>
          <p:cNvPr id="1049" name="" descr="{&quot;isTemplate&quot;:true,&quot;type&quot;:&quot;text&quot;}"/>
          <p:cNvSpPr txBox="1"/>
          <p:nvPr/>
        </p:nvSpPr>
        <p:spPr>
          <a:xfrm rot="0" flipH="0" flipV="0">
            <a:off x="5295900" y="2295525"/>
            <a:ext cx="615315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读文档、写文档、增量修改、全文检索，资料整理不再手工搬运。</a:t>
            </a:r>
            <a:endParaRPr/>
          </a:p>
        </p:txBody>
      </p:sp>
      <p:sp>
        <p:nvSpPr>
          <p:cNvPr id="1050" name=""/>
          <p:cNvSpPr/>
          <p:nvPr/>
        </p:nvSpPr>
        <p:spPr>
          <a:xfrm rot="0" flipH="0" flipV="0">
            <a:off x="5124450" y="3067050"/>
            <a:ext cx="6496050" cy="1219200"/>
          </a:xfrm>
          <a:prstGeom prst="roundRect">
            <a:avLst>
              <a:gd name="adj" fmla="val 9375"/>
            </a:avLst>
          </a:prstGeom>
          <a:solidFill>
            <a:srgbClr val="F4F6FB"/>
          </a:solidFill>
          <a:ln/>
        </p:spPr>
        <p:txBody>
          <a:bodyPr/>
          <a:p/>
        </p:txBody>
      </p:sp>
      <p:sp>
        <p:nvSpPr>
          <p:cNvPr id="1051" name="" descr="{&quot;isTemplate&quot;:true,&quot;type&quot;:&quot;text&quot;}"/>
          <p:cNvSpPr txBox="1"/>
          <p:nvPr/>
        </p:nvSpPr>
        <p:spPr>
          <a:xfrm rot="0" flipH="0" flipV="0">
            <a:off x="5295900" y="3238500"/>
            <a:ext cx="6153150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1E293B"/>
                </a:solidFill>
                <a:latin typeface="Microsoft YaHei"/>
                <a:ea typeface="Microsoft YaHei"/>
              </a:rPr>
              <a:t>联网与查证</a:t>
            </a:r>
            <a:endParaRPr/>
          </a:p>
        </p:txBody>
      </p:sp>
      <p:sp>
        <p:nvSpPr>
          <p:cNvPr id="1052" name="" descr="{&quot;isTemplate&quot;:true,&quot;type&quot;:&quot;text&quot;}"/>
          <p:cNvSpPr txBox="1"/>
          <p:nvPr/>
        </p:nvSpPr>
        <p:spPr>
          <a:xfrm rot="0" flipH="0" flipV="0">
            <a:off x="5295900" y="3629025"/>
            <a:ext cx="615315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搜索公开信息、抓取网页、操作浏览器，调研类工作先帮你跑一遍。</a:t>
            </a:r>
            <a:endParaRPr/>
          </a:p>
        </p:txBody>
      </p:sp>
      <p:sp>
        <p:nvSpPr>
          <p:cNvPr id="1053" name=""/>
          <p:cNvSpPr/>
          <p:nvPr/>
        </p:nvSpPr>
        <p:spPr>
          <a:xfrm rot="0" flipH="0" flipV="0">
            <a:off x="5124450" y="4400550"/>
            <a:ext cx="6496050" cy="1219200"/>
          </a:xfrm>
          <a:prstGeom prst="roundRect">
            <a:avLst>
              <a:gd name="adj" fmla="val 9375"/>
            </a:avLst>
          </a:prstGeom>
          <a:solidFill>
            <a:srgbClr val="F4F6FB"/>
          </a:solidFill>
          <a:ln/>
        </p:spPr>
        <p:txBody>
          <a:bodyPr/>
          <a:p/>
        </p:txBody>
      </p:sp>
      <p:sp>
        <p:nvSpPr>
          <p:cNvPr id="1054" name="" descr="{&quot;isTemplate&quot;:true,&quot;type&quot;:&quot;text&quot;}"/>
          <p:cNvSpPr txBox="1"/>
          <p:nvPr/>
        </p:nvSpPr>
        <p:spPr>
          <a:xfrm rot="0" flipH="0" flipV="0">
            <a:off x="5295900" y="4572000"/>
            <a:ext cx="6153150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1E293B"/>
                </a:solidFill>
                <a:latin typeface="Microsoft YaHei"/>
                <a:ea typeface="Microsoft YaHei"/>
              </a:rPr>
              <a:t>交付与排程</a:t>
            </a:r>
            <a:endParaRPr/>
          </a:p>
        </p:txBody>
      </p:sp>
      <p:sp>
        <p:nvSpPr>
          <p:cNvPr id="1055" name="" descr="{&quot;isTemplate&quot;:true,&quot;type&quot;:&quot;text&quot;}"/>
          <p:cNvSpPr txBox="1"/>
          <p:nvPr/>
        </p:nvSpPr>
        <p:spPr>
          <a:xfrm rot="0" flipH="0" flipV="0">
            <a:off x="5295900" y="4962525"/>
            <a:ext cx="615315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生成文件直接回传，定时任务到点执行，结果推送到指定会话。</a:t>
            </a:r>
            <a:endParaRPr/>
          </a:p>
        </p:txBody>
      </p:sp>
      <p:sp>
        <p:nvSpPr>
          <p:cNvPr id="1056" name=""/>
          <p:cNvSpPr/>
          <p:nvPr/>
        </p:nvSpPr>
        <p:spPr>
          <a:xfrm rot="0" flipH="0" flipV="0">
            <a:off x="571500" y="5734050"/>
            <a:ext cx="11049000" cy="552450"/>
          </a:xfrm>
          <a:prstGeom prst="roundRect">
            <a:avLst>
              <a:gd name="adj" fmla="val 17241"/>
            </a:avLst>
          </a:prstGeom>
          <a:solidFill>
            <a:srgbClr val="E8EEFB"/>
          </a:solidFill>
          <a:ln/>
        </p:spPr>
        <p:txBody>
          <a:bodyPr/>
          <a:p/>
        </p:txBody>
      </p:sp>
      <p:sp>
        <p:nvSpPr>
          <p:cNvPr id="1057" name="" descr="{&quot;isTemplate&quot;:true,&quot;type&quot;:&quot;text&quot;}"/>
          <p:cNvSpPr txBox="1"/>
          <p:nvPr/>
        </p:nvSpPr>
        <p:spPr>
          <a:xfrm rot="0" flipH="0" flipV="0">
            <a:off x="704850" y="5857875"/>
            <a:ext cx="10782300" cy="3048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425" b="1">
                <a:solidFill>
                  <a:srgbClr val="1E293B"/>
                </a:solidFill>
                <a:latin typeface="Microsoft YaHei"/>
                <a:ea typeface="Microsoft YaHei"/>
              </a:rPr>
              <a:t>价值的分界线在这里：聊天工具帮你省打字，数字员工帮你把活干完。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1" name="" descr="&lt;Slide style={{ padding: 60, background: '#FFFFFF' }}&gt;&#10;    &lt;Box style={{ height: 600 }}&gt;&#10;        &lt;Box style={{ height: 20, flexDirection: 'row', justifyContent: 'space-between', alignItems: 'center' }}&gt;&#10;            &lt;Text style={{ fontSize: 14, color: '#94A3B8', letterSpacing: 2 }}&gt;01 · 为什么需要&lt;/Text&gt;&#10;            &lt;Box style={{ width: 44, height: 4, borderRadius: 2, background: '#2563EB' }} /&gt;&#10;        &lt;/Box&gt;&#10;        &lt;Text style={{ fontSize: 34, fontWeight: 'bold', color: '#1E293B', marginTop: 16, lineHeight: 1.2 }}&gt;&#10;            陪成长：越用越值钱的三类组织资产&#10;        &lt;/Text&gt;&#10;        &lt;Box style={{ height: 1, background: '#E2E8F0', marginTop: 16 }} /&gt;&#10;&#10;        &lt;Box style={{ marginTop: 20, gap: 12 }}&gt;&#10;            &lt;Box style={{ height: 92, flexDirection: 'row', background: '#E8EEFB', borderRadius: 12, padding: 18 }}&gt;&#10;                &lt;Box style={{ width: 160, justifyContent: 'center' }}&gt;&#10;                    &lt;Text style={{ fontSize: 22, fontWeight: 'bold', color: '#2563EB' }}&gt;岗位专家&lt;/Text&gt;&#10;                &lt;/Box&gt;&#10;                &lt;Box style={{ flex: 1, justifyContent: 'center', marginLeft: 12 }}&gt;&#10;                    &lt;Text style={{ fontSize: 18, color: '#1E293B', lineHeight: 1.55 }}&gt;&#10;                        33 个岗位定义可发布共享、各自微调：一个部门配好，全公司取用——业务能力第一次变成可交接的资产。&#10;                    &lt;/Text&gt;&#10;                &lt;/Box&gt;&#10;            &lt;/Box&gt;&#10;            &lt;Box style={{ height: 92, flexDirection: 'row', background: '#D6E4F9', borderRadius: 12, padding: 18 }}&gt;&#10;                &lt;Box style={{ width: 160, justifyContent: 'center' }}&gt;&#10;                    &lt;Text style={{ fontSize: 22, fontWeight: 'bold', color: '#1E293B' }}&gt;技能与插件&lt;/Text&gt;&#10;                &lt;/Box&gt;&#10;                &lt;Box style={{ flex: 1, justifyContent: 'center', marginLeft: 12 }}&gt;&#10;                    &lt;Text style={{ fontSize: 18, color: '#1E293B', lineHeight: 1.55 }}&gt;&#10;                        24 个技能包、37 个内置插件随装随用，在线市场持续扩充；新场景先看「有没有现成能力」，再考虑开发。&#10;                    &lt;/Text&gt;&#10;                &lt;/Box&gt;&#10;            &lt;/Box&gt;&#10;            &lt;Box style={{ height: 92, flexDirection: 'row', background: '#FFF7E9', borderRadius: 12, padding: 18 }}&gt;&#10;                &lt;Box style={{ width: 160, justifyContent: 'center' }}&gt;&#10;                    &lt;Text style={{ fontSize: 22, fontWeight: 'bold', color: '#B45309' }}&gt;知识与记忆&lt;/Text&gt;&#10;                &lt;/Box&gt;&#10;                &lt;Box style={{ flex: 1, justifyContent: 'center', marginLeft: 12 }}&gt;&#10;                    &lt;Text style={{ fontSize: 18, color: '#1E293B', lineHeight: 1.55 }}&gt;&#10;                        每次合作沉淀进知识库与记忆：员工离职带走的是个人经验，留下的是公司能力。&#10;                    &lt;/Text&gt;&#10;                &lt;/Box&gt;&#10;            &lt;/Box&gt;&#10;        &lt;/Box&gt;&#10;&#10;        &lt;Box style={{ flexDirection: 'row', marginTop: 16, gap: 16 }}&gt;&#10;            &lt;Box style={{ flex: 1 }}&gt;&#10;                &lt;Text style={{ fontSize: 18, color: '#475569', lineHeight: 1.55 }}&gt;&#10;                    全部存放在公司自己的平台上，不绑定任何员工的个人账号。&#10;                &lt;/Text&gt;&#10;            &lt;/Box&gt;&#10;            &lt;Box style={{ width: 1, background: '#E2E8F0' }} /&gt;&#10;            &lt;Box style={{ flex: 1 }}&gt;&#10;                &lt;Text style={{ fontSize: 18, color: '#475569', lineHeight: 1.55 }}&gt;&#10;                    人员流动时，新人接的是「配好的数字同事」，不是空白的交接文档。&#10;                &lt;/Text&gt;&#10;            &lt;/Box&gt;&#10;        &lt;/Box&gt;&#10;&#10;        {/* 结论条 */}&#10;        &lt;Box style={{ height: 58, background: '#E8EEFB', borderRadius: 10, padding: 14, marginTop: 14, justifyContent: 'center' }}&gt;&#10;            &lt;Text style={{ fontSize: 19, fontWeight: '600', color: '#1E293B', lineHeight: 1.4 }}&gt;&#10;                第一年它是工具，第三年它是公司自己的数字能力——越用越懂业务，这是「陪企业成长」的实感。&#10;            &lt;/Text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571500" y="590550"/>
            <a:ext cx="1133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94A3B8"/>
                </a:solidFill>
                <a:latin typeface="Microsoft YaHei"/>
                <a:ea typeface="Microsoft YaHei"/>
              </a:rPr>
              <a:t xml:space="preserve">01 · </a:t>
            </a:r>
            <a:r>
              <a:rPr lang="zh-CN" sz="1050" spc="150">
                <a:solidFill>
                  <a:srgbClr val="94A3B8"/>
                </a:solidFill>
                <a:latin typeface="Microsoft YaHei"/>
                <a:ea typeface="Microsoft YaHei"/>
              </a:rPr>
              <a:t>为什么需要</a:t>
            </a:r>
            <a:endParaRPr/>
          </a:p>
        </p:txBody>
      </p:sp>
      <p:sp>
        <p:nvSpPr>
          <p:cNvPr id="14" name=""/>
          <p:cNvSpPr/>
          <p:nvPr/>
        </p:nvSpPr>
        <p:spPr>
          <a:xfrm rot="0" flipH="0" flipV="0">
            <a:off x="11201400" y="647700"/>
            <a:ext cx="419100" cy="38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571500" y="914400"/>
            <a:ext cx="110490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E293B"/>
                </a:solidFill>
                <a:latin typeface="Microsoft YaHei"/>
                <a:ea typeface="Microsoft YaHei"/>
              </a:rPr>
              <a:t>陪成长：越用越值钱的三类组织资产</a:t>
            </a:r>
            <a:endParaRPr/>
          </a:p>
        </p:txBody>
      </p:sp>
      <p:sp>
        <p:nvSpPr>
          <p:cNvPr id="16" name=""/>
          <p:cNvSpPr/>
          <p:nvPr/>
        </p:nvSpPr>
        <p:spPr>
          <a:xfrm rot="0" flipH="0" flipV="0">
            <a:off x="571500" y="1533525"/>
            <a:ext cx="1104900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17" name=""/>
          <p:cNvSpPr/>
          <p:nvPr/>
        </p:nvSpPr>
        <p:spPr>
          <a:xfrm rot="0" flipH="0" flipV="0">
            <a:off x="571500" y="1733550"/>
            <a:ext cx="11049000" cy="876300"/>
          </a:xfrm>
          <a:prstGeom prst="roundRect">
            <a:avLst>
              <a:gd name="adj" fmla="val 13043"/>
            </a:avLst>
          </a:prstGeom>
          <a:solidFill>
            <a:srgbClr val="E8EEFB"/>
          </a:solidFill>
          <a:ln/>
        </p:spPr>
        <p:txBody>
          <a:bodyPr/>
          <a:p/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742950" y="2047875"/>
            <a:ext cx="15240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563EB"/>
                </a:solidFill>
                <a:latin typeface="Microsoft YaHei"/>
                <a:ea typeface="Microsoft YaHei"/>
              </a:rPr>
              <a:t>岗位专家</a:t>
            </a:r>
            <a:endParaRPr/>
          </a:p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2381250" y="2009775"/>
            <a:ext cx="9067800" cy="3238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1350">
                <a:solidFill>
                  <a:srgbClr val="1E293B"/>
                </a:solidFill>
                <a:latin typeface="Microsoft YaHei"/>
                <a:ea typeface="Microsoft YaHei"/>
              </a:rPr>
              <a:t xml:space="preserve">33 </a:t>
            </a:r>
            <a:r>
              <a:rPr lang="zh-CN" sz="1350">
                <a:solidFill>
                  <a:srgbClr val="1E293B"/>
                </a:solidFill>
                <a:latin typeface="Microsoft YaHei"/>
                <a:ea typeface="Microsoft YaHei"/>
              </a:rPr>
              <a:t>个岗位定义可发布共享、各自微调：一个部门配好，全公司取用——业务能力第一次变成可交接的资产。</a:t>
            </a:r>
            <a:endParaRPr/>
          </a:p>
        </p:txBody>
      </p:sp>
      <p:sp>
        <p:nvSpPr>
          <p:cNvPr id="20" name=""/>
          <p:cNvSpPr/>
          <p:nvPr/>
        </p:nvSpPr>
        <p:spPr>
          <a:xfrm rot="0" flipH="0" flipV="0">
            <a:off x="571500" y="2724150"/>
            <a:ext cx="11049000" cy="876300"/>
          </a:xfrm>
          <a:prstGeom prst="roundRect">
            <a:avLst>
              <a:gd name="adj" fmla="val 13043"/>
            </a:avLst>
          </a:prstGeom>
          <a:solidFill>
            <a:srgbClr val="D6E4F9"/>
          </a:solidFill>
          <a:ln/>
        </p:spPr>
        <p:txBody>
          <a:bodyPr/>
          <a:p/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742950" y="3038475"/>
            <a:ext cx="15240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E293B"/>
                </a:solidFill>
                <a:latin typeface="Microsoft YaHei"/>
                <a:ea typeface="Microsoft YaHei"/>
              </a:rPr>
              <a:t>技能与插件</a:t>
            </a:r>
            <a:endParaRPr/>
          </a:p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2381250" y="3000375"/>
            <a:ext cx="9067800" cy="3238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1350">
                <a:solidFill>
                  <a:srgbClr val="1E293B"/>
                </a:solidFill>
                <a:latin typeface="Microsoft YaHei"/>
                <a:ea typeface="Microsoft YaHei"/>
              </a:rPr>
              <a:t xml:space="preserve">24 </a:t>
            </a:r>
            <a:r>
              <a:rPr lang="zh-CN" sz="1350">
                <a:solidFill>
                  <a:srgbClr val="1E293B"/>
                </a:solidFill>
                <a:latin typeface="Microsoft YaHei"/>
                <a:ea typeface="Microsoft YaHei"/>
              </a:rPr>
              <a:t>个技能包、</a:t>
            </a:r>
            <a:r>
              <a:rPr lang="en-US" sz="1350">
                <a:solidFill>
                  <a:srgbClr val="1E293B"/>
                </a:solidFill>
                <a:latin typeface="Microsoft YaHei"/>
                <a:ea typeface="Microsoft YaHei"/>
              </a:rPr>
              <a:t xml:space="preserve">37 </a:t>
            </a:r>
            <a:r>
              <a:rPr lang="zh-CN" sz="1350">
                <a:solidFill>
                  <a:srgbClr val="1E293B"/>
                </a:solidFill>
                <a:latin typeface="Microsoft YaHei"/>
                <a:ea typeface="Microsoft YaHei"/>
              </a:rPr>
              <a:t>个内置插件随装随用，在线市场持续扩充；新场景先看「有没有现成能力」，再考虑开发。</a:t>
            </a:r>
            <a:endParaRPr/>
          </a:p>
        </p:txBody>
      </p:sp>
      <p:sp>
        <p:nvSpPr>
          <p:cNvPr id="23" name=""/>
          <p:cNvSpPr/>
          <p:nvPr/>
        </p:nvSpPr>
        <p:spPr>
          <a:xfrm rot="0" flipH="0" flipV="0">
            <a:off x="571500" y="3714750"/>
            <a:ext cx="11049000" cy="876300"/>
          </a:xfrm>
          <a:prstGeom prst="roundRect">
            <a:avLst>
              <a:gd name="adj" fmla="val 13043"/>
            </a:avLst>
          </a:prstGeom>
          <a:solidFill>
            <a:srgbClr val="FFF7E9"/>
          </a:solidFill>
          <a:ln/>
        </p:spPr>
        <p:txBody>
          <a:bodyPr/>
          <a:p/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742950" y="4029075"/>
            <a:ext cx="15240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B45309"/>
                </a:solidFill>
                <a:latin typeface="Microsoft YaHei"/>
                <a:ea typeface="Microsoft YaHei"/>
              </a:rPr>
              <a:t>知识与记忆</a:t>
            </a:r>
            <a:endParaRPr/>
          </a:p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2381250" y="3990975"/>
            <a:ext cx="9067800" cy="3238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350">
                <a:solidFill>
                  <a:srgbClr val="1E293B"/>
                </a:solidFill>
                <a:latin typeface="Microsoft YaHei"/>
                <a:ea typeface="Microsoft YaHei"/>
              </a:rPr>
              <a:t>每次合作沉淀进知识库与记忆：员工离职带走的是个人经验，留下的是公司能力。</a:t>
            </a:r>
            <a:endParaRPr/>
          </a:p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571500" y="4743450"/>
            <a:ext cx="5372100" cy="3238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全部存放在公司自己的平台上，不绑定任何员工的个人账号。</a:t>
            </a:r>
            <a:endParaRPr/>
          </a:p>
        </p:txBody>
      </p:sp>
      <p:sp>
        <p:nvSpPr>
          <p:cNvPr id="27" name=""/>
          <p:cNvSpPr/>
          <p:nvPr/>
        </p:nvSpPr>
        <p:spPr>
          <a:xfrm rot="0" flipH="0" flipV="0">
            <a:off x="6096000" y="4743450"/>
            <a:ext cx="9525" cy="32385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6257925" y="4743450"/>
            <a:ext cx="5362575" cy="3238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人员流动时，新人接的是「配好的数字同事」，不是空白的交接文档。</a:t>
            </a:r>
            <a:endParaRPr/>
          </a:p>
        </p:txBody>
      </p:sp>
      <p:sp>
        <p:nvSpPr>
          <p:cNvPr id="29" name=""/>
          <p:cNvSpPr/>
          <p:nvPr/>
        </p:nvSpPr>
        <p:spPr>
          <a:xfrm rot="0" flipH="0" flipV="0">
            <a:off x="571500" y="5200650"/>
            <a:ext cx="11049000" cy="552450"/>
          </a:xfrm>
          <a:prstGeom prst="roundRect">
            <a:avLst>
              <a:gd name="adj" fmla="val 17241"/>
            </a:avLst>
          </a:prstGeom>
          <a:solidFill>
            <a:srgbClr val="E8EEFB"/>
          </a:solidFill>
          <a:ln/>
        </p:spPr>
        <p:txBody>
          <a:bodyPr/>
          <a:p/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704850" y="5324475"/>
            <a:ext cx="10782300" cy="3048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425" b="1">
                <a:solidFill>
                  <a:srgbClr val="1E293B"/>
                </a:solidFill>
                <a:latin typeface="Microsoft YaHei"/>
                <a:ea typeface="Microsoft YaHei"/>
              </a:rPr>
              <a:t>第一年它是工具，第三年它是公司自己的数字能力——越用越懂业务，这是「陪企业成长」的实感。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31" name="" descr="&lt;Slide style={{ padding: 60, background: '#FFFFFF' }}&gt;&#10;    &lt;Box style={{ height: 600 }}&gt;&#10;        &lt;Box style={{ height: 20, flexDirection: 'row', justifyContent: 'space-between', alignItems: 'center' }}&gt;&#10;            &lt;Text style={{ fontSize: 14, color: '#94A3B8', letterSpacing: 2 }}&gt;01 · 为什么需要&lt;/Text&gt;&#10;            &lt;Box style={{ width: 44, height: 4, borderRadius: 2, background: '#2563EB' }} /&gt;&#10;        &lt;/Box&gt;&#10;        &lt;Text style={{ fontSize: 34, fontWeight: 'bold', color: '#1E293B', marginTop: 16, lineHeight: 1.2 }}&gt;&#10;            和通用聊天 AI 比，差别在哪&#10;        &lt;/Text&gt;&#10;        &lt;Box style={{ height: 1, background: '#E2E8F0', marginTop: 16 }} /&gt;&#10;&#10;        {/* 对比式 */}&#10;        &lt;Box style={{ marginTop: 20, flexDirection: 'row', alignItems: 'stretch' }}&gt;&#10;            &lt;Box style={{ flex: 1, background: '#F4F6FB', borderRadius: 12, padding: 22 }}&gt;&#10;                &lt;Text style={{ fontSize: 22, fontWeight: '600', color: '#64748B', lineHeight: 1.3 }}&gt;通用聊天 AI&lt;/Text&gt;&#10;                &lt;Box style={{ height: 1, background: '#E2E8F0', marginTop: 14 }} /&gt;&#10;                &lt;Box style={{ marginTop: 12, gap: 12 }}&gt;&#10;                    &lt;Box style={{ flexDirection: 'row' }}&gt;&#10;                        &lt;Box style={{ width: 10, height: 10, borderRadius: 5, background: '#94A3B8', marginRight: 12, marginTop: 8 }} /&gt;&#10;                        &lt;Text style={{ flex: 1, fontSize: 18, color: '#475569', lineHeight: 1.5 }}&gt;答案基于公开知识，不了解你的制度与业务&lt;/Text&gt;&#10;                    &lt;/Box&gt;&#10;                    &lt;Box style={{ flexDirection: 'row' }}&gt;&#10;                        &lt;Box style={{ width: 10, height: 10, borderRadius: 5, background: '#94A3B8', marginRight: 12, marginTop: 8 }} /&gt;&#10;                        &lt;Text style={{ flex: 1, fontSize: 18, color: '#475569', lineHeight: 1.5 }}&gt;只能给出建议，不能真的动手执行&lt;/Text&gt;&#10;                    &lt;/Box&gt;&#10;                    &lt;Box style={{ flexDirection: 'row' }}&gt;&#10;                        &lt;Box style={{ width: 10, height: 10, borderRadius: 5, background: '#94A3B8', marginRight: 12, marginTop: 8 }} /&gt;&#10;                        &lt;Text style={{ flex: 1, fontSize: 18, color: '#475569', lineHeight: 1.5 }}&gt;数据要出网，合规审查难过&lt;/Text&gt;&#10;                    &lt;/Box&gt;&#10;                    &lt;Box style={{ flexDirection: 'row' }}&gt;&#10;                        &lt;Box style={{ width: 10, height: 10, borderRadius: 5, background: '#94A3B8', marginRight: 12, marginTop: 8 }} /&gt;&#10;                        &lt;Text style={{ flex: 1, fontSize: 18, color: '#475569', lineHeight: 1.5 }}&gt;会话结束即忘，每次都像新同事&lt;/Text&gt;&#10;                    &lt;/Box&gt;&#10;                    &lt;Box style={{ flexDirection: 'row' }}&gt;&#10;                        &lt;Box style={{ width: 10, height: 10, borderRadius: 5, background: '#94A3B8', marginRight: 12, marginTop: 8 }} /&gt;&#10;                        &lt;Text style={{ flex: 1, fontSize: 18, color: '#475569', lineHeight: 1.5 }}&gt;个人订阅制，能力不沉淀为组织资产&lt;/Text&gt;&#10;                    &lt;/Box&gt;&#10;                &lt;/Box&gt;&#10;            &lt;/Box&gt;&#10;&#10;            &lt;Box style={{ width: 64, justifyContent: 'center', alignItems: 'center' }}&gt;&#10;                &lt;Box style={{ width: 1, height: 120, background: '#E2E8F0' }} /&gt;&#10;                &lt;Box style={{ width: 44, height: 44, borderRadius: 22, background: '#F59E0B', justifyContent: 'center', alignItems: 'center', marginTop: -22 }}&gt;&#10;                    &lt;Text style={{ fontSize: 18, fontWeight: 'bold', color: '#FFFFFF' }}&gt;VS&lt;/Text&gt;&#10;                &lt;/Box&gt;&#10;                &lt;Box style={{ width: 1, height: 120, background: '#E2E8F0', marginTop: -22 }} /&gt;&#10;            &lt;/Box&gt;&#10;&#10;            &lt;Box style={{ flex: 1, background: '#E8EEFB', borderRadius: 12, padding: 22 }}&gt;&#10;                &lt;Text style={{ fontSize: 22, fontWeight: '600', color: '#2563EB', lineHeight: 1.3 }}&gt;云顶数字工作台&lt;/Text&gt;&#10;                &lt;Box style={{ height: 1, background: '#C7D6F5', marginTop: 14 }} /&gt;&#10;                &lt;Box style={{ marginTop: 12, gap: 12 }}&gt;&#10;                    &lt;Box style={{ flexDirection: 'row' }}&gt;&#10;                        &lt;Box style={{ width: 10, height: 10, borderRadius: 5, background: '#2563EB', marginRight: 12, marginTop: 8 }} /&gt;&#10;                        &lt;Text style={{ flex: 1, fontSize: 18, color: '#1E293B', lineHeight: 1.5 }}&gt;基于公司知识库作答，答案带出处&lt;/Text&gt;&#10;                    &lt;/Box&gt;&#10;                    &lt;Box style={{ flexDirection: 'row' }}&gt;&#10;                        &lt;Box style={{ width: 10, height: 10, borderRadius: 5, background: '#2563EB', marginRight: 12, marginTop: 8 }} /&gt;&#10;                        &lt;Text style={{ flex: 1, fontSize: 18, color: '#1E293B', lineHeight: 1.5 }}&gt;读写文件、执行任务、交付结果&lt;/Text&gt;&#10;                    &lt;/Box&gt;&#10;                    &lt;Box style={{ flexDirection: 'row' }}&gt;&#10;                        &lt;Box style={{ width: 10, height: 10, borderRadius: 5, background: '#2563EB', marginRight: 12, marginTop: 8 }} /&gt;&#10;                        &lt;Text style={{ flex: 1, fontSize: 18, color: '#1E293B', lineHeight: 1.5 }}&gt;本地部署，数据不出内网&lt;/Text&gt;&#10;                    &lt;/Box&gt;&#10;                    &lt;Box style={{ flexDirection: 'row' }}&gt;&#10;                        &lt;Box style={{ width: 10, height: 10, borderRadius: 5, background: '#2563EB', marginRight: 12, marginTop: 8 }} /&gt;&#10;                        &lt;Text style={{ flex: 1, fontSize: 18, color: '#1E293B', lineHeight: 1.5 }}&gt;记忆持续积累，越合作越懂你&lt;/Text&gt;&#10;                    &lt;/Box&gt;&#10;                    &lt;Box style={{ flexDirection: 'row' }}&gt;&#10;                        &lt;Box style={{ width: 10, height: 10, borderRadius: 5, background: '#2563EB', marginRight: 12, marginTop: 8 }} /&gt;&#10;                        &lt;Text style={{ flex: 1, fontSize: 18, color: '#1E293B', lineHeight: 1.5 }}&gt;专家、技能、记忆沉淀为组织资产&lt;/Text&gt;&#10;                    &lt;/Box&gt;&#10;                &lt;/Box&gt;&#10;            &lt;/Box&gt;&#10;        &lt;/Box&gt;&#10;&#10;        {/* 结论条 */}&#10;        &lt;Box style={{ height: 56, background: '#FFF7E9', borderRadius: 10, padding: 14, marginTop: 12, justifyContent: 'center' }}&gt;&#10;            &lt;Text style={{ fontSize: 19, fontWeight: '600', color: '#7C2D12', lineHeight: 1.4 }}&gt;&#10;                聊天工具解决「问」，数字员工解决「做」——这是两种东西，不是两个牌子。&#10;            &lt;/Text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571500" y="590550"/>
            <a:ext cx="1133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94A3B8"/>
                </a:solidFill>
                <a:latin typeface="Microsoft YaHei"/>
                <a:ea typeface="Microsoft YaHei"/>
              </a:rPr>
              <a:t xml:space="preserve">01 · </a:t>
            </a:r>
            <a:r>
              <a:rPr lang="zh-CN" sz="1050" spc="150">
                <a:solidFill>
                  <a:srgbClr val="94A3B8"/>
                </a:solidFill>
                <a:latin typeface="Microsoft YaHei"/>
                <a:ea typeface="Microsoft YaHei"/>
              </a:rPr>
              <a:t>为什么需要</a:t>
            </a:r>
            <a:endParaRPr/>
          </a:p>
        </p:txBody>
      </p:sp>
      <p:sp>
        <p:nvSpPr>
          <p:cNvPr id="34" name=""/>
          <p:cNvSpPr/>
          <p:nvPr/>
        </p:nvSpPr>
        <p:spPr>
          <a:xfrm rot="0" flipH="0" flipV="0">
            <a:off x="11201400" y="647700"/>
            <a:ext cx="419100" cy="38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571500" y="914400"/>
            <a:ext cx="110490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E293B"/>
                </a:solidFill>
                <a:latin typeface="Microsoft YaHei"/>
                <a:ea typeface="Microsoft YaHei"/>
              </a:rPr>
              <a:t>和通用聊天</a:t>
            </a:r>
            <a:r>
              <a:rPr lang="en-US" sz="2550" b="1">
                <a:solidFill>
                  <a:srgbClr val="1E293B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2550" b="1">
                <a:solidFill>
                  <a:srgbClr val="1E293B"/>
                </a:solidFill>
                <a:latin typeface="Microsoft YaHei"/>
                <a:ea typeface="Microsoft YaHei"/>
              </a:rPr>
              <a:t>比，差别在哪</a:t>
            </a:r>
            <a:endParaRPr/>
          </a:p>
        </p:txBody>
      </p:sp>
      <p:sp>
        <p:nvSpPr>
          <p:cNvPr id="36" name=""/>
          <p:cNvSpPr/>
          <p:nvPr/>
        </p:nvSpPr>
        <p:spPr>
          <a:xfrm rot="0" flipH="0" flipV="0">
            <a:off x="571500" y="1533525"/>
            <a:ext cx="1104900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37" name=""/>
          <p:cNvSpPr/>
          <p:nvPr/>
        </p:nvSpPr>
        <p:spPr>
          <a:xfrm rot="0" flipH="0" flipV="0">
            <a:off x="571500" y="1733550"/>
            <a:ext cx="5219700" cy="3038475"/>
          </a:xfrm>
          <a:prstGeom prst="roundRect">
            <a:avLst>
              <a:gd name="adj" fmla="val 3762"/>
            </a:avLst>
          </a:prstGeom>
          <a:solidFill>
            <a:srgbClr val="F4F6FB"/>
          </a:solidFill>
          <a:ln/>
        </p:spPr>
        <p:txBody>
          <a:bodyPr/>
          <a:p/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781050" y="1943100"/>
            <a:ext cx="4800600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64748B"/>
                </a:solidFill>
                <a:latin typeface="Microsoft YaHei"/>
                <a:ea typeface="Microsoft YaHei"/>
              </a:rPr>
              <a:t>通用聊天</a:t>
            </a:r>
            <a:r>
              <a:rPr lang="en-US" sz="1650" b="1">
                <a:solidFill>
                  <a:srgbClr val="64748B"/>
                </a:solidFill>
                <a:latin typeface="Microsoft YaHei"/>
                <a:ea typeface="Microsoft YaHei"/>
              </a:rPr>
              <a:t xml:space="preserve"> AI</a:t>
            </a:r>
            <a:endParaRPr/>
          </a:p>
        </p:txBody>
      </p:sp>
      <p:sp>
        <p:nvSpPr>
          <p:cNvPr id="39" name=""/>
          <p:cNvSpPr/>
          <p:nvPr/>
        </p:nvSpPr>
        <p:spPr>
          <a:xfrm rot="0" flipH="0" flipV="0">
            <a:off x="781050" y="2409825"/>
            <a:ext cx="480060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40" name=""/>
          <p:cNvSpPr/>
          <p:nvPr/>
        </p:nvSpPr>
        <p:spPr>
          <a:xfrm rot="0" flipH="0" flipV="0">
            <a:off x="781050" y="26098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/>
        </p:spPr>
        <p:txBody>
          <a:bodyPr/>
          <a:p/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990600" y="2533650"/>
            <a:ext cx="459105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答案基于公开知识，不了解你的制度与业务</a:t>
            </a:r>
            <a:endParaRPr/>
          </a:p>
        </p:txBody>
      </p:sp>
      <p:sp>
        <p:nvSpPr>
          <p:cNvPr id="42" name=""/>
          <p:cNvSpPr/>
          <p:nvPr/>
        </p:nvSpPr>
        <p:spPr>
          <a:xfrm rot="0" flipH="0" flipV="0">
            <a:off x="781050" y="3038475"/>
            <a:ext cx="95250" cy="95250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/>
        </p:spPr>
        <p:txBody>
          <a:bodyPr/>
          <a:p/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990600" y="2962275"/>
            <a:ext cx="459105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只能给出建议，不能真的动手执行</a:t>
            </a:r>
            <a:endParaRPr/>
          </a:p>
        </p:txBody>
      </p:sp>
      <p:sp>
        <p:nvSpPr>
          <p:cNvPr id="44" name=""/>
          <p:cNvSpPr/>
          <p:nvPr/>
        </p:nvSpPr>
        <p:spPr>
          <a:xfrm rot="0" flipH="0" flipV="0">
            <a:off x="781050" y="34671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/>
        </p:spPr>
        <p:txBody>
          <a:bodyPr/>
          <a:p/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990600" y="3390900"/>
            <a:ext cx="459105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数据要出网，合规审查难过</a:t>
            </a:r>
            <a:endParaRPr/>
          </a:p>
        </p:txBody>
      </p:sp>
      <p:sp>
        <p:nvSpPr>
          <p:cNvPr id="46" name=""/>
          <p:cNvSpPr/>
          <p:nvPr/>
        </p:nvSpPr>
        <p:spPr>
          <a:xfrm rot="0" flipH="0" flipV="0">
            <a:off x="781050" y="3895725"/>
            <a:ext cx="95250" cy="95250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/>
        </p:spPr>
        <p:txBody>
          <a:bodyPr/>
          <a:p/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990600" y="3819525"/>
            <a:ext cx="459105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会话结束即忘，每次都像新同事</a:t>
            </a:r>
            <a:endParaRPr/>
          </a:p>
        </p:txBody>
      </p:sp>
      <p:sp>
        <p:nvSpPr>
          <p:cNvPr id="48" name=""/>
          <p:cNvSpPr/>
          <p:nvPr/>
        </p:nvSpPr>
        <p:spPr>
          <a:xfrm rot="0" flipH="0" flipV="0">
            <a:off x="781050" y="43243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/>
        </p:spPr>
        <p:txBody>
          <a:bodyPr/>
          <a:p/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990600" y="4248150"/>
            <a:ext cx="459105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个人订阅制，能力不沉淀为组织资产</a:t>
            </a:r>
            <a:endParaRPr/>
          </a:p>
        </p:txBody>
      </p:sp>
      <p:sp>
        <p:nvSpPr>
          <p:cNvPr id="50" name=""/>
          <p:cNvSpPr/>
          <p:nvPr/>
        </p:nvSpPr>
        <p:spPr>
          <a:xfrm rot="0" flipH="0" flipV="0">
            <a:off x="6096000" y="2114550"/>
            <a:ext cx="9525" cy="114300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51" name=""/>
          <p:cNvSpPr/>
          <p:nvPr/>
        </p:nvSpPr>
        <p:spPr>
          <a:xfrm rot="0" flipH="0" flipV="0">
            <a:off x="5886450" y="3048000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5981700" y="3152775"/>
            <a:ext cx="2286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VS</a:t>
            </a:r>
            <a:endParaRPr/>
          </a:p>
        </p:txBody>
      </p:sp>
      <p:sp>
        <p:nvSpPr>
          <p:cNvPr id="53" name=""/>
          <p:cNvSpPr/>
          <p:nvPr/>
        </p:nvSpPr>
        <p:spPr>
          <a:xfrm rot="0" flipH="0" flipV="0">
            <a:off x="6096000" y="3257550"/>
            <a:ext cx="9525" cy="114300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54" name=""/>
          <p:cNvSpPr/>
          <p:nvPr/>
        </p:nvSpPr>
        <p:spPr>
          <a:xfrm rot="0" flipH="0" flipV="0">
            <a:off x="6400800" y="1733550"/>
            <a:ext cx="5219700" cy="3038475"/>
          </a:xfrm>
          <a:prstGeom prst="roundRect">
            <a:avLst>
              <a:gd name="adj" fmla="val 3762"/>
            </a:avLst>
          </a:prstGeom>
          <a:solidFill>
            <a:srgbClr val="E8EEFB"/>
          </a:solidFill>
          <a:ln/>
        </p:spPr>
        <p:txBody>
          <a:bodyPr/>
          <a:p/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6610350" y="1943100"/>
            <a:ext cx="4800600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2563EB"/>
                </a:solidFill>
                <a:latin typeface="Microsoft YaHei"/>
                <a:ea typeface="Microsoft YaHei"/>
              </a:rPr>
              <a:t>云顶数字工作台</a:t>
            </a:r>
            <a:endParaRPr/>
          </a:p>
        </p:txBody>
      </p:sp>
      <p:sp>
        <p:nvSpPr>
          <p:cNvPr id="56" name=""/>
          <p:cNvSpPr/>
          <p:nvPr/>
        </p:nvSpPr>
        <p:spPr>
          <a:xfrm rot="0" flipH="0" flipV="0">
            <a:off x="6610350" y="2409825"/>
            <a:ext cx="4800600" cy="9525"/>
          </a:xfrm>
          <a:prstGeom prst="rect">
            <a:avLst/>
          </a:prstGeom>
          <a:solidFill>
            <a:srgbClr val="C7D6F5"/>
          </a:solidFill>
          <a:ln/>
        </p:spPr>
        <p:txBody>
          <a:bodyPr/>
          <a:p/>
        </p:txBody>
      </p:sp>
      <p:sp>
        <p:nvSpPr>
          <p:cNvPr id="57" name=""/>
          <p:cNvSpPr/>
          <p:nvPr/>
        </p:nvSpPr>
        <p:spPr>
          <a:xfrm rot="0" flipH="0" flipV="0">
            <a:off x="6610350" y="26098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6819900" y="2533650"/>
            <a:ext cx="459105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1E293B"/>
                </a:solidFill>
                <a:latin typeface="Microsoft YaHei"/>
                <a:ea typeface="Microsoft YaHei"/>
              </a:rPr>
              <a:t>基于公司知识库作答，答案带出处</a:t>
            </a:r>
            <a:endParaRPr/>
          </a:p>
        </p:txBody>
      </p:sp>
      <p:sp>
        <p:nvSpPr>
          <p:cNvPr id="59" name=""/>
          <p:cNvSpPr/>
          <p:nvPr/>
        </p:nvSpPr>
        <p:spPr>
          <a:xfrm rot="0" flipH="0" flipV="0">
            <a:off x="6610350" y="3038475"/>
            <a:ext cx="95250" cy="952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6819900" y="2962275"/>
            <a:ext cx="459105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1E293B"/>
                </a:solidFill>
                <a:latin typeface="Microsoft YaHei"/>
                <a:ea typeface="Microsoft YaHei"/>
              </a:rPr>
              <a:t>读写文件、执行任务、交付结果</a:t>
            </a:r>
            <a:endParaRPr/>
          </a:p>
        </p:txBody>
      </p:sp>
      <p:sp>
        <p:nvSpPr>
          <p:cNvPr id="61" name=""/>
          <p:cNvSpPr/>
          <p:nvPr/>
        </p:nvSpPr>
        <p:spPr>
          <a:xfrm rot="0" flipH="0" flipV="0">
            <a:off x="6610350" y="34671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6819900" y="3390900"/>
            <a:ext cx="459105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1E293B"/>
                </a:solidFill>
                <a:latin typeface="Microsoft YaHei"/>
                <a:ea typeface="Microsoft YaHei"/>
              </a:rPr>
              <a:t>本地部署，数据不出内网</a:t>
            </a:r>
            <a:endParaRPr/>
          </a:p>
        </p:txBody>
      </p:sp>
      <p:sp>
        <p:nvSpPr>
          <p:cNvPr id="63" name=""/>
          <p:cNvSpPr/>
          <p:nvPr/>
        </p:nvSpPr>
        <p:spPr>
          <a:xfrm rot="0" flipH="0" flipV="0">
            <a:off x="6610350" y="3895725"/>
            <a:ext cx="95250" cy="952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6819900" y="3819525"/>
            <a:ext cx="459105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1E293B"/>
                </a:solidFill>
                <a:latin typeface="Microsoft YaHei"/>
                <a:ea typeface="Microsoft YaHei"/>
              </a:rPr>
              <a:t>记忆持续积累，越合作越懂你</a:t>
            </a:r>
            <a:endParaRPr/>
          </a:p>
        </p:txBody>
      </p:sp>
      <p:sp>
        <p:nvSpPr>
          <p:cNvPr id="65" name=""/>
          <p:cNvSpPr/>
          <p:nvPr/>
        </p:nvSpPr>
        <p:spPr>
          <a:xfrm rot="0" flipH="0" flipV="0">
            <a:off x="6610350" y="43243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6819900" y="4248150"/>
            <a:ext cx="459105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1E293B"/>
                </a:solidFill>
                <a:latin typeface="Microsoft YaHei"/>
                <a:ea typeface="Microsoft YaHei"/>
              </a:rPr>
              <a:t>专家、技能、记忆沉淀为组织资产</a:t>
            </a:r>
            <a:endParaRPr/>
          </a:p>
        </p:txBody>
      </p:sp>
      <p:sp>
        <p:nvSpPr>
          <p:cNvPr id="67" name=""/>
          <p:cNvSpPr/>
          <p:nvPr/>
        </p:nvSpPr>
        <p:spPr>
          <a:xfrm rot="0" flipH="0" flipV="0">
            <a:off x="571500" y="4886325"/>
            <a:ext cx="11049000" cy="533400"/>
          </a:xfrm>
          <a:prstGeom prst="roundRect">
            <a:avLst>
              <a:gd name="adj" fmla="val 17857"/>
            </a:avLst>
          </a:prstGeom>
          <a:solidFill>
            <a:srgbClr val="FFF7E9"/>
          </a:solidFill>
          <a:ln/>
        </p:spPr>
        <p:txBody>
          <a:bodyPr/>
          <a:p/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704850" y="5000625"/>
            <a:ext cx="10782300" cy="3048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425" b="1">
                <a:solidFill>
                  <a:srgbClr val="7C2D12"/>
                </a:solidFill>
                <a:latin typeface="Microsoft YaHei"/>
                <a:ea typeface="Microsoft YaHei"/>
              </a:rPr>
              <a:t>聊天工具解决「问」，数字员工解决「做」——这是两种东西，不是两个牌子。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69" name="" descr="&lt;Slide style={{ padding: 60, background: '#F4F6FB', position: 'relative' }}&gt;&#13;&#10;    &lt;Box style={{ position: 'absolute', right: 60, top: 130, width: 420, height: 460 }}&gt;&#13;&#10;        &lt;svg width={420} height={460} viewBox='0 0 420 460'&gt;&#13;&#10;            &lt;circle cx='210' cy='240' r='150' fill='none' stroke='#C7D6F5' strokeWidth='1' /&gt;&#13;&#10;            &lt;circle cx='210' cy='240' r='200' fill='none' stroke='#C7D6F5' strokeWidth='1' /&gt;&#13;&#10;            &lt;path d='M10 240 A200 200 0 0 1 410 240' fill='none' stroke='#0891B2' strokeWidth='3' opacity='0.6' /&gt;&#13;&#10;            &lt;circle cx='360' cy='240' r='8' fill='#F59E0B' /&gt;&#13;&#10;            &lt;circle cx='60' cy='240' r='8' fill='#2563EB' /&gt;&#13;&#10;            &lt;circle cx='210' cy='40' r='6' fill='#0891B2' /&gt;&#13;&#10;        &lt;/svg&gt;&#13;&#10;    &lt;/Box&gt;&#13;&#10;&#13;&#10;    &lt;Box style={{ position: 'absolute', left: 92, top: 168, width: 680 }}&gt;&#13;&#10;        &lt;Text style={{ fontSize: 180, fontWeight: 'bold', color: '#CBD9F0', lineHeight: 1.05 }}&gt;&#13;&#10;            02&#13;&#10;        &lt;/Text&gt;&#13;&#10;        &lt;Text style={{ fontSize: 64, fontWeight: 'bold', color: '#1E293B', lineHeight: 1.15, marginTop: 12 }}&gt;&#13;&#10;            业务怎么用&#13;&#10;        &lt;/Text&gt;&#13;&#10;        &lt;Box style={{ width: 72, height: 6, borderRadius: 3, background: '#F59E0B', marginTop: 30 }} /&gt;&#13;&#10;        &lt;Text style={{ fontSize: 22, color: '#64748B', lineHeight: 1.5, marginTop: 26 }}&gt;&#13;&#10;            部门场景、能力专题与员工使用方式&#13;&#10;        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4F6FB"/>
          </a:solidFill>
          <a:ln/>
        </p:spPr>
        <p:txBody>
          <a:bodyPr/>
          <a:p/>
        </p:txBody>
      </p:sp>
      <p:pic>
        <p:nvPicPr>
          <p:cNvPr id="7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620000" y="1238250"/>
            <a:ext cx="4000500" cy="4381500"/>
          </a:xfrm>
          <a:prstGeom prst="rect">
            <a:avLst/>
          </a:prstGeom>
          <a:ln/>
        </p:spPr>
      </p:pic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876300" y="1600200"/>
            <a:ext cx="6477000" cy="2162175"/>
          </a:xfrm>
          <a:prstGeom prst="rect"/>
        </p:spPr>
        <p:txBody>
          <a:bodyPr wrap="none" lIns="0" tIns="0" rIns="0" bIns="0"/>
          <a:p>
            <a:pPr>
              <a:lnSpc>
                <a:spcPct val="105000"/>
              </a:lnSpc>
            </a:pPr>
            <a:r>
              <a:rPr lang="en-US" sz="13500" b="1">
                <a:solidFill>
                  <a:srgbClr val="CBD9F0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876300" y="3876675"/>
            <a:ext cx="6477000" cy="847725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800" b="1">
                <a:solidFill>
                  <a:srgbClr val="1E293B"/>
                </a:solidFill>
                <a:latin typeface="Microsoft YaHei"/>
                <a:ea typeface="Microsoft YaHei"/>
              </a:rPr>
              <a:t>业务怎么用</a:t>
            </a:r>
            <a:endParaRPr/>
          </a:p>
        </p:txBody>
      </p:sp>
      <p:sp>
        <p:nvSpPr>
          <p:cNvPr id="74" name=""/>
          <p:cNvSpPr/>
          <p:nvPr/>
        </p:nvSpPr>
        <p:spPr>
          <a:xfrm rot="0" flipH="0" flipV="0">
            <a:off x="876300" y="5010150"/>
            <a:ext cx="685800" cy="5715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876300" y="5314950"/>
            <a:ext cx="6477000" cy="3810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650">
                <a:solidFill>
                  <a:srgbClr val="64748B"/>
                </a:solidFill>
                <a:latin typeface="Microsoft YaHei"/>
                <a:ea typeface="Microsoft YaHei"/>
              </a:rPr>
              <a:t>部门场景、能力专题与员工使用方式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76" name="" descr="&lt;Slide style={{ padding: 60, background: '#FFFFFF' }}&gt;&#10;    &lt;Box style={{ height: 600 }}&gt;&#10;        &lt;Box style={{ height: 20, flexDirection: 'row', justifyContent: 'space-between', alignItems: 'center' }}&gt;&#10;            &lt;Text style={{ fontSize: 14, color: '#94A3B8', letterSpacing: 2 }}&gt;02 · 业务怎么用&lt;/Text&gt;&#10;            &lt;Box style={{ width: 44, height: 4, borderRadius: 2, background: '#2563EB' }} /&gt;&#10;        &lt;/Box&gt;&#10;        &lt;Text style={{ fontSize: 34, fontWeight: 'bold', color: '#1E293B', marginTop: 16, lineHeight: 1.2 }}&gt;&#10;            每个部门拿到什么&#10;        &lt;/Text&gt;&#10;        &lt;Box style={{ height: 1, background: '#E2E8F0', marginTop: 16 }} /&gt;&#10;&#10;        &lt;Box style={{ flex: 1, marginTop: 20, flexDirection: 'row', gap: 32 }}&gt;&#10;            {/* 左：大数字 */}&#10;            &lt;Box style={{ width: 280 }}&gt;&#10;                &lt;Text style={{ fontSize: 100, fontWeight: 'bold', color: '#F59E0B', lineHeight: 1.0 }}&gt;7&lt;/Text&gt;&#10;                &lt;Text style={{ fontSize: 22, fontWeight: '600', color: '#1E293B', marginTop: 8 }}&gt;类部门各有收获&lt;/Text&gt;&#10;                &lt;Text style={{ fontSize: 18, color: '#475569', lineHeight: 1.55, marginTop: 12 }}&gt;&#10;                    从一线客服到管理层，每个岗位都能说出「它帮我干了什么」——这是采纳率的起点。&#10;                &lt;/Text&gt;&#10;                &lt;Box style={{ width: 180, height: 1, background: '#E2E8F0', marginTop: 16 }} /&gt;&#10;                &lt;Text style={{ fontSize: 16, color: '#64748B', lineHeight: 1.5, marginTop: 12 }}&gt;&#10;                    同一份受控知识库，各部门按权限取用&#10;                &lt;/Text&gt;&#10;            &lt;/Box&gt;&#10;&#10;            {/* 右：七行清单 */}&#10;            &lt;Box style={{ flex: 1 }}&gt;&#10;                &lt;Box style={{ height: 54, flexDirection: 'row', alignItems: 'center', borderBottomWidth: 1, borderBottomColor: '#E2E8F0', borderBottomStyle: 'solid' }}&gt;&#10;                    &lt;Text style={{ width: 150, fontSize: 18, fontWeight: '600', color: '#2563EB' }}&gt;客服&lt;/Text&gt;&#10;                    &lt;Text style={{ fontSize: 18, color: '#475569' }}&gt;答复有出处，二次咨询记得住前情&lt;/Text&gt;&#10;                &lt;/Box&gt;&#10;                &lt;Box style={{ height: 54, flexDirection: 'row', alignItems: 'center', borderBottomWidth: 1, borderBottomColor: '#E2E8F0', borderBottomStyle: 'solid' }}&gt;&#10;                    &lt;Text style={{ width: 150, fontSize: 18, fontWeight: '600', color: '#2563EB' }}&gt;运营&lt;/Text&gt;&#10;                    &lt;Text style={{ fontSize: 18, color: '#475569' }}&gt;日报周报自动出稿，异常预警主动推送&lt;/Text&gt;&#10;                &lt;/Box&gt;&#10;                &lt;Box style={{ height: 54, flexDirection: 'row', alignItems: 'center', borderBottomWidth: 1, borderBottomColor: '#E2E8F0', borderBottomStyle: 'solid' }}&gt;&#10;                    &lt;Text style={{ width: 150, fontSize: 18, fontWeight: '600', color: '#2563EB' }}&gt;市场销售&lt;/Text&gt;&#10;                    &lt;Text style={{ fontSize: 18, color: '#475569' }}&gt;方案初稿、竞品信息随手可问&lt;/Text&gt;&#10;                &lt;/Box&gt;&#10;                &lt;Box style={{ height: 54, flexDirection: 'row', alignItems: 'center', borderBottomWidth: 1, borderBottomColor: '#E2E8F0', borderBottomStyle: 'solid' }}&gt;&#10;                    &lt;Text style={{ width: 150, fontSize: 18, fontWeight: '600', color: '#2563EB' }}&gt;财务法务&lt;/Text&gt;&#10;                    &lt;Text style={{ fontSize: 18, color: '#475569' }}&gt;制度查询、合同要点快速梳理&lt;/Text&gt;&#10;                &lt;/Box&gt;&#10;                &lt;Box style={{ height: 54, flexDirection: 'row', alignItems: 'center', borderBottomWidth: 1, borderBottomColor: '#E2E8F0', borderBottomStyle: 'solid' }}&gt;&#10;                    &lt;Text style={{ width: 150, fontSize: 18, fontWeight: '600', color: '#2563EB' }}&gt;人力 HR&lt;/Text&gt;&#10;                    &lt;Text style={{ fontSize: 18, color: '#475569' }}&gt;政策问答、面试安排、入职答疑有问必答&lt;/Text&gt;&#10;                &lt;/Box&gt;&#10;                &lt;Box style={{ height: 54, flexDirection: 'row', alignItems: 'center', borderBottomWidth: 1, borderBottomColor: '#E2E8F0', borderBottomStyle: 'solid' }}&gt;&#10;                    &lt;Text style={{ width: 150, fontSize: 18, fontWeight: '600', color: '#2563EB' }}&gt;研发&lt;/Text&gt;&#10;                    &lt;Text style={{ fontSize: 18, color: '#475569' }}&gt;需求澄清、日志排查、文档生成提速&lt;/Text&gt;&#10;                &lt;/Box&gt;&#10;                &lt;Box style={{ height: 54, flexDirection: 'row', alignItems: 'center' }}&gt;&#10;                    &lt;Text style={{ width: 150, fontSize: 18, fontWeight: '600', color: '#2563EB' }}&gt;管理层&lt;/Text&gt;&#10;                    &lt;Text style={{ fontSize: 18, color: '#475569' }}&gt;进度可查、过程留痕、投入可控&lt;/Text&gt;&#10;                &lt;/Box&gt;&#10;            &lt;/Box&gt;&#10;        &lt;/Box&gt;&#10;&#10;        {/* 结论条 */}&#10;        &lt;Box style={{ height: 62, background: '#E8EEFB', borderRadius: 10, padding: 16, marginTop: 12, justifyContent: 'center' }}&gt;&#10;            &lt;Text style={{ fontSize: 19, fontWeight: '600', color: '#1E293B', lineHeight: 1.4 }}&gt;&#10;                不是替换岗位，而是给每个岗位配一个不下班的助理——业务先受益，推广阻力自然小。&#10;            &lt;/Text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571500" y="590550"/>
            <a:ext cx="1133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94A3B8"/>
                </a:solidFill>
                <a:latin typeface="Microsoft YaHei"/>
                <a:ea typeface="Microsoft YaHei"/>
              </a:rPr>
              <a:t xml:space="preserve">02 · </a:t>
            </a:r>
            <a:r>
              <a:rPr lang="zh-CN" sz="1050" spc="150">
                <a:solidFill>
                  <a:srgbClr val="94A3B8"/>
                </a:solidFill>
                <a:latin typeface="Microsoft YaHei"/>
                <a:ea typeface="Microsoft YaHei"/>
              </a:rPr>
              <a:t>业务怎么用</a:t>
            </a:r>
            <a:endParaRPr/>
          </a:p>
        </p:txBody>
      </p:sp>
      <p:sp>
        <p:nvSpPr>
          <p:cNvPr id="79" name=""/>
          <p:cNvSpPr/>
          <p:nvPr/>
        </p:nvSpPr>
        <p:spPr>
          <a:xfrm rot="0" flipH="0" flipV="0">
            <a:off x="11201400" y="647700"/>
            <a:ext cx="419100" cy="38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571500" y="914400"/>
            <a:ext cx="110490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E293B"/>
                </a:solidFill>
                <a:latin typeface="Microsoft YaHei"/>
                <a:ea typeface="Microsoft YaHei"/>
              </a:rPr>
              <a:t>每个部门拿到什么</a:t>
            </a:r>
            <a:endParaRPr/>
          </a:p>
        </p:txBody>
      </p:sp>
      <p:sp>
        <p:nvSpPr>
          <p:cNvPr id="81" name=""/>
          <p:cNvSpPr/>
          <p:nvPr/>
        </p:nvSpPr>
        <p:spPr>
          <a:xfrm rot="0" flipH="0" flipV="0">
            <a:off x="571500" y="1533525"/>
            <a:ext cx="1104900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571500" y="1733550"/>
            <a:ext cx="2667000" cy="1143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0" b="1">
                <a:solidFill>
                  <a:srgbClr val="F59E0B"/>
                </a:solidFill>
                <a:latin typeface="Microsoft YaHei"/>
                <a:ea typeface="Microsoft YaHei"/>
              </a:rPr>
              <a:t>7</a:t>
            </a:r>
            <a:endParaRPr/>
          </a:p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571500" y="2952750"/>
            <a:ext cx="26670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E293B"/>
                </a:solidFill>
                <a:latin typeface="Microsoft YaHei"/>
                <a:ea typeface="Microsoft YaHei"/>
              </a:rPr>
              <a:t>类部门各有收获</a:t>
            </a:r>
            <a:endParaRPr/>
          </a:p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571500" y="3324225"/>
            <a:ext cx="2667000" cy="9620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从一线客服到管理层，每个岗位都能说出「它帮我干了什么」——这是采纳率的起点。</a:t>
            </a:r>
            <a:endParaRPr/>
          </a:p>
        </p:txBody>
      </p:sp>
      <p:sp>
        <p:nvSpPr>
          <p:cNvPr id="85" name=""/>
          <p:cNvSpPr/>
          <p:nvPr/>
        </p:nvSpPr>
        <p:spPr>
          <a:xfrm rot="0" flipH="0" flipV="0">
            <a:off x="571500" y="4438650"/>
            <a:ext cx="171450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571500" y="4562475"/>
            <a:ext cx="26670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同一份受控知识库，各部门按权限取用</a:t>
            </a:r>
            <a:endParaRPr/>
          </a:p>
        </p:txBody>
      </p:sp>
      <p:sp>
        <p:nvSpPr>
          <p:cNvPr id="87" name=""/>
          <p:cNvSpPr/>
          <p:nvPr/>
        </p:nvSpPr>
        <p:spPr>
          <a:xfrm rot="0" flipH="0" flipV="0">
            <a:off x="3543300" y="1733550"/>
            <a:ext cx="8077200" cy="514350"/>
          </a:xfrm>
          <a:custGeom>
            <a:pathLst>
              <a:path w="848" h="54">
                <a:moveTo>
                  <a:pt x="0" y="53"/>
                </a:moveTo>
                <a:lnTo>
                  <a:pt x="848" y="53"/>
                </a:lnTo>
                <a:lnTo>
                  <a:pt x="848" y="54"/>
                </a:lnTo>
                <a:lnTo>
                  <a:pt x="0" y="54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p/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3543300" y="1885950"/>
            <a:ext cx="1428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563EB"/>
                </a:solidFill>
                <a:latin typeface="Microsoft YaHei"/>
                <a:ea typeface="Microsoft YaHei"/>
              </a:rPr>
              <a:t>客服</a:t>
            </a:r>
            <a:endParaRPr/>
          </a:p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4972050" y="1885950"/>
            <a:ext cx="2571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答复有出处，二次咨询记得住前情</a:t>
            </a:r>
            <a:endParaRPr/>
          </a:p>
        </p:txBody>
      </p:sp>
      <p:sp>
        <p:nvSpPr>
          <p:cNvPr id="90" name=""/>
          <p:cNvSpPr/>
          <p:nvPr/>
        </p:nvSpPr>
        <p:spPr>
          <a:xfrm rot="0" flipH="0" flipV="0">
            <a:off x="3543300" y="2247900"/>
            <a:ext cx="8077200" cy="514350"/>
          </a:xfrm>
          <a:custGeom>
            <a:pathLst>
              <a:path w="848" h="54">
                <a:moveTo>
                  <a:pt x="0" y="53"/>
                </a:moveTo>
                <a:lnTo>
                  <a:pt x="848" y="53"/>
                </a:lnTo>
                <a:lnTo>
                  <a:pt x="848" y="54"/>
                </a:lnTo>
                <a:lnTo>
                  <a:pt x="0" y="54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p/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3543300" y="2400300"/>
            <a:ext cx="1428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563EB"/>
                </a:solidFill>
                <a:latin typeface="Microsoft YaHei"/>
                <a:ea typeface="Microsoft YaHei"/>
              </a:rPr>
              <a:t>运营</a:t>
            </a:r>
            <a:endParaRPr/>
          </a:p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4972050" y="2400300"/>
            <a:ext cx="29146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日报周报自动出稿，异常预警主动推送</a:t>
            </a:r>
            <a:endParaRPr/>
          </a:p>
        </p:txBody>
      </p:sp>
      <p:sp>
        <p:nvSpPr>
          <p:cNvPr id="93" name=""/>
          <p:cNvSpPr/>
          <p:nvPr/>
        </p:nvSpPr>
        <p:spPr>
          <a:xfrm rot="0" flipH="0" flipV="0">
            <a:off x="3543300" y="2762250"/>
            <a:ext cx="8077200" cy="514350"/>
          </a:xfrm>
          <a:custGeom>
            <a:pathLst>
              <a:path w="848" h="54">
                <a:moveTo>
                  <a:pt x="0" y="53"/>
                </a:moveTo>
                <a:lnTo>
                  <a:pt x="848" y="53"/>
                </a:lnTo>
                <a:lnTo>
                  <a:pt x="848" y="54"/>
                </a:lnTo>
                <a:lnTo>
                  <a:pt x="0" y="54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p/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3543300" y="2914650"/>
            <a:ext cx="1428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563EB"/>
                </a:solidFill>
                <a:latin typeface="Microsoft YaHei"/>
                <a:ea typeface="Microsoft YaHei"/>
              </a:rPr>
              <a:t>市场销售</a:t>
            </a:r>
            <a:endParaRPr/>
          </a:p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4972050" y="2914650"/>
            <a:ext cx="22288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方案初稿、竞品信息随手可问</a:t>
            </a:r>
            <a:endParaRPr/>
          </a:p>
        </p:txBody>
      </p:sp>
      <p:sp>
        <p:nvSpPr>
          <p:cNvPr id="96" name=""/>
          <p:cNvSpPr/>
          <p:nvPr/>
        </p:nvSpPr>
        <p:spPr>
          <a:xfrm rot="0" flipH="0" flipV="0">
            <a:off x="3543300" y="3276600"/>
            <a:ext cx="8077200" cy="514350"/>
          </a:xfrm>
          <a:custGeom>
            <a:pathLst>
              <a:path w="848" h="54">
                <a:moveTo>
                  <a:pt x="0" y="53"/>
                </a:moveTo>
                <a:lnTo>
                  <a:pt x="848" y="53"/>
                </a:lnTo>
                <a:lnTo>
                  <a:pt x="848" y="54"/>
                </a:lnTo>
                <a:lnTo>
                  <a:pt x="0" y="54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p/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3543300" y="3429000"/>
            <a:ext cx="1428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563EB"/>
                </a:solidFill>
                <a:latin typeface="Microsoft YaHei"/>
                <a:ea typeface="Microsoft YaHei"/>
              </a:rPr>
              <a:t>财务法务</a:t>
            </a:r>
            <a:endParaRPr/>
          </a:p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4972050" y="3429000"/>
            <a:ext cx="22288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制度查询、合同要点快速梳理</a:t>
            </a:r>
            <a:endParaRPr/>
          </a:p>
        </p:txBody>
      </p:sp>
      <p:sp>
        <p:nvSpPr>
          <p:cNvPr id="99" name=""/>
          <p:cNvSpPr/>
          <p:nvPr/>
        </p:nvSpPr>
        <p:spPr>
          <a:xfrm rot="0" flipH="0" flipV="0">
            <a:off x="3543300" y="3790950"/>
            <a:ext cx="8077200" cy="514350"/>
          </a:xfrm>
          <a:custGeom>
            <a:pathLst>
              <a:path w="848" h="54">
                <a:moveTo>
                  <a:pt x="0" y="53"/>
                </a:moveTo>
                <a:lnTo>
                  <a:pt x="848" y="53"/>
                </a:lnTo>
                <a:lnTo>
                  <a:pt x="848" y="54"/>
                </a:lnTo>
                <a:lnTo>
                  <a:pt x="0" y="54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p/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3543300" y="3943350"/>
            <a:ext cx="1428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563EB"/>
                </a:solidFill>
                <a:latin typeface="Microsoft YaHei"/>
                <a:ea typeface="Microsoft YaHei"/>
              </a:rPr>
              <a:t>人力</a:t>
            </a:r>
            <a:r>
              <a:rPr lang="en-US" sz="1350" b="1">
                <a:solidFill>
                  <a:srgbClr val="2563EB"/>
                </a:solidFill>
                <a:latin typeface="Microsoft YaHei"/>
                <a:ea typeface="Microsoft YaHei"/>
              </a:rPr>
              <a:t xml:space="preserve"> HR</a:t>
            </a:r>
            <a:endParaRPr/>
          </a:p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4972050" y="3943350"/>
            <a:ext cx="30861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政策问答、面试安排、入职答疑有问必答</a:t>
            </a:r>
            <a:endParaRPr/>
          </a:p>
        </p:txBody>
      </p:sp>
      <p:sp>
        <p:nvSpPr>
          <p:cNvPr id="102" name=""/>
          <p:cNvSpPr/>
          <p:nvPr/>
        </p:nvSpPr>
        <p:spPr>
          <a:xfrm rot="0" flipH="0" flipV="0">
            <a:off x="3543300" y="4305300"/>
            <a:ext cx="8077200" cy="514350"/>
          </a:xfrm>
          <a:custGeom>
            <a:pathLst>
              <a:path w="848" h="54">
                <a:moveTo>
                  <a:pt x="0" y="53"/>
                </a:moveTo>
                <a:lnTo>
                  <a:pt x="848" y="53"/>
                </a:lnTo>
                <a:lnTo>
                  <a:pt x="848" y="54"/>
                </a:lnTo>
                <a:lnTo>
                  <a:pt x="0" y="54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p/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3543300" y="4457700"/>
            <a:ext cx="1428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563EB"/>
                </a:solidFill>
                <a:latin typeface="Microsoft YaHei"/>
                <a:ea typeface="Microsoft YaHei"/>
              </a:rPr>
              <a:t>研发</a:t>
            </a:r>
            <a:endParaRPr/>
          </a:p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4972050" y="4457700"/>
            <a:ext cx="27432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需求澄清、日志排查、文档生成提速</a:t>
            </a:r>
            <a:endParaRPr/>
          </a:p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3543300" y="4972050"/>
            <a:ext cx="1428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563EB"/>
                </a:solidFill>
                <a:latin typeface="Microsoft YaHei"/>
                <a:ea typeface="Microsoft YaHei"/>
              </a:rPr>
              <a:t>管理层</a:t>
            </a:r>
            <a:endParaRPr/>
          </a:p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4972050" y="4972050"/>
            <a:ext cx="2400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进度可查、过程留痕、投入可控</a:t>
            </a:r>
            <a:endParaRPr/>
          </a:p>
        </p:txBody>
      </p:sp>
      <p:sp>
        <p:nvSpPr>
          <p:cNvPr id="107" name=""/>
          <p:cNvSpPr/>
          <p:nvPr/>
        </p:nvSpPr>
        <p:spPr>
          <a:xfrm rot="0" flipH="0" flipV="0">
            <a:off x="571500" y="5695950"/>
            <a:ext cx="11049000" cy="590550"/>
          </a:xfrm>
          <a:prstGeom prst="roundRect">
            <a:avLst>
              <a:gd name="adj" fmla="val 16129"/>
            </a:avLst>
          </a:prstGeom>
          <a:solidFill>
            <a:srgbClr val="E8EEFB"/>
          </a:solidFill>
          <a:ln/>
        </p:spPr>
        <p:txBody>
          <a:bodyPr/>
          <a:p/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723900" y="5838825"/>
            <a:ext cx="10744200" cy="3048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425" b="1">
                <a:solidFill>
                  <a:srgbClr val="1E293B"/>
                </a:solidFill>
                <a:latin typeface="Microsoft YaHei"/>
                <a:ea typeface="Microsoft YaHei"/>
              </a:rPr>
              <a:t>不是替换岗位，而是给每个岗位配一个不下班的助理——业务先受益，推广阻力自然小。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09" name="" descr="&lt;Slide style={{ padding: 60, background: '#FFFFFF' }}&gt;&#10;    &lt;Box style={{ height: 600 }}&gt;&#10;        &lt;Box style={{ height: 20, flexDirection: 'row', justifyContent: 'space-between', alignItems: 'center' }}&gt;&#10;            &lt;Text style={{ fontSize: 14, color: '#94A3B8', letterSpacing: 2 }}&gt;02 · 业务怎么用&lt;/Text&gt;&#10;            &lt;Box style={{ width: 44, height: 4, borderRadius: 2, background: '#2563EB' }} /&gt;&#10;        &lt;/Box&gt;&#10;        &lt;Text style={{ fontSize: 34, fontWeight: 'bold', color: '#1E293B', marginTop: 16, lineHeight: 1.2 }}&gt;&#10;            部门深挖｜客服与售后：答得准、记得住、转得顺&#10;        &lt;/Text&gt;&#10;        &lt;Box style={{ height: 1, background: '#E2E8F0', marginTop: 16 }} /&gt;&#10;&#10;        &lt;Box style={{ flex: 1, marginTop: 20, flexDirection: 'row', gap: 28 }}&gt;&#10;            {/* 左：示例卡 */}&#10;            &lt;Box style={{ width: 400, background: '#F4F6FB', borderRadius: 12, padding: 22 }}&gt;&#10;                &lt;Text style={{ fontSize: 18, fontWeight: '600', color: '#64748B', lineHeight: 1.3 }}&gt;现场是什么样&lt;/Text&gt;&#10;                &lt;Box style={{ background: '#FFFFFF', borderRadius: 10, padding: 16, marginTop: 12, borderWidth: 1, borderColor: '#C7D6F5', borderStyle: 'solid' }}&gt;&#10;                    &lt;Text style={{ fontSize: 18, color: '#475569', lineHeight: 1.5 }}&gt;客户问：「你们的设备保修多久？上门收费吗？」&lt;/Text&gt;&#10;                &lt;/Box&gt;&#10;                &lt;Box style={{ background: '#E8EEFB', borderRadius: 10, padding: 16, marginTop: 10 }}&gt;&#10;                    &lt;Text style={{ fontSize: 18, color: '#1E293B', lineHeight: 1.5 }}&gt;&#10;                        数字客服答：整机保修 2 年、核心部件 3 年，保修期内上门免收服务费——依据《售后服务政策 2026 版》第 3.2 条。&#10;                    &lt;/Text&gt;&#10;                &lt;/Box&gt;&#10;                &lt;Text style={{ fontSize: 16, color: '#64748B', lineHeight: 1.5, marginTop: 12 }}&gt;&#10;                    答案点得开出处；答不上来时主动转人工，不硬编。&#10;                &lt;/Text&gt;&#10;            &lt;/Box&gt;&#10;&#10;            {/* 右：两块 */}&#10;            &lt;Box style={{ flex: 1, gap: 14 }}&gt;&#10;                &lt;Box style={{ flex: 1, background: '#FFFFFF', borderWidth: 1, borderColor: '#C7D6F5', borderStyle: 'solid', borderRadius: 12, padding: 18 }}&gt;&#10;                    &lt;Text style={{ fontSize: 22, fontWeight: '600', color: '#1E293B', lineHeight: 1.3 }}&gt;典型工作&lt;/Text&gt;&#10;                    &lt;Text style={{ fontSize: 18, color: '#475569', lineHeight: 1.55, marginTop: 8 }}&gt;&#10;                        产品咨询、售后政策解答、投诉初步处理、回访提醒、常见问题整理——重复度高、口径要求高。&#10;                    &lt;/Text&gt;&#10;                &lt;/Box&gt;&#10;                &lt;Box style={{ flex: 1, background: '#E8EEFB', borderRadius: 12, padding: 18 }}&gt;&#10;                    &lt;Text style={{ fontSize: 22, fontWeight: '600', color: '#2563EB', lineHeight: 1.3 }}&gt;它能做的&lt;/Text&gt;&#10;                    &lt;Text style={{ fontSize: 18, color: '#1E293B', lineHeight: 1.55, marginTop: 8 }}&gt;&#10;                        秒答高频问题并附出处；二次咨询记得前情；超范围自动转人工并带上下文；常见问题持续沉淀。&#10;                    &lt;/Text&gt;&#10;                &lt;/Box&gt;&#10;            &lt;/Box&gt;&#10;        &lt;/Box&gt;&#10;&#10;        {/* 结论条 */}&#10;        &lt;Box style={{ height: 58, background: '#E8EEFB', borderRadius: 10, padding: 14, marginTop: 12, justifyContent: 'center' }}&gt;&#10;            &lt;Text style={{ fontSize: 19, fontWeight: '600', color: '#1E293B', lineHeight: 1.4 }}&gt;&#10;                口径统一 + 背景延续 + 出处可查——客服体验的三块短板，一次补齐。&#10;            &lt;/Text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571500" y="590550"/>
            <a:ext cx="1133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94A3B8"/>
                </a:solidFill>
                <a:latin typeface="Microsoft YaHei"/>
                <a:ea typeface="Microsoft YaHei"/>
              </a:rPr>
              <a:t xml:space="preserve">02 · </a:t>
            </a:r>
            <a:r>
              <a:rPr lang="zh-CN" sz="1050" spc="150">
                <a:solidFill>
                  <a:srgbClr val="94A3B8"/>
                </a:solidFill>
                <a:latin typeface="Microsoft YaHei"/>
                <a:ea typeface="Microsoft YaHei"/>
              </a:rPr>
              <a:t>业务怎么用</a:t>
            </a:r>
            <a:endParaRPr/>
          </a:p>
        </p:txBody>
      </p:sp>
      <p:sp>
        <p:nvSpPr>
          <p:cNvPr id="112" name=""/>
          <p:cNvSpPr/>
          <p:nvPr/>
        </p:nvSpPr>
        <p:spPr>
          <a:xfrm rot="0" flipH="0" flipV="0">
            <a:off x="11201400" y="647700"/>
            <a:ext cx="419100" cy="38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571500" y="914400"/>
            <a:ext cx="110490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E293B"/>
                </a:solidFill>
                <a:latin typeface="Microsoft YaHei"/>
                <a:ea typeface="Microsoft YaHei"/>
              </a:rPr>
              <a:t>部门深挖｜客服与售后：答得准、记得住、转得顺</a:t>
            </a:r>
            <a:endParaRPr/>
          </a:p>
        </p:txBody>
      </p:sp>
      <p:sp>
        <p:nvSpPr>
          <p:cNvPr id="114" name=""/>
          <p:cNvSpPr/>
          <p:nvPr/>
        </p:nvSpPr>
        <p:spPr>
          <a:xfrm rot="0" flipH="0" flipV="0">
            <a:off x="571500" y="1533525"/>
            <a:ext cx="1104900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115" name=""/>
          <p:cNvSpPr/>
          <p:nvPr/>
        </p:nvSpPr>
        <p:spPr>
          <a:xfrm rot="0" flipH="0" flipV="0">
            <a:off x="571500" y="1733550"/>
            <a:ext cx="3810000" cy="3886200"/>
          </a:xfrm>
          <a:prstGeom prst="roundRect">
            <a:avLst>
              <a:gd name="adj" fmla="val 3000"/>
            </a:avLst>
          </a:prstGeom>
          <a:solidFill>
            <a:srgbClr val="F4F6FB"/>
          </a:solidFill>
          <a:ln/>
        </p:spPr>
        <p:txBody>
          <a:bodyPr/>
          <a:p/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781050" y="1943100"/>
            <a:ext cx="3390900" cy="2762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350" b="1">
                <a:solidFill>
                  <a:srgbClr val="64748B"/>
                </a:solidFill>
                <a:latin typeface="Microsoft YaHei"/>
                <a:ea typeface="Microsoft YaHei"/>
              </a:rPr>
              <a:t>现场是什么样</a:t>
            </a:r>
            <a:endParaRPr/>
          </a:p>
        </p:txBody>
      </p:sp>
      <p:sp>
        <p:nvSpPr>
          <p:cNvPr id="117" name=""/>
          <p:cNvSpPr/>
          <p:nvPr/>
        </p:nvSpPr>
        <p:spPr>
          <a:xfrm rot="0" flipH="0" flipV="0">
            <a:off x="781050" y="2333625"/>
            <a:ext cx="3390900" cy="923925"/>
          </a:xfrm>
          <a:prstGeom prst="roundRect">
            <a:avLst>
              <a:gd name="adj" fmla="val 10309"/>
            </a:avLst>
          </a:prstGeom>
          <a:solidFill>
            <a:srgbClr val="FFFFFF"/>
          </a:solidFill>
          <a:ln w="12700">
            <a:solidFill>
              <a:srgbClr val="C7D6F5"/>
            </a:solidFill>
            <a:prstDash val="solid"/>
          </a:ln>
        </p:spPr>
        <p:txBody>
          <a:bodyPr/>
          <a:p/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933450" y="2486025"/>
            <a:ext cx="308610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客户问：「你们的设备保修多久？上门收费吗？」</a:t>
            </a:r>
            <a:endParaRPr/>
          </a:p>
        </p:txBody>
      </p:sp>
      <p:sp>
        <p:nvSpPr>
          <p:cNvPr id="119" name=""/>
          <p:cNvSpPr/>
          <p:nvPr/>
        </p:nvSpPr>
        <p:spPr>
          <a:xfrm rot="0" flipH="0" flipV="0">
            <a:off x="781050" y="3352800"/>
            <a:ext cx="3390900" cy="1238250"/>
          </a:xfrm>
          <a:prstGeom prst="roundRect">
            <a:avLst>
              <a:gd name="adj" fmla="val 7692"/>
            </a:avLst>
          </a:prstGeom>
          <a:solidFill>
            <a:srgbClr val="E8EEFB"/>
          </a:solidFill>
          <a:ln/>
        </p:spPr>
        <p:txBody>
          <a:bodyPr/>
          <a:p/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933450" y="3505200"/>
            <a:ext cx="3086100" cy="933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1E293B"/>
                </a:solidFill>
                <a:latin typeface="Microsoft YaHei"/>
                <a:ea typeface="Microsoft YaHei"/>
              </a:rPr>
              <a:t>数字客服答：整机保修</a:t>
            </a:r>
            <a:r>
              <a:rPr lang="en-US" sz="1350">
                <a:solidFill>
                  <a:srgbClr val="1E293B"/>
                </a:solidFill>
                <a:latin typeface="Microsoft YaHei"/>
                <a:ea typeface="Microsoft YaHei"/>
              </a:rPr>
              <a:t xml:space="preserve"> 2 </a:t>
            </a:r>
            <a:r>
              <a:rPr lang="zh-CN" sz="1350">
                <a:solidFill>
                  <a:srgbClr val="1E293B"/>
                </a:solidFill>
                <a:latin typeface="Microsoft YaHei"/>
                <a:ea typeface="Microsoft YaHei"/>
              </a:rPr>
              <a:t>年、核心部件</a:t>
            </a:r>
            <a:r>
              <a:rPr lang="en-US" sz="1350">
                <a:solidFill>
                  <a:srgbClr val="1E293B"/>
                </a:solidFill>
                <a:latin typeface="Microsoft YaHei"/>
                <a:ea typeface="Microsoft YaHei"/>
              </a:rPr>
              <a:t xml:space="preserve"> 3 </a:t>
            </a:r>
            <a:r>
              <a:rPr lang="zh-CN" sz="1350">
                <a:solidFill>
                  <a:srgbClr val="1E293B"/>
                </a:solidFill>
                <a:latin typeface="Microsoft YaHei"/>
                <a:ea typeface="Microsoft YaHei"/>
              </a:rPr>
              <a:t>年，保修期内上门免收服务费——依据《售后服务政策</a:t>
            </a:r>
            <a:r>
              <a:rPr lang="en-US" sz="1350">
                <a:solidFill>
                  <a:srgbClr val="1E293B"/>
                </a:solidFill>
                <a:latin typeface="Microsoft YaHei"/>
                <a:ea typeface="Microsoft YaHei"/>
              </a:rPr>
              <a:t xml:space="preserve"> 2026 </a:t>
            </a:r>
            <a:r>
              <a:rPr lang="zh-CN" sz="1350">
                <a:solidFill>
                  <a:srgbClr val="1E293B"/>
                </a:solidFill>
                <a:latin typeface="Microsoft YaHei"/>
                <a:ea typeface="Microsoft YaHei"/>
              </a:rPr>
              <a:t>版》第</a:t>
            </a:r>
            <a:r>
              <a:rPr lang="en-US" sz="1350">
                <a:solidFill>
                  <a:srgbClr val="1E293B"/>
                </a:solidFill>
                <a:latin typeface="Microsoft YaHei"/>
                <a:ea typeface="Microsoft YaHei"/>
              </a:rPr>
              <a:t xml:space="preserve"> 3.2 </a:t>
            </a:r>
            <a:r>
              <a:rPr lang="zh-CN" sz="1350">
                <a:solidFill>
                  <a:srgbClr val="1E293B"/>
                </a:solidFill>
                <a:latin typeface="Microsoft YaHei"/>
                <a:ea typeface="Microsoft YaHei"/>
              </a:rPr>
              <a:t>条。</a:t>
            </a:r>
            <a:endParaRPr/>
          </a:p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781050" y="4705350"/>
            <a:ext cx="33909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答案点得开出处；答不上来时主动转人工，不硬编。</a:t>
            </a:r>
            <a:endParaRPr/>
          </a:p>
        </p:txBody>
      </p:sp>
      <p:sp>
        <p:nvSpPr>
          <p:cNvPr id="122" name=""/>
          <p:cNvSpPr/>
          <p:nvPr/>
        </p:nvSpPr>
        <p:spPr>
          <a:xfrm rot="0" flipH="0" flipV="0">
            <a:off x="4648200" y="1733550"/>
            <a:ext cx="6972300" cy="1876425"/>
          </a:xfrm>
          <a:prstGeom prst="roundRect">
            <a:avLst>
              <a:gd name="adj" fmla="val 6091"/>
            </a:avLst>
          </a:prstGeom>
          <a:solidFill>
            <a:srgbClr val="FFFFFF"/>
          </a:solidFill>
          <a:ln w="12700">
            <a:solidFill>
              <a:srgbClr val="C7D6F5"/>
            </a:solidFill>
            <a:prstDash val="solid"/>
          </a:ln>
        </p:spPr>
        <p:txBody>
          <a:bodyPr/>
          <a:p/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4819650" y="1905000"/>
            <a:ext cx="6629400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1E293B"/>
                </a:solidFill>
                <a:latin typeface="Microsoft YaHei"/>
                <a:ea typeface="Microsoft YaHei"/>
              </a:rPr>
              <a:t>典型工作</a:t>
            </a:r>
            <a:endParaRPr/>
          </a:p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4819650" y="2314575"/>
            <a:ext cx="6629400" cy="638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产品咨询、售后政策解答、投诉初步处理、回访提醒、常见问题整理——重复度高、口径要求高。</a:t>
            </a:r>
            <a:endParaRPr/>
          </a:p>
        </p:txBody>
      </p:sp>
      <p:sp>
        <p:nvSpPr>
          <p:cNvPr id="125" name=""/>
          <p:cNvSpPr/>
          <p:nvPr/>
        </p:nvSpPr>
        <p:spPr>
          <a:xfrm rot="0" flipH="0" flipV="0">
            <a:off x="4648200" y="3743325"/>
            <a:ext cx="6972300" cy="1876425"/>
          </a:xfrm>
          <a:prstGeom prst="roundRect">
            <a:avLst>
              <a:gd name="adj" fmla="val 6091"/>
            </a:avLst>
          </a:prstGeom>
          <a:solidFill>
            <a:srgbClr val="E8EEFB"/>
          </a:solidFill>
          <a:ln/>
        </p:spPr>
        <p:txBody>
          <a:bodyPr/>
          <a:p/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4819650" y="3914775"/>
            <a:ext cx="6629400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2563EB"/>
                </a:solidFill>
                <a:latin typeface="Microsoft YaHei"/>
                <a:ea typeface="Microsoft YaHei"/>
              </a:rPr>
              <a:t>它能做的</a:t>
            </a:r>
            <a:endParaRPr/>
          </a:p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4819650" y="4324350"/>
            <a:ext cx="6629400" cy="638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350">
                <a:solidFill>
                  <a:srgbClr val="1E293B"/>
                </a:solidFill>
                <a:latin typeface="Microsoft YaHei"/>
                <a:ea typeface="Microsoft YaHei"/>
              </a:rPr>
              <a:t>秒答高频问题并附出处；二次咨询记得前情；超范围自动转人工并带上下文；常见问题持续沉淀。</a:t>
            </a:r>
            <a:endParaRPr/>
          </a:p>
        </p:txBody>
      </p:sp>
      <p:sp>
        <p:nvSpPr>
          <p:cNvPr id="128" name=""/>
          <p:cNvSpPr/>
          <p:nvPr/>
        </p:nvSpPr>
        <p:spPr>
          <a:xfrm rot="0" flipH="0" flipV="0">
            <a:off x="571500" y="5734050"/>
            <a:ext cx="11049000" cy="552450"/>
          </a:xfrm>
          <a:prstGeom prst="roundRect">
            <a:avLst>
              <a:gd name="adj" fmla="val 17241"/>
            </a:avLst>
          </a:prstGeom>
          <a:solidFill>
            <a:srgbClr val="E8EEFB"/>
          </a:solidFill>
          <a:ln/>
        </p:spPr>
        <p:txBody>
          <a:bodyPr/>
          <a:p/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704850" y="5857875"/>
            <a:ext cx="10782300" cy="3048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425" b="1">
                <a:solidFill>
                  <a:srgbClr val="1E293B"/>
                </a:solidFill>
                <a:latin typeface="Microsoft YaHei"/>
                <a:ea typeface="Microsoft YaHei"/>
              </a:rPr>
              <a:t>口径统一</a:t>
            </a:r>
            <a:r>
              <a:rPr lang="en-US" sz="1425" b="1">
                <a:solidFill>
                  <a:srgbClr val="1E293B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425" b="1">
                <a:solidFill>
                  <a:srgbClr val="1E293B"/>
                </a:solidFill>
                <a:latin typeface="Microsoft YaHei"/>
                <a:ea typeface="Microsoft YaHei"/>
              </a:rPr>
              <a:t>背景延续</a:t>
            </a:r>
            <a:r>
              <a:rPr lang="en-US" sz="1425" b="1">
                <a:solidFill>
                  <a:srgbClr val="1E293B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425" b="1">
                <a:solidFill>
                  <a:srgbClr val="1E293B"/>
                </a:solidFill>
                <a:latin typeface="Microsoft YaHei"/>
                <a:ea typeface="Microsoft YaHei"/>
              </a:rPr>
              <a:t>出处可查——客服体验的三块短板，一次补齐。</a:t>
            </a:r>
            <a:endParaRPr/>
          </a:p>
        </p:txBody>
      </p:sp>
    </p:spTree>
  </p:cSld>
</p:sld>
</file>

<file path=ppt/slides/slide15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30" name="" descr="&lt;Slide style={{ padding: 60, background: '#FFFFFF' }}&gt;&#10;    &lt;Box style={{ height: 600 }}&gt;&#10;        &lt;Box style={{ height: 20, flexDirection: 'row', justifyContent: 'space-between', alignItems: 'center' }}&gt;&#10;            &lt;Text style={{ fontSize: 14, color: '#94A3B8', letterSpacing: 2 }}&gt;02 · 业务怎么用&lt;/Text&gt;&#10;            &lt;Box style={{ width: 44, height: 4, borderRadius: 2, background: '#2563EB' }} /&gt;&#10;        &lt;/Box&gt;&#10;        &lt;Text style={{ fontSize: 34, fontWeight: 'bold', color: '#1E293B', marginTop: 16, lineHeight: 1.2 }}&gt;&#10;            部门深挖｜运营与行政：重复的事自动发生&#10;        &lt;/Text&gt;&#10;        &lt;Box style={{ height: 1, background: '#E2E8F0', marginTop: 16 }} /&gt;&#10;&#10;        {/* 一天的时间轴 */}&#10;        &lt;Box style={{ flex: 1, marginTop: 16, position: 'relative' }}&gt;&#10;            &lt;svg width={1160} height={330} viewBox='0 0 1160 330'&gt;&#10;                &lt;line x1='40' y1='165' x2='1120' y2='165' stroke='#C7D6F5' strokeWidth='2' /&gt;&#10;                &lt;circle cx='160' cy='165' r='9' fill='#2563EB' /&gt;&#10;                &lt;circle cx='440' cy='165' r='9' fill='#0891B2' /&gt;&#10;                &lt;circle cx='720' cy='165' r='9' fill='#2563EB' /&gt;&#10;                &lt;circle cx='1000' cy='165' r='11' fill='#F59E0B' /&gt;&#10;                &lt;line x1='160' y1='165' x2='160' y2='110' stroke='#C7D6F5' strokeWidth='1' /&gt;&#10;                &lt;line x1='440' y1='165' x2='440' y2='222' stroke='#C7D6F5' strokeWidth='1' /&gt;&#10;                &lt;line x1='720' y1='165' x2='720' y2='110' stroke='#C7D6F5' strokeWidth='1' /&gt;&#10;                &lt;line x1='1000' y1='165' x2='1000' y2='222' stroke='#C7D6F5' strokeWidth='1' /&gt;&#10;            &lt;/svg&gt;&#10;            &lt;Box style={{ position: 'absolute', left: 20, top: 8, width: 280, background: '#E8EEFB', borderRadius: 10, padding: 14 }}&gt;&#10;                &lt;Text style={{ fontSize: 20, fontWeight: '600', color: '#1E293B', lineHeight: 1.3 }}&gt;早 8:00 · 日报已就绪&lt;/Text&gt;&#10;                &lt;Text style={{ fontSize: 18, color: '#475569', lineHeight: 1.5, marginTop: 6 }}&gt;数据自动汇总、摘要生成、推送到管理群。&lt;/Text&gt;&#10;            &lt;/Box&gt;&#10;            &lt;Box style={{ position: 'absolute', left: 580, top: 8, width: 280, background: '#E8EEFB', borderRadius: 10, padding: 14 }}&gt;&#10;                &lt;Text style={{ fontSize: 20, fontWeight: '600', color: '#1E293B', lineHeight: 1.3 }}&gt;随时 · 批量操作回放&lt;/Text&gt;&#10;                &lt;Text style={{ fontSize: 18, color: '#475569', lineHeight: 1.5, marginTop: 6 }}&gt;后台填报录成技能，一次操作批量重放。&lt;/Text&gt;&#10;            &lt;/Box&gt;&#10;            &lt;Box style={{ position: 'absolute', left: 300, top: 208, width: 280, background: '#D6E4F9', borderRadius: 10, padding: 14 }}&gt;&#10;                &lt;Text style={{ fontSize: 20, fontWeight: '600', color: '#1E293B', lineHeight: 1.3 }}&gt;日间 · 异常即刻预警&lt;/Text&gt;&#10;                &lt;Text style={{ fontSize: 18, color: '#475569', lineHeight: 1.5, marginTop: 6 }}&gt;指标越线主动提醒，不用等周会复盘才发现。&lt;/Text&gt;&#10;            &lt;/Box&gt;&#10;            &lt;Box style={{ position: 'absolute', left: 860, top: 208, width: 280, background: '#FFF7E9', borderRadius: 10, padding: 14 }}&gt;&#10;                &lt;Text style={{ fontSize: 20, fontWeight: '600', color: '#1E293B', lineHeight: 1.3 }}&gt;到期前 · 主动提醒&lt;/Text&gt;&#10;                &lt;Text style={{ fontSize: 18, color: '#475569', lineHeight: 1.5, marginTop: 6 }}&gt;证照年检、合同续签、费用到期提前打招呼。&lt;/Text&gt;&#10;            &lt;/Box&gt;&#10;        &lt;/Box&gt;&#10;&#10;        {/* 结论条 */}&#10;        &lt;Box style={{ height: 58, background: '#E8EEFB', borderRadius: 10, padding: 14, marginTop: 12, justifyContent: 'center' }}&gt;&#10;            &lt;Text style={{ fontSize: 19, fontWeight: '600', color: '#1E293B', lineHeight: 1.4 }}&gt;&#10;                运营行政的价值不在「快一点」，而在「不漏事」——该做的自动发生，人只处理例外。&#10;            &lt;/Text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571500" y="590550"/>
            <a:ext cx="1133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94A3B8"/>
                </a:solidFill>
                <a:latin typeface="Microsoft YaHei"/>
                <a:ea typeface="Microsoft YaHei"/>
              </a:rPr>
              <a:t xml:space="preserve">02 · </a:t>
            </a:r>
            <a:r>
              <a:rPr lang="zh-CN" sz="1050" spc="150">
                <a:solidFill>
                  <a:srgbClr val="94A3B8"/>
                </a:solidFill>
                <a:latin typeface="Microsoft YaHei"/>
                <a:ea typeface="Microsoft YaHei"/>
              </a:rPr>
              <a:t>业务怎么用</a:t>
            </a:r>
            <a:endParaRPr/>
          </a:p>
        </p:txBody>
      </p:sp>
      <p:sp>
        <p:nvSpPr>
          <p:cNvPr id="133" name=""/>
          <p:cNvSpPr/>
          <p:nvPr/>
        </p:nvSpPr>
        <p:spPr>
          <a:xfrm rot="0" flipH="0" flipV="0">
            <a:off x="11201400" y="647700"/>
            <a:ext cx="419100" cy="38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571500" y="914400"/>
            <a:ext cx="110490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E293B"/>
                </a:solidFill>
                <a:latin typeface="Microsoft YaHei"/>
                <a:ea typeface="Microsoft YaHei"/>
              </a:rPr>
              <a:t>部门深挖｜运营与行政：重复的事自动发生</a:t>
            </a:r>
            <a:endParaRPr/>
          </a:p>
        </p:txBody>
      </p:sp>
      <p:sp>
        <p:nvSpPr>
          <p:cNvPr id="135" name=""/>
          <p:cNvSpPr/>
          <p:nvPr/>
        </p:nvSpPr>
        <p:spPr>
          <a:xfrm rot="0" flipH="0" flipV="0">
            <a:off x="571500" y="1533525"/>
            <a:ext cx="1104900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136" name=""/>
          <p:cNvSpPr/>
          <p:nvPr/>
        </p:nvSpPr>
        <p:spPr>
          <a:xfrm rot="0" flipH="0" flipV="0">
            <a:off x="571500" y="5734050"/>
            <a:ext cx="11049000" cy="552450"/>
          </a:xfrm>
          <a:prstGeom prst="roundRect">
            <a:avLst>
              <a:gd name="adj" fmla="val 17241"/>
            </a:avLst>
          </a:prstGeom>
          <a:solidFill>
            <a:srgbClr val="E8EEFB"/>
          </a:solidFill>
          <a:ln/>
        </p:spPr>
        <p:txBody>
          <a:bodyPr/>
          <a:p/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704850" y="5857875"/>
            <a:ext cx="10782300" cy="3048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425" b="1">
                <a:solidFill>
                  <a:srgbClr val="1E293B"/>
                </a:solidFill>
                <a:latin typeface="Microsoft YaHei"/>
                <a:ea typeface="Microsoft YaHei"/>
              </a:rPr>
              <a:t>运营行政的价值不在「快一点」，而在「不漏事」——该做的自动发生，人只处理例外。</a:t>
            </a:r>
            <a:endParaRPr/>
          </a:p>
        </p:txBody>
      </p:sp>
      <p:pic>
        <p:nvPicPr>
          <p:cNvPr id="13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571500" y="1695450"/>
            <a:ext cx="11049000" cy="3143250"/>
          </a:xfrm>
          <a:prstGeom prst="rect">
            <a:avLst/>
          </a:prstGeom>
          <a:ln/>
        </p:spPr>
      </p:pic>
      <p:sp>
        <p:nvSpPr>
          <p:cNvPr id="139" name=""/>
          <p:cNvSpPr/>
          <p:nvPr/>
        </p:nvSpPr>
        <p:spPr>
          <a:xfrm rot="0" flipH="0" flipV="0">
            <a:off x="762000" y="1771650"/>
            <a:ext cx="2667000" cy="1247775"/>
          </a:xfrm>
          <a:prstGeom prst="roundRect">
            <a:avLst>
              <a:gd name="adj" fmla="val 7634"/>
            </a:avLst>
          </a:prstGeom>
          <a:solidFill>
            <a:srgbClr val="E8EEFB"/>
          </a:solidFill>
          <a:ln/>
        </p:spPr>
        <p:txBody>
          <a:bodyPr/>
          <a:p/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895350" y="1905000"/>
            <a:ext cx="2400300" cy="3048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500" b="1">
                <a:solidFill>
                  <a:srgbClr val="1E293B"/>
                </a:solidFill>
                <a:latin typeface="Microsoft YaHei"/>
                <a:ea typeface="Microsoft YaHei"/>
              </a:rPr>
              <a:t>早</a:t>
            </a:r>
            <a:r>
              <a:rPr lang="en-US" sz="1500" b="1">
                <a:solidFill>
                  <a:srgbClr val="1E293B"/>
                </a:solidFill>
                <a:latin typeface="Microsoft YaHei"/>
                <a:ea typeface="Microsoft YaHei"/>
              </a:rPr>
              <a:t xml:space="preserve"> 8:00 · </a:t>
            </a:r>
            <a:r>
              <a:rPr lang="zh-CN" sz="1500" b="1">
                <a:solidFill>
                  <a:srgbClr val="1E293B"/>
                </a:solidFill>
                <a:latin typeface="Microsoft YaHei"/>
                <a:ea typeface="Microsoft YaHei"/>
              </a:rPr>
              <a:t>日报已就绪</a:t>
            </a:r>
            <a:endParaRPr/>
          </a:p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895350" y="2266950"/>
            <a:ext cx="240030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数据自动汇总、摘要生成、推送到管理群。</a:t>
            </a:r>
            <a:endParaRPr/>
          </a:p>
        </p:txBody>
      </p:sp>
      <p:sp>
        <p:nvSpPr>
          <p:cNvPr id="142" name=""/>
          <p:cNvSpPr/>
          <p:nvPr/>
        </p:nvSpPr>
        <p:spPr>
          <a:xfrm rot="0" flipH="0" flipV="0">
            <a:off x="6096000" y="1771650"/>
            <a:ext cx="2667000" cy="1247775"/>
          </a:xfrm>
          <a:prstGeom prst="roundRect">
            <a:avLst>
              <a:gd name="adj" fmla="val 7634"/>
            </a:avLst>
          </a:prstGeom>
          <a:solidFill>
            <a:srgbClr val="E8EEFB"/>
          </a:solidFill>
          <a:ln/>
        </p:spPr>
        <p:txBody>
          <a:bodyPr/>
          <a:p/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6229350" y="1905000"/>
            <a:ext cx="2400300" cy="3048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500" b="1">
                <a:solidFill>
                  <a:srgbClr val="1E293B"/>
                </a:solidFill>
                <a:latin typeface="Microsoft YaHei"/>
                <a:ea typeface="Microsoft YaHei"/>
              </a:rPr>
              <a:t>随时</a:t>
            </a:r>
            <a:r>
              <a:rPr lang="en-US" sz="1500" b="1">
                <a:solidFill>
                  <a:srgbClr val="1E293B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500" b="1">
                <a:solidFill>
                  <a:srgbClr val="1E293B"/>
                </a:solidFill>
                <a:latin typeface="Microsoft YaHei"/>
                <a:ea typeface="Microsoft YaHei"/>
              </a:rPr>
              <a:t>批量操作回放</a:t>
            </a:r>
            <a:endParaRPr/>
          </a:p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6229350" y="2266950"/>
            <a:ext cx="240030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后台填报录成技能，一次操作批量重放。</a:t>
            </a:r>
            <a:endParaRPr/>
          </a:p>
        </p:txBody>
      </p:sp>
      <p:sp>
        <p:nvSpPr>
          <p:cNvPr id="145" name=""/>
          <p:cNvSpPr/>
          <p:nvPr/>
        </p:nvSpPr>
        <p:spPr>
          <a:xfrm rot="0" flipH="0" flipV="0">
            <a:off x="3429000" y="3676650"/>
            <a:ext cx="2667000" cy="1247775"/>
          </a:xfrm>
          <a:prstGeom prst="roundRect">
            <a:avLst>
              <a:gd name="adj" fmla="val 7634"/>
            </a:avLst>
          </a:prstGeom>
          <a:solidFill>
            <a:srgbClr val="D6E4F9"/>
          </a:solidFill>
          <a:ln/>
        </p:spPr>
        <p:txBody>
          <a:bodyPr/>
          <a:p/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3562350" y="3810000"/>
            <a:ext cx="2400300" cy="3048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500" b="1">
                <a:solidFill>
                  <a:srgbClr val="1E293B"/>
                </a:solidFill>
                <a:latin typeface="Microsoft YaHei"/>
                <a:ea typeface="Microsoft YaHei"/>
              </a:rPr>
              <a:t>日间</a:t>
            </a:r>
            <a:r>
              <a:rPr lang="en-US" sz="1500" b="1">
                <a:solidFill>
                  <a:srgbClr val="1E293B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500" b="1">
                <a:solidFill>
                  <a:srgbClr val="1E293B"/>
                </a:solidFill>
                <a:latin typeface="Microsoft YaHei"/>
                <a:ea typeface="Microsoft YaHei"/>
              </a:rPr>
              <a:t>异常即刻预警</a:t>
            </a:r>
            <a:endParaRPr/>
          </a:p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3562350" y="4171950"/>
            <a:ext cx="240030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指标越线主动提醒，不用等周会复盘才发现。</a:t>
            </a:r>
            <a:endParaRPr/>
          </a:p>
        </p:txBody>
      </p:sp>
      <p:sp>
        <p:nvSpPr>
          <p:cNvPr id="148" name=""/>
          <p:cNvSpPr/>
          <p:nvPr/>
        </p:nvSpPr>
        <p:spPr>
          <a:xfrm rot="0" flipH="0" flipV="0">
            <a:off x="8763000" y="3676650"/>
            <a:ext cx="2667000" cy="1247775"/>
          </a:xfrm>
          <a:prstGeom prst="roundRect">
            <a:avLst>
              <a:gd name="adj" fmla="val 7634"/>
            </a:avLst>
          </a:prstGeom>
          <a:solidFill>
            <a:srgbClr val="FFF7E9"/>
          </a:solidFill>
          <a:ln/>
        </p:spPr>
        <p:txBody>
          <a:bodyPr/>
          <a:p/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8896350" y="3810000"/>
            <a:ext cx="2400300" cy="3048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500" b="1">
                <a:solidFill>
                  <a:srgbClr val="1E293B"/>
                </a:solidFill>
                <a:latin typeface="Microsoft YaHei"/>
                <a:ea typeface="Microsoft YaHei"/>
              </a:rPr>
              <a:t>到期前</a:t>
            </a:r>
            <a:r>
              <a:rPr lang="en-US" sz="1500" b="1">
                <a:solidFill>
                  <a:srgbClr val="1E293B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500" b="1">
                <a:solidFill>
                  <a:srgbClr val="1E293B"/>
                </a:solidFill>
                <a:latin typeface="Microsoft YaHei"/>
                <a:ea typeface="Microsoft YaHei"/>
              </a:rPr>
              <a:t>主动提醒</a:t>
            </a:r>
            <a:endParaRPr/>
          </a:p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8896350" y="4171950"/>
            <a:ext cx="240030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证照年检、合同续签、费用到期提前打招呼。</a:t>
            </a:r>
            <a:endParaRPr/>
          </a:p>
        </p:txBody>
      </p:sp>
    </p:spTree>
  </p:cSld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151" name="" descr="&lt;Slide style={{ padding: 60, background: '#FFFFFF' }}&gt;&#10;    &lt;Box style={{ height: 600 }}&gt;&#10;        &lt;Box style={{ height: 20, flexDirection: 'row', justifyContent: 'space-between', alignItems: 'center' }}&gt;&#10;            &lt;Text style={{ fontSize: 14, color: '#94A3B8', letterSpacing: 2 }}&gt;02 · 业务怎么用&lt;/Text&gt;&#10;            &lt;Box style={{ width: 44, height: 4, borderRadius: 2, background: '#2563EB' }} /&gt;&#10;        &lt;/Box&gt;&#10;        &lt;Text style={{ fontSize: 34, fontWeight: 'bold', color: '#1E293B', marginTop: 16, lineHeight: 1.2 }}&gt;&#10;            部门深挖｜市场与销售：素材与情报随手可得&#10;        &lt;/Text&gt;&#10;        &lt;Box style={{ height: 1, background: '#E2E8F0', marginTop: 16 }} /&gt;&#10;&#10;        &lt;Box style={{ flex: 1, marginTop: 20, flexDirection: 'row', gap: 16 }}&gt;&#10;            &lt;Box style={{ width: 440, background: '#2563EB', borderRadius: 12, padding: 20 }}&gt;&#10;                &lt;Text style={{ fontSize: 22, fontWeight: '600', color: '#FFFFFF', lineHeight: 1.3 }}&gt;典型工作&lt;/Text&gt;&#10;                &lt;Text style={{ fontSize: 18, color: '#DBEAFE', lineHeight: 1.6, marginTop: 10 }}&gt;&#10;                    方案初稿、竞品信息收集、客户背景整理、销售话术准备、活动文案、会议纪要跟进——多数时间花在「找料」和「起稿」上。&#10;                &lt;/Text&gt;&#10;                &lt;Box style={{ height: 1, background: '#3B82F6', marginTop: 14 }} /&gt;&#10;                &lt;Text style={{ fontSize: 18, color: '#DBEAFE', lineHeight: 1.6, marginTop: 12 }}&gt;&#10;                    把准备时间从小时压到分钟，销售的时间应该花在客户身上，不是花在 PPT 上。&#10;                &lt;/Text&gt;&#10;            &lt;/Box&gt;&#10;            &lt;Box style={{ flex: 1, gap: 12 }}&gt;&#10;                &lt;Box style={{ flex: 1, background: '#F4F6FB', borderRadius: 12, padding: 18 }}&gt;&#10;                    &lt;Text style={{ fontSize: 22, fontWeight: '600', color: '#1E293B', lineHeight: 1.3 }}&gt;案例与话术，随问随取&lt;/Text&gt;&#10;                    &lt;Text style={{ fontSize: 18, color: '#475569', lineHeight: 1.5, marginTop: 6 }}&gt;&#10;                        从公司知识库调成功案例、报价口径、方案模板，新人也能答出老销售的水平。&#10;                    &lt;/Text&gt;&#10;                &lt;/Box&gt;&#10;                &lt;Box style={{ flex: 1, background: '#F4F6FB', borderRadius: 12, padding: 18 }}&gt;&#10;                    &lt;Text style={{ fontSize: 22, fontWeight: '600', color: '#1E293B', lineHeight: 1.3 }}&gt;公开信息先替你跑一遍&lt;/Text&gt;&#10;                    &lt;Text style={{ fontSize: 18, color: '#475569', lineHeight: 1.5, marginTop: 6 }}&gt;&#10;                        联网搜索、网页抓取、浏览器收集公开资料，竞品与行业动态整理成简报。&#10;                    &lt;/Text&gt;&#10;                &lt;/Box&gt;&#10;                &lt;Box style={{ flex: 1, background: '#F4F6FB', borderRadius: 12, padding: 18 }}&gt;&#10;                    &lt;Text style={{ fontSize: 22, fontWeight: '600', color: '#1E293B', lineHeight: 1.3 }}&gt;初稿它写，定稿你来&lt;/Text&gt;&#10;                    &lt;Text style={{ fontSize: 18, color: '#475569', lineHeight: 1.5, marginTop: 6 }}&gt;&#10;                        文案、纪要、跟进邮件生成初稿，人负责判断与润色——把重复的写作交出去。&#10;                    &lt;/Text&gt;&#10;                &lt;/Box&gt;&#10;            &lt;/Box&gt;&#10;        &lt;/Box&gt;&#10;&#10;        {/* 结论条 */}&#10;        &lt;Box style={{ height: 58, background: '#E8EEFB', borderRadius: 10, padding: 14, marginTop: 12, justifyContent: 'center' }}&gt;&#10;            &lt;Text style={{ fontSize: 19, fontWeight: '600', color: '#1E293B', lineHeight: 1.4 }}&gt;&#10;                市场销售最先感受到的不是「更聪明」，而是「准备一场客户会不再要一整个下午」。&#10;            &lt;/Text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571500" y="590550"/>
            <a:ext cx="1133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94A3B8"/>
                </a:solidFill>
                <a:latin typeface="Microsoft YaHei"/>
                <a:ea typeface="Microsoft YaHei"/>
              </a:rPr>
              <a:t xml:space="preserve">02 · </a:t>
            </a:r>
            <a:r>
              <a:rPr lang="zh-CN" sz="1050" spc="150">
                <a:solidFill>
                  <a:srgbClr val="94A3B8"/>
                </a:solidFill>
                <a:latin typeface="Microsoft YaHei"/>
                <a:ea typeface="Microsoft YaHei"/>
              </a:rPr>
              <a:t>业务怎么用</a:t>
            </a:r>
            <a:endParaRPr/>
          </a:p>
        </p:txBody>
      </p:sp>
      <p:sp>
        <p:nvSpPr>
          <p:cNvPr id="154" name=""/>
          <p:cNvSpPr/>
          <p:nvPr/>
        </p:nvSpPr>
        <p:spPr>
          <a:xfrm rot="0" flipH="0" flipV="0">
            <a:off x="11201400" y="647700"/>
            <a:ext cx="419100" cy="38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571500" y="914400"/>
            <a:ext cx="110490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E293B"/>
                </a:solidFill>
                <a:latin typeface="Microsoft YaHei"/>
                <a:ea typeface="Microsoft YaHei"/>
              </a:rPr>
              <a:t>部门深挖｜市场与销售：素材与情报随手可得</a:t>
            </a:r>
            <a:endParaRPr/>
          </a:p>
        </p:txBody>
      </p:sp>
      <p:sp>
        <p:nvSpPr>
          <p:cNvPr id="156" name=""/>
          <p:cNvSpPr/>
          <p:nvPr/>
        </p:nvSpPr>
        <p:spPr>
          <a:xfrm rot="0" flipH="0" flipV="0">
            <a:off x="571500" y="1533525"/>
            <a:ext cx="1104900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157" name=""/>
          <p:cNvSpPr/>
          <p:nvPr/>
        </p:nvSpPr>
        <p:spPr>
          <a:xfrm rot="0" flipH="0" flipV="0">
            <a:off x="571500" y="1733550"/>
            <a:ext cx="4191000" cy="3886200"/>
          </a:xfrm>
          <a:prstGeom prst="roundRect">
            <a:avLst>
              <a:gd name="adj" fmla="val 2941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762000" y="1924050"/>
            <a:ext cx="3810000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典型工作</a:t>
            </a:r>
            <a:endParaRPr/>
          </a:p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762000" y="2352675"/>
            <a:ext cx="3810000" cy="990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>
                <a:solidFill>
                  <a:srgbClr val="DBEAFE"/>
                </a:solidFill>
                <a:latin typeface="Microsoft YaHei"/>
                <a:ea typeface="Microsoft YaHei"/>
              </a:rPr>
              <a:t>方案初稿、竞品信息收集、客户背景整理、销售话术准备、活动文案、会议纪要跟进——多数时间花在「找料」和「起稿」上。</a:t>
            </a:r>
            <a:endParaRPr/>
          </a:p>
        </p:txBody>
      </p:sp>
      <p:sp>
        <p:nvSpPr>
          <p:cNvPr id="160" name=""/>
          <p:cNvSpPr/>
          <p:nvPr/>
        </p:nvSpPr>
        <p:spPr>
          <a:xfrm rot="0" flipH="0" flipV="0">
            <a:off x="762000" y="3476625"/>
            <a:ext cx="3810000" cy="952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762000" y="3600450"/>
            <a:ext cx="381000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>
                <a:solidFill>
                  <a:srgbClr val="DBEAFE"/>
                </a:solidFill>
                <a:latin typeface="Microsoft YaHei"/>
                <a:ea typeface="Microsoft YaHei"/>
              </a:rPr>
              <a:t>把准备时间从小时压到分钟，销售的时间应该花在客户身上，不是花在</a:t>
            </a:r>
            <a:r>
              <a:rPr lang="en-US" sz="1350">
                <a:solidFill>
                  <a:srgbClr val="DBEAFE"/>
                </a:solidFill>
                <a:latin typeface="Microsoft YaHei"/>
                <a:ea typeface="Microsoft YaHei"/>
              </a:rPr>
              <a:t xml:space="preserve"> PPT </a:t>
            </a:r>
            <a:r>
              <a:rPr lang="zh-CN" sz="1350">
                <a:solidFill>
                  <a:srgbClr val="DBEAFE"/>
                </a:solidFill>
                <a:latin typeface="Microsoft YaHei"/>
                <a:ea typeface="Microsoft YaHei"/>
              </a:rPr>
              <a:t>上。</a:t>
            </a:r>
            <a:endParaRPr/>
          </a:p>
        </p:txBody>
      </p:sp>
      <p:sp>
        <p:nvSpPr>
          <p:cNvPr id="162" name=""/>
          <p:cNvSpPr/>
          <p:nvPr/>
        </p:nvSpPr>
        <p:spPr>
          <a:xfrm rot="0" flipH="0" flipV="0">
            <a:off x="4914900" y="1733550"/>
            <a:ext cx="6705600" cy="1219200"/>
          </a:xfrm>
          <a:prstGeom prst="roundRect">
            <a:avLst>
              <a:gd name="adj" fmla="val 9375"/>
            </a:avLst>
          </a:prstGeom>
          <a:solidFill>
            <a:srgbClr val="F4F6FB"/>
          </a:solidFill>
          <a:ln/>
        </p:spPr>
        <p:txBody>
          <a:bodyPr/>
          <a:p/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5086350" y="1905000"/>
            <a:ext cx="6362700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1E293B"/>
                </a:solidFill>
                <a:latin typeface="Microsoft YaHei"/>
                <a:ea typeface="Microsoft YaHei"/>
              </a:rPr>
              <a:t>案例与话术，随问随取</a:t>
            </a:r>
            <a:endParaRPr/>
          </a:p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5086350" y="2295525"/>
            <a:ext cx="63627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从公司知识库调成功案例、报价口径、方案模板，新人也能答出老销售的水平。</a:t>
            </a:r>
            <a:endParaRPr/>
          </a:p>
        </p:txBody>
      </p:sp>
      <p:sp>
        <p:nvSpPr>
          <p:cNvPr id="165" name=""/>
          <p:cNvSpPr/>
          <p:nvPr/>
        </p:nvSpPr>
        <p:spPr>
          <a:xfrm rot="0" flipH="0" flipV="0">
            <a:off x="4914900" y="3067050"/>
            <a:ext cx="6705600" cy="1219200"/>
          </a:xfrm>
          <a:prstGeom prst="roundRect">
            <a:avLst>
              <a:gd name="adj" fmla="val 9375"/>
            </a:avLst>
          </a:prstGeom>
          <a:solidFill>
            <a:srgbClr val="F4F6FB"/>
          </a:solidFill>
          <a:ln/>
        </p:spPr>
        <p:txBody>
          <a:bodyPr/>
          <a:p/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5086350" y="3238500"/>
            <a:ext cx="6362700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1E293B"/>
                </a:solidFill>
                <a:latin typeface="Microsoft YaHei"/>
                <a:ea typeface="Microsoft YaHei"/>
              </a:rPr>
              <a:t>公开信息先替你跑一遍</a:t>
            </a:r>
            <a:endParaRPr/>
          </a:p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5086350" y="3629025"/>
            <a:ext cx="63627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联网搜索、网页抓取、浏览器收集公开资料，竞品与行业动态整理成简报。</a:t>
            </a:r>
            <a:endParaRPr/>
          </a:p>
        </p:txBody>
      </p:sp>
      <p:sp>
        <p:nvSpPr>
          <p:cNvPr id="168" name=""/>
          <p:cNvSpPr/>
          <p:nvPr/>
        </p:nvSpPr>
        <p:spPr>
          <a:xfrm rot="0" flipH="0" flipV="0">
            <a:off x="4914900" y="4400550"/>
            <a:ext cx="6705600" cy="1219200"/>
          </a:xfrm>
          <a:prstGeom prst="roundRect">
            <a:avLst>
              <a:gd name="adj" fmla="val 9375"/>
            </a:avLst>
          </a:prstGeom>
          <a:solidFill>
            <a:srgbClr val="F4F6FB"/>
          </a:solidFill>
          <a:ln/>
        </p:spPr>
        <p:txBody>
          <a:bodyPr/>
          <a:p/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5086350" y="4572000"/>
            <a:ext cx="6362700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1E293B"/>
                </a:solidFill>
                <a:latin typeface="Microsoft YaHei"/>
                <a:ea typeface="Microsoft YaHei"/>
              </a:rPr>
              <a:t>初稿它写，定稿你来</a:t>
            </a:r>
            <a:endParaRPr/>
          </a:p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5086350" y="4962525"/>
            <a:ext cx="63627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文案、纪要、跟进邮件生成初稿，人负责判断与润色——把重复的写作交出去。</a:t>
            </a:r>
            <a:endParaRPr/>
          </a:p>
        </p:txBody>
      </p:sp>
      <p:sp>
        <p:nvSpPr>
          <p:cNvPr id="171" name=""/>
          <p:cNvSpPr/>
          <p:nvPr/>
        </p:nvSpPr>
        <p:spPr>
          <a:xfrm rot="0" flipH="0" flipV="0">
            <a:off x="571500" y="5734050"/>
            <a:ext cx="11049000" cy="552450"/>
          </a:xfrm>
          <a:prstGeom prst="roundRect">
            <a:avLst>
              <a:gd name="adj" fmla="val 17241"/>
            </a:avLst>
          </a:prstGeom>
          <a:solidFill>
            <a:srgbClr val="E8EEFB"/>
          </a:solidFill>
          <a:ln/>
        </p:spPr>
        <p:txBody>
          <a:bodyPr/>
          <a:p/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704850" y="5857875"/>
            <a:ext cx="10782300" cy="3048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425" b="1">
                <a:solidFill>
                  <a:srgbClr val="1E293B"/>
                </a:solidFill>
                <a:latin typeface="Microsoft YaHei"/>
                <a:ea typeface="Microsoft YaHei"/>
              </a:rPr>
              <a:t>市场销售最先感受到的不是「更聪明」，而是「准备一场客户会不再要一整个下午」。</a:t>
            </a:r>
            <a:endParaRPr/>
          </a:p>
        </p:txBody>
      </p:sp>
    </p:spTree>
  </p:cSld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173" name="" descr="&lt;Slide style={{ padding: 60, background: '#FFFFFF' }}&gt;&#10;    &lt;Box style={{ height: 600 }}&gt;&#10;        &lt;Box style={{ height: 20, flexDirection: 'row', justifyContent: 'space-between', alignItems: 'center' }}&gt;&#10;            &lt;Text style={{ fontSize: 14, color: '#94A3B8', letterSpacing: 2 }}&gt;02 · 业务怎么用&lt;/Text&gt;&#10;            &lt;Box style={{ width: 44, height: 4, borderRadius: 2, background: '#2563EB' }} /&gt;&#10;        &lt;/Box&gt;&#10;        &lt;Text style={{ fontSize: 34, fontWeight: 'bold', color: '#1E293B', marginTop: 16, lineHeight: 1.2 }}&gt;&#10;            部门深挖｜财务与法务：口径统一、依据可查&#10;        &lt;/Text&gt;&#10;        &lt;Box style={{ height: 1, background: '#E2E8F0', marginTop: 16 }} /&gt;&#10;&#10;        &lt;Box style={{ flex: 1, marginTop: 20, flexDirection: 'row', gap: 28 }}&gt;&#10;            {/* 左：典型工作 */}&#10;            &lt;Box style={{ flex: 1, background: '#F4F6FB', borderRadius: 12, padding: 22 }}&gt;&#10;                &lt;Text style={{ fontSize: 22, fontWeight: '600', color: '#64748B', lineHeight: 1.3 }}&gt;典型工作&lt;/Text&gt;&#10;                &lt;Box style={{ height: 1, background: '#E2E8F0', marginTop: 12 }} /&gt;&#10;                &lt;Box style={{ marginTop: 12, gap: 12 }}&gt;&#10;                    &lt;Box style={{ flexDirection: 'row' }}&gt;&#10;                        &lt;Box style={{ width: 10, height: 10, borderRadius: 5, background: '#94A3B8', marginRight: 12, marginTop: 8 }} /&gt;&#10;                        &lt;Text style={{ flex: 1, fontSize: 18, color: '#475569', lineHeight: 1.5 }}&gt;制度条款查询：差旅标准、报销口径、审批流程&lt;/Text&gt;&#10;                    &lt;/Box&gt;&#10;                    &lt;Box style={{ flexDirection: 'row' }}&gt;&#10;                        &lt;Box style={{ width: 10, height: 10, borderRadius: 5, background: '#94A3B8', marginRight: 12, marginTop: 8 }} /&gt;&#10;                        &lt;Text style={{ flex: 1, fontSize: 18, color: '#475569', lineHeight: 1.5 }}&gt;合同要点梳理：关键条款、期限、违约与付款条件&lt;/Text&gt;&#10;                    &lt;/Box&gt;&#10;                    &lt;Box style={{ flexDirection: 'row' }}&gt;&#10;                        &lt;Box style={{ width: 10, height: 10, borderRadius: 5, background: '#94A3B8', marginRight: 12, marginTop: 8 }} /&gt;&#10;                        &lt;Text style={{ flex: 1, fontSize: 18, color: '#475569', lineHeight: 1.5 }}&gt;法规与案例检索：监管口径、过往判例、内部指引&lt;/Text&gt;&#10;                    &lt;/Box&gt;&#10;                    &lt;Box style={{ flexDirection: 'row' }}&gt;&#10;                        &lt;Box style={{ width: 10, height: 10, borderRadius: 5, background: '#94A3B8', marginRight: 12, marginTop: 8 }} /&gt;&#10;                        &lt;Text style={{ flex: 1, fontSize: 18, color: '#475569', lineHeight: 1.5 }}&gt;重复答疑：业务部门每天来问的「这个能不能报」&lt;/Text&gt;&#10;                    &lt;/Box&gt;&#10;                &lt;/Box&gt;&#10;            &lt;/Box&gt;&#10;&#10;            {/* 右：它能做的 */}&#10;            &lt;Box style={{ flex: 1, background: '#E8EEFB', borderRadius: 12, padding: 22 }}&gt;&#10;                &lt;Text style={{ fontSize: 22, fontWeight: '600', color: '#2563EB', lineHeight: 1.3 }}&gt;它能做的&lt;/Text&gt;&#10;                &lt;Box style={{ height: 1, background: '#C7D6F5', marginTop: 12 }} /&gt;&#10;                &lt;Box style={{ marginTop: 12, gap: 12 }}&gt;&#10;                    &lt;Box style={{ flexDirection: 'row' }}&gt;&#10;                        &lt;Box style={{ width: 10, height: 10, borderRadius: 5, background: '#2563EB', marginRight: 12, marginTop: 8 }} /&gt;&#10;                        &lt;Text style={{ flex: 1, fontSize: 18, color: '#1E293B', lineHeight: 1.5 }}&gt;秒查制度条款，答案附原文出处，口径全公司统一&lt;/Text&gt;&#10;                    &lt;/Box&gt;&#10;                    &lt;Box style={{ flexDirection: 'row' }}&gt;&#10;                        &lt;Box style={{ width: 10, height: 10, borderRadius: 5, background: '#2563EB', marginRight: 12, marginTop: 8 }} /&gt;&#10;                        &lt;Text style={{ flex: 1, fontSize: 18, color: '#1E293B', lineHeight: 1.5 }}&gt;合同关键条款提示与风险点初筛，辅助人工判断&lt;/Text&gt;&#10;                    &lt;/Box&gt;&#10;                    &lt;Box style={{ flexDirection: 'row' }}&gt;&#10;                        &lt;Box style={{ width: 10, height: 10, borderRadius: 5, background: '#2563EB', marginRight: 12, marginTop: 8 }} /&gt;&#10;                        &lt;Text style={{ flex: 1, fontSize: 18, color: '#1E293B', lineHeight: 1.5 }}&gt;法规检索整理成要点，引用可回溯到原文&lt;/Text&gt;&#10;                    &lt;/Box&gt;&#10;                    &lt;Box style={{ flexDirection: 'row' }}&gt;&#10;                        &lt;Box style={{ width: 10, height: 10, borderRadius: 5, background: '#2563EB', marginRight: 12, marginTop: 8 }} /&gt;&#10;                        &lt;Text style={{ flex: 1, fontSize: 18, color: '#1E293B', lineHeight: 1.5 }}&gt;高频问题沉淀成标准答复，重复答疑量直接下降&lt;/Text&gt;&#10;                    &lt;/Box&gt;&#10;                &lt;/Box&gt;&#10;            &lt;/Box&gt;&#10;        &lt;/Box&gt;&#10;&#10;        {/* 结论条（含边界说明） */}&#10;        &lt;Box style={{ height: 58, background: '#FFF7E9', borderRadius: 10, padding: 14, marginTop: 12, justifyContent: 'center' }}&gt;&#10;            &lt;Text style={{ fontSize: 19, fontWeight: '600', color: '#7C2D12', lineHeight: 1.4 }}&gt;&#10;                定位是「辅助专业判断」，不是替代专业意见——查得到、说得清出处，财务法务才敢让它进场。&#10;            &lt;/Text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571500" y="590550"/>
            <a:ext cx="1133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94A3B8"/>
                </a:solidFill>
                <a:latin typeface="Microsoft YaHei"/>
                <a:ea typeface="Microsoft YaHei"/>
              </a:rPr>
              <a:t xml:space="preserve">02 · </a:t>
            </a:r>
            <a:r>
              <a:rPr lang="zh-CN" sz="1050" spc="150">
                <a:solidFill>
                  <a:srgbClr val="94A3B8"/>
                </a:solidFill>
                <a:latin typeface="Microsoft YaHei"/>
                <a:ea typeface="Microsoft YaHei"/>
              </a:rPr>
              <a:t>业务怎么用</a:t>
            </a:r>
            <a:endParaRPr/>
          </a:p>
        </p:txBody>
      </p:sp>
      <p:sp>
        <p:nvSpPr>
          <p:cNvPr id="176" name=""/>
          <p:cNvSpPr/>
          <p:nvPr/>
        </p:nvSpPr>
        <p:spPr>
          <a:xfrm rot="0" flipH="0" flipV="0">
            <a:off x="11201400" y="647700"/>
            <a:ext cx="419100" cy="38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571500" y="914400"/>
            <a:ext cx="110490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E293B"/>
                </a:solidFill>
                <a:latin typeface="Microsoft YaHei"/>
                <a:ea typeface="Microsoft YaHei"/>
              </a:rPr>
              <a:t>部门深挖｜财务与法务：口径统一、依据可查</a:t>
            </a:r>
            <a:endParaRPr/>
          </a:p>
        </p:txBody>
      </p:sp>
      <p:sp>
        <p:nvSpPr>
          <p:cNvPr id="178" name=""/>
          <p:cNvSpPr/>
          <p:nvPr/>
        </p:nvSpPr>
        <p:spPr>
          <a:xfrm rot="0" flipH="0" flipV="0">
            <a:off x="571500" y="1533525"/>
            <a:ext cx="1104900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179" name=""/>
          <p:cNvSpPr/>
          <p:nvPr/>
        </p:nvSpPr>
        <p:spPr>
          <a:xfrm rot="0" flipH="0" flipV="0">
            <a:off x="571500" y="1733550"/>
            <a:ext cx="5391150" cy="3886200"/>
          </a:xfrm>
          <a:prstGeom prst="roundRect">
            <a:avLst>
              <a:gd name="adj" fmla="val 2941"/>
            </a:avLst>
          </a:prstGeom>
          <a:solidFill>
            <a:srgbClr val="F4F6FB"/>
          </a:solidFill>
          <a:ln/>
        </p:spPr>
        <p:txBody>
          <a:bodyPr/>
          <a:p/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781050" y="1943100"/>
            <a:ext cx="4972050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64748B"/>
                </a:solidFill>
                <a:latin typeface="Microsoft YaHei"/>
                <a:ea typeface="Microsoft YaHei"/>
              </a:rPr>
              <a:t>典型工作</a:t>
            </a:r>
            <a:endParaRPr/>
          </a:p>
        </p:txBody>
      </p:sp>
      <p:sp>
        <p:nvSpPr>
          <p:cNvPr id="181" name=""/>
          <p:cNvSpPr/>
          <p:nvPr/>
        </p:nvSpPr>
        <p:spPr>
          <a:xfrm rot="0" flipH="0" flipV="0">
            <a:off x="781050" y="2390775"/>
            <a:ext cx="497205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182" name=""/>
          <p:cNvSpPr/>
          <p:nvPr/>
        </p:nvSpPr>
        <p:spPr>
          <a:xfrm rot="0" flipH="0" flipV="0">
            <a:off x="781050" y="25908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/>
        </p:spPr>
        <p:txBody>
          <a:bodyPr/>
          <a:p/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990600" y="2514600"/>
            <a:ext cx="47625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制度条款查询：差旅标准、报销口径、审批流程</a:t>
            </a:r>
            <a:endParaRPr/>
          </a:p>
        </p:txBody>
      </p:sp>
      <p:sp>
        <p:nvSpPr>
          <p:cNvPr id="184" name=""/>
          <p:cNvSpPr/>
          <p:nvPr/>
        </p:nvSpPr>
        <p:spPr>
          <a:xfrm rot="0" flipH="0" flipV="0">
            <a:off x="781050" y="3019425"/>
            <a:ext cx="95250" cy="95250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/>
        </p:spPr>
        <p:txBody>
          <a:bodyPr/>
          <a:p/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990600" y="2943225"/>
            <a:ext cx="47625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合同要点梳理：关键条款、期限、违约与付款条件</a:t>
            </a:r>
            <a:endParaRPr/>
          </a:p>
        </p:txBody>
      </p:sp>
      <p:sp>
        <p:nvSpPr>
          <p:cNvPr id="186" name=""/>
          <p:cNvSpPr/>
          <p:nvPr/>
        </p:nvSpPr>
        <p:spPr>
          <a:xfrm rot="0" flipH="0" flipV="0">
            <a:off x="781050" y="34480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/>
        </p:spPr>
        <p:txBody>
          <a:bodyPr/>
          <a:p/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990600" y="3371850"/>
            <a:ext cx="47625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法规与案例检索：监管口径、过往判例、内部指引</a:t>
            </a:r>
            <a:endParaRPr/>
          </a:p>
        </p:txBody>
      </p:sp>
      <p:sp>
        <p:nvSpPr>
          <p:cNvPr id="188" name=""/>
          <p:cNvSpPr/>
          <p:nvPr/>
        </p:nvSpPr>
        <p:spPr>
          <a:xfrm rot="0" flipH="0" flipV="0">
            <a:off x="781050" y="3876675"/>
            <a:ext cx="95250" cy="95250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/>
        </p:spPr>
        <p:txBody>
          <a:bodyPr/>
          <a:p/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990600" y="3800475"/>
            <a:ext cx="47625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重复答疑：业务部门每天来问的「这个能不能报」</a:t>
            </a:r>
            <a:endParaRPr/>
          </a:p>
        </p:txBody>
      </p:sp>
      <p:sp>
        <p:nvSpPr>
          <p:cNvPr id="190" name=""/>
          <p:cNvSpPr/>
          <p:nvPr/>
        </p:nvSpPr>
        <p:spPr>
          <a:xfrm rot="0" flipH="0" flipV="0">
            <a:off x="6229350" y="1733550"/>
            <a:ext cx="5391150" cy="3886200"/>
          </a:xfrm>
          <a:prstGeom prst="roundRect">
            <a:avLst>
              <a:gd name="adj" fmla="val 2941"/>
            </a:avLst>
          </a:prstGeom>
          <a:solidFill>
            <a:srgbClr val="E8EEFB"/>
          </a:solidFill>
          <a:ln/>
        </p:spPr>
        <p:txBody>
          <a:bodyPr/>
          <a:p/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6438900" y="1943100"/>
            <a:ext cx="4972050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2563EB"/>
                </a:solidFill>
                <a:latin typeface="Microsoft YaHei"/>
                <a:ea typeface="Microsoft YaHei"/>
              </a:rPr>
              <a:t>它能做的</a:t>
            </a:r>
            <a:endParaRPr/>
          </a:p>
        </p:txBody>
      </p:sp>
      <p:sp>
        <p:nvSpPr>
          <p:cNvPr id="192" name=""/>
          <p:cNvSpPr/>
          <p:nvPr/>
        </p:nvSpPr>
        <p:spPr>
          <a:xfrm rot="0" flipH="0" flipV="0">
            <a:off x="6438900" y="2390775"/>
            <a:ext cx="4972050" cy="9525"/>
          </a:xfrm>
          <a:prstGeom prst="rect">
            <a:avLst/>
          </a:prstGeom>
          <a:solidFill>
            <a:srgbClr val="C7D6F5"/>
          </a:solidFill>
          <a:ln/>
        </p:spPr>
        <p:txBody>
          <a:bodyPr/>
          <a:p/>
        </p:txBody>
      </p:sp>
      <p:sp>
        <p:nvSpPr>
          <p:cNvPr id="193" name=""/>
          <p:cNvSpPr/>
          <p:nvPr/>
        </p:nvSpPr>
        <p:spPr>
          <a:xfrm rot="0" flipH="0" flipV="0">
            <a:off x="6438900" y="25908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6648450" y="2514600"/>
            <a:ext cx="47625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1E293B"/>
                </a:solidFill>
                <a:latin typeface="Microsoft YaHei"/>
                <a:ea typeface="Microsoft YaHei"/>
              </a:rPr>
              <a:t>秒查制度条款，答案附原文出处，口径全公司统一</a:t>
            </a:r>
            <a:endParaRPr/>
          </a:p>
        </p:txBody>
      </p:sp>
      <p:sp>
        <p:nvSpPr>
          <p:cNvPr id="195" name=""/>
          <p:cNvSpPr/>
          <p:nvPr/>
        </p:nvSpPr>
        <p:spPr>
          <a:xfrm rot="0" flipH="0" flipV="0">
            <a:off x="6438900" y="3019425"/>
            <a:ext cx="95250" cy="952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6648450" y="2943225"/>
            <a:ext cx="47625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1E293B"/>
                </a:solidFill>
                <a:latin typeface="Microsoft YaHei"/>
                <a:ea typeface="Microsoft YaHei"/>
              </a:rPr>
              <a:t>合同关键条款提示与风险点初筛，辅助人工判断</a:t>
            </a:r>
            <a:endParaRPr/>
          </a:p>
        </p:txBody>
      </p:sp>
      <p:sp>
        <p:nvSpPr>
          <p:cNvPr id="197" name=""/>
          <p:cNvSpPr/>
          <p:nvPr/>
        </p:nvSpPr>
        <p:spPr>
          <a:xfrm rot="0" flipH="0" flipV="0">
            <a:off x="6438900" y="34480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6648450" y="3371850"/>
            <a:ext cx="47625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1E293B"/>
                </a:solidFill>
                <a:latin typeface="Microsoft YaHei"/>
                <a:ea typeface="Microsoft YaHei"/>
              </a:rPr>
              <a:t>法规检索整理成要点，引用可回溯到原文</a:t>
            </a:r>
            <a:endParaRPr/>
          </a:p>
        </p:txBody>
      </p:sp>
      <p:sp>
        <p:nvSpPr>
          <p:cNvPr id="199" name=""/>
          <p:cNvSpPr/>
          <p:nvPr/>
        </p:nvSpPr>
        <p:spPr>
          <a:xfrm rot="0" flipH="0" flipV="0">
            <a:off x="6438900" y="3876675"/>
            <a:ext cx="95250" cy="952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6648450" y="3800475"/>
            <a:ext cx="47625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1E293B"/>
                </a:solidFill>
                <a:latin typeface="Microsoft YaHei"/>
                <a:ea typeface="Microsoft YaHei"/>
              </a:rPr>
              <a:t>高频问题沉淀成标准答复，重复答疑量直接下降</a:t>
            </a:r>
            <a:endParaRPr/>
          </a:p>
        </p:txBody>
      </p:sp>
      <p:sp>
        <p:nvSpPr>
          <p:cNvPr id="201" name=""/>
          <p:cNvSpPr/>
          <p:nvPr/>
        </p:nvSpPr>
        <p:spPr>
          <a:xfrm rot="0" flipH="0" flipV="0">
            <a:off x="571500" y="5734050"/>
            <a:ext cx="11049000" cy="552450"/>
          </a:xfrm>
          <a:prstGeom prst="roundRect">
            <a:avLst>
              <a:gd name="adj" fmla="val 17241"/>
            </a:avLst>
          </a:prstGeom>
          <a:solidFill>
            <a:srgbClr val="FFF7E9"/>
          </a:solidFill>
          <a:ln/>
        </p:spPr>
        <p:txBody>
          <a:bodyPr/>
          <a:p/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704850" y="5857875"/>
            <a:ext cx="10782300" cy="3048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425" b="1">
                <a:solidFill>
                  <a:srgbClr val="7C2D12"/>
                </a:solidFill>
                <a:latin typeface="Microsoft YaHei"/>
                <a:ea typeface="Microsoft YaHei"/>
              </a:rPr>
              <a:t>定位是「辅助专业判断」，不是替代专业意见——查得到、说得清出处，财务法务才敢让它进场。</a:t>
            </a:r>
            <a:endParaRPr/>
          </a:p>
        </p:txBody>
      </p:sp>
    </p:spTree>
  </p:cSld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203" name="" descr="&lt;Slide style={{ padding: 60, background: '#FFFFFF' }}&gt;&#10;    &lt;Box style={{ height: 600 }}&gt;&#10;        &lt;Box style={{ height: 20, flexDirection: 'row', justifyContent: 'space-between', alignItems: 'center' }}&gt;&#10;            &lt;Text style={{ fontSize: 14, color: '#94A3B8', letterSpacing: 2 }}&gt;02 · 业务怎么用&lt;/Text&gt;&#10;            &lt;Box style={{ width: 44, height: 4, borderRadius: 2, background: '#2563EB' }} /&gt;&#10;        &lt;/Box&gt;&#10;        &lt;Text style={{ fontSize: 34, fontWeight: 'bold', color: '#1E293B', marginTop: 16, lineHeight: 1.2 }}&gt;&#10;            部门深挖｜人力 HR：答疑不重复，招聘更省力&#10;        &lt;/Text&gt;&#10;        &lt;Box style={{ height: 1, background: '#E2E8F0', marginTop: 16 }} /&gt;&#10;&#10;        &lt;Box style={{ flex: 1, marginTop: 20, flexDirection: 'row', gap: 28 }}&gt;&#10;            {/* 左：常见问题 chip 云 */}&#10;            &lt;Box style={{ width: 380, background: '#F4F6FB', borderRadius: 12, padding: 20 }}&gt;&#10;                &lt;Text style={{ fontSize: 22, fontWeight: '600', color: '#1E293B', lineHeight: 1.3 }}&gt;HR 每天被问的&lt;/Text&gt;&#10;                &lt;Box style={{ height: 1, background: '#E2E8F0', marginTop: 12 }} /&gt;&#10;                &lt;Box style={{ flexDirection: 'row', gap: 8, marginTop: 14 }}&gt;&#10;                    &lt;Box style={{ background: '#E8EEFB', borderRadius: 8, padding: 9 }}&gt;&lt;Text style={{ fontSize: 18, color: '#1E293B' }}&gt;年假怎么算&lt;/Text&gt;&lt;/Box&gt;&#10;                    &lt;Box style={{ background: '#E8EEFB', borderRadius: 8, padding: 9 }}&gt;&lt;Text style={{ fontSize: 18, color: '#1E293B' }}&gt;社保基数&lt;/Text&gt;&lt;/Box&gt;&#10;                &lt;/Box&gt;&#10;                &lt;Box style={{ flexDirection: 'row', gap: 8, marginTop: 8 }}&gt;&#10;                    &lt;Box style={{ background: '#E8EEFB', borderRadius: 8, padding: 9 }}&gt;&lt;Text style={{ fontSize: 18, color: '#1E293B' }}&gt;报销流程&lt;/Text&gt;&lt;/Box&gt;&#10;                    &lt;Box style={{ background: '#E8EEFB', borderRadius: 8, padding: 9 }}&gt;&lt;Text style={{ fontSize: 18, color: '#1E293B' }}&gt;转正材料&lt;/Text&gt;&lt;/Box&gt;&#10;                &lt;/Box&gt;&#10;                &lt;Box style={{ flexDirection: 'row', gap: 8, marginTop: 8 }}&gt;&#10;                    &lt;Box style={{ background: '#E8EEFB', borderRadius: 8, padding: 9 }}&gt;&lt;Text style={{ fontSize: 18, color: '#1E293B' }}&gt;调薪政策&lt;/Text&gt;&lt;/Box&gt;&#10;                    &lt;Box style={{ background: '#FFF7E9', borderRadius: 8, padding: 9 }}&gt;&lt;Text style={{ fontSize: 18, color: '#B45309' }}&gt;入职答疑&lt;/Text&gt;&lt;/Box&gt;&#10;                &lt;/Box&gt;&#10;                &lt;Text style={{ fontSize: 16, color: '#64748B', lineHeight: 1.5, marginTop: 14 }}&gt;&#10;                    高度重复、口径敏感——最适合先交给数字助理。&#10;                &lt;/Text&gt;&#10;            &lt;/Box&gt;&#10;&#10;            {/* 右：三行 */}&#10;            &lt;Box style={{ flex: 1 }}&gt;&#10;                &lt;Box style={{ height: 128, borderBottomWidth: 1, borderBottomColor: '#E2E8F0', borderBottomStyle: 'solid' }}&gt;&#10;                    &lt;Text style={{ fontSize: 22, fontWeight: '600', color: '#1E293B', lineHeight: 1.3, marginTop: 4 }}&gt;政策问答，统一口径&lt;/Text&gt;&#10;                    &lt;Text style={{ fontSize: 18, color: '#475569', lineHeight: 1.5, marginTop: 8 }}&gt;&#10;                        基于公司制度作答并附出处，不同 HR 对同一问题不再给出两种说法。&#10;                    &lt;/Text&gt;&#10;                &lt;/Box&gt;&#10;                &lt;Box style={{ height: 128, borderBottomWidth: 1, borderBottomColor: '#E2E8F0', borderBottomStyle: 'solid' }}&gt;&#10;                    &lt;Text style={{ fontSize: 22, fontWeight: '600', color: '#1E293B', lineHeight: 1.3, marginTop: 4 }}&gt;新人入职，有问必答&lt;/Text&gt;&#10;                    &lt;Text style={{ fontSize: 18, color: '#475569', lineHeight: 1.5, marginTop: 8 }}&gt;&#10;                        入职引导、流程答疑、材料清单随时可问，新人少走弯路，HR 少被打断。&#10;                    &lt;/Text&gt;&#10;                &lt;/Box&gt;&#10;                &lt;Box style={{ height: 128 }}&gt;&#10;                    &lt;Text style={{ fontSize: 22, fontWeight: '600', color: '#1E293B', lineHeight: 1.3, marginTop: 4 }}&gt;招聘事务，先做粗活&lt;/Text&gt;&#10;                    &lt;Text style={{ fontSize: 18, color: '#475569', lineHeight: 1.5, marginTop: 8 }}&gt;&#10;                        简历按要求初筛整理、面试安排与通知草拟、培训资料整理——粗活交出去，判断留给人。&#10;                    &lt;/Text&gt;&#10;                &lt;/Box&gt;&#10;            &lt;/Box&gt;&#10;        &lt;/Box&gt;&#10;&#10;        {/* 结论条 */}&#10;        &lt;Box style={{ height: 58, background: '#E8EEFB', borderRadius: 10, padding: 14, marginTop: 12, justifyContent: 'center' }}&gt;&#10;            &lt;Text style={{ fontSize: 19, fontWeight: '600', color: '#1E293B', lineHeight: 1.4 }}&gt;&#10;                HR 从重复答疑里解放出来，把时间还给人该做的事：谈人、育人、留人。&#10;            &lt;/Text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571500" y="590550"/>
            <a:ext cx="1133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94A3B8"/>
                </a:solidFill>
                <a:latin typeface="Microsoft YaHei"/>
                <a:ea typeface="Microsoft YaHei"/>
              </a:rPr>
              <a:t xml:space="preserve">02 · </a:t>
            </a:r>
            <a:r>
              <a:rPr lang="zh-CN" sz="1050" spc="150">
                <a:solidFill>
                  <a:srgbClr val="94A3B8"/>
                </a:solidFill>
                <a:latin typeface="Microsoft YaHei"/>
                <a:ea typeface="Microsoft YaHei"/>
              </a:rPr>
              <a:t>业务怎么用</a:t>
            </a:r>
            <a:endParaRPr/>
          </a:p>
        </p:txBody>
      </p:sp>
      <p:sp>
        <p:nvSpPr>
          <p:cNvPr id="206" name=""/>
          <p:cNvSpPr/>
          <p:nvPr/>
        </p:nvSpPr>
        <p:spPr>
          <a:xfrm rot="0" flipH="0" flipV="0">
            <a:off x="11201400" y="647700"/>
            <a:ext cx="419100" cy="38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571500" y="914400"/>
            <a:ext cx="110490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E293B"/>
                </a:solidFill>
                <a:latin typeface="Microsoft YaHei"/>
                <a:ea typeface="Microsoft YaHei"/>
              </a:rPr>
              <a:t>部门深挖｜人力</a:t>
            </a:r>
            <a:r>
              <a:rPr lang="en-US" sz="2550" b="1">
                <a:solidFill>
                  <a:srgbClr val="1E293B"/>
                </a:solidFill>
                <a:latin typeface="Microsoft YaHei"/>
                <a:ea typeface="Microsoft YaHei"/>
              </a:rPr>
              <a:t xml:space="preserve"> HR</a:t>
            </a:r>
            <a:r>
              <a:rPr lang="zh-CN" sz="2550" b="1">
                <a:solidFill>
                  <a:srgbClr val="1E293B"/>
                </a:solidFill>
                <a:latin typeface="Microsoft YaHei"/>
                <a:ea typeface="Microsoft YaHei"/>
              </a:rPr>
              <a:t>：答疑不重复，招聘更省力</a:t>
            </a:r>
            <a:endParaRPr/>
          </a:p>
        </p:txBody>
      </p:sp>
      <p:sp>
        <p:nvSpPr>
          <p:cNvPr id="208" name=""/>
          <p:cNvSpPr/>
          <p:nvPr/>
        </p:nvSpPr>
        <p:spPr>
          <a:xfrm rot="0" flipH="0" flipV="0">
            <a:off x="571500" y="1533525"/>
            <a:ext cx="1104900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209" name=""/>
          <p:cNvSpPr/>
          <p:nvPr/>
        </p:nvSpPr>
        <p:spPr>
          <a:xfrm rot="0" flipH="0" flipV="0">
            <a:off x="571500" y="1733550"/>
            <a:ext cx="3619500" cy="3886200"/>
          </a:xfrm>
          <a:prstGeom prst="roundRect">
            <a:avLst>
              <a:gd name="adj" fmla="val 3158"/>
            </a:avLst>
          </a:prstGeom>
          <a:solidFill>
            <a:srgbClr val="F4F6FB"/>
          </a:solidFill>
          <a:ln/>
        </p:spPr>
        <p:txBody>
          <a:bodyPr/>
          <a:p/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762000" y="1924050"/>
            <a:ext cx="3238500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650" b="1">
                <a:solidFill>
                  <a:srgbClr val="1E293B"/>
                </a:solidFill>
                <a:latin typeface="Microsoft YaHei"/>
                <a:ea typeface="Microsoft YaHei"/>
              </a:rPr>
              <a:t xml:space="preserve">HR </a:t>
            </a:r>
            <a:r>
              <a:rPr lang="zh-CN" sz="1650" b="1">
                <a:solidFill>
                  <a:srgbClr val="1E293B"/>
                </a:solidFill>
                <a:latin typeface="Microsoft YaHei"/>
                <a:ea typeface="Microsoft YaHei"/>
              </a:rPr>
              <a:t>每天被问的</a:t>
            </a:r>
            <a:endParaRPr/>
          </a:p>
        </p:txBody>
      </p:sp>
      <p:sp>
        <p:nvSpPr>
          <p:cNvPr id="211" name=""/>
          <p:cNvSpPr/>
          <p:nvPr/>
        </p:nvSpPr>
        <p:spPr>
          <a:xfrm rot="0" flipH="0" flipV="0">
            <a:off x="762000" y="2371725"/>
            <a:ext cx="323850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212" name=""/>
          <p:cNvSpPr/>
          <p:nvPr/>
        </p:nvSpPr>
        <p:spPr>
          <a:xfrm rot="0" flipH="0" flipV="0">
            <a:off x="762000" y="2514600"/>
            <a:ext cx="1028700" cy="381000"/>
          </a:xfrm>
          <a:prstGeom prst="roundRect">
            <a:avLst>
              <a:gd name="adj" fmla="val 20000"/>
            </a:avLst>
          </a:prstGeom>
          <a:solidFill>
            <a:srgbClr val="E8EEFB"/>
          </a:solidFill>
          <a:ln/>
        </p:spPr>
        <p:txBody>
          <a:bodyPr/>
          <a:p/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847725" y="2600325"/>
            <a:ext cx="857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1E293B"/>
                </a:solidFill>
                <a:latin typeface="Microsoft YaHei"/>
                <a:ea typeface="Microsoft YaHei"/>
              </a:rPr>
              <a:t>年假怎么算</a:t>
            </a:r>
            <a:endParaRPr/>
          </a:p>
        </p:txBody>
      </p:sp>
      <p:sp>
        <p:nvSpPr>
          <p:cNvPr id="214" name=""/>
          <p:cNvSpPr/>
          <p:nvPr/>
        </p:nvSpPr>
        <p:spPr>
          <a:xfrm rot="0" flipH="0" flipV="0">
            <a:off x="1866900" y="2514600"/>
            <a:ext cx="857250" cy="381000"/>
          </a:xfrm>
          <a:prstGeom prst="roundRect">
            <a:avLst>
              <a:gd name="adj" fmla="val 20000"/>
            </a:avLst>
          </a:prstGeom>
          <a:solidFill>
            <a:srgbClr val="E8EEFB"/>
          </a:solidFill>
          <a:ln/>
        </p:spPr>
        <p:txBody>
          <a:bodyPr/>
          <a:p/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1952625" y="2600325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1E293B"/>
                </a:solidFill>
                <a:latin typeface="Microsoft YaHei"/>
                <a:ea typeface="Microsoft YaHei"/>
              </a:rPr>
              <a:t>社保基数</a:t>
            </a:r>
            <a:endParaRPr/>
          </a:p>
        </p:txBody>
      </p:sp>
      <p:sp>
        <p:nvSpPr>
          <p:cNvPr id="216" name=""/>
          <p:cNvSpPr/>
          <p:nvPr/>
        </p:nvSpPr>
        <p:spPr>
          <a:xfrm rot="0" flipH="0" flipV="0">
            <a:off x="762000" y="2971800"/>
            <a:ext cx="857250" cy="381000"/>
          </a:xfrm>
          <a:prstGeom prst="roundRect">
            <a:avLst>
              <a:gd name="adj" fmla="val 20000"/>
            </a:avLst>
          </a:prstGeom>
          <a:solidFill>
            <a:srgbClr val="E8EEFB"/>
          </a:solidFill>
          <a:ln/>
        </p:spPr>
        <p:txBody>
          <a:bodyPr/>
          <a:p/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847725" y="3057525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1E293B"/>
                </a:solidFill>
                <a:latin typeface="Microsoft YaHei"/>
                <a:ea typeface="Microsoft YaHei"/>
              </a:rPr>
              <a:t>报销流程</a:t>
            </a:r>
            <a:endParaRPr/>
          </a:p>
        </p:txBody>
      </p:sp>
      <p:sp>
        <p:nvSpPr>
          <p:cNvPr id="218" name=""/>
          <p:cNvSpPr/>
          <p:nvPr/>
        </p:nvSpPr>
        <p:spPr>
          <a:xfrm rot="0" flipH="0" flipV="0">
            <a:off x="1695450" y="2971800"/>
            <a:ext cx="857250" cy="381000"/>
          </a:xfrm>
          <a:prstGeom prst="roundRect">
            <a:avLst>
              <a:gd name="adj" fmla="val 20000"/>
            </a:avLst>
          </a:prstGeom>
          <a:solidFill>
            <a:srgbClr val="E8EEFB"/>
          </a:solidFill>
          <a:ln/>
        </p:spPr>
        <p:txBody>
          <a:bodyPr/>
          <a:p/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1781175" y="3057525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1E293B"/>
                </a:solidFill>
                <a:latin typeface="Microsoft YaHei"/>
                <a:ea typeface="Microsoft YaHei"/>
              </a:rPr>
              <a:t>转正材料</a:t>
            </a:r>
            <a:endParaRPr/>
          </a:p>
        </p:txBody>
      </p:sp>
      <p:sp>
        <p:nvSpPr>
          <p:cNvPr id="220" name=""/>
          <p:cNvSpPr/>
          <p:nvPr/>
        </p:nvSpPr>
        <p:spPr>
          <a:xfrm rot="0" flipH="0" flipV="0">
            <a:off x="762000" y="3429000"/>
            <a:ext cx="857250" cy="381000"/>
          </a:xfrm>
          <a:prstGeom prst="roundRect">
            <a:avLst>
              <a:gd name="adj" fmla="val 20000"/>
            </a:avLst>
          </a:prstGeom>
          <a:solidFill>
            <a:srgbClr val="E8EEFB"/>
          </a:solidFill>
          <a:ln/>
        </p:spPr>
        <p:txBody>
          <a:bodyPr/>
          <a:p/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847725" y="3514725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1E293B"/>
                </a:solidFill>
                <a:latin typeface="Microsoft YaHei"/>
                <a:ea typeface="Microsoft YaHei"/>
              </a:rPr>
              <a:t>调薪政策</a:t>
            </a:r>
            <a:endParaRPr/>
          </a:p>
        </p:txBody>
      </p:sp>
      <p:sp>
        <p:nvSpPr>
          <p:cNvPr id="222" name=""/>
          <p:cNvSpPr/>
          <p:nvPr/>
        </p:nvSpPr>
        <p:spPr>
          <a:xfrm rot="0" flipH="0" flipV="0">
            <a:off x="1695450" y="3429000"/>
            <a:ext cx="857250" cy="381000"/>
          </a:xfrm>
          <a:prstGeom prst="roundRect">
            <a:avLst>
              <a:gd name="adj" fmla="val 20000"/>
            </a:avLst>
          </a:prstGeom>
          <a:solidFill>
            <a:srgbClr val="FFF7E9"/>
          </a:solidFill>
          <a:ln/>
        </p:spPr>
        <p:txBody>
          <a:bodyPr/>
          <a:p/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1781175" y="3514725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B45309"/>
                </a:solidFill>
                <a:latin typeface="Microsoft YaHei"/>
                <a:ea typeface="Microsoft YaHei"/>
              </a:rPr>
              <a:t>入职答疑</a:t>
            </a:r>
            <a:endParaRPr/>
          </a:p>
        </p:txBody>
      </p:sp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762000" y="3943350"/>
            <a:ext cx="32385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高度重复、口径敏感——最适合先交给数字助理。</a:t>
            </a:r>
            <a:endParaRPr/>
          </a:p>
        </p:txBody>
      </p:sp>
      <p:sp>
        <p:nvSpPr>
          <p:cNvPr id="225" name=""/>
          <p:cNvSpPr/>
          <p:nvPr/>
        </p:nvSpPr>
        <p:spPr>
          <a:xfrm rot="0" flipH="0" flipV="0">
            <a:off x="4457700" y="1733550"/>
            <a:ext cx="7162800" cy="1219200"/>
          </a:xfrm>
          <a:custGeom>
            <a:pathLst>
              <a:path w="752" h="128">
                <a:moveTo>
                  <a:pt x="0" y="127"/>
                </a:moveTo>
                <a:lnTo>
                  <a:pt x="752" y="127"/>
                </a:lnTo>
                <a:lnTo>
                  <a:pt x="752" y="128"/>
                </a:lnTo>
                <a:lnTo>
                  <a:pt x="0" y="128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p/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4457700" y="1771650"/>
            <a:ext cx="7162800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1E293B"/>
                </a:solidFill>
                <a:latin typeface="Microsoft YaHei"/>
                <a:ea typeface="Microsoft YaHei"/>
              </a:rPr>
              <a:t>政策问答，统一口径</a:t>
            </a:r>
            <a:endParaRPr/>
          </a:p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4457700" y="2181225"/>
            <a:ext cx="71628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基于公司制度作答并附出处，不同</a:t>
            </a: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 xml:space="preserve"> HR 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对同一问题不再给出两种说法。</a:t>
            </a:r>
            <a:endParaRPr/>
          </a:p>
        </p:txBody>
      </p:sp>
      <p:sp>
        <p:nvSpPr>
          <p:cNvPr id="228" name=""/>
          <p:cNvSpPr/>
          <p:nvPr/>
        </p:nvSpPr>
        <p:spPr>
          <a:xfrm rot="0" flipH="0" flipV="0">
            <a:off x="4457700" y="2952750"/>
            <a:ext cx="7162800" cy="1219200"/>
          </a:xfrm>
          <a:custGeom>
            <a:pathLst>
              <a:path w="752" h="128">
                <a:moveTo>
                  <a:pt x="0" y="127"/>
                </a:moveTo>
                <a:lnTo>
                  <a:pt x="752" y="127"/>
                </a:lnTo>
                <a:lnTo>
                  <a:pt x="752" y="128"/>
                </a:lnTo>
                <a:lnTo>
                  <a:pt x="0" y="128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p/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4457700" y="2990850"/>
            <a:ext cx="7162800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1E293B"/>
                </a:solidFill>
                <a:latin typeface="Microsoft YaHei"/>
                <a:ea typeface="Microsoft YaHei"/>
              </a:rPr>
              <a:t>新人入职，有问必答</a:t>
            </a:r>
            <a:endParaRPr/>
          </a:p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4457700" y="3400425"/>
            <a:ext cx="71628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入职引导、流程答疑、材料清单随时可问，新人少走弯路，</a:t>
            </a: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 xml:space="preserve">HR 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少被打断。</a:t>
            </a:r>
            <a:endParaRPr/>
          </a:p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4457700" y="4210050"/>
            <a:ext cx="7162800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1E293B"/>
                </a:solidFill>
                <a:latin typeface="Microsoft YaHei"/>
                <a:ea typeface="Microsoft YaHei"/>
              </a:rPr>
              <a:t>招聘事务，先做粗活</a:t>
            </a:r>
            <a:endParaRPr/>
          </a:p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4457700" y="4619625"/>
            <a:ext cx="71628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简历按要求初筛整理、面试安排与通知草拟、培训资料整理——粗活交出去，判断留给人。</a:t>
            </a:r>
            <a:endParaRPr/>
          </a:p>
        </p:txBody>
      </p:sp>
      <p:sp>
        <p:nvSpPr>
          <p:cNvPr id="233" name=""/>
          <p:cNvSpPr/>
          <p:nvPr/>
        </p:nvSpPr>
        <p:spPr>
          <a:xfrm rot="0" flipH="0" flipV="0">
            <a:off x="571500" y="5734050"/>
            <a:ext cx="11049000" cy="552450"/>
          </a:xfrm>
          <a:prstGeom prst="roundRect">
            <a:avLst>
              <a:gd name="adj" fmla="val 17241"/>
            </a:avLst>
          </a:prstGeom>
          <a:solidFill>
            <a:srgbClr val="E8EEFB"/>
          </a:solidFill>
          <a:ln/>
        </p:spPr>
        <p:txBody>
          <a:bodyPr/>
          <a:p/>
        </p:txBody>
      </p:sp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704850" y="5857875"/>
            <a:ext cx="10782300" cy="3048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425" b="1">
                <a:solidFill>
                  <a:srgbClr val="1E293B"/>
                </a:solidFill>
                <a:latin typeface="Microsoft YaHei"/>
                <a:ea typeface="Microsoft YaHei"/>
              </a:rPr>
              <a:t xml:space="preserve">HR </a:t>
            </a:r>
            <a:r>
              <a:rPr lang="zh-CN" sz="1425" b="1">
                <a:solidFill>
                  <a:srgbClr val="1E293B"/>
                </a:solidFill>
                <a:latin typeface="Microsoft YaHei"/>
                <a:ea typeface="Microsoft YaHei"/>
              </a:rPr>
              <a:t>从重复答疑里解放出来，把时间还给人该做的事：谈人、育人、留人。</a:t>
            </a:r>
            <a:endParaRPr/>
          </a:p>
        </p:txBody>
      </p:sp>
    </p:spTree>
  </p:cSld>
</p:sld>
</file>

<file path=ppt/slides/slide19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235" name="" descr="&lt;Slide style={{ padding: 60, background: '#FFFFFF' }}&gt;&#10;    &lt;Box style={{ height: 600 }}&gt;&#10;        &lt;Box style={{ height: 20, flexDirection: 'row', justifyContent: 'space-between', alignItems: 'center' }}&gt;&#10;            &lt;Text style={{ fontSize: 14, color: '#94A3B8', letterSpacing: 2 }}&gt;02 · 业务怎么用&lt;/Text&gt;&#10;            &lt;Box style={{ width: 44, height: 4, borderRadius: 2, background: '#2563EB' }} /&gt;&#10;        &lt;/Box&gt;&#10;        &lt;Text style={{ fontSize: 34, fontWeight: 'bold', color: '#1E293B', marginTop: 16, lineHeight: 1.2 }}&gt;&#10;            场景一｜智能客服：答复有出处，背景记得住&#10;        &lt;/Text&gt;&#10;        &lt;Box style={{ height: 1, background: '#E2E8F0', marginTop: 16 }} /&gt;&#10;&#10;        {/* 五步流程 */}&#10;        &lt;Box style={{ flexDirection: 'row', marginTop: 20, alignItems: 'stretch' }}&gt;&#10;            &lt;Box style={{ width: 210, background: '#E8EEFB', borderWidth: 1, borderColor: '#C7D6F5', borderStyle: 'solid', borderRadius: 10, padding: 12 }}&gt;&#10;                &lt;Text style={{ fontSize: 18, fontWeight: '600', color: '#94A3B8', lineHeight: 1.3 }}&gt;01&lt;/Text&gt;&#10;                &lt;Text style={{ fontSize: 20, fontWeight: '600', color: '#1E293B', lineHeight: 1.3, marginTop: 4 }}&gt;客户提问&lt;/Text&gt;&#10;                &lt;Text style={{ fontSize: 18, color: '#475569', lineHeight: 1.5, marginTop: 6 }}&gt;&#10;                    问题从企业微信、飞书或钉钉进来，和网页控制台走同一条处理管线。&#10;                &lt;/Text&gt;&#10;            &lt;/Box&gt;&#10;            &lt;Box style={{ width: 25, justifyContent: 'center', alignItems: 'center' }}&gt;&#10;                &lt;svg width={25} height={18} viewBox='0 0 25 18'&gt;&lt;path d='M0 9 L15 9' stroke='#2563EB' strokeWidth='2' /&gt;&lt;path d='M15 2 L25 9 L15 16 Z' fill='#2563EB' /&gt;&lt;/svg&gt;&#10;            &lt;/Box&gt;&#10;            &lt;Box style={{ width: 210, background: '#D6E4F9', borderRadius: 10, padding: 12 }}&gt;&#10;                &lt;Text style={{ fontSize: 18, fontWeight: '600', color: '#475569', lineHeight: 1.3 }}&gt;02&lt;/Text&gt;&#10;                &lt;Text style={{ fontSize: 20, fontWeight: '600', color: '#1E293B', lineHeight: 1.3, marginTop: 4 }}&gt;检索知识库&lt;/Text&gt;&#10;                &lt;Text style={{ fontSize: 18, color: '#475569', lineHeight: 1.5, marginTop: 6 }}&gt;&#10;                    在公司受控文档中检索相关片段，只引用授权范围内的资料。&#10;                &lt;/Text&gt;&#10;            &lt;/Box&gt;&#10;            &lt;Box style={{ width: 25, justifyContent: 'center', alignItems: 'center' }}&gt;&#10;                &lt;svg width={25} height={18} viewBox='0 0 25 18'&gt;&lt;path d='M0 9 L15 9' stroke='#0891B2' strokeWidth='2' /&gt;&lt;path d='M15 2 L25 9 L15 16 Z' fill='#0891B2' /&gt;&lt;/svg&gt;&#10;            &lt;/Box&gt;&#10;            &lt;Box style={{ width: 210, background: '#E8EEFB', borderWidth: 1, borderColor: '#C7D6F5', borderStyle: 'solid', borderRadius: 10, padding: 12 }}&gt;&#10;                &lt;Text style={{ fontSize: 18, fontWeight: '600', color: '#94A3B8', lineHeight: 1.3 }}&gt;03&lt;/Text&gt;&#10;                &lt;Text style={{ fontSize: 20, fontWeight: '600', color: '#1E293B', lineHeight: 1.3, marginTop: 4 }}&gt;带出处作答&lt;/Text&gt;&#10;                &lt;Text style={{ fontSize: 18, color: '#475569', lineHeight: 1.5, marginTop: 6 }}&gt;&#10;                    答案直接回到原会话，附来源标记，客户和坐席都能点开核对。&#10;                &lt;/Text&gt;&#10;            &lt;/Box&gt;&#10;            &lt;Box style={{ width: 25, justifyContent: 'center', alignItems: 'center' }}&gt;&#10;                &lt;svg width={25} height={18} viewBox='0 0 25 18'&gt;&lt;path d='M0 9 L15 9' stroke='#F59E0B' strokeWidth='2' /&gt;&lt;path d='M15 2 L25 9 L15 16 Z' fill='#F59E0B' /&gt;&lt;/svg&gt;&#10;            &lt;/Box&gt;&#10;            &lt;Box style={{ width: 210, background: '#FFF7E9', borderWidth: 1, borderColor: '#F5D9A4', borderStyle: 'solid', borderRadius: 10, padding: 12 }}&gt;&#10;                &lt;Text style={{ fontSize: 18, fontWeight: '600', color: '#B45309', lineHeight: 1.3 }}&gt;04&lt;/Text&gt;&#10;                &lt;Text style={{ fontSize: 20, fontWeight: '600', color: '#1E293B', lineHeight: 1.3, marginTop: 4 }}&gt;不知则转人工&lt;/Text&gt;&#10;                &lt;Text style={{ fontSize: 18, color: '#475569', lineHeight: 1.5, marginTop: 6 }}&gt;&#10;                    缺信息时主动反问，超出范围时升级人工并保留完整上下文。&#10;                &lt;/Text&gt;&#10;            &lt;/Box&gt;&#10;            &lt;Box style={{ width: 25, justifyContent: 'center', alignItems: 'center' }}&gt;&#10;                &lt;svg width={25} height={18} viewBox='0 0 25 18'&gt;&lt;path d='M0 9 L15 9' stroke='#F59E0B' strokeWidth='2' /&gt;&lt;path d='M15 2 L25 9 L15 16 Z' fill='#F59E0B' /&gt;&lt;/svg&gt;&#10;            &lt;/Box&gt;&#10;            &lt;Box style={{ width: 210, background: '#E8EEFB', borderWidth: 1, borderColor: '#C7D6F5', borderStyle: 'solid', borderRadius: 10, padding: 12 }}&gt;&#10;                &lt;Text style={{ fontSize: 18, fontWeight: '600', color: '#94A3B8', lineHeight: 1.3 }}&gt;05&lt;/Text&gt;&#10;                &lt;Text style={{ fontSize: 20, fontWeight: '600', color: '#1E293B', lineHeight: 1.3, marginTop: 4 }}&gt;沉淀为记忆&lt;/Text&gt;&#10;                &lt;Text style={{ fontSize: 18, color: '#475569', lineHeight: 1.5, marginTop: 6 }}&gt;&#10;                    本次结论进入长期记忆，客户下次咨询不必从头复述背景。&#10;                &lt;/Text&gt;&#10;            &lt;/Box&gt;&#10;        &lt;/Box&gt;&#10;&#10;        {/* 三条收益 */}&#10;        &lt;Box style={{ flexDirection: 'row', marginTop: 20, gap: 16 }}&gt;&#10;            &lt;Box style={{ flex: 1.2, background: '#F4F6FB', borderRadius: 10, padding: 14 }}&gt;&#10;                &lt;Text style={{ fontSize: 20, fontWeight: '600', color: '#1E293B', lineHeight: 1.3 }}&gt;坐席减负&lt;/Text&gt;&#10;                &lt;Text style={{ fontSize: 18, color: '#475569', lineHeight: 1.5, marginTop: 6 }}&gt;不必在工单、知识库与聊天窗之间来回切换。&lt;/Text&gt;&#10;            &lt;/Box&gt;&#10;            &lt;Box style={{ flex: 1, background: '#F4F6FB', borderRadius: 10, padding: 14 }}&gt;&#10;                &lt;Text style={{ fontSize: 20, fontWeight: '600', color: '#1E293B', lineHeight: 1.3 }}&gt;口径统一&lt;/Text&gt;&#10;                &lt;Text style={{ fontSize: 18, color: '#475569', lineHeight: 1.5, marginTop: 6 }}&gt;答案来自同一份受控文档，不同坐席不再打架。&lt;/Text&gt;&#10;            &lt;/Box&gt;&#10;            &lt;Box style={{ flex: 1, background: '#F4F6FB', borderRadius: 10, padding: 14 }}&gt;&#10;                &lt;Text style={{ fontSize: 20, fontWeight: '600', color: '#1E293B', lineHeight: 1.3 }}&gt;体验延续&lt;/Text&gt;&#10;                &lt;Text style={{ fontSize: 18, color: '#475569', lineHeight: 1.5, marginTop: 6 }}&gt;二次咨询带着上次结论继续，客户不用重讲。&lt;/Text&gt;&#10;            &lt;/Box&gt;&#10;        &lt;/Box&gt;&#10;&#10;        {/* 结论条 */}&#10;        &lt;Box style={{ height: 62, background: '#E8EEFB', borderRadius: 10, padding: 16, marginTop: 14, justifyContent: 'center' }}&gt;&#10;            &lt;Text style={{ fontSize: 19, fontWeight: '600', color: '#1E293B', lineHeight: 1.4 }}&gt;&#10;                客服场景的价值不在「回答得快」，而在「答得准、说得出出处、记得住前情」。&#10;            &lt;/Text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37" name="" descr="{&quot;isTemplate&quot;:true,&quot;type&quot;:&quot;text&quot;}"/>
          <p:cNvSpPr txBox="1"/>
          <p:nvPr/>
        </p:nvSpPr>
        <p:spPr>
          <a:xfrm rot="0" flipH="0" flipV="0">
            <a:off x="571500" y="590550"/>
            <a:ext cx="1133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94A3B8"/>
                </a:solidFill>
                <a:latin typeface="Microsoft YaHei"/>
                <a:ea typeface="Microsoft YaHei"/>
              </a:rPr>
              <a:t xml:space="preserve">02 · </a:t>
            </a:r>
            <a:r>
              <a:rPr lang="zh-CN" sz="1050" spc="150">
                <a:solidFill>
                  <a:srgbClr val="94A3B8"/>
                </a:solidFill>
                <a:latin typeface="Microsoft YaHei"/>
                <a:ea typeface="Microsoft YaHei"/>
              </a:rPr>
              <a:t>业务怎么用</a:t>
            </a:r>
            <a:endParaRPr/>
          </a:p>
        </p:txBody>
      </p:sp>
      <p:sp>
        <p:nvSpPr>
          <p:cNvPr id="238" name=""/>
          <p:cNvSpPr/>
          <p:nvPr/>
        </p:nvSpPr>
        <p:spPr>
          <a:xfrm rot="0" flipH="0" flipV="0">
            <a:off x="11201400" y="647700"/>
            <a:ext cx="419100" cy="38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239" name="" descr="{&quot;isTemplate&quot;:true,&quot;type&quot;:&quot;text&quot;}"/>
          <p:cNvSpPr txBox="1"/>
          <p:nvPr/>
        </p:nvSpPr>
        <p:spPr>
          <a:xfrm rot="0" flipH="0" flipV="0">
            <a:off x="571500" y="914400"/>
            <a:ext cx="110490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E293B"/>
                </a:solidFill>
                <a:latin typeface="Microsoft YaHei"/>
                <a:ea typeface="Microsoft YaHei"/>
              </a:rPr>
              <a:t>场景一｜智能客服：答复有出处，背景记得住</a:t>
            </a:r>
            <a:endParaRPr/>
          </a:p>
        </p:txBody>
      </p:sp>
      <p:sp>
        <p:nvSpPr>
          <p:cNvPr id="240" name=""/>
          <p:cNvSpPr/>
          <p:nvPr/>
        </p:nvSpPr>
        <p:spPr>
          <a:xfrm rot="0" flipH="0" flipV="0">
            <a:off x="571500" y="1533525"/>
            <a:ext cx="1104900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241" name=""/>
          <p:cNvSpPr/>
          <p:nvPr/>
        </p:nvSpPr>
        <p:spPr>
          <a:xfrm rot="0" flipH="0" flipV="0">
            <a:off x="571500" y="1733550"/>
            <a:ext cx="2000250" cy="2143125"/>
          </a:xfrm>
          <a:prstGeom prst="roundRect">
            <a:avLst>
              <a:gd name="adj" fmla="val 4762"/>
            </a:avLst>
          </a:prstGeom>
          <a:solidFill>
            <a:srgbClr val="E8EEFB"/>
          </a:solidFill>
          <a:ln w="12700">
            <a:solidFill>
              <a:srgbClr val="C7D6F5"/>
            </a:solidFill>
            <a:prstDash val="solid"/>
          </a:ln>
        </p:spPr>
        <p:txBody>
          <a:bodyPr/>
          <a:p/>
        </p:txBody>
      </p:sp>
      <p:sp>
        <p:nvSpPr>
          <p:cNvPr id="242" name="" descr="{&quot;isTemplate&quot;:true,&quot;type&quot;:&quot;text&quot;}"/>
          <p:cNvSpPr txBox="1"/>
          <p:nvPr/>
        </p:nvSpPr>
        <p:spPr>
          <a:xfrm rot="0" flipH="0" flipV="0">
            <a:off x="685800" y="1847850"/>
            <a:ext cx="1771650" cy="2762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350" b="1">
                <a:solidFill>
                  <a:srgbClr val="94A3B8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243" name="" descr="{&quot;isTemplate&quot;:true,&quot;type&quot;:&quot;text&quot;}"/>
          <p:cNvSpPr txBox="1"/>
          <p:nvPr/>
        </p:nvSpPr>
        <p:spPr>
          <a:xfrm rot="0" flipH="0" flipV="0">
            <a:off x="685800" y="2162175"/>
            <a:ext cx="1771650" cy="3048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500" b="1">
                <a:solidFill>
                  <a:srgbClr val="1E293B"/>
                </a:solidFill>
                <a:latin typeface="Microsoft YaHei"/>
                <a:ea typeface="Microsoft YaHei"/>
              </a:rPr>
              <a:t>客户提问</a:t>
            </a:r>
            <a:endParaRPr/>
          </a:p>
        </p:txBody>
      </p:sp>
      <p:sp>
        <p:nvSpPr>
          <p:cNvPr id="244" name="" descr="{&quot;isTemplate&quot;:true,&quot;type&quot;:&quot;text&quot;}"/>
          <p:cNvSpPr txBox="1"/>
          <p:nvPr/>
        </p:nvSpPr>
        <p:spPr>
          <a:xfrm rot="0" flipH="0" flipV="0">
            <a:off x="685800" y="2524125"/>
            <a:ext cx="1771650" cy="1238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问题从企业微信、飞书或钉钉进来，和网页控制台走同一条处理管线。</a:t>
            </a:r>
            <a:endParaRPr/>
          </a:p>
        </p:txBody>
      </p:sp>
      <p:pic>
        <p:nvPicPr>
          <p:cNvPr id="24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2571750" y="2724150"/>
            <a:ext cx="238125" cy="171450"/>
          </a:xfrm>
          <a:prstGeom prst="rect">
            <a:avLst/>
          </a:prstGeom>
          <a:ln/>
        </p:spPr>
      </p:pic>
      <p:sp>
        <p:nvSpPr>
          <p:cNvPr id="246" name=""/>
          <p:cNvSpPr/>
          <p:nvPr/>
        </p:nvSpPr>
        <p:spPr>
          <a:xfrm rot="0" flipH="0" flipV="0">
            <a:off x="2809875" y="1733550"/>
            <a:ext cx="2000250" cy="2143125"/>
          </a:xfrm>
          <a:prstGeom prst="roundRect">
            <a:avLst>
              <a:gd name="adj" fmla="val 4762"/>
            </a:avLst>
          </a:prstGeom>
          <a:solidFill>
            <a:srgbClr val="D6E4F9"/>
          </a:solidFill>
          <a:ln/>
        </p:spPr>
        <p:txBody>
          <a:bodyPr/>
          <a:p/>
        </p:txBody>
      </p:sp>
      <p:sp>
        <p:nvSpPr>
          <p:cNvPr id="247" name="" descr="{&quot;isTemplate&quot;:true,&quot;type&quot;:&quot;text&quot;}"/>
          <p:cNvSpPr txBox="1"/>
          <p:nvPr/>
        </p:nvSpPr>
        <p:spPr>
          <a:xfrm rot="0" flipH="0" flipV="0">
            <a:off x="2924175" y="1847850"/>
            <a:ext cx="1771650" cy="2762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350" b="1">
                <a:solidFill>
                  <a:srgbClr val="475569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248" name="" descr="{&quot;isTemplate&quot;:true,&quot;type&quot;:&quot;text&quot;}"/>
          <p:cNvSpPr txBox="1"/>
          <p:nvPr/>
        </p:nvSpPr>
        <p:spPr>
          <a:xfrm rot="0" flipH="0" flipV="0">
            <a:off x="2924175" y="2162175"/>
            <a:ext cx="1771650" cy="3048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500" b="1">
                <a:solidFill>
                  <a:srgbClr val="1E293B"/>
                </a:solidFill>
                <a:latin typeface="Microsoft YaHei"/>
                <a:ea typeface="Microsoft YaHei"/>
              </a:rPr>
              <a:t>检索知识库</a:t>
            </a:r>
            <a:endParaRPr/>
          </a:p>
        </p:txBody>
      </p:sp>
      <p:sp>
        <p:nvSpPr>
          <p:cNvPr id="249" name="" descr="{&quot;isTemplate&quot;:true,&quot;type&quot;:&quot;text&quot;}"/>
          <p:cNvSpPr txBox="1"/>
          <p:nvPr/>
        </p:nvSpPr>
        <p:spPr>
          <a:xfrm rot="0" flipH="0" flipV="0">
            <a:off x="2924175" y="2524125"/>
            <a:ext cx="1771650" cy="933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在公司受控文档中检索相关片段，只引用授权范围内的资料。</a:t>
            </a:r>
            <a:endParaRPr/>
          </a:p>
        </p:txBody>
      </p:sp>
      <p:pic>
        <p:nvPicPr>
          <p:cNvPr id="25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4810125" y="2724150"/>
            <a:ext cx="238125" cy="171450"/>
          </a:xfrm>
          <a:prstGeom prst="rect">
            <a:avLst/>
          </a:prstGeom>
          <a:ln/>
        </p:spPr>
      </p:pic>
      <p:sp>
        <p:nvSpPr>
          <p:cNvPr id="251" name=""/>
          <p:cNvSpPr/>
          <p:nvPr/>
        </p:nvSpPr>
        <p:spPr>
          <a:xfrm rot="0" flipH="0" flipV="0">
            <a:off x="5048250" y="1733550"/>
            <a:ext cx="2000250" cy="2143125"/>
          </a:xfrm>
          <a:prstGeom prst="roundRect">
            <a:avLst>
              <a:gd name="adj" fmla="val 4762"/>
            </a:avLst>
          </a:prstGeom>
          <a:solidFill>
            <a:srgbClr val="E8EEFB"/>
          </a:solidFill>
          <a:ln w="12700">
            <a:solidFill>
              <a:srgbClr val="C7D6F5"/>
            </a:solidFill>
            <a:prstDash val="solid"/>
          </a:ln>
        </p:spPr>
        <p:txBody>
          <a:bodyPr/>
          <a:p/>
        </p:txBody>
      </p:sp>
      <p:sp>
        <p:nvSpPr>
          <p:cNvPr id="252" name="" descr="{&quot;isTemplate&quot;:true,&quot;type&quot;:&quot;text&quot;}"/>
          <p:cNvSpPr txBox="1"/>
          <p:nvPr/>
        </p:nvSpPr>
        <p:spPr>
          <a:xfrm rot="0" flipH="0" flipV="0">
            <a:off x="5162550" y="1847850"/>
            <a:ext cx="1771650" cy="2762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350" b="1">
                <a:solidFill>
                  <a:srgbClr val="94A3B8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253" name="" descr="{&quot;isTemplate&quot;:true,&quot;type&quot;:&quot;text&quot;}"/>
          <p:cNvSpPr txBox="1"/>
          <p:nvPr/>
        </p:nvSpPr>
        <p:spPr>
          <a:xfrm rot="0" flipH="0" flipV="0">
            <a:off x="5162550" y="2162175"/>
            <a:ext cx="1771650" cy="3048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500" b="1">
                <a:solidFill>
                  <a:srgbClr val="1E293B"/>
                </a:solidFill>
                <a:latin typeface="Microsoft YaHei"/>
                <a:ea typeface="Microsoft YaHei"/>
              </a:rPr>
              <a:t>带出处作答</a:t>
            </a:r>
            <a:endParaRPr/>
          </a:p>
        </p:txBody>
      </p:sp>
      <p:sp>
        <p:nvSpPr>
          <p:cNvPr id="254" name="" descr="{&quot;isTemplate&quot;:true,&quot;type&quot;:&quot;text&quot;}"/>
          <p:cNvSpPr txBox="1"/>
          <p:nvPr/>
        </p:nvSpPr>
        <p:spPr>
          <a:xfrm rot="0" flipH="0" flipV="0">
            <a:off x="5162550" y="2524125"/>
            <a:ext cx="1771650" cy="933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答案直接回到原会话，附来源标记，客户和坐席都能点开核对。</a:t>
            </a:r>
            <a:endParaRPr/>
          </a:p>
        </p:txBody>
      </p:sp>
      <p:pic>
        <p:nvPicPr>
          <p:cNvPr id="25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7048500" y="2724150"/>
            <a:ext cx="238125" cy="171450"/>
          </a:xfrm>
          <a:prstGeom prst="rect">
            <a:avLst/>
          </a:prstGeom>
          <a:ln/>
        </p:spPr>
      </p:pic>
      <p:sp>
        <p:nvSpPr>
          <p:cNvPr id="256" name=""/>
          <p:cNvSpPr/>
          <p:nvPr/>
        </p:nvSpPr>
        <p:spPr>
          <a:xfrm rot="0" flipH="0" flipV="0">
            <a:off x="7286625" y="1733550"/>
            <a:ext cx="2000250" cy="2143125"/>
          </a:xfrm>
          <a:prstGeom prst="roundRect">
            <a:avLst>
              <a:gd name="adj" fmla="val 4762"/>
            </a:avLst>
          </a:prstGeom>
          <a:solidFill>
            <a:srgbClr val="FFF7E9"/>
          </a:solidFill>
          <a:ln w="12700">
            <a:solidFill>
              <a:srgbClr val="F5D9A4"/>
            </a:solidFill>
            <a:prstDash val="solid"/>
          </a:ln>
        </p:spPr>
        <p:txBody>
          <a:bodyPr/>
          <a:p/>
        </p:txBody>
      </p:sp>
      <p:sp>
        <p:nvSpPr>
          <p:cNvPr id="257" name="" descr="{&quot;isTemplate&quot;:true,&quot;type&quot;:&quot;text&quot;}"/>
          <p:cNvSpPr txBox="1"/>
          <p:nvPr/>
        </p:nvSpPr>
        <p:spPr>
          <a:xfrm rot="0" flipH="0" flipV="0">
            <a:off x="7400925" y="1847850"/>
            <a:ext cx="1771650" cy="2762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350" b="1">
                <a:solidFill>
                  <a:srgbClr val="B45309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258" name="" descr="{&quot;isTemplate&quot;:true,&quot;type&quot;:&quot;text&quot;}"/>
          <p:cNvSpPr txBox="1"/>
          <p:nvPr/>
        </p:nvSpPr>
        <p:spPr>
          <a:xfrm rot="0" flipH="0" flipV="0">
            <a:off x="7400925" y="2162175"/>
            <a:ext cx="1771650" cy="3048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500" b="1">
                <a:solidFill>
                  <a:srgbClr val="1E293B"/>
                </a:solidFill>
                <a:latin typeface="Microsoft YaHei"/>
                <a:ea typeface="Microsoft YaHei"/>
              </a:rPr>
              <a:t>不知则转人工</a:t>
            </a:r>
            <a:endParaRPr/>
          </a:p>
        </p:txBody>
      </p:sp>
      <p:sp>
        <p:nvSpPr>
          <p:cNvPr id="259" name="" descr="{&quot;isTemplate&quot;:true,&quot;type&quot;:&quot;text&quot;}"/>
          <p:cNvSpPr txBox="1"/>
          <p:nvPr/>
        </p:nvSpPr>
        <p:spPr>
          <a:xfrm rot="0" flipH="0" flipV="0">
            <a:off x="7400925" y="2524125"/>
            <a:ext cx="1771650" cy="933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缺信息时主动反问，超出范围时升级人工并保留完整上下文。</a:t>
            </a:r>
            <a:endParaRPr/>
          </a:p>
        </p:txBody>
      </p:sp>
      <p:pic>
        <p:nvPicPr>
          <p:cNvPr id="26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9286875" y="2724150"/>
            <a:ext cx="238125" cy="171450"/>
          </a:xfrm>
          <a:prstGeom prst="rect">
            <a:avLst/>
          </a:prstGeom>
          <a:ln/>
        </p:spPr>
      </p:pic>
      <p:sp>
        <p:nvSpPr>
          <p:cNvPr id="261" name=""/>
          <p:cNvSpPr/>
          <p:nvPr/>
        </p:nvSpPr>
        <p:spPr>
          <a:xfrm rot="0" flipH="0" flipV="0">
            <a:off x="9525000" y="1733550"/>
            <a:ext cx="2000250" cy="2143125"/>
          </a:xfrm>
          <a:prstGeom prst="roundRect">
            <a:avLst>
              <a:gd name="adj" fmla="val 4762"/>
            </a:avLst>
          </a:prstGeom>
          <a:solidFill>
            <a:srgbClr val="E8EEFB"/>
          </a:solidFill>
          <a:ln w="12700">
            <a:solidFill>
              <a:srgbClr val="C7D6F5"/>
            </a:solidFill>
            <a:prstDash val="solid"/>
          </a:ln>
        </p:spPr>
        <p:txBody>
          <a:bodyPr/>
          <a:p/>
        </p:txBody>
      </p:sp>
      <p:sp>
        <p:nvSpPr>
          <p:cNvPr id="262" name="" descr="{&quot;isTemplate&quot;:true,&quot;type&quot;:&quot;text&quot;}"/>
          <p:cNvSpPr txBox="1"/>
          <p:nvPr/>
        </p:nvSpPr>
        <p:spPr>
          <a:xfrm rot="0" flipH="0" flipV="0">
            <a:off x="9639300" y="1847850"/>
            <a:ext cx="1771650" cy="2762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350" b="1">
                <a:solidFill>
                  <a:srgbClr val="94A3B8"/>
                </a:solidFill>
                <a:latin typeface="Microsoft YaHei"/>
                <a:ea typeface="Microsoft YaHei"/>
              </a:rPr>
              <a:t>05</a:t>
            </a:r>
            <a:endParaRPr/>
          </a:p>
        </p:txBody>
      </p:sp>
      <p:sp>
        <p:nvSpPr>
          <p:cNvPr id="263" name="" descr="{&quot;isTemplate&quot;:true,&quot;type&quot;:&quot;text&quot;}"/>
          <p:cNvSpPr txBox="1"/>
          <p:nvPr/>
        </p:nvSpPr>
        <p:spPr>
          <a:xfrm rot="0" flipH="0" flipV="0">
            <a:off x="9639300" y="2162175"/>
            <a:ext cx="1771650" cy="3048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500" b="1">
                <a:solidFill>
                  <a:srgbClr val="1E293B"/>
                </a:solidFill>
                <a:latin typeface="Microsoft YaHei"/>
                <a:ea typeface="Microsoft YaHei"/>
              </a:rPr>
              <a:t>沉淀为记忆</a:t>
            </a:r>
            <a:endParaRPr/>
          </a:p>
        </p:txBody>
      </p:sp>
      <p:sp>
        <p:nvSpPr>
          <p:cNvPr id="264" name="" descr="{&quot;isTemplate&quot;:true,&quot;type&quot;:&quot;text&quot;}"/>
          <p:cNvSpPr txBox="1"/>
          <p:nvPr/>
        </p:nvSpPr>
        <p:spPr>
          <a:xfrm rot="0" flipH="0" flipV="0">
            <a:off x="9639300" y="2524125"/>
            <a:ext cx="1771650" cy="933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本次结论进入长期记忆，客户下次咨询不必从头复述背景。</a:t>
            </a:r>
            <a:endParaRPr/>
          </a:p>
        </p:txBody>
      </p:sp>
      <p:sp>
        <p:nvSpPr>
          <p:cNvPr id="265" name=""/>
          <p:cNvSpPr/>
          <p:nvPr/>
        </p:nvSpPr>
        <p:spPr>
          <a:xfrm rot="0" flipH="0" flipV="0">
            <a:off x="571500" y="4067175"/>
            <a:ext cx="4029075" cy="1247775"/>
          </a:xfrm>
          <a:prstGeom prst="roundRect">
            <a:avLst>
              <a:gd name="adj" fmla="val 7634"/>
            </a:avLst>
          </a:prstGeom>
          <a:solidFill>
            <a:srgbClr val="F4F6FB"/>
          </a:solidFill>
          <a:ln/>
        </p:spPr>
        <p:txBody>
          <a:bodyPr/>
          <a:p/>
        </p:txBody>
      </p:sp>
      <p:sp>
        <p:nvSpPr>
          <p:cNvPr id="266" name="" descr="{&quot;isTemplate&quot;:true,&quot;type&quot;:&quot;text&quot;}"/>
          <p:cNvSpPr txBox="1"/>
          <p:nvPr/>
        </p:nvSpPr>
        <p:spPr>
          <a:xfrm rot="0" flipH="0" flipV="0">
            <a:off x="704850" y="4200525"/>
            <a:ext cx="3762375" cy="3048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500" b="1">
                <a:solidFill>
                  <a:srgbClr val="1E293B"/>
                </a:solidFill>
                <a:latin typeface="Microsoft YaHei"/>
                <a:ea typeface="Microsoft YaHei"/>
              </a:rPr>
              <a:t>坐席减负</a:t>
            </a:r>
            <a:endParaRPr/>
          </a:p>
        </p:txBody>
      </p:sp>
      <p:sp>
        <p:nvSpPr>
          <p:cNvPr id="267" name="" descr="{&quot;isTemplate&quot;:true,&quot;type&quot;:&quot;text&quot;}"/>
          <p:cNvSpPr txBox="1"/>
          <p:nvPr/>
        </p:nvSpPr>
        <p:spPr>
          <a:xfrm rot="0" flipH="0" flipV="0">
            <a:off x="704850" y="4562475"/>
            <a:ext cx="3762375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不必在工单、知识库与聊天窗之间来回切换。</a:t>
            </a:r>
            <a:endParaRPr/>
          </a:p>
        </p:txBody>
      </p:sp>
      <p:sp>
        <p:nvSpPr>
          <p:cNvPr id="268" name=""/>
          <p:cNvSpPr/>
          <p:nvPr/>
        </p:nvSpPr>
        <p:spPr>
          <a:xfrm rot="0" flipH="0" flipV="0">
            <a:off x="4752975" y="4067175"/>
            <a:ext cx="3362325" cy="1247775"/>
          </a:xfrm>
          <a:prstGeom prst="roundRect">
            <a:avLst>
              <a:gd name="adj" fmla="val 7634"/>
            </a:avLst>
          </a:prstGeom>
          <a:solidFill>
            <a:srgbClr val="F4F6FB"/>
          </a:solidFill>
          <a:ln/>
        </p:spPr>
        <p:txBody>
          <a:bodyPr/>
          <a:p/>
        </p:txBody>
      </p:sp>
      <p:sp>
        <p:nvSpPr>
          <p:cNvPr id="269" name="" descr="{&quot;isTemplate&quot;:true,&quot;type&quot;:&quot;text&quot;}"/>
          <p:cNvSpPr txBox="1"/>
          <p:nvPr/>
        </p:nvSpPr>
        <p:spPr>
          <a:xfrm rot="0" flipH="0" flipV="0">
            <a:off x="4886325" y="4200525"/>
            <a:ext cx="3095625" cy="3048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500" b="1">
                <a:solidFill>
                  <a:srgbClr val="1E293B"/>
                </a:solidFill>
                <a:latin typeface="Microsoft YaHei"/>
                <a:ea typeface="Microsoft YaHei"/>
              </a:rPr>
              <a:t>口径统一</a:t>
            </a:r>
            <a:endParaRPr/>
          </a:p>
        </p:txBody>
      </p:sp>
      <p:sp>
        <p:nvSpPr>
          <p:cNvPr id="270" name="" descr="{&quot;isTemplate&quot;:true,&quot;type&quot;:&quot;text&quot;}"/>
          <p:cNvSpPr txBox="1"/>
          <p:nvPr/>
        </p:nvSpPr>
        <p:spPr>
          <a:xfrm rot="0" flipH="0" flipV="0">
            <a:off x="4886325" y="4562475"/>
            <a:ext cx="3095625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答案来自同一份受控文档，不同坐席不再打架。</a:t>
            </a:r>
            <a:endParaRPr/>
          </a:p>
        </p:txBody>
      </p:sp>
      <p:sp>
        <p:nvSpPr>
          <p:cNvPr id="271" name=""/>
          <p:cNvSpPr/>
          <p:nvPr/>
        </p:nvSpPr>
        <p:spPr>
          <a:xfrm rot="0" flipH="0" flipV="0">
            <a:off x="8267700" y="4067175"/>
            <a:ext cx="3352800" cy="1247775"/>
          </a:xfrm>
          <a:prstGeom prst="roundRect">
            <a:avLst>
              <a:gd name="adj" fmla="val 7634"/>
            </a:avLst>
          </a:prstGeom>
          <a:solidFill>
            <a:srgbClr val="F4F6FB"/>
          </a:solidFill>
          <a:ln/>
        </p:spPr>
        <p:txBody>
          <a:bodyPr/>
          <a:p/>
        </p:txBody>
      </p:sp>
      <p:sp>
        <p:nvSpPr>
          <p:cNvPr id="272" name="" descr="{&quot;isTemplate&quot;:true,&quot;type&quot;:&quot;text&quot;}"/>
          <p:cNvSpPr txBox="1"/>
          <p:nvPr/>
        </p:nvSpPr>
        <p:spPr>
          <a:xfrm rot="0" flipH="0" flipV="0">
            <a:off x="8401050" y="4200525"/>
            <a:ext cx="3086100" cy="3048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500" b="1">
                <a:solidFill>
                  <a:srgbClr val="1E293B"/>
                </a:solidFill>
                <a:latin typeface="Microsoft YaHei"/>
                <a:ea typeface="Microsoft YaHei"/>
              </a:rPr>
              <a:t>体验延续</a:t>
            </a:r>
            <a:endParaRPr/>
          </a:p>
        </p:txBody>
      </p:sp>
      <p:sp>
        <p:nvSpPr>
          <p:cNvPr id="273" name="" descr="{&quot;isTemplate&quot;:true,&quot;type&quot;:&quot;text&quot;}"/>
          <p:cNvSpPr txBox="1"/>
          <p:nvPr/>
        </p:nvSpPr>
        <p:spPr>
          <a:xfrm rot="0" flipH="0" flipV="0">
            <a:off x="8401050" y="4562475"/>
            <a:ext cx="308610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二次咨询带着上次结论继续，客户不用重讲。</a:t>
            </a:r>
            <a:endParaRPr/>
          </a:p>
        </p:txBody>
      </p:sp>
      <p:sp>
        <p:nvSpPr>
          <p:cNvPr id="274" name=""/>
          <p:cNvSpPr/>
          <p:nvPr/>
        </p:nvSpPr>
        <p:spPr>
          <a:xfrm rot="0" flipH="0" flipV="0">
            <a:off x="571500" y="5448300"/>
            <a:ext cx="11049000" cy="590550"/>
          </a:xfrm>
          <a:prstGeom prst="roundRect">
            <a:avLst>
              <a:gd name="adj" fmla="val 16129"/>
            </a:avLst>
          </a:prstGeom>
          <a:solidFill>
            <a:srgbClr val="E8EEFB"/>
          </a:solidFill>
          <a:ln/>
        </p:spPr>
        <p:txBody>
          <a:bodyPr/>
          <a:p/>
        </p:txBody>
      </p:sp>
      <p:sp>
        <p:nvSpPr>
          <p:cNvPr id="275" name="" descr="{&quot;isTemplate&quot;:true,&quot;type&quot;:&quot;text&quot;}"/>
          <p:cNvSpPr txBox="1"/>
          <p:nvPr/>
        </p:nvSpPr>
        <p:spPr>
          <a:xfrm rot="0" flipH="0" flipV="0">
            <a:off x="723900" y="5591175"/>
            <a:ext cx="10744200" cy="3048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425" b="1">
                <a:solidFill>
                  <a:srgbClr val="1E293B"/>
                </a:solidFill>
                <a:latin typeface="Microsoft YaHei"/>
                <a:ea typeface="Microsoft YaHei"/>
              </a:rPr>
              <a:t>客服场景的价值不在「回答得快」，而在「答得准、说得出出处、记得住前情」。</a:t>
            </a:r>
            <a:endParaRPr/>
          </a:p>
        </p:txBody>
      </p:sp>
    </p:spTree>
  </p:cSld>
</p:sld>
</file>

<file path=ppt/slides/slide20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310" name="" descr="&lt;Slide style={{ padding: 60, background: '#FFFFFF' }}&gt;&#10;    &lt;Box style={{ height: 600 }}&gt;&#10;        &lt;Box style={{ height: 20, flexDirection: 'row', justifyContent: 'space-between', alignItems: 'center' }}&gt;&#10;            &lt;Text style={{ fontSize: 14, color: '#94A3B8', letterSpacing: 2 }}&gt;02 · 业务怎么用&lt;/Text&gt;&#10;            &lt;Box style={{ width: 44, height: 4, borderRadius: 2, background: '#2563EB' }} /&gt;&#10;        &lt;/Box&gt;&#10;        &lt;Text style={{ fontSize: 34, fontWeight: 'bold', color: '#1E293B', marginTop: 16, lineHeight: 1.2 }}&gt;&#10;            场景二｜重复的事交给定时任务：让该做的事自动发生&#10;        &lt;/Text&gt;&#10;        &lt;Box style={{ height: 1, background: '#E2E8F0', marginTop: 16 }} /&gt;&#10;&#10;        {/* 横向时间轴，节点上下交错 */}&#10;        &lt;Box style={{ flex: 1, marginTop: 16, position: 'relative' }}&gt;&#10;            &lt;svg width={1160} height={340} viewBox='0 0 1160 340'&gt;&#10;                &lt;line x1='40' y1='170' x2='1120' y2='170' stroke='#C7D6F5' strokeWidth='2' /&gt;&#10;                &lt;circle cx='160' cy='170' r='9' fill='#2563EB' /&gt;&#10;                &lt;circle cx='440' cy='170' r='9' fill='#0891B2' /&gt;&#10;                &lt;circle cx='720' cy='170' r='9' fill='#2563EB' /&gt;&#10;                &lt;circle cx='1000' cy='170' r='11' fill='#F59E0B' /&gt;&#10;                &lt;line x1='160' y1='170' x2='160' y2='110' stroke='#C7D6F5' strokeWidth='1' /&gt;&#10;                &lt;line x1='440' y1='170' x2='440' y2='230' stroke='#C7D6F5' strokeWidth='1' /&gt;&#10;                &lt;line x1='720' y1='170' x2='720' y2='110' stroke='#C7D6F5' strokeWidth='1' /&gt;&#10;                &lt;line x1='1000' y1='170' x2='1000' y2='230' stroke='#C7D6F5' strokeWidth='1' /&gt;&#10;            &lt;/svg&gt;&#10;            {/* 上排两卡 */}&#10;            &lt;Box style={{ position: 'absolute', left: 20, top: 8, width: 280, background: '#E8EEFB', borderRadius: 10, padding: 14 }}&gt;&#10;                &lt;Text style={{ fontSize: 20, fontWeight: '600', color: '#1E293B', lineHeight: 1.3 }}&gt;日报周报自动出稿&lt;/Text&gt;&#10;                &lt;Text style={{ fontSize: 18, color: '#475569', lineHeight: 1.5, marginTop: 6 }}&gt;按时读数、生成摘要、推送到指定群，早上到岗即可看。&lt;/Text&gt;&#10;            &lt;/Box&gt;&#10;            &lt;Box style={{ position: 'absolute', left: 580, top: 8, width: 280, background: '#E8EEFB', borderRadius: 10, padding: 14 }}&gt;&#10;                &lt;Text style={{ fontSize: 20, fontWeight: '600', color: '#1E293B', lineHeight: 1.3 }}&gt;网页操作录成技能&lt;/Text&gt;&#10;                &lt;Text style={{ fontSize: 18, color: '#475569', lineHeight: 1.5, marginTop: 6 }}&gt;一次后台操作录制下来，之后批量回放，不再重复手工。&lt;/Text&gt;&#10;            &lt;/Box&gt;&#10;            {/* 下排两卡 */}&#10;            &lt;Box style={{ position: 'absolute', left: 300, top: 210, width: 280, background: '#D6E4F9', borderRadius: 10, padding: 14 }}&gt;&#10;                &lt;Text style={{ fontSize: 20, fontWeight: '600', color: '#1E293B', lineHeight: 1.3 }}&gt;数据看板与预警&lt;/Text&gt;&#10;                &lt;Text style={{ fontSize: 18, color: '#475569', lineHeight: 1.5, marginTop: 6 }}&gt;指标异常主动提醒，把「事后发现」变成「提前预警」。&lt;/Text&gt;&#10;            &lt;/Box&gt;&#10;            &lt;Box style={{ position: 'absolute', left: 860, top: 210, width: 280, background: '#FFF7E9', borderRadius: 10, padding: 14 }}&gt;&#10;                &lt;Text style={{ fontSize: 20, fontWeight: '600', color: '#1E293B', lineHeight: 1.3 }}&gt;主动关怀推送&lt;/Text&gt;&#10;                &lt;Text style={{ fontSize: 18, color: '#475569', lineHeight: 1.5, marginTop: 6 }}&gt;续约、回款、保修到期前主动提醒，重要的事不再靠记性。&lt;/Text&gt;&#10;            &lt;/Box&gt;&#10;        &lt;/Box&gt;&#10;&#10;        {/* 结论条 */}&#10;        &lt;Box style={{ height: 62, background: '#E8EEFB', borderRadius: 10, padding: 16, marginTop: 12, justifyContent: 'center' }}&gt;&#10;            &lt;Text style={{ fontSize: 19, fontWeight: '600', color: '#1E293B', lineHeight: 1.4 }}&gt;&#10;                自动化的收益不是省几次点击，而是让「该做但没人做」的事稳定发生——巡检、提醒、复盘不再依赖人的记性。&#10;            &lt;/Text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12" name="" descr="{&quot;isTemplate&quot;:true,&quot;type&quot;:&quot;text&quot;}"/>
          <p:cNvSpPr txBox="1"/>
          <p:nvPr/>
        </p:nvSpPr>
        <p:spPr>
          <a:xfrm rot="0" flipH="0" flipV="0">
            <a:off x="571500" y="590550"/>
            <a:ext cx="1133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94A3B8"/>
                </a:solidFill>
                <a:latin typeface="Microsoft YaHei"/>
                <a:ea typeface="Microsoft YaHei"/>
              </a:rPr>
              <a:t xml:space="preserve">02 · </a:t>
            </a:r>
            <a:r>
              <a:rPr lang="zh-CN" sz="1050" spc="150">
                <a:solidFill>
                  <a:srgbClr val="94A3B8"/>
                </a:solidFill>
                <a:latin typeface="Microsoft YaHei"/>
                <a:ea typeface="Microsoft YaHei"/>
              </a:rPr>
              <a:t>业务怎么用</a:t>
            </a:r>
            <a:endParaRPr/>
          </a:p>
        </p:txBody>
      </p:sp>
      <p:sp>
        <p:nvSpPr>
          <p:cNvPr id="313" name=""/>
          <p:cNvSpPr/>
          <p:nvPr/>
        </p:nvSpPr>
        <p:spPr>
          <a:xfrm rot="0" flipH="0" flipV="0">
            <a:off x="11201400" y="647700"/>
            <a:ext cx="419100" cy="38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314" name="" descr="{&quot;isTemplate&quot;:true,&quot;type&quot;:&quot;text&quot;}"/>
          <p:cNvSpPr txBox="1"/>
          <p:nvPr/>
        </p:nvSpPr>
        <p:spPr>
          <a:xfrm rot="0" flipH="0" flipV="0">
            <a:off x="571500" y="914400"/>
            <a:ext cx="110490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E293B"/>
                </a:solidFill>
                <a:latin typeface="Microsoft YaHei"/>
                <a:ea typeface="Microsoft YaHei"/>
              </a:rPr>
              <a:t>场景二｜重复的事交给定时任务：让该做的事自动发生</a:t>
            </a:r>
            <a:endParaRPr/>
          </a:p>
        </p:txBody>
      </p:sp>
      <p:sp>
        <p:nvSpPr>
          <p:cNvPr id="315" name=""/>
          <p:cNvSpPr/>
          <p:nvPr/>
        </p:nvSpPr>
        <p:spPr>
          <a:xfrm rot="0" flipH="0" flipV="0">
            <a:off x="571500" y="1533525"/>
            <a:ext cx="1104900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316" name=""/>
          <p:cNvSpPr/>
          <p:nvPr/>
        </p:nvSpPr>
        <p:spPr>
          <a:xfrm rot="0" flipH="0" flipV="0">
            <a:off x="571500" y="5695950"/>
            <a:ext cx="11049000" cy="590550"/>
          </a:xfrm>
          <a:prstGeom prst="roundRect">
            <a:avLst>
              <a:gd name="adj" fmla="val 16129"/>
            </a:avLst>
          </a:prstGeom>
          <a:solidFill>
            <a:srgbClr val="E8EEFB"/>
          </a:solidFill>
          <a:ln/>
        </p:spPr>
        <p:txBody>
          <a:bodyPr/>
          <a:p/>
        </p:txBody>
      </p:sp>
      <p:sp>
        <p:nvSpPr>
          <p:cNvPr id="317" name="" descr="{&quot;isTemplate&quot;:true,&quot;type&quot;:&quot;text&quot;}"/>
          <p:cNvSpPr txBox="1"/>
          <p:nvPr/>
        </p:nvSpPr>
        <p:spPr>
          <a:xfrm rot="0" flipH="0" flipV="0">
            <a:off x="723900" y="5838825"/>
            <a:ext cx="10744200" cy="3048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425" b="1">
                <a:solidFill>
                  <a:srgbClr val="1E293B"/>
                </a:solidFill>
                <a:latin typeface="Microsoft YaHei"/>
                <a:ea typeface="Microsoft YaHei"/>
              </a:rPr>
              <a:t>自动化的收益不是省几次点击，而是让「该做但没人做」的事稳定发生——巡检、提醒、复盘不再依赖人的记性。</a:t>
            </a:r>
            <a:endParaRPr/>
          </a:p>
        </p:txBody>
      </p:sp>
      <p:pic>
        <p:nvPicPr>
          <p:cNvPr id="31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571500" y="1695450"/>
            <a:ext cx="11049000" cy="3238500"/>
          </a:xfrm>
          <a:prstGeom prst="rect">
            <a:avLst/>
          </a:prstGeom>
          <a:ln/>
        </p:spPr>
      </p:pic>
      <p:sp>
        <p:nvSpPr>
          <p:cNvPr id="319" name=""/>
          <p:cNvSpPr/>
          <p:nvPr/>
        </p:nvSpPr>
        <p:spPr>
          <a:xfrm rot="0" flipH="0" flipV="0">
            <a:off x="762000" y="1771650"/>
            <a:ext cx="2667000" cy="1247775"/>
          </a:xfrm>
          <a:prstGeom prst="roundRect">
            <a:avLst>
              <a:gd name="adj" fmla="val 7634"/>
            </a:avLst>
          </a:prstGeom>
          <a:solidFill>
            <a:srgbClr val="E8EEFB"/>
          </a:solidFill>
          <a:ln/>
        </p:spPr>
        <p:txBody>
          <a:bodyPr/>
          <a:p/>
        </p:txBody>
      </p:sp>
      <p:sp>
        <p:nvSpPr>
          <p:cNvPr id="320" name="" descr="{&quot;isTemplate&quot;:true,&quot;type&quot;:&quot;text&quot;}"/>
          <p:cNvSpPr txBox="1"/>
          <p:nvPr/>
        </p:nvSpPr>
        <p:spPr>
          <a:xfrm rot="0" flipH="0" flipV="0">
            <a:off x="895350" y="1905000"/>
            <a:ext cx="2400300" cy="3048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500" b="1">
                <a:solidFill>
                  <a:srgbClr val="1E293B"/>
                </a:solidFill>
                <a:latin typeface="Microsoft YaHei"/>
                <a:ea typeface="Microsoft YaHei"/>
              </a:rPr>
              <a:t>日报周报自动出稿</a:t>
            </a:r>
            <a:endParaRPr/>
          </a:p>
        </p:txBody>
      </p:sp>
      <p:sp>
        <p:nvSpPr>
          <p:cNvPr id="321" name="" descr="{&quot;isTemplate&quot;:true,&quot;type&quot;:&quot;text&quot;}"/>
          <p:cNvSpPr txBox="1"/>
          <p:nvPr/>
        </p:nvSpPr>
        <p:spPr>
          <a:xfrm rot="0" flipH="0" flipV="0">
            <a:off x="895350" y="2266950"/>
            <a:ext cx="240030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按时读数、生成摘要、推送到指定群，早上到岗即可看。</a:t>
            </a:r>
            <a:endParaRPr/>
          </a:p>
        </p:txBody>
      </p:sp>
      <p:sp>
        <p:nvSpPr>
          <p:cNvPr id="322" name=""/>
          <p:cNvSpPr/>
          <p:nvPr/>
        </p:nvSpPr>
        <p:spPr>
          <a:xfrm rot="0" flipH="0" flipV="0">
            <a:off x="6096000" y="1771650"/>
            <a:ext cx="2667000" cy="1247775"/>
          </a:xfrm>
          <a:prstGeom prst="roundRect">
            <a:avLst>
              <a:gd name="adj" fmla="val 7634"/>
            </a:avLst>
          </a:prstGeom>
          <a:solidFill>
            <a:srgbClr val="E8EEFB"/>
          </a:solidFill>
          <a:ln/>
        </p:spPr>
        <p:txBody>
          <a:bodyPr/>
          <a:p/>
        </p:txBody>
      </p:sp>
      <p:sp>
        <p:nvSpPr>
          <p:cNvPr id="323" name="" descr="{&quot;isTemplate&quot;:true,&quot;type&quot;:&quot;text&quot;}"/>
          <p:cNvSpPr txBox="1"/>
          <p:nvPr/>
        </p:nvSpPr>
        <p:spPr>
          <a:xfrm rot="0" flipH="0" flipV="0">
            <a:off x="6229350" y="1905000"/>
            <a:ext cx="2400300" cy="3048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500" b="1">
                <a:solidFill>
                  <a:srgbClr val="1E293B"/>
                </a:solidFill>
                <a:latin typeface="Microsoft YaHei"/>
                <a:ea typeface="Microsoft YaHei"/>
              </a:rPr>
              <a:t>网页操作录成技能</a:t>
            </a:r>
            <a:endParaRPr/>
          </a:p>
        </p:txBody>
      </p:sp>
      <p:sp>
        <p:nvSpPr>
          <p:cNvPr id="324" name="" descr="{&quot;isTemplate&quot;:true,&quot;type&quot;:&quot;text&quot;}"/>
          <p:cNvSpPr txBox="1"/>
          <p:nvPr/>
        </p:nvSpPr>
        <p:spPr>
          <a:xfrm rot="0" flipH="0" flipV="0">
            <a:off x="6229350" y="2266950"/>
            <a:ext cx="240030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一次后台操作录制下来，之后批量回放，不再重复手工。</a:t>
            </a:r>
            <a:endParaRPr/>
          </a:p>
        </p:txBody>
      </p:sp>
      <p:sp>
        <p:nvSpPr>
          <p:cNvPr id="325" name=""/>
          <p:cNvSpPr/>
          <p:nvPr/>
        </p:nvSpPr>
        <p:spPr>
          <a:xfrm rot="0" flipH="0" flipV="0">
            <a:off x="3429000" y="3695700"/>
            <a:ext cx="2667000" cy="1247775"/>
          </a:xfrm>
          <a:prstGeom prst="roundRect">
            <a:avLst>
              <a:gd name="adj" fmla="val 7634"/>
            </a:avLst>
          </a:prstGeom>
          <a:solidFill>
            <a:srgbClr val="D6E4F9"/>
          </a:solidFill>
          <a:ln/>
        </p:spPr>
        <p:txBody>
          <a:bodyPr/>
          <a:p/>
        </p:txBody>
      </p:sp>
      <p:sp>
        <p:nvSpPr>
          <p:cNvPr id="326" name="" descr="{&quot;isTemplate&quot;:true,&quot;type&quot;:&quot;text&quot;}"/>
          <p:cNvSpPr txBox="1"/>
          <p:nvPr/>
        </p:nvSpPr>
        <p:spPr>
          <a:xfrm rot="0" flipH="0" flipV="0">
            <a:off x="3562350" y="3829050"/>
            <a:ext cx="2400300" cy="3048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500" b="1">
                <a:solidFill>
                  <a:srgbClr val="1E293B"/>
                </a:solidFill>
                <a:latin typeface="Microsoft YaHei"/>
                <a:ea typeface="Microsoft YaHei"/>
              </a:rPr>
              <a:t>数据看板与预警</a:t>
            </a:r>
            <a:endParaRPr/>
          </a:p>
        </p:txBody>
      </p:sp>
      <p:sp>
        <p:nvSpPr>
          <p:cNvPr id="327" name="" descr="{&quot;isTemplate&quot;:true,&quot;type&quot;:&quot;text&quot;}"/>
          <p:cNvSpPr txBox="1"/>
          <p:nvPr/>
        </p:nvSpPr>
        <p:spPr>
          <a:xfrm rot="0" flipH="0" flipV="0">
            <a:off x="3562350" y="4191000"/>
            <a:ext cx="240030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指标异常主动提醒，把「事后发现」变成「提前预警」。</a:t>
            </a:r>
            <a:endParaRPr/>
          </a:p>
        </p:txBody>
      </p:sp>
      <p:sp>
        <p:nvSpPr>
          <p:cNvPr id="328" name=""/>
          <p:cNvSpPr/>
          <p:nvPr/>
        </p:nvSpPr>
        <p:spPr>
          <a:xfrm rot="0" flipH="0" flipV="0">
            <a:off x="8763000" y="3695700"/>
            <a:ext cx="2667000" cy="1247775"/>
          </a:xfrm>
          <a:prstGeom prst="roundRect">
            <a:avLst>
              <a:gd name="adj" fmla="val 7634"/>
            </a:avLst>
          </a:prstGeom>
          <a:solidFill>
            <a:srgbClr val="FFF7E9"/>
          </a:solidFill>
          <a:ln/>
        </p:spPr>
        <p:txBody>
          <a:bodyPr/>
          <a:p/>
        </p:txBody>
      </p:sp>
      <p:sp>
        <p:nvSpPr>
          <p:cNvPr id="329" name="" descr="{&quot;isTemplate&quot;:true,&quot;type&quot;:&quot;text&quot;}"/>
          <p:cNvSpPr txBox="1"/>
          <p:nvPr/>
        </p:nvSpPr>
        <p:spPr>
          <a:xfrm rot="0" flipH="0" flipV="0">
            <a:off x="8896350" y="3829050"/>
            <a:ext cx="2400300" cy="3048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500" b="1">
                <a:solidFill>
                  <a:srgbClr val="1E293B"/>
                </a:solidFill>
                <a:latin typeface="Microsoft YaHei"/>
                <a:ea typeface="Microsoft YaHei"/>
              </a:rPr>
              <a:t>主动关怀推送</a:t>
            </a:r>
            <a:endParaRPr/>
          </a:p>
        </p:txBody>
      </p:sp>
      <p:sp>
        <p:nvSpPr>
          <p:cNvPr id="330" name="" descr="{&quot;isTemplate&quot;:true,&quot;type&quot;:&quot;text&quot;}"/>
          <p:cNvSpPr txBox="1"/>
          <p:nvPr/>
        </p:nvSpPr>
        <p:spPr>
          <a:xfrm rot="0" flipH="0" flipV="0">
            <a:off x="8896350" y="4191000"/>
            <a:ext cx="240030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续约、回款、保修到期前主动提醒，重要的事不再靠记性。</a:t>
            </a:r>
            <a:endParaRPr/>
          </a:p>
        </p:txBody>
      </p:sp>
    </p:spTree>
  </p:cSld>
</p:sld>
</file>

<file path=ppt/slides/slide21.xml><?xml version="1.0" encoding="utf-8"?>
<p:sld xmlns:p="http://schemas.openxmlformats.org/presentationml/2006/main" xmlns:a="http://schemas.openxmlformats.org/drawingml/2006/main">
  <p:cSld>
    <p:spTree>
      <p:nvGrpSpPr>
        <p:cNvPr id="331" name="" descr="&lt;Slide style={{ padding: 60, background: '#FFFFFF' }}&gt;&#10;    &lt;Box style={{ height: 600 }}&gt;&#10;        &lt;Box style={{ height: 20, flexDirection: 'row', justifyContent: 'space-between', alignItems: 'center' }}&gt;&#10;            &lt;Text style={{ fontSize: 14, color: '#94A3B8', letterSpacing: 2 }}&gt;02 · 业务怎么用&lt;/Text&gt;&#10;            &lt;Box style={{ width: 44, height: 4, borderRadius: 2, background: '#2563EB' }} /&gt;&#10;        &lt;/Box&gt;&#10;        &lt;Text style={{ fontSize: 34, fontWeight: 'bold', color: '#1E293B', marginTop: 16, lineHeight: 1.2 }}&gt;&#10;            场景三｜知识管理与新人赋能：经验不再锁在个人电脑里&#10;        &lt;/Text&gt;&#10;        &lt;Box style={{ height: 1, background: '#E2E8F0', marginTop: 16 }} /&gt;&#10;&#10;        {/* 对比式 */}&#10;        &lt;Box style={{ marginTop: 20, flexDirection: 'row', alignItems: 'stretch' }}&gt;&#10;            {/* 左：现在 */}&#10;            &lt;Box style={{ flex: 1, background: '#F4F6FB', borderRadius: 12, padding: 22 }}&gt;&#10;                &lt;Text style={{ fontSize: 22, fontWeight: '600', color: '#64748B', lineHeight: 1.3 }}&gt;现在的样子&lt;/Text&gt;&#10;                &lt;Box style={{ height: 1, background: '#E2E8F0', marginTop: 14 }} /&gt;&#10;                &lt;Box style={{ marginTop: 12, gap: 12 }}&gt;&#10;                    &lt;Box style={{ flexDirection: 'row' }}&gt;&#10;                        &lt;Box style={{ width: 10, height: 10, borderRadius: 5, background: '#94A3B8', marginRight: 12, marginTop: 8 }} /&gt;&#10;                        &lt;Text style={{ flex: 1, fontSize: 18, color: '#475569', lineHeight: 1.5 }}&gt;新人上手全靠问老同事，带教占用大量人力，遇到复杂问题还要等专家有空&lt;/Text&gt;&#10;                    &lt;/Box&gt;&#10;                    &lt;Box style={{ flexDirection: 'row' }}&gt;&#10;                        &lt;Box style={{ width: 10, height: 10, borderRadius: 5, background: '#94A3B8', marginRight: 12, marginTop: 8 }} /&gt;&#10;                        &lt;Text style={{ flex: 1, fontSize: 18, color: '#475569', lineHeight: 1.5 }}&gt;文档散落在个人电脑、聊天记录和邮箱里，要用的时候找不到、找不全&lt;/Text&gt;&#10;                    &lt;/Box&gt;&#10;                    &lt;Box style={{ flexDirection: 'row' }}&gt;&#10;                        &lt;Box style={{ width: 10, height: 10, borderRadius: 5, background: '#94A3B8', marginRight: 12, marginTop: 8 }} /&gt;&#10;                        &lt;Text style={{ flex: 1, fontSize: 18, color: '#475569', lineHeight: 1.5 }}&gt;同一件事不同人说法不一样，对外口径难统一，出了问题也难追溯来源&lt;/Text&gt;&#10;                    &lt;/Box&gt;&#10;                    &lt;Box style={{ flexDirection: 'row' }}&gt;&#10;                        &lt;Box style={{ width: 10, height: 10, borderRadius: 5, background: '#94A3B8', marginRight: 12, marginTop: 8 }} /&gt;&#10;                        &lt;Text style={{ flex: 1, fontSize: 18, color: '#475569', lineHeight: 1.5 }}&gt;老员工一离职，客户关系、业务经验、历史结论跟着走，接的人两眼一抹黑&lt;/Text&gt;&#10;                    &lt;/Box&gt;&#10;                &lt;/Box&gt;&#10;            &lt;/Box&gt;&#10;&#10;            {/* 中缝 VS */}&#10;            &lt;Box style={{ width: 64, justifyContent: 'center', alignItems: 'center' }}&gt;&#10;                &lt;Box style={{ width: 1, height: 130, background: '#E2E8F0' }} /&gt;&#10;                &lt;Box style={{ width: 44, height: 44, borderRadius: 22, background: '#F59E0B', justifyContent: 'center', alignItems: 'center', marginTop: -22 }}&gt;&#10;                    &lt;Text style={{ fontSize: 18, fontWeight: 'bold', color: '#FFFFFF' }}&gt;VS&lt;/Text&gt;&#10;                &lt;/Box&gt;&#10;                &lt;Box style={{ width: 1, height: 130, background: '#E2E8F0', marginTop: -22 }} /&gt;&#10;            &lt;/Box&gt;&#10;&#10;            {/* 右：用起来之后 */}&#10;            &lt;Box style={{ flex: 1, background: '#E8EEFB', borderRadius: 12, padding: 22 }}&gt;&#10;                &lt;Text style={{ fontSize: 22, fontWeight: '600', color: '#2563EB', lineHeight: 1.3 }}&gt;用起来之后&lt;/Text&gt;&#10;                &lt;Box style={{ height: 1, background: '#C7D6F5', marginTop: 14 }} /&gt;&#10;                &lt;Box style={{ marginTop: 12, gap: 12 }}&gt;&#10;                    &lt;Box style={{ flexDirection: 'row' }}&gt;&#10;                        &lt;Box style={{ width: 10, height: 10, borderRadius: 5, background: '#2563EB', marginRight: 12, marginTop: 8 }} /&gt;&#10;                        &lt;Text style={{ flex: 1, fontSize: 18, color: '#1E293B', lineHeight: 1.5 }}&gt;新人随时提问随时有答案，每个答案都带出处，可以点开原文核对，不怕答错&lt;/Text&gt;&#10;                    &lt;/Box&gt;&#10;                    &lt;Box style={{ flexDirection: 'row' }}&gt;&#10;                        &lt;Box style={{ width: 10, height: 10, borderRadius: 5, background: '#2563EB', marginRight: 12, marginTop: 8 }} /&gt;&#10;                        &lt;Text style={{ flex: 1, fontSize: 18, color: '#1E293B', lineHeight: 1.5 }}&gt;公司文档统一沉淀进知识库，按角色权限取用，找资料不再靠运气和人脉&lt;/Text&gt;&#10;                    &lt;/Box&gt;&#10;                    &lt;Box style={{ flexDirection: 'row' }}&gt;&#10;                        &lt;Box style={{ width: 10, height: 10, borderRadius: 5, background: '#2563EB', marginRight: 12, marginTop: 8 }} /&gt;&#10;                        &lt;Text style={{ flex: 1, fontSize: 18, color: '#1E293B', lineHeight: 1.5 }}&gt;同一份受控文档支撑所有回答，全公司口径一致，出了争议有据可查&lt;/Text&gt;&#10;                    &lt;/Box&gt;&#10;                    &lt;Box style={{ flexDirection: 'row' }}&gt;&#10;                        &lt;Box style={{ width: 10, height: 10, borderRadius: 5, background: '#2563EB', marginRight: 12, marginTop: 8 }} /&gt;&#10;                        &lt;Text style={{ flex: 1, fontSize: 18, color: '#1E293B', lineHeight: 1.5 }}&gt;关键结论与历史脉络由记忆留住，人员变动不影响业务连续性，交接更稳&lt;/Text&gt;&#10;                    &lt;/Box&gt;&#10;                &lt;/Box&gt;&#10;            &lt;/Box&gt;&#10;        &lt;/Box&gt;&#10;&#10;        {/* 结论条 */}&#10;        &lt;Box style={{ height: 56, background: '#FFF7E9', borderRadius: 10, padding: 14, marginTop: 10, justifyContent: 'center' }}&gt;&#10;            &lt;Text style={{ fontSize: 19, fontWeight: '600', color: '#7C2D12', lineHeight: 1.4 }}&gt;&#10;                知识管理的价值要到「新人也能答得像老人」那一天才算兑现——问答、出处、记忆三件事缺一不可。&#10;            &lt;/Text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33" name="" descr="{&quot;isTemplate&quot;:true,&quot;type&quot;:&quot;text&quot;}"/>
          <p:cNvSpPr txBox="1"/>
          <p:nvPr/>
        </p:nvSpPr>
        <p:spPr>
          <a:xfrm rot="0" flipH="0" flipV="0">
            <a:off x="571500" y="590550"/>
            <a:ext cx="1133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94A3B8"/>
                </a:solidFill>
                <a:latin typeface="Microsoft YaHei"/>
                <a:ea typeface="Microsoft YaHei"/>
              </a:rPr>
              <a:t xml:space="preserve">02 · </a:t>
            </a:r>
            <a:r>
              <a:rPr lang="zh-CN" sz="1050" spc="150">
                <a:solidFill>
                  <a:srgbClr val="94A3B8"/>
                </a:solidFill>
                <a:latin typeface="Microsoft YaHei"/>
                <a:ea typeface="Microsoft YaHei"/>
              </a:rPr>
              <a:t>业务怎么用</a:t>
            </a:r>
            <a:endParaRPr/>
          </a:p>
        </p:txBody>
      </p:sp>
      <p:sp>
        <p:nvSpPr>
          <p:cNvPr id="334" name=""/>
          <p:cNvSpPr/>
          <p:nvPr/>
        </p:nvSpPr>
        <p:spPr>
          <a:xfrm rot="0" flipH="0" flipV="0">
            <a:off x="11201400" y="647700"/>
            <a:ext cx="419100" cy="38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335" name="" descr="{&quot;isTemplate&quot;:true,&quot;type&quot;:&quot;text&quot;}"/>
          <p:cNvSpPr txBox="1"/>
          <p:nvPr/>
        </p:nvSpPr>
        <p:spPr>
          <a:xfrm rot="0" flipH="0" flipV="0">
            <a:off x="571500" y="914400"/>
            <a:ext cx="110490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E293B"/>
                </a:solidFill>
                <a:latin typeface="Microsoft YaHei"/>
                <a:ea typeface="Microsoft YaHei"/>
              </a:rPr>
              <a:t>场景三｜知识管理与新人赋能：经验不再锁在个人电脑里</a:t>
            </a:r>
            <a:endParaRPr/>
          </a:p>
        </p:txBody>
      </p:sp>
      <p:sp>
        <p:nvSpPr>
          <p:cNvPr id="336" name=""/>
          <p:cNvSpPr/>
          <p:nvPr/>
        </p:nvSpPr>
        <p:spPr>
          <a:xfrm rot="0" flipH="0" flipV="0">
            <a:off x="571500" y="1533525"/>
            <a:ext cx="1104900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337" name=""/>
          <p:cNvSpPr/>
          <p:nvPr/>
        </p:nvSpPr>
        <p:spPr>
          <a:xfrm rot="0" flipH="0" flipV="0">
            <a:off x="571500" y="1733550"/>
            <a:ext cx="5219700" cy="3829050"/>
          </a:xfrm>
          <a:prstGeom prst="roundRect">
            <a:avLst>
              <a:gd name="adj" fmla="val 2985"/>
            </a:avLst>
          </a:prstGeom>
          <a:solidFill>
            <a:srgbClr val="F4F6FB"/>
          </a:solidFill>
          <a:ln/>
        </p:spPr>
        <p:txBody>
          <a:bodyPr/>
          <a:p/>
        </p:txBody>
      </p:sp>
      <p:sp>
        <p:nvSpPr>
          <p:cNvPr id="338" name="" descr="{&quot;isTemplate&quot;:true,&quot;type&quot;:&quot;text&quot;}"/>
          <p:cNvSpPr txBox="1"/>
          <p:nvPr/>
        </p:nvSpPr>
        <p:spPr>
          <a:xfrm rot="0" flipH="0" flipV="0">
            <a:off x="781050" y="1943100"/>
            <a:ext cx="4800600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64748B"/>
                </a:solidFill>
                <a:latin typeface="Microsoft YaHei"/>
                <a:ea typeface="Microsoft YaHei"/>
              </a:rPr>
              <a:t>现在的样子</a:t>
            </a:r>
            <a:endParaRPr/>
          </a:p>
        </p:txBody>
      </p:sp>
      <p:sp>
        <p:nvSpPr>
          <p:cNvPr id="339" name=""/>
          <p:cNvSpPr/>
          <p:nvPr/>
        </p:nvSpPr>
        <p:spPr>
          <a:xfrm rot="0" flipH="0" flipV="0">
            <a:off x="781050" y="2409825"/>
            <a:ext cx="480060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340" name=""/>
          <p:cNvSpPr/>
          <p:nvPr/>
        </p:nvSpPr>
        <p:spPr>
          <a:xfrm rot="0" flipH="0" flipV="0">
            <a:off x="781050" y="26098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/>
        </p:spPr>
        <p:txBody>
          <a:bodyPr/>
          <a:p/>
        </p:txBody>
      </p:sp>
      <p:sp>
        <p:nvSpPr>
          <p:cNvPr id="341" name="" descr="{&quot;isTemplate&quot;:true,&quot;type&quot;:&quot;text&quot;}"/>
          <p:cNvSpPr txBox="1"/>
          <p:nvPr/>
        </p:nvSpPr>
        <p:spPr>
          <a:xfrm rot="0" flipH="0" flipV="0">
            <a:off x="990600" y="2533650"/>
            <a:ext cx="459105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新人上手全靠问老同事，带教占用大量人力，遇到复杂问题还要等专家有空</a:t>
            </a:r>
            <a:endParaRPr/>
          </a:p>
        </p:txBody>
      </p:sp>
      <p:sp>
        <p:nvSpPr>
          <p:cNvPr id="342" name=""/>
          <p:cNvSpPr/>
          <p:nvPr/>
        </p:nvSpPr>
        <p:spPr>
          <a:xfrm rot="0" flipH="0" flipV="0">
            <a:off x="781050" y="3343275"/>
            <a:ext cx="95250" cy="95250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/>
        </p:spPr>
        <p:txBody>
          <a:bodyPr/>
          <a:p/>
        </p:txBody>
      </p:sp>
      <p:sp>
        <p:nvSpPr>
          <p:cNvPr id="343" name="" descr="{&quot;isTemplate&quot;:true,&quot;type&quot;:&quot;text&quot;}"/>
          <p:cNvSpPr txBox="1"/>
          <p:nvPr/>
        </p:nvSpPr>
        <p:spPr>
          <a:xfrm rot="0" flipH="0" flipV="0">
            <a:off x="990600" y="3267075"/>
            <a:ext cx="459105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文档散落在个人电脑、聊天记录和邮箱里，要用的时候找不到、找不全</a:t>
            </a:r>
            <a:endParaRPr/>
          </a:p>
        </p:txBody>
      </p:sp>
      <p:sp>
        <p:nvSpPr>
          <p:cNvPr id="344" name=""/>
          <p:cNvSpPr/>
          <p:nvPr/>
        </p:nvSpPr>
        <p:spPr>
          <a:xfrm rot="0" flipH="0" flipV="0">
            <a:off x="781050" y="40767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/>
        </p:spPr>
        <p:txBody>
          <a:bodyPr/>
          <a:p/>
        </p:txBody>
      </p:sp>
      <p:sp>
        <p:nvSpPr>
          <p:cNvPr id="345" name="" descr="{&quot;isTemplate&quot;:true,&quot;type&quot;:&quot;text&quot;}"/>
          <p:cNvSpPr txBox="1"/>
          <p:nvPr/>
        </p:nvSpPr>
        <p:spPr>
          <a:xfrm rot="0" flipH="0" flipV="0">
            <a:off x="990600" y="4000500"/>
            <a:ext cx="459105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同一件事不同人说法不一样，对外口径难统一，出了问题也难追溯来源</a:t>
            </a:r>
            <a:endParaRPr/>
          </a:p>
        </p:txBody>
      </p:sp>
      <p:sp>
        <p:nvSpPr>
          <p:cNvPr id="346" name=""/>
          <p:cNvSpPr/>
          <p:nvPr/>
        </p:nvSpPr>
        <p:spPr>
          <a:xfrm rot="0" flipH="0" flipV="0">
            <a:off x="781050" y="4810125"/>
            <a:ext cx="95250" cy="95250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/>
        </p:spPr>
        <p:txBody>
          <a:bodyPr/>
          <a:p/>
        </p:txBody>
      </p:sp>
      <p:sp>
        <p:nvSpPr>
          <p:cNvPr id="347" name="" descr="{&quot;isTemplate&quot;:true,&quot;type&quot;:&quot;text&quot;}"/>
          <p:cNvSpPr txBox="1"/>
          <p:nvPr/>
        </p:nvSpPr>
        <p:spPr>
          <a:xfrm rot="0" flipH="0" flipV="0">
            <a:off x="990600" y="4733925"/>
            <a:ext cx="459105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老员工一离职，客户关系、业务经验、历史结论跟着走，接的人两眼一抹黑</a:t>
            </a:r>
            <a:endParaRPr/>
          </a:p>
        </p:txBody>
      </p:sp>
      <p:sp>
        <p:nvSpPr>
          <p:cNvPr id="348" name=""/>
          <p:cNvSpPr/>
          <p:nvPr/>
        </p:nvSpPr>
        <p:spPr>
          <a:xfrm rot="0" flipH="0" flipV="0">
            <a:off x="6096000" y="2409825"/>
            <a:ext cx="9525" cy="123825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349" name=""/>
          <p:cNvSpPr/>
          <p:nvPr/>
        </p:nvSpPr>
        <p:spPr>
          <a:xfrm rot="0" flipH="0" flipV="0">
            <a:off x="5886450" y="3438525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350" name="" descr="{&quot;isTemplate&quot;:true,&quot;type&quot;:&quot;text&quot;}"/>
          <p:cNvSpPr txBox="1"/>
          <p:nvPr/>
        </p:nvSpPr>
        <p:spPr>
          <a:xfrm rot="0" flipH="0" flipV="0">
            <a:off x="5981700" y="3543300"/>
            <a:ext cx="2286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VS</a:t>
            </a:r>
            <a:endParaRPr/>
          </a:p>
        </p:txBody>
      </p:sp>
      <p:sp>
        <p:nvSpPr>
          <p:cNvPr id="351" name=""/>
          <p:cNvSpPr/>
          <p:nvPr/>
        </p:nvSpPr>
        <p:spPr>
          <a:xfrm rot="0" flipH="0" flipV="0">
            <a:off x="6096000" y="3648075"/>
            <a:ext cx="9525" cy="123825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352" name=""/>
          <p:cNvSpPr/>
          <p:nvPr/>
        </p:nvSpPr>
        <p:spPr>
          <a:xfrm rot="0" flipH="0" flipV="0">
            <a:off x="6400800" y="1733550"/>
            <a:ext cx="5219700" cy="3829050"/>
          </a:xfrm>
          <a:prstGeom prst="roundRect">
            <a:avLst>
              <a:gd name="adj" fmla="val 2985"/>
            </a:avLst>
          </a:prstGeom>
          <a:solidFill>
            <a:srgbClr val="E8EEFB"/>
          </a:solidFill>
          <a:ln/>
        </p:spPr>
        <p:txBody>
          <a:bodyPr/>
          <a:p/>
        </p:txBody>
      </p:sp>
      <p:sp>
        <p:nvSpPr>
          <p:cNvPr id="353" name="" descr="{&quot;isTemplate&quot;:true,&quot;type&quot;:&quot;text&quot;}"/>
          <p:cNvSpPr txBox="1"/>
          <p:nvPr/>
        </p:nvSpPr>
        <p:spPr>
          <a:xfrm rot="0" flipH="0" flipV="0">
            <a:off x="6610350" y="1943100"/>
            <a:ext cx="4800600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2563EB"/>
                </a:solidFill>
                <a:latin typeface="Microsoft YaHei"/>
                <a:ea typeface="Microsoft YaHei"/>
              </a:rPr>
              <a:t>用起来之后</a:t>
            </a:r>
            <a:endParaRPr/>
          </a:p>
        </p:txBody>
      </p:sp>
      <p:sp>
        <p:nvSpPr>
          <p:cNvPr id="354" name=""/>
          <p:cNvSpPr/>
          <p:nvPr/>
        </p:nvSpPr>
        <p:spPr>
          <a:xfrm rot="0" flipH="0" flipV="0">
            <a:off x="6610350" y="2409825"/>
            <a:ext cx="4800600" cy="9525"/>
          </a:xfrm>
          <a:prstGeom prst="rect">
            <a:avLst/>
          </a:prstGeom>
          <a:solidFill>
            <a:srgbClr val="C7D6F5"/>
          </a:solidFill>
          <a:ln/>
        </p:spPr>
        <p:txBody>
          <a:bodyPr/>
          <a:p/>
        </p:txBody>
      </p:sp>
      <p:sp>
        <p:nvSpPr>
          <p:cNvPr id="355" name=""/>
          <p:cNvSpPr/>
          <p:nvPr/>
        </p:nvSpPr>
        <p:spPr>
          <a:xfrm rot="0" flipH="0" flipV="0">
            <a:off x="6610350" y="26098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356" name="" descr="{&quot;isTemplate&quot;:true,&quot;type&quot;:&quot;text&quot;}"/>
          <p:cNvSpPr txBox="1"/>
          <p:nvPr/>
        </p:nvSpPr>
        <p:spPr>
          <a:xfrm rot="0" flipH="0" flipV="0">
            <a:off x="6819900" y="2533650"/>
            <a:ext cx="459105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1E293B"/>
                </a:solidFill>
                <a:latin typeface="Microsoft YaHei"/>
                <a:ea typeface="Microsoft YaHei"/>
              </a:rPr>
              <a:t>新人随时提问随时有答案，每个答案都带出处，可以点开原文核对，不怕答错</a:t>
            </a:r>
            <a:endParaRPr/>
          </a:p>
        </p:txBody>
      </p:sp>
      <p:sp>
        <p:nvSpPr>
          <p:cNvPr id="357" name=""/>
          <p:cNvSpPr/>
          <p:nvPr/>
        </p:nvSpPr>
        <p:spPr>
          <a:xfrm rot="0" flipH="0" flipV="0">
            <a:off x="6610350" y="3343275"/>
            <a:ext cx="95250" cy="952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358" name="" descr="{&quot;isTemplate&quot;:true,&quot;type&quot;:&quot;text&quot;}"/>
          <p:cNvSpPr txBox="1"/>
          <p:nvPr/>
        </p:nvSpPr>
        <p:spPr>
          <a:xfrm rot="0" flipH="0" flipV="0">
            <a:off x="6819900" y="3267075"/>
            <a:ext cx="459105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1E293B"/>
                </a:solidFill>
                <a:latin typeface="Microsoft YaHei"/>
                <a:ea typeface="Microsoft YaHei"/>
              </a:rPr>
              <a:t>公司文档统一沉淀进知识库，按角色权限取用，找资料不再靠运气和人脉</a:t>
            </a:r>
            <a:endParaRPr/>
          </a:p>
        </p:txBody>
      </p:sp>
      <p:sp>
        <p:nvSpPr>
          <p:cNvPr id="359" name=""/>
          <p:cNvSpPr/>
          <p:nvPr/>
        </p:nvSpPr>
        <p:spPr>
          <a:xfrm rot="0" flipH="0" flipV="0">
            <a:off x="6610350" y="40767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360" name="" descr="{&quot;isTemplate&quot;:true,&quot;type&quot;:&quot;text&quot;}"/>
          <p:cNvSpPr txBox="1"/>
          <p:nvPr/>
        </p:nvSpPr>
        <p:spPr>
          <a:xfrm rot="0" flipH="0" flipV="0">
            <a:off x="6819900" y="4000500"/>
            <a:ext cx="459105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1E293B"/>
                </a:solidFill>
                <a:latin typeface="Microsoft YaHei"/>
                <a:ea typeface="Microsoft YaHei"/>
              </a:rPr>
              <a:t>同一份受控文档支撑所有回答，全公司口径一致，出了争议有据可查</a:t>
            </a:r>
            <a:endParaRPr/>
          </a:p>
        </p:txBody>
      </p:sp>
      <p:sp>
        <p:nvSpPr>
          <p:cNvPr id="361" name=""/>
          <p:cNvSpPr/>
          <p:nvPr/>
        </p:nvSpPr>
        <p:spPr>
          <a:xfrm rot="0" flipH="0" flipV="0">
            <a:off x="6610350" y="4810125"/>
            <a:ext cx="95250" cy="952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362" name="" descr="{&quot;isTemplate&quot;:true,&quot;type&quot;:&quot;text&quot;}"/>
          <p:cNvSpPr txBox="1"/>
          <p:nvPr/>
        </p:nvSpPr>
        <p:spPr>
          <a:xfrm rot="0" flipH="0" flipV="0">
            <a:off x="6819900" y="4733925"/>
            <a:ext cx="459105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1E293B"/>
                </a:solidFill>
                <a:latin typeface="Microsoft YaHei"/>
                <a:ea typeface="Microsoft YaHei"/>
              </a:rPr>
              <a:t>关键结论与历史脉络由记忆留住，人员变动不影响业务连续性，交接更稳</a:t>
            </a:r>
            <a:endParaRPr/>
          </a:p>
        </p:txBody>
      </p:sp>
      <p:sp>
        <p:nvSpPr>
          <p:cNvPr id="363" name=""/>
          <p:cNvSpPr/>
          <p:nvPr/>
        </p:nvSpPr>
        <p:spPr>
          <a:xfrm rot="0" flipH="0" flipV="0">
            <a:off x="571500" y="5657850"/>
            <a:ext cx="11049000" cy="533400"/>
          </a:xfrm>
          <a:prstGeom prst="roundRect">
            <a:avLst>
              <a:gd name="adj" fmla="val 17857"/>
            </a:avLst>
          </a:prstGeom>
          <a:solidFill>
            <a:srgbClr val="FFF7E9"/>
          </a:solidFill>
          <a:ln/>
        </p:spPr>
        <p:txBody>
          <a:bodyPr/>
          <a:p/>
        </p:txBody>
      </p:sp>
      <p:sp>
        <p:nvSpPr>
          <p:cNvPr id="364" name="" descr="{&quot;isTemplate&quot;:true,&quot;type&quot;:&quot;text&quot;}"/>
          <p:cNvSpPr txBox="1"/>
          <p:nvPr/>
        </p:nvSpPr>
        <p:spPr>
          <a:xfrm rot="0" flipH="0" flipV="0">
            <a:off x="704850" y="5772150"/>
            <a:ext cx="10782300" cy="3048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425" b="1">
                <a:solidFill>
                  <a:srgbClr val="7C2D12"/>
                </a:solidFill>
                <a:latin typeface="Microsoft YaHei"/>
                <a:ea typeface="Microsoft YaHei"/>
              </a:rPr>
              <a:t>知识管理的价值要到「新人也能答得像老人」那一天才算兑现——问答、出处、记忆三件事缺一不可。</a:t>
            </a:r>
            <a:endParaRPr/>
          </a:p>
        </p:txBody>
      </p:sp>
    </p:spTree>
  </p:cSld>
</p:sld>
</file>

<file path=ppt/slides/slide22.xml><?xml version="1.0" encoding="utf-8"?>
<p:sld xmlns:p="http://schemas.openxmlformats.org/presentationml/2006/main" xmlns:a="http://schemas.openxmlformats.org/drawingml/2006/main">
  <p:cSld>
    <p:spTree>
      <p:nvGrpSpPr>
        <p:cNvPr id="365" name="" descr="&lt;Slide style={{ padding: 60, background: '#FFFFFF' }}&gt;&#10;    &lt;Box style={{ height: 600 }}&gt;&#10;        &lt;Box style={{ height: 20, flexDirection: 'row', justifyContent: 'space-between', alignItems: 'center' }}&gt;&#10;            &lt;Text style={{ fontSize: 14, color: '#94A3B8', letterSpacing: 2 }}&gt;02 · 业务怎么用&lt;/Text&gt;&#10;            &lt;Box style={{ width: 44, height: 4, borderRadius: 2, background: '#2563EB' }} /&gt;&#10;        &lt;/Box&gt;&#10;        &lt;Text style={{ fontSize: 34, fontWeight: 'bold', color: '#1E293B', marginTop: 16, lineHeight: 1.2 }}&gt;&#10;            场景四｜给每个岗位配一个专业助理&#10;        &lt;/Text&gt;&#10;        &lt;Box style={{ height: 1, background: '#E2E8F0', marginTop: 16 }} /&gt;&#10;&#10;        &lt;Box style={{ flex: 1, marginTop: 20, flexDirection: 'row', gap: 32 }}&gt;&#10;            {/* 左：巨型数字 */}&#10;            &lt;Box style={{ width: 420, justifyContent: 'center' }}&gt;&#10;                &lt;Text style={{ fontSize: 120, fontWeight: 'bold', color: '#F59E0B', lineHeight: 1.0 }}&gt;33&lt;/Text&gt;&#10;                &lt;Text style={{ fontSize: 24, fontWeight: '600', color: '#1E293B', marginTop: 8 }}&gt;个开箱即用的岗位专家&lt;/Text&gt;&#10;                &lt;Text style={{ fontSize: 18, color: '#475569', lineHeight: 1.55, marginTop: 12 }}&gt;&#10;                    覆盖研发、数据、运维、安全、法务、人力、市场、财务等职能——装好即可上岗，不是空白对话框。&#10;                &lt;/Text&gt;&#10;                &lt;Box style={{ flexDirection: 'row', gap: 8, marginTop: 16 }}&gt;&#10;                    &lt;Box style={{ background: '#E8EEFB', borderRadius: 6, padding: 8 }}&gt;&lt;Text style={{ fontSize: 16, color: '#1E293B' }}&gt;法务助理&lt;/Text&gt;&lt;/Box&gt;&#10;                    &lt;Box style={{ background: '#E8EEFB', borderRadius: 6, padding: 8 }}&gt;&lt;Text style={{ fontSize: 16, color: '#1E293B' }}&gt;人力招聘官&lt;/Text&gt;&lt;/Box&gt;&#10;                    &lt;Box style={{ background: '#E8EEFB', borderRadius: 6, padding: 8 }}&gt;&lt;Text style={{ fontSize: 16, color: '#1E293B' }}&gt;数据分析师&lt;/Text&gt;&lt;/Box&gt;&#10;                &lt;/Box&gt;&#10;                &lt;Box style={{ flexDirection: 'row', gap: 8, marginTop: 8 }}&gt;&#10;                    &lt;Box style={{ background: '#E8EEFB', borderRadius: 6, padding: 8 }}&gt;&lt;Text style={{ fontSize: 16, color: '#1E293B' }}&gt;项目经理&lt;/Text&gt;&lt;/Box&gt;&#10;                    &lt;Box style={{ background: '#E8EEFB', borderRadius: 6, padding: 8 }}&gt;&lt;Text style={{ fontSize: 16, color: '#1E293B' }}&gt;安全顾问&lt;/Text&gt;&lt;/Box&gt;&#10;                    &lt;Box style={{ background: '#FFF7E9', borderRadius: 6, padding: 8 }}&gt;&lt;Text style={{ fontSize: 16, color: '#B45309' }}&gt;更多岗位…&lt;/Text&gt;&lt;/Box&gt;&#10;                &lt;/Box&gt;&#10;            &lt;/Box&gt;&#10;&#10;            {/* 右：三条要点 */}&#10;            &lt;Box style={{ flex: 1, gap: 12 }}&gt;&#10;                &lt;Box style={{ height: 126, background: '#F4F6FB', borderRadius: 12, padding: 18 }}&gt;&#10;                    &lt;Text style={{ fontSize: 22, fontWeight: '600', color: '#1E293B', lineHeight: 1.3 }}&gt;自带专业设定，微调即可上岗&lt;/Text&gt;&#10;                    &lt;Text style={{ fontSize: 18, color: '#475569', lineHeight: 1.5, marginTop: 6 }}&gt;&#10;                        每个专家预置岗位职责、专业知识与表达风格，业务部门调整几句就能用起来。&#10;                    &lt;/Text&gt;&#10;                &lt;/Box&gt;&#10;                &lt;Box style={{ height: 126, background: '#F4F6FB', borderRadius: 12, padding: 18 }}&gt;&#10;                    &lt;Text style={{ fontSize: 22, fontWeight: '600', color: '#1E293B', lineHeight: 1.3 }}&gt;一人配好，全公司共享&lt;/Text&gt;&#10;                    &lt;Text style={{ fontSize: 18, color: '#475569', lineHeight: 1.5, marginTop: 6 }}&gt;&#10;                        专家可以发布共享：一个部门沉淀的岗位定义，其他部门直接取用、各自微调。&#10;                    &lt;/Text&gt;&#10;                &lt;/Box&gt;&#10;                &lt;Box style={{ height: 126, background: '#F4F6FB', borderRadius: 12, padding: 18 }}&gt;&#10;                    &lt;Text style={{ fontSize: 22, fontWeight: '600', color: '#1E293B', lineHeight: 1.3 }}&gt;资产留在公司，不随人走&lt;/Text&gt;&#10;                    &lt;Text style={{ fontSize: 18, color: '#475569', lineHeight: 1.5, marginTop: 6 }}&gt;&#10;                        岗位专家、技能、记忆都存放在公司自己的平台上——人员流动，能力沉淀。&#10;                    &lt;/Text&gt;&#10;                &lt;/Box&gt;&#10;            &lt;/Box&gt;&#10;        &lt;/Box&gt;&#10;&#10;        {/* 结论条 */}&#10;        &lt;Box style={{ height: 58, background: '#E8EEFB', borderRadius: 10, padding: 14, marginTop: 10, justifyContent: 'center' }}&gt;&#10;            &lt;Text style={{ fontSize: 19, fontWeight: '600', color: '#1E293B', lineHeight: 1.4 }}&gt;&#10;                业务部门自己就能沉淀岗位资产，不必每次都找工程师改提示词——这是「陪企业成长」的具体含义。&#10;            &lt;/Text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67" name="" descr="{&quot;isTemplate&quot;:true,&quot;type&quot;:&quot;text&quot;}"/>
          <p:cNvSpPr txBox="1"/>
          <p:nvPr/>
        </p:nvSpPr>
        <p:spPr>
          <a:xfrm rot="0" flipH="0" flipV="0">
            <a:off x="571500" y="590550"/>
            <a:ext cx="1133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94A3B8"/>
                </a:solidFill>
                <a:latin typeface="Microsoft YaHei"/>
                <a:ea typeface="Microsoft YaHei"/>
              </a:rPr>
              <a:t xml:space="preserve">02 · </a:t>
            </a:r>
            <a:r>
              <a:rPr lang="zh-CN" sz="1050" spc="150">
                <a:solidFill>
                  <a:srgbClr val="94A3B8"/>
                </a:solidFill>
                <a:latin typeface="Microsoft YaHei"/>
                <a:ea typeface="Microsoft YaHei"/>
              </a:rPr>
              <a:t>业务怎么用</a:t>
            </a:r>
            <a:endParaRPr/>
          </a:p>
        </p:txBody>
      </p:sp>
      <p:sp>
        <p:nvSpPr>
          <p:cNvPr id="368" name=""/>
          <p:cNvSpPr/>
          <p:nvPr/>
        </p:nvSpPr>
        <p:spPr>
          <a:xfrm rot="0" flipH="0" flipV="0">
            <a:off x="11201400" y="647700"/>
            <a:ext cx="419100" cy="38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369" name="" descr="{&quot;isTemplate&quot;:true,&quot;type&quot;:&quot;text&quot;}"/>
          <p:cNvSpPr txBox="1"/>
          <p:nvPr/>
        </p:nvSpPr>
        <p:spPr>
          <a:xfrm rot="0" flipH="0" flipV="0">
            <a:off x="571500" y="914400"/>
            <a:ext cx="110490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E293B"/>
                </a:solidFill>
                <a:latin typeface="Microsoft YaHei"/>
                <a:ea typeface="Microsoft YaHei"/>
              </a:rPr>
              <a:t>场景四｜给每个岗位配一个专业助理</a:t>
            </a:r>
            <a:endParaRPr/>
          </a:p>
        </p:txBody>
      </p:sp>
      <p:sp>
        <p:nvSpPr>
          <p:cNvPr id="370" name=""/>
          <p:cNvSpPr/>
          <p:nvPr/>
        </p:nvSpPr>
        <p:spPr>
          <a:xfrm rot="0" flipH="0" flipV="0">
            <a:off x="571500" y="1533525"/>
            <a:ext cx="1104900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371" name="" descr="{&quot;isTemplate&quot;:true,&quot;type&quot;:&quot;text&quot;}"/>
          <p:cNvSpPr txBox="1"/>
          <p:nvPr/>
        </p:nvSpPr>
        <p:spPr>
          <a:xfrm rot="0" flipH="0" flipV="0">
            <a:off x="571500" y="1990725"/>
            <a:ext cx="4000500" cy="1371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0" b="1">
                <a:solidFill>
                  <a:srgbClr val="F59E0B"/>
                </a:solidFill>
                <a:latin typeface="Microsoft YaHei"/>
                <a:ea typeface="Microsoft YaHei"/>
              </a:rPr>
              <a:t>33</a:t>
            </a:r>
            <a:endParaRPr/>
          </a:p>
        </p:txBody>
      </p:sp>
      <p:sp>
        <p:nvSpPr>
          <p:cNvPr id="372" name="" descr="{&quot;isTemplate&quot;:true,&quot;type&quot;:&quot;text&quot;}"/>
          <p:cNvSpPr txBox="1"/>
          <p:nvPr/>
        </p:nvSpPr>
        <p:spPr>
          <a:xfrm rot="0" flipH="0" flipV="0">
            <a:off x="571500" y="3438525"/>
            <a:ext cx="40005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E293B"/>
                </a:solidFill>
                <a:latin typeface="Microsoft YaHei"/>
                <a:ea typeface="Microsoft YaHei"/>
              </a:rPr>
              <a:t>个开箱即用的岗位专家</a:t>
            </a:r>
            <a:endParaRPr/>
          </a:p>
        </p:txBody>
      </p:sp>
      <p:sp>
        <p:nvSpPr>
          <p:cNvPr id="373" name="" descr="{&quot;isTemplate&quot;:true,&quot;type&quot;:&quot;text&quot;}"/>
          <p:cNvSpPr txBox="1"/>
          <p:nvPr/>
        </p:nvSpPr>
        <p:spPr>
          <a:xfrm rot="0" flipH="0" flipV="0">
            <a:off x="571500" y="3829050"/>
            <a:ext cx="4000500" cy="638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覆盖研发、数据、运维、安全、法务、人力、市场、财务等职能——装好即可上岗，不是空白对话框。</a:t>
            </a:r>
            <a:endParaRPr/>
          </a:p>
        </p:txBody>
      </p:sp>
      <p:sp>
        <p:nvSpPr>
          <p:cNvPr id="374" name=""/>
          <p:cNvSpPr/>
          <p:nvPr/>
        </p:nvSpPr>
        <p:spPr>
          <a:xfrm rot="0" flipH="0" flipV="0">
            <a:off x="571500" y="4619625"/>
            <a:ext cx="762000" cy="342900"/>
          </a:xfrm>
          <a:prstGeom prst="roundRect">
            <a:avLst>
              <a:gd name="adj" fmla="val 16667"/>
            </a:avLst>
          </a:prstGeom>
          <a:solidFill>
            <a:srgbClr val="E8EEFB"/>
          </a:solidFill>
          <a:ln/>
        </p:spPr>
        <p:txBody>
          <a:bodyPr/>
          <a:p/>
        </p:txBody>
      </p:sp>
      <p:sp>
        <p:nvSpPr>
          <p:cNvPr id="375" name="" descr="{&quot;isTemplate&quot;:true,&quot;type&quot;:&quot;text&quot;}"/>
          <p:cNvSpPr txBox="1"/>
          <p:nvPr/>
        </p:nvSpPr>
        <p:spPr>
          <a:xfrm rot="0" flipH="0" flipV="0">
            <a:off x="647700" y="4695825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E293B"/>
                </a:solidFill>
                <a:latin typeface="Microsoft YaHei"/>
                <a:ea typeface="Microsoft YaHei"/>
              </a:rPr>
              <a:t>法务助理</a:t>
            </a:r>
            <a:endParaRPr/>
          </a:p>
        </p:txBody>
      </p:sp>
      <p:sp>
        <p:nvSpPr>
          <p:cNvPr id="376" name=""/>
          <p:cNvSpPr/>
          <p:nvPr/>
        </p:nvSpPr>
        <p:spPr>
          <a:xfrm rot="0" flipH="0" flipV="0">
            <a:off x="1409700" y="4619625"/>
            <a:ext cx="914400" cy="342900"/>
          </a:xfrm>
          <a:prstGeom prst="roundRect">
            <a:avLst>
              <a:gd name="adj" fmla="val 16667"/>
            </a:avLst>
          </a:prstGeom>
          <a:solidFill>
            <a:srgbClr val="E8EEFB"/>
          </a:solidFill>
          <a:ln/>
        </p:spPr>
        <p:txBody>
          <a:bodyPr/>
          <a:p/>
        </p:txBody>
      </p:sp>
      <p:sp>
        <p:nvSpPr>
          <p:cNvPr id="377" name="" descr="{&quot;isTemplate&quot;:true,&quot;type&quot;:&quot;text&quot;}"/>
          <p:cNvSpPr txBox="1"/>
          <p:nvPr/>
        </p:nvSpPr>
        <p:spPr>
          <a:xfrm rot="0" flipH="0" flipV="0">
            <a:off x="1485900" y="4695825"/>
            <a:ext cx="762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E293B"/>
                </a:solidFill>
                <a:latin typeface="Microsoft YaHei"/>
                <a:ea typeface="Microsoft YaHei"/>
              </a:rPr>
              <a:t>人力招聘官</a:t>
            </a:r>
            <a:endParaRPr/>
          </a:p>
        </p:txBody>
      </p:sp>
      <p:sp>
        <p:nvSpPr>
          <p:cNvPr id="378" name=""/>
          <p:cNvSpPr/>
          <p:nvPr/>
        </p:nvSpPr>
        <p:spPr>
          <a:xfrm rot="0" flipH="0" flipV="0">
            <a:off x="2400300" y="4619625"/>
            <a:ext cx="914400" cy="342900"/>
          </a:xfrm>
          <a:prstGeom prst="roundRect">
            <a:avLst>
              <a:gd name="adj" fmla="val 16667"/>
            </a:avLst>
          </a:prstGeom>
          <a:solidFill>
            <a:srgbClr val="E8EEFB"/>
          </a:solidFill>
          <a:ln/>
        </p:spPr>
        <p:txBody>
          <a:bodyPr/>
          <a:p/>
        </p:txBody>
      </p:sp>
      <p:sp>
        <p:nvSpPr>
          <p:cNvPr id="379" name="" descr="{&quot;isTemplate&quot;:true,&quot;type&quot;:&quot;text&quot;}"/>
          <p:cNvSpPr txBox="1"/>
          <p:nvPr/>
        </p:nvSpPr>
        <p:spPr>
          <a:xfrm rot="0" flipH="0" flipV="0">
            <a:off x="2476500" y="4695825"/>
            <a:ext cx="762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E293B"/>
                </a:solidFill>
                <a:latin typeface="Microsoft YaHei"/>
                <a:ea typeface="Microsoft YaHei"/>
              </a:rPr>
              <a:t>数据分析师</a:t>
            </a:r>
            <a:endParaRPr/>
          </a:p>
        </p:txBody>
      </p:sp>
      <p:sp>
        <p:nvSpPr>
          <p:cNvPr id="380" name=""/>
          <p:cNvSpPr/>
          <p:nvPr/>
        </p:nvSpPr>
        <p:spPr>
          <a:xfrm rot="0" flipH="0" flipV="0">
            <a:off x="571500" y="5038725"/>
            <a:ext cx="762000" cy="342900"/>
          </a:xfrm>
          <a:prstGeom prst="roundRect">
            <a:avLst>
              <a:gd name="adj" fmla="val 16667"/>
            </a:avLst>
          </a:prstGeom>
          <a:solidFill>
            <a:srgbClr val="E8EEFB"/>
          </a:solidFill>
          <a:ln/>
        </p:spPr>
        <p:txBody>
          <a:bodyPr/>
          <a:p/>
        </p:txBody>
      </p:sp>
      <p:sp>
        <p:nvSpPr>
          <p:cNvPr id="381" name="" descr="{&quot;isTemplate&quot;:true,&quot;type&quot;:&quot;text&quot;}"/>
          <p:cNvSpPr txBox="1"/>
          <p:nvPr/>
        </p:nvSpPr>
        <p:spPr>
          <a:xfrm rot="0" flipH="0" flipV="0">
            <a:off x="647700" y="5114925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E293B"/>
                </a:solidFill>
                <a:latin typeface="Microsoft YaHei"/>
                <a:ea typeface="Microsoft YaHei"/>
              </a:rPr>
              <a:t>项目经理</a:t>
            </a:r>
            <a:endParaRPr/>
          </a:p>
        </p:txBody>
      </p:sp>
      <p:sp>
        <p:nvSpPr>
          <p:cNvPr id="382" name=""/>
          <p:cNvSpPr/>
          <p:nvPr/>
        </p:nvSpPr>
        <p:spPr>
          <a:xfrm rot="0" flipH="0" flipV="0">
            <a:off x="1409700" y="5038725"/>
            <a:ext cx="762000" cy="342900"/>
          </a:xfrm>
          <a:prstGeom prst="roundRect">
            <a:avLst>
              <a:gd name="adj" fmla="val 16667"/>
            </a:avLst>
          </a:prstGeom>
          <a:solidFill>
            <a:srgbClr val="E8EEFB"/>
          </a:solidFill>
          <a:ln/>
        </p:spPr>
        <p:txBody>
          <a:bodyPr/>
          <a:p/>
        </p:txBody>
      </p:sp>
      <p:sp>
        <p:nvSpPr>
          <p:cNvPr id="383" name="" descr="{&quot;isTemplate&quot;:true,&quot;type&quot;:&quot;text&quot;}"/>
          <p:cNvSpPr txBox="1"/>
          <p:nvPr/>
        </p:nvSpPr>
        <p:spPr>
          <a:xfrm rot="0" flipH="0" flipV="0">
            <a:off x="1485900" y="5114925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E293B"/>
                </a:solidFill>
                <a:latin typeface="Microsoft YaHei"/>
                <a:ea typeface="Microsoft YaHei"/>
              </a:rPr>
              <a:t>安全顾问</a:t>
            </a:r>
            <a:endParaRPr/>
          </a:p>
        </p:txBody>
      </p:sp>
      <p:sp>
        <p:nvSpPr>
          <p:cNvPr id="384" name=""/>
          <p:cNvSpPr/>
          <p:nvPr/>
        </p:nvSpPr>
        <p:spPr>
          <a:xfrm rot="0" flipH="0" flipV="0">
            <a:off x="2247900" y="5038725"/>
            <a:ext cx="895350" cy="342900"/>
          </a:xfrm>
          <a:prstGeom prst="roundRect">
            <a:avLst>
              <a:gd name="adj" fmla="val 16667"/>
            </a:avLst>
          </a:prstGeom>
          <a:solidFill>
            <a:srgbClr val="FFF7E9"/>
          </a:solidFill>
          <a:ln/>
        </p:spPr>
        <p:txBody>
          <a:bodyPr/>
          <a:p/>
        </p:txBody>
      </p:sp>
      <p:sp>
        <p:nvSpPr>
          <p:cNvPr id="385" name="" descr="{&quot;isTemplate&quot;:true,&quot;type&quot;:&quot;text&quot;}"/>
          <p:cNvSpPr txBox="1"/>
          <p:nvPr/>
        </p:nvSpPr>
        <p:spPr>
          <a:xfrm rot="0" flipH="0" flipV="0">
            <a:off x="2324100" y="5114925"/>
            <a:ext cx="7429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B45309"/>
                </a:solidFill>
                <a:latin typeface="Microsoft YaHei"/>
                <a:ea typeface="Microsoft YaHei"/>
              </a:rPr>
              <a:t>更多岗位…</a:t>
            </a:r>
            <a:endParaRPr/>
          </a:p>
        </p:txBody>
      </p:sp>
      <p:sp>
        <p:nvSpPr>
          <p:cNvPr id="386" name=""/>
          <p:cNvSpPr/>
          <p:nvPr/>
        </p:nvSpPr>
        <p:spPr>
          <a:xfrm rot="0" flipH="0" flipV="0">
            <a:off x="4876800" y="1733550"/>
            <a:ext cx="6743700" cy="1200150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  <p:txBody>
          <a:bodyPr/>
          <a:p/>
        </p:txBody>
      </p:sp>
      <p:sp>
        <p:nvSpPr>
          <p:cNvPr id="387" name="" descr="{&quot;isTemplate&quot;:true,&quot;type&quot;:&quot;text&quot;}"/>
          <p:cNvSpPr txBox="1"/>
          <p:nvPr/>
        </p:nvSpPr>
        <p:spPr>
          <a:xfrm rot="0" flipH="0" flipV="0">
            <a:off x="5048250" y="1905000"/>
            <a:ext cx="6400800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1E293B"/>
                </a:solidFill>
                <a:latin typeface="Microsoft YaHei"/>
                <a:ea typeface="Microsoft YaHei"/>
              </a:rPr>
              <a:t>自带专业设定，微调即可上岗</a:t>
            </a:r>
            <a:endParaRPr/>
          </a:p>
        </p:txBody>
      </p:sp>
      <p:sp>
        <p:nvSpPr>
          <p:cNvPr id="388" name="" descr="{&quot;isTemplate&quot;:true,&quot;type&quot;:&quot;text&quot;}"/>
          <p:cNvSpPr txBox="1"/>
          <p:nvPr/>
        </p:nvSpPr>
        <p:spPr>
          <a:xfrm rot="0" flipH="0" flipV="0">
            <a:off x="5048250" y="2295525"/>
            <a:ext cx="64008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每个专家预置岗位职责、专业知识与表达风格，业务部门调整几句就能用起来。</a:t>
            </a:r>
            <a:endParaRPr/>
          </a:p>
        </p:txBody>
      </p:sp>
      <p:sp>
        <p:nvSpPr>
          <p:cNvPr id="389" name=""/>
          <p:cNvSpPr/>
          <p:nvPr/>
        </p:nvSpPr>
        <p:spPr>
          <a:xfrm rot="0" flipH="0" flipV="0">
            <a:off x="4876800" y="3048000"/>
            <a:ext cx="6743700" cy="1200150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  <p:txBody>
          <a:bodyPr/>
          <a:p/>
        </p:txBody>
      </p:sp>
      <p:sp>
        <p:nvSpPr>
          <p:cNvPr id="390" name="" descr="{&quot;isTemplate&quot;:true,&quot;type&quot;:&quot;text&quot;}"/>
          <p:cNvSpPr txBox="1"/>
          <p:nvPr/>
        </p:nvSpPr>
        <p:spPr>
          <a:xfrm rot="0" flipH="0" flipV="0">
            <a:off x="5048250" y="3219450"/>
            <a:ext cx="6400800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1E293B"/>
                </a:solidFill>
                <a:latin typeface="Microsoft YaHei"/>
                <a:ea typeface="Microsoft YaHei"/>
              </a:rPr>
              <a:t>一人配好，全公司共享</a:t>
            </a:r>
            <a:endParaRPr/>
          </a:p>
        </p:txBody>
      </p:sp>
      <p:sp>
        <p:nvSpPr>
          <p:cNvPr id="391" name="" descr="{&quot;isTemplate&quot;:true,&quot;type&quot;:&quot;text&quot;}"/>
          <p:cNvSpPr txBox="1"/>
          <p:nvPr/>
        </p:nvSpPr>
        <p:spPr>
          <a:xfrm rot="0" flipH="0" flipV="0">
            <a:off x="5048250" y="3609975"/>
            <a:ext cx="64008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专家可以发布共享：一个部门沉淀的岗位定义，其他部门直接取用、各自微调。</a:t>
            </a:r>
            <a:endParaRPr/>
          </a:p>
        </p:txBody>
      </p:sp>
      <p:sp>
        <p:nvSpPr>
          <p:cNvPr id="392" name=""/>
          <p:cNvSpPr/>
          <p:nvPr/>
        </p:nvSpPr>
        <p:spPr>
          <a:xfrm rot="0" flipH="0" flipV="0">
            <a:off x="4876800" y="4362450"/>
            <a:ext cx="6743700" cy="1200150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  <p:txBody>
          <a:bodyPr/>
          <a:p/>
        </p:txBody>
      </p:sp>
      <p:sp>
        <p:nvSpPr>
          <p:cNvPr id="393" name="" descr="{&quot;isTemplate&quot;:true,&quot;type&quot;:&quot;text&quot;}"/>
          <p:cNvSpPr txBox="1"/>
          <p:nvPr/>
        </p:nvSpPr>
        <p:spPr>
          <a:xfrm rot="0" flipH="0" flipV="0">
            <a:off x="5048250" y="4533900"/>
            <a:ext cx="6400800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1E293B"/>
                </a:solidFill>
                <a:latin typeface="Microsoft YaHei"/>
                <a:ea typeface="Microsoft YaHei"/>
              </a:rPr>
              <a:t>资产留在公司，不随人走</a:t>
            </a:r>
            <a:endParaRPr/>
          </a:p>
        </p:txBody>
      </p:sp>
      <p:sp>
        <p:nvSpPr>
          <p:cNvPr id="394" name="" descr="{&quot;isTemplate&quot;:true,&quot;type&quot;:&quot;text&quot;}"/>
          <p:cNvSpPr txBox="1"/>
          <p:nvPr/>
        </p:nvSpPr>
        <p:spPr>
          <a:xfrm rot="0" flipH="0" flipV="0">
            <a:off x="5048250" y="4924425"/>
            <a:ext cx="64008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岗位专家、技能、记忆都存放在公司自己的平台上——人员流动，能力沉淀。</a:t>
            </a:r>
            <a:endParaRPr/>
          </a:p>
        </p:txBody>
      </p:sp>
      <p:sp>
        <p:nvSpPr>
          <p:cNvPr id="395" name=""/>
          <p:cNvSpPr/>
          <p:nvPr/>
        </p:nvSpPr>
        <p:spPr>
          <a:xfrm rot="0" flipH="0" flipV="0">
            <a:off x="571500" y="5734050"/>
            <a:ext cx="11049000" cy="552450"/>
          </a:xfrm>
          <a:prstGeom prst="roundRect">
            <a:avLst>
              <a:gd name="adj" fmla="val 17241"/>
            </a:avLst>
          </a:prstGeom>
          <a:solidFill>
            <a:srgbClr val="E8EEFB"/>
          </a:solidFill>
          <a:ln/>
        </p:spPr>
        <p:txBody>
          <a:bodyPr/>
          <a:p/>
        </p:txBody>
      </p:sp>
      <p:sp>
        <p:nvSpPr>
          <p:cNvPr id="396" name="" descr="{&quot;isTemplate&quot;:true,&quot;type&quot;:&quot;text&quot;}"/>
          <p:cNvSpPr txBox="1"/>
          <p:nvPr/>
        </p:nvSpPr>
        <p:spPr>
          <a:xfrm rot="0" flipH="0" flipV="0">
            <a:off x="704850" y="5857875"/>
            <a:ext cx="10782300" cy="3048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425" b="1">
                <a:solidFill>
                  <a:srgbClr val="1E293B"/>
                </a:solidFill>
                <a:latin typeface="Microsoft YaHei"/>
                <a:ea typeface="Microsoft YaHei"/>
              </a:rPr>
              <a:t>业务部门自己就能沉淀岗位资产，不必每次都找工程师改提示词——这是「陪企业成长」的具体含义。</a:t>
            </a:r>
            <a:endParaRPr/>
          </a:p>
        </p:txBody>
      </p:sp>
    </p:spTree>
  </p:cSld>
</p:sld>
</file>

<file path=ppt/slides/slide23.xml><?xml version="1.0" encoding="utf-8"?>
<p:sld xmlns:p="http://schemas.openxmlformats.org/presentationml/2006/main" xmlns:a="http://schemas.openxmlformats.org/drawingml/2006/main">
  <p:cSld>
    <p:spTree>
      <p:nvGrpSpPr>
        <p:cNvPr id="397" name="" descr="&lt;Slide style={{ padding: 60, background: '#FFFFFF' }}&gt;&#13;&#10;    &lt;Box style={{ height: 600 }}&gt;&#13;&#10;        &lt;Box style={{ height: 20, flexDirection: 'row', justifyContent: 'space-between', alignItems: 'center' }}&gt;&#13;&#10;            &lt;Text style={{ fontSize: 14, color: '#94A3B8', letterSpacing: 2 }}&gt;02 · 业务怎么用&lt;/Text&gt;&#13;&#10;            &lt;Box style={{ width: 44, height: 4, borderRadius: 2, background: '#2563EB' }} /&gt;&#13;&#10;        &lt;/Box&gt;&#13;&#10;        &lt;Text style={{ fontSize: 34, fontWeight: 'bold', color: '#1E293B', marginTop: 16, lineHeight: 1.2 }}&gt;&#13;&#10;            专题｜定时任务与主动关怀：不是等你问，是该出现时自己出现&#13;&#10;        &lt;/Text&gt;&#13;&#10;        &lt;Box style={{ height: 1, background: '#E2E8F0', marginTop: 16 }} /&gt;&#13;&#10;&#13;&#10;        {/* 三种触发 */}&#13;&#10;        &lt;Box style={{ flexDirection: 'row', marginTop: 14, gap: 12 }}&gt;&#13;&#10;            &lt;Box style={{ flex: 1, background: '#E8EEFB', borderRadius: 10, padding: 14 }}&gt;&#13;&#10;                &lt;Text style={{ fontSize: 20, fontWeight: '600', color: '#2563EB', lineHeight: 1.3 }}&gt;按时刻&lt;/Text&gt;&#13;&#10;                &lt;Text style={{ fontSize: 18, color: '#475569', lineHeight: 1.5, marginTop: 4 }}&gt;每天 8 点、每周一早上，固定时点触发。&lt;/Text&gt;&#13;&#10;            &lt;/Box&gt;&#13;&#10;            &lt;Box style={{ flex: 1, background: '#E8EEFB', borderRadius: 10, padding: 14 }}&gt;&#13;&#10;                &lt;Text style={{ fontSize: 20, fontWeight: '600', color: '#2563EB', lineHeight: 1.3 }}&gt;按间隔&lt;/Text&gt;&#13;&#10;                &lt;Text style={{ fontSize: 18, color: '#475569', lineHeight: 1.5, marginTop: 4 }}&gt;每 2 小时巡检一次，周期性重复执行。&lt;/Text&gt;&#13;&#10;            &lt;/Box&gt;&#13;&#10;            &lt;Box style={{ flex: 1, background: '#FFF7E9', borderRadius: 10, padding: 14 }}&gt;&#13;&#10;                &lt;Text style={{ fontSize: 20, fontWeight: '600', color: '#B45309', lineHeight: 1.3 }}&gt;指定时间 / 事件&lt;/Text&gt;&#13;&#10;                &lt;Text style={{ fontSize: 18, color: '#475569', lineHeight: 1.5, marginTop: 4 }}&gt;到期前、里程碑日、收到触发消息时执行。&lt;/Text&gt;&#13;&#10;            &lt;/Box&gt;&#13;&#10;        &lt;/Box&gt;&#13;&#10;&#13;&#10;        {/* 六类用法 */}&#13;&#10;        &lt;Box style={{ marginTop: 10, gap: 6 }}&gt;&#13;&#10;            &lt;Box style={{ height: 44, flexDirection: 'row', alignItems: 'center', borderBottomWidth: 1, borderBottomColor: '#E2E8F0', borderBottomStyle: 'solid' }}&gt;&#13;&#10;                &lt;Text style={{ width: 220, fontSize: 18, fontWeight: '600', color: '#2563EB' }}&gt;日报周报自动出稿&lt;/Text&gt;&#13;&#10;                &lt;Text style={{ fontSize: 18, color: '#475569' }}&gt;读数据、写摘要、推送到指定群，到点就绪&lt;/Text&gt;&#13;&#10;            &lt;/Box&gt;&#13;&#10;            &lt;Box style={{ height: 44, flexDirection: 'row', alignItems: 'center', borderBottomWidth: 1, borderBottomColor: '#E2E8F0', borderBottomStyle: 'solid' }}&gt;&#13;&#10;                &lt;Text style={{ width: 220, fontSize: 18, fontWeight: '600', color: '#2563EB' }}&gt;数据看板与预警&lt;/Text&gt;&#13;&#10;                &lt;Text style={{ fontSize: 18, color: '#475569' }}&gt;指标异常主动提醒，把事后发现变成提前预警&lt;/Text&gt;&#13;&#10;            &lt;/Box&gt;&#13;&#10;            &lt;Box style={{ height: 44, flexDirection: 'row', alignItems: 'center', borderBottomWidth: 1, borderBottomColor: '#E2E8F0', borderBottomStyle: 'solid' }}&gt;&#13;&#10;                &lt;Text style={{ width: 220, fontSize: 18, fontWeight: '600', color: '#2563EB' }}&gt;网页操作批量回放&lt;/Text&gt;&#13;&#10;                &lt;Text style={{ fontSize: 18, color: '#475569' }}&gt;一次后台操作录成技能，之后按计划自动重放&lt;/Text&gt;&#13;&#10;            &lt;/Box&gt;&#13;&#10;            &lt;Box style={{ height: 44, flexDirection: 'row', alignItems: 'center', borderBottomWidth: 1, borderBottomColor: '#E2E8F0', borderBottomStyle: 'solid' }}&gt;&#13;&#10;                &lt;Text style={{ width: 220, fontSize: 18, fontWeight: '600', color: '#2563EB' }}&gt;主动关怀推送&lt;/Text&gt;&#13;&#10;                &lt;Text style={{ fontSize: 18, color: '#475569' }}&gt;续约、回款、保修到期前主动提醒相关负责人&lt;/Text&gt;&#13;&#10;            &lt;/Box&gt;&#13;&#10;            &lt;Box style={{ height: 44, flexDirection: 'row', alignItems: 'center', borderBottomWidth: 1, borderBottomColor: '#E2E8F0', borderBottomStyle: 'solid' }}&gt;&#13;&#10;                &lt;Text style={{ width: 220, fontSize: 18, fontWeight: '600', color: '#2563EB' }}&gt;团队知识沉淀&lt;/Text&gt;&#13;&#10;                &lt;Text style={{ fontSize: 18, color: '#475569' }}&gt;定时整理本周新增文档与问答，汇入知识库&lt;/Text&gt;&#13;&#10;            &lt;/Box&gt;&#13;&#10;            &lt;Box style={{ height: 44, flexDirection: 'row', alignItems: 'center' }}&gt;&#13;&#10;                &lt;Text style={{ width: 220, fontSize: 18, fontWeight: '600', color: '#2563EB' }}&gt;巡检与值守&lt;/Text&gt;&#13;&#10;                &lt;Text style={{ fontSize: 18, color: '#475569' }}&gt;按点检查服务状态与关键指标，异常即时上报&lt;/Text&gt;&#13;&#10;            &lt;/Box&gt;&#13;&#10;        &lt;/Box&gt;&#13;&#10;&#13;&#10;        {/* 结论条 */}&#13;&#10;        &lt;Box style={{ height: 52, background: '#E8EEFB', borderRadius: 10, padding: 14, marginTop: 10, justifyContent: 'center' }}&gt;&#13;&#10;            &lt;Text style={{ fontSize: 19, fontWeight: '600', color: '#1E293B', lineHeight: 1.4 }}&gt;&#13;&#10;                主动性的价值：重要的事不再依赖某个人的记性——提醒、汇报、巡检按点发生。&#13;&#10;            &lt;/Text&gt;&#13;&#10;        &lt;/Box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99" name="" descr="{&quot;isTemplate&quot;:true,&quot;type&quot;:&quot;text&quot;}"/>
          <p:cNvSpPr txBox="1"/>
          <p:nvPr/>
        </p:nvSpPr>
        <p:spPr>
          <a:xfrm rot="0" flipH="0" flipV="0">
            <a:off x="571500" y="590550"/>
            <a:ext cx="1133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94A3B8"/>
                </a:solidFill>
                <a:latin typeface="Microsoft YaHei"/>
                <a:ea typeface="Microsoft YaHei"/>
              </a:rPr>
              <a:t xml:space="preserve">02 · </a:t>
            </a:r>
            <a:r>
              <a:rPr lang="zh-CN" sz="1050" spc="150">
                <a:solidFill>
                  <a:srgbClr val="94A3B8"/>
                </a:solidFill>
                <a:latin typeface="Microsoft YaHei"/>
                <a:ea typeface="Microsoft YaHei"/>
              </a:rPr>
              <a:t>业务怎么用</a:t>
            </a:r>
            <a:endParaRPr/>
          </a:p>
        </p:txBody>
      </p:sp>
      <p:sp>
        <p:nvSpPr>
          <p:cNvPr id="400" name=""/>
          <p:cNvSpPr/>
          <p:nvPr/>
        </p:nvSpPr>
        <p:spPr>
          <a:xfrm rot="0" flipH="0" flipV="0">
            <a:off x="11201400" y="647700"/>
            <a:ext cx="419100" cy="38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401" name="" descr="{&quot;isTemplate&quot;:true,&quot;type&quot;:&quot;text&quot;}"/>
          <p:cNvSpPr txBox="1"/>
          <p:nvPr/>
        </p:nvSpPr>
        <p:spPr>
          <a:xfrm rot="0" flipH="0" flipV="0">
            <a:off x="571500" y="914400"/>
            <a:ext cx="110490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E293B"/>
                </a:solidFill>
                <a:latin typeface="Microsoft YaHei"/>
                <a:ea typeface="Microsoft YaHei"/>
              </a:rPr>
              <a:t>专题｜定时任务与主动关怀：不是等你问，是该出现时自己出现</a:t>
            </a:r>
            <a:endParaRPr/>
          </a:p>
        </p:txBody>
      </p:sp>
      <p:sp>
        <p:nvSpPr>
          <p:cNvPr id="402" name=""/>
          <p:cNvSpPr/>
          <p:nvPr/>
        </p:nvSpPr>
        <p:spPr>
          <a:xfrm rot="0" flipH="0" flipV="0">
            <a:off x="571500" y="1533525"/>
            <a:ext cx="1104900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403" name=""/>
          <p:cNvSpPr/>
          <p:nvPr/>
        </p:nvSpPr>
        <p:spPr>
          <a:xfrm rot="0" flipH="0" flipV="0">
            <a:off x="571500" y="1676400"/>
            <a:ext cx="3609975" cy="923925"/>
          </a:xfrm>
          <a:prstGeom prst="roundRect">
            <a:avLst>
              <a:gd name="adj" fmla="val 10309"/>
            </a:avLst>
          </a:prstGeom>
          <a:solidFill>
            <a:srgbClr val="E8EEFB"/>
          </a:solidFill>
          <a:ln/>
        </p:spPr>
        <p:txBody>
          <a:bodyPr/>
          <a:p/>
        </p:txBody>
      </p:sp>
      <p:sp>
        <p:nvSpPr>
          <p:cNvPr id="404" name="" descr="{&quot;isTemplate&quot;:true,&quot;type&quot;:&quot;text&quot;}"/>
          <p:cNvSpPr txBox="1"/>
          <p:nvPr/>
        </p:nvSpPr>
        <p:spPr>
          <a:xfrm rot="0" flipH="0" flipV="0">
            <a:off x="704850" y="1809750"/>
            <a:ext cx="3343275" cy="3048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500" b="1">
                <a:solidFill>
                  <a:srgbClr val="2563EB"/>
                </a:solidFill>
                <a:latin typeface="Microsoft YaHei"/>
                <a:ea typeface="Microsoft YaHei"/>
              </a:rPr>
              <a:t>按时刻</a:t>
            </a:r>
            <a:endParaRPr/>
          </a:p>
        </p:txBody>
      </p:sp>
      <p:sp>
        <p:nvSpPr>
          <p:cNvPr id="405" name="" descr="{&quot;isTemplate&quot;:true,&quot;type&quot;:&quot;text&quot;}"/>
          <p:cNvSpPr txBox="1"/>
          <p:nvPr/>
        </p:nvSpPr>
        <p:spPr>
          <a:xfrm rot="0" flipH="0" flipV="0">
            <a:off x="704850" y="2152650"/>
            <a:ext cx="3343275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每天</a:t>
            </a: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 xml:space="preserve"> 8 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点、每周一早上，固定时点触发。</a:t>
            </a:r>
            <a:endParaRPr/>
          </a:p>
        </p:txBody>
      </p:sp>
      <p:sp>
        <p:nvSpPr>
          <p:cNvPr id="406" name=""/>
          <p:cNvSpPr/>
          <p:nvPr/>
        </p:nvSpPr>
        <p:spPr>
          <a:xfrm rot="0" flipH="0" flipV="0">
            <a:off x="4295775" y="1676400"/>
            <a:ext cx="3600450" cy="923925"/>
          </a:xfrm>
          <a:prstGeom prst="roundRect">
            <a:avLst>
              <a:gd name="adj" fmla="val 10309"/>
            </a:avLst>
          </a:prstGeom>
          <a:solidFill>
            <a:srgbClr val="E8EEFB"/>
          </a:solidFill>
          <a:ln/>
        </p:spPr>
        <p:txBody>
          <a:bodyPr/>
          <a:p/>
        </p:txBody>
      </p:sp>
      <p:sp>
        <p:nvSpPr>
          <p:cNvPr id="407" name="" descr="{&quot;isTemplate&quot;:true,&quot;type&quot;:&quot;text&quot;}"/>
          <p:cNvSpPr txBox="1"/>
          <p:nvPr/>
        </p:nvSpPr>
        <p:spPr>
          <a:xfrm rot="0" flipH="0" flipV="0">
            <a:off x="4429125" y="1809750"/>
            <a:ext cx="3333750" cy="3048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500" b="1">
                <a:solidFill>
                  <a:srgbClr val="2563EB"/>
                </a:solidFill>
                <a:latin typeface="Microsoft YaHei"/>
                <a:ea typeface="Microsoft YaHei"/>
              </a:rPr>
              <a:t>按间隔</a:t>
            </a:r>
            <a:endParaRPr/>
          </a:p>
        </p:txBody>
      </p:sp>
      <p:sp>
        <p:nvSpPr>
          <p:cNvPr id="408" name="" descr="{&quot;isTemplate&quot;:true,&quot;type&quot;:&quot;text&quot;}"/>
          <p:cNvSpPr txBox="1"/>
          <p:nvPr/>
        </p:nvSpPr>
        <p:spPr>
          <a:xfrm rot="0" flipH="0" flipV="0">
            <a:off x="4429125" y="2152650"/>
            <a:ext cx="333375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每</a:t>
            </a: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 xml:space="preserve"> 2 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小时巡检一次，周期性重复执行。</a:t>
            </a:r>
            <a:endParaRPr/>
          </a:p>
        </p:txBody>
      </p:sp>
      <p:sp>
        <p:nvSpPr>
          <p:cNvPr id="409" name=""/>
          <p:cNvSpPr/>
          <p:nvPr/>
        </p:nvSpPr>
        <p:spPr>
          <a:xfrm rot="0" flipH="0" flipV="0">
            <a:off x="8010525" y="1676400"/>
            <a:ext cx="3609975" cy="923925"/>
          </a:xfrm>
          <a:prstGeom prst="roundRect">
            <a:avLst>
              <a:gd name="adj" fmla="val 10309"/>
            </a:avLst>
          </a:prstGeom>
          <a:solidFill>
            <a:srgbClr val="FFF7E9"/>
          </a:solidFill>
          <a:ln/>
        </p:spPr>
        <p:txBody>
          <a:bodyPr/>
          <a:p/>
        </p:txBody>
      </p:sp>
      <p:sp>
        <p:nvSpPr>
          <p:cNvPr id="410" name="" descr="{&quot;isTemplate&quot;:true,&quot;type&quot;:&quot;text&quot;}"/>
          <p:cNvSpPr txBox="1"/>
          <p:nvPr/>
        </p:nvSpPr>
        <p:spPr>
          <a:xfrm rot="0" flipH="0" flipV="0">
            <a:off x="8143875" y="1809750"/>
            <a:ext cx="3343275" cy="3048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500" b="1">
                <a:solidFill>
                  <a:srgbClr val="B45309"/>
                </a:solidFill>
                <a:latin typeface="Microsoft YaHei"/>
                <a:ea typeface="Microsoft YaHei"/>
              </a:rPr>
              <a:t>指定时间</a:t>
            </a:r>
            <a:r>
              <a:rPr lang="en-US" sz="1500" b="1">
                <a:solidFill>
                  <a:srgbClr val="B45309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500" b="1">
                <a:solidFill>
                  <a:srgbClr val="B45309"/>
                </a:solidFill>
                <a:latin typeface="Microsoft YaHei"/>
                <a:ea typeface="Microsoft YaHei"/>
              </a:rPr>
              <a:t>事件</a:t>
            </a:r>
            <a:endParaRPr/>
          </a:p>
        </p:txBody>
      </p:sp>
      <p:sp>
        <p:nvSpPr>
          <p:cNvPr id="411" name="" descr="{&quot;isTemplate&quot;:true,&quot;type&quot;:&quot;text&quot;}"/>
          <p:cNvSpPr txBox="1"/>
          <p:nvPr/>
        </p:nvSpPr>
        <p:spPr>
          <a:xfrm rot="0" flipH="0" flipV="0">
            <a:off x="8143875" y="2152650"/>
            <a:ext cx="3343275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到期前、里程碑日、收到触发消息时执行。</a:t>
            </a:r>
            <a:endParaRPr/>
          </a:p>
        </p:txBody>
      </p:sp>
      <p:sp>
        <p:nvSpPr>
          <p:cNvPr id="412" name=""/>
          <p:cNvSpPr/>
          <p:nvPr/>
        </p:nvSpPr>
        <p:spPr>
          <a:xfrm rot="0" flipH="0" flipV="0">
            <a:off x="571500" y="2695575"/>
            <a:ext cx="11049000" cy="419100"/>
          </a:xfrm>
          <a:custGeom>
            <a:pathLst>
              <a:path w="1160" h="44">
                <a:moveTo>
                  <a:pt x="0" y="43"/>
                </a:moveTo>
                <a:lnTo>
                  <a:pt x="1160" y="43"/>
                </a:lnTo>
                <a:lnTo>
                  <a:pt x="1160" y="44"/>
                </a:lnTo>
                <a:lnTo>
                  <a:pt x="0" y="44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p/>
        </p:txBody>
      </p:sp>
      <p:sp>
        <p:nvSpPr>
          <p:cNvPr id="413" name="" descr="{&quot;isTemplate&quot;:true,&quot;type&quot;:&quot;text&quot;}"/>
          <p:cNvSpPr txBox="1"/>
          <p:nvPr/>
        </p:nvSpPr>
        <p:spPr>
          <a:xfrm rot="0" flipH="0" flipV="0">
            <a:off x="571500" y="2800350"/>
            <a:ext cx="2095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563EB"/>
                </a:solidFill>
                <a:latin typeface="Microsoft YaHei"/>
                <a:ea typeface="Microsoft YaHei"/>
              </a:rPr>
              <a:t>日报周报自动出稿</a:t>
            </a:r>
            <a:endParaRPr/>
          </a:p>
        </p:txBody>
      </p:sp>
      <p:sp>
        <p:nvSpPr>
          <p:cNvPr id="414" name="" descr="{&quot;isTemplate&quot;:true,&quot;type&quot;:&quot;text&quot;}"/>
          <p:cNvSpPr txBox="1"/>
          <p:nvPr/>
        </p:nvSpPr>
        <p:spPr>
          <a:xfrm rot="0" flipH="0" flipV="0">
            <a:off x="2667000" y="2800350"/>
            <a:ext cx="32575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读数据、写摘要、推送到指定群，到点就绪</a:t>
            </a:r>
            <a:endParaRPr/>
          </a:p>
        </p:txBody>
      </p:sp>
      <p:sp>
        <p:nvSpPr>
          <p:cNvPr id="415" name=""/>
          <p:cNvSpPr/>
          <p:nvPr/>
        </p:nvSpPr>
        <p:spPr>
          <a:xfrm rot="0" flipH="0" flipV="0">
            <a:off x="571500" y="3171825"/>
            <a:ext cx="11049000" cy="419100"/>
          </a:xfrm>
          <a:custGeom>
            <a:pathLst>
              <a:path w="1160" h="44">
                <a:moveTo>
                  <a:pt x="0" y="43"/>
                </a:moveTo>
                <a:lnTo>
                  <a:pt x="1160" y="43"/>
                </a:lnTo>
                <a:lnTo>
                  <a:pt x="1160" y="44"/>
                </a:lnTo>
                <a:lnTo>
                  <a:pt x="0" y="44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p/>
        </p:txBody>
      </p:sp>
      <p:sp>
        <p:nvSpPr>
          <p:cNvPr id="416" name="" descr="{&quot;isTemplate&quot;:true,&quot;type&quot;:&quot;text&quot;}"/>
          <p:cNvSpPr txBox="1"/>
          <p:nvPr/>
        </p:nvSpPr>
        <p:spPr>
          <a:xfrm rot="0" flipH="0" flipV="0">
            <a:off x="571500" y="3276600"/>
            <a:ext cx="2095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563EB"/>
                </a:solidFill>
                <a:latin typeface="Microsoft YaHei"/>
                <a:ea typeface="Microsoft YaHei"/>
              </a:rPr>
              <a:t>数据看板与预警</a:t>
            </a:r>
            <a:endParaRPr/>
          </a:p>
        </p:txBody>
      </p:sp>
      <p:sp>
        <p:nvSpPr>
          <p:cNvPr id="417" name="" descr="{&quot;isTemplate&quot;:true,&quot;type&quot;:&quot;text&quot;}"/>
          <p:cNvSpPr txBox="1"/>
          <p:nvPr/>
        </p:nvSpPr>
        <p:spPr>
          <a:xfrm rot="0" flipH="0" flipV="0">
            <a:off x="2667000" y="3276600"/>
            <a:ext cx="3429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指标异常主动提醒，把事后发现变成提前预警</a:t>
            </a:r>
            <a:endParaRPr/>
          </a:p>
        </p:txBody>
      </p:sp>
      <p:sp>
        <p:nvSpPr>
          <p:cNvPr id="418" name=""/>
          <p:cNvSpPr/>
          <p:nvPr/>
        </p:nvSpPr>
        <p:spPr>
          <a:xfrm rot="0" flipH="0" flipV="0">
            <a:off x="571500" y="3648075"/>
            <a:ext cx="11049000" cy="419100"/>
          </a:xfrm>
          <a:custGeom>
            <a:pathLst>
              <a:path w="1160" h="44">
                <a:moveTo>
                  <a:pt x="0" y="43"/>
                </a:moveTo>
                <a:lnTo>
                  <a:pt x="1160" y="43"/>
                </a:lnTo>
                <a:lnTo>
                  <a:pt x="1160" y="44"/>
                </a:lnTo>
                <a:lnTo>
                  <a:pt x="0" y="44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p/>
        </p:txBody>
      </p:sp>
      <p:sp>
        <p:nvSpPr>
          <p:cNvPr id="419" name="" descr="{&quot;isTemplate&quot;:true,&quot;type&quot;:&quot;text&quot;}"/>
          <p:cNvSpPr txBox="1"/>
          <p:nvPr/>
        </p:nvSpPr>
        <p:spPr>
          <a:xfrm rot="0" flipH="0" flipV="0">
            <a:off x="571500" y="3752850"/>
            <a:ext cx="2095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563EB"/>
                </a:solidFill>
                <a:latin typeface="Microsoft YaHei"/>
                <a:ea typeface="Microsoft YaHei"/>
              </a:rPr>
              <a:t>网页操作批量回放</a:t>
            </a:r>
            <a:endParaRPr/>
          </a:p>
        </p:txBody>
      </p:sp>
      <p:sp>
        <p:nvSpPr>
          <p:cNvPr id="420" name="" descr="{&quot;isTemplate&quot;:true,&quot;type&quot;:&quot;text&quot;}"/>
          <p:cNvSpPr txBox="1"/>
          <p:nvPr/>
        </p:nvSpPr>
        <p:spPr>
          <a:xfrm rot="0" flipH="0" flipV="0">
            <a:off x="2667000" y="3752850"/>
            <a:ext cx="3429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一次后台操作录成技能，之后按计划自动重放</a:t>
            </a:r>
            <a:endParaRPr/>
          </a:p>
        </p:txBody>
      </p:sp>
      <p:sp>
        <p:nvSpPr>
          <p:cNvPr id="421" name=""/>
          <p:cNvSpPr/>
          <p:nvPr/>
        </p:nvSpPr>
        <p:spPr>
          <a:xfrm rot="0" flipH="0" flipV="0">
            <a:off x="571500" y="4124325"/>
            <a:ext cx="11049000" cy="419100"/>
          </a:xfrm>
          <a:custGeom>
            <a:pathLst>
              <a:path w="1160" h="44">
                <a:moveTo>
                  <a:pt x="0" y="43"/>
                </a:moveTo>
                <a:lnTo>
                  <a:pt x="1160" y="43"/>
                </a:lnTo>
                <a:lnTo>
                  <a:pt x="1160" y="44"/>
                </a:lnTo>
                <a:lnTo>
                  <a:pt x="0" y="44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p/>
        </p:txBody>
      </p:sp>
      <p:sp>
        <p:nvSpPr>
          <p:cNvPr id="422" name="" descr="{&quot;isTemplate&quot;:true,&quot;type&quot;:&quot;text&quot;}"/>
          <p:cNvSpPr txBox="1"/>
          <p:nvPr/>
        </p:nvSpPr>
        <p:spPr>
          <a:xfrm rot="0" flipH="0" flipV="0">
            <a:off x="571500" y="4229100"/>
            <a:ext cx="2095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563EB"/>
                </a:solidFill>
                <a:latin typeface="Microsoft YaHei"/>
                <a:ea typeface="Microsoft YaHei"/>
              </a:rPr>
              <a:t>主动关怀推送</a:t>
            </a:r>
            <a:endParaRPr/>
          </a:p>
        </p:txBody>
      </p:sp>
      <p:sp>
        <p:nvSpPr>
          <p:cNvPr id="423" name="" descr="{&quot;isTemplate&quot;:true,&quot;type&quot;:&quot;text&quot;}"/>
          <p:cNvSpPr txBox="1"/>
          <p:nvPr/>
        </p:nvSpPr>
        <p:spPr>
          <a:xfrm rot="0" flipH="0" flipV="0">
            <a:off x="2667000" y="4229100"/>
            <a:ext cx="3429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续约、回款、保修到期前主动提醒相关负责人</a:t>
            </a:r>
            <a:endParaRPr/>
          </a:p>
        </p:txBody>
      </p:sp>
      <p:sp>
        <p:nvSpPr>
          <p:cNvPr id="424" name=""/>
          <p:cNvSpPr/>
          <p:nvPr/>
        </p:nvSpPr>
        <p:spPr>
          <a:xfrm rot="0" flipH="0" flipV="0">
            <a:off x="571500" y="4600575"/>
            <a:ext cx="11049000" cy="419100"/>
          </a:xfrm>
          <a:custGeom>
            <a:pathLst>
              <a:path w="1160" h="44">
                <a:moveTo>
                  <a:pt x="0" y="43"/>
                </a:moveTo>
                <a:lnTo>
                  <a:pt x="1160" y="43"/>
                </a:lnTo>
                <a:lnTo>
                  <a:pt x="1160" y="44"/>
                </a:lnTo>
                <a:lnTo>
                  <a:pt x="0" y="44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p/>
        </p:txBody>
      </p:sp>
      <p:sp>
        <p:nvSpPr>
          <p:cNvPr id="425" name="" descr="{&quot;isTemplate&quot;:true,&quot;type&quot;:&quot;text&quot;}"/>
          <p:cNvSpPr txBox="1"/>
          <p:nvPr/>
        </p:nvSpPr>
        <p:spPr>
          <a:xfrm rot="0" flipH="0" flipV="0">
            <a:off x="571500" y="4705350"/>
            <a:ext cx="2095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563EB"/>
                </a:solidFill>
                <a:latin typeface="Microsoft YaHei"/>
                <a:ea typeface="Microsoft YaHei"/>
              </a:rPr>
              <a:t>团队知识沉淀</a:t>
            </a:r>
            <a:endParaRPr/>
          </a:p>
        </p:txBody>
      </p:sp>
      <p:sp>
        <p:nvSpPr>
          <p:cNvPr id="426" name="" descr="{&quot;isTemplate&quot;:true,&quot;type&quot;:&quot;text&quot;}"/>
          <p:cNvSpPr txBox="1"/>
          <p:nvPr/>
        </p:nvSpPr>
        <p:spPr>
          <a:xfrm rot="0" flipH="0" flipV="0">
            <a:off x="2667000" y="4705350"/>
            <a:ext cx="32575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定时整理本周新增文档与问答，汇入知识库</a:t>
            </a:r>
            <a:endParaRPr/>
          </a:p>
        </p:txBody>
      </p:sp>
      <p:sp>
        <p:nvSpPr>
          <p:cNvPr id="427" name="" descr="{&quot;isTemplate&quot;:true,&quot;type&quot;:&quot;text&quot;}"/>
          <p:cNvSpPr txBox="1"/>
          <p:nvPr/>
        </p:nvSpPr>
        <p:spPr>
          <a:xfrm rot="0" flipH="0" flipV="0">
            <a:off x="571500" y="5181600"/>
            <a:ext cx="2095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563EB"/>
                </a:solidFill>
                <a:latin typeface="Microsoft YaHei"/>
                <a:ea typeface="Microsoft YaHei"/>
              </a:rPr>
              <a:t>巡检与值守</a:t>
            </a:r>
            <a:endParaRPr/>
          </a:p>
        </p:txBody>
      </p:sp>
      <p:sp>
        <p:nvSpPr>
          <p:cNvPr id="428" name="" descr="{&quot;isTemplate&quot;:true,&quot;type&quot;:&quot;text&quot;}"/>
          <p:cNvSpPr txBox="1"/>
          <p:nvPr/>
        </p:nvSpPr>
        <p:spPr>
          <a:xfrm rot="0" flipH="0" flipV="0">
            <a:off x="2667000" y="5181600"/>
            <a:ext cx="3429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按点检查服务状态与关键指标，异常即时上报</a:t>
            </a:r>
            <a:endParaRPr/>
          </a:p>
        </p:txBody>
      </p:sp>
      <p:sp>
        <p:nvSpPr>
          <p:cNvPr id="429" name=""/>
          <p:cNvSpPr/>
          <p:nvPr/>
        </p:nvSpPr>
        <p:spPr>
          <a:xfrm rot="0" flipH="0" flipV="0">
            <a:off x="571500" y="5591175"/>
            <a:ext cx="11049000" cy="495300"/>
          </a:xfrm>
          <a:prstGeom prst="roundRect">
            <a:avLst>
              <a:gd name="adj" fmla="val 19231"/>
            </a:avLst>
          </a:prstGeom>
          <a:solidFill>
            <a:srgbClr val="E8EEFB"/>
          </a:solidFill>
          <a:ln/>
        </p:spPr>
        <p:txBody>
          <a:bodyPr/>
          <a:p/>
        </p:txBody>
      </p:sp>
      <p:sp>
        <p:nvSpPr>
          <p:cNvPr id="430" name="" descr="{&quot;isTemplate&quot;:true,&quot;type&quot;:&quot;text&quot;}"/>
          <p:cNvSpPr txBox="1"/>
          <p:nvPr/>
        </p:nvSpPr>
        <p:spPr>
          <a:xfrm rot="0" flipH="0" flipV="0">
            <a:off x="704850" y="5686425"/>
            <a:ext cx="10782300" cy="3048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425" b="1">
                <a:solidFill>
                  <a:srgbClr val="1E293B"/>
                </a:solidFill>
                <a:latin typeface="Microsoft YaHei"/>
                <a:ea typeface="Microsoft YaHei"/>
              </a:rPr>
              <a:t>主动性的价值：重要的事不再依赖某个人的记性——提醒、汇报、巡检按点发生。</a:t>
            </a:r>
            <a:endParaRPr/>
          </a:p>
        </p:txBody>
      </p:sp>
    </p:spTree>
  </p:cSld>
</p:sld>
</file>

<file path=ppt/slides/slide24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431" name="" descr="&lt;Slide style={{ padding: 60, background: '#FFFFFF' }}&gt;&#10;    &lt;Box style={{ height: 600 }}&gt;&#10;        &lt;Box style={{ height: 20, flexDirection: 'row', justifyContent: 'space-between', alignItems: 'center' }}&gt;&#10;            &lt;Text style={{ fontSize: 14, color: '#94A3B8', letterSpacing: 2 }}&gt;02 · 业务怎么用&lt;/Text&gt;&#10;            &lt;Box style={{ width: 44, height: 4, borderRadius: 2, background: '#2563EB' }} /&gt;&#10;        &lt;/Box&gt;&#10;        &lt;Text style={{ fontSize: 34, fontWeight: 'bold', color: '#1E293B', marginTop: 16, lineHeight: 1.2 }}&gt;&#10;            专题｜文件、报表与信息收集：从「找到」到「交付」的完整链路&#10;        &lt;/Text&gt;&#10;        &lt;Box style={{ height: 1, background: '#E2E8F0', marginTop: 16 }} /&gt;&#10;&#10;        {/* 四步流程 */}&#10;        &lt;Box style={{ flexDirection: 'row', marginTop: 20, alignItems: 'stretch' }}&gt;&#10;            &lt;Box style={{ width: 265, background: '#E8EEFB', borderWidth: 1, borderColor: '#C7D6F5', borderStyle: 'solid', borderRadius: 10, padding: 14 }}&gt;&#10;                &lt;Text style={{ fontSize: 18, fontWeight: '600', color: '#94A3B8', lineHeight: 1.3 }}&gt;01&lt;/Text&gt;&#10;                &lt;Text style={{ fontSize: 20, fontWeight: '600', color: '#1E293B', lineHeight: 1.3, marginTop: 4 }}&gt;找到信息&lt;/Text&gt;&#10;                &lt;Text style={{ fontSize: 18, color: '#475569', lineHeight: 1.5, marginTop: 6 }}&gt;&#10;                    全文检索公司资料、联网搜索公开信息、抓取网页内容，多路并行找料。&#10;                &lt;/Text&gt;&#10;            &lt;/Box&gt;&#10;            &lt;Box style={{ width: 30, justifyContent: 'center', alignItems: 'center' }}&gt;&#10;                &lt;svg width={30} height={18} viewBox='0 0 30 18'&gt;&lt;path d='M0 9 L18 9' stroke='#2563EB' strokeWidth='2' /&gt;&lt;path d='M18 2 L30 9 L18 16 Z' fill='#2563EB' /&gt;&lt;/svg&gt;&#10;            &lt;/Box&gt;&#10;            &lt;Box style={{ width: 265, background: '#D6E4F9', borderRadius: 10, padding: 14 }}&gt;&#10;                &lt;Text style={{ fontSize: 18, fontWeight: '600', color: '#475569', lineHeight: 1.3 }}&gt;02&lt;/Text&gt;&#10;                &lt;Text style={{ fontSize: 20, fontWeight: '600', color: '#1E293B', lineHeight: 1.3, marginTop: 4 }}&gt;读懂内容&lt;/Text&gt;&#10;                &lt;Text style={{ fontSize: 18, color: '#475569', lineHeight: 1.5, marginTop: 6 }}&gt;&#10;                    PDF、Word、Excel、扫描件都能解析，长文档按需摘取要点与数据。&#10;                &lt;/Text&gt;&#10;            &lt;/Box&gt;&#10;            &lt;Box style={{ width: 30, justifyContent: 'center', alignItems: 'center' }}&gt;&#10;                &lt;svg width={30} height={18} viewBox='0 0 30 18'&gt;&lt;path d='M0 9 L18 9' stroke='#0891B2' strokeWidth='2' /&gt;&lt;path d='M18 2 L30 9 L18 16 Z' fill='#0891B2' /&gt;&lt;/svg&gt;&#10;            &lt;/Box&gt;&#10;            &lt;Box style={{ width: 265, background: '#E8EEFB', borderWidth: 1, borderColor: '#C7D6F5', borderStyle: 'solid', borderRadius: 10, padding: 14 }}&gt;&#10;                &lt;Text style={{ fontSize: 18, fontWeight: '600', color: '#94A3B8', lineHeight: 1.3 }}&gt;03&lt;/Text&gt;&#10;                &lt;Text style={{ fontSize: 20, fontWeight: '600', color: '#1E293B', lineHeight: 1.3, marginTop: 4 }}&gt;生成成果&lt;/Text&gt;&#10;                &lt;Text style={{ fontSize: 18, color: '#475569', lineHeight: 1.5, marginTop: 6 }}&gt;&#10;                    汇总成表、整理成报告、拟定初稿，按你要求的格式产出。&#10;                &lt;/Text&gt;&#10;            &lt;/Box&gt;&#10;            &lt;Box style={{ width: 30, justifyContent: 'center', alignItems: 'center' }}&gt;&#10;                &lt;svg width={30} height={18} viewBox='0 0 30 18'&gt;&lt;path d='M0 9 L18 9' stroke='#F59E0B' strokeWidth='2' /&gt;&lt;path d='M18 2 L30 9 L18 16 Z' fill='#F59E0B' /&gt;&lt;/svg&gt;&#10;            &lt;/Box&gt;&#10;            &lt;Box style={{ width: 265, background: '#FFF7E9', borderWidth: 1, borderColor: '#F5D9A4', borderStyle: 'solid', borderRadius: 10, padding: 14 }}&gt;&#10;                &lt;Text style={{ fontSize: 18, fontWeight: '600', color: '#B45309', lineHeight: 1.3 }}&gt;04&lt;/Text&gt;&#10;                &lt;Text style={{ fontSize: 20, fontWeight: '600', color: '#1E293B', lineHeight: 1.3, marginTop: 4 }}&gt;交付到位&lt;/Text&gt;&#10;                &lt;Text style={{ fontSize: 18, color: '#475569', lineHeight: 1.5, marginTop: 6 }}&gt;&#10;                    文件直接回传会话、推送到群、或按计划定时发出——结果到人，不用再来取。&#10;                &lt;/Text&gt;&#10;            &lt;/Box&gt;&#10;        &lt;/Box&gt;&#10;&#10;        {/* 支撑点 */}&#10;        &lt;Box style={{ flexDirection: 'row', marginTop: 20, gap: 16 }}&gt;&#10;            &lt;Box style={{ flex: 1, background: '#F4F6FB', borderRadius: 10, padding: 14 }}&gt;&#10;                &lt;Text style={{ fontSize: 20, fontWeight: '600', color: '#1E293B', lineHeight: 1.3 }}&gt;中文场景处理&lt;/Text&gt;&#10;                &lt;Text style={{ fontSize: 18, color: '#475569', lineHeight: 1.5, marginTop: 4 }}&gt;编码兼容、老格式转换、扫描件自动识别。&lt;/Text&gt;&#10;            &lt;/Box&gt;&#10;            &lt;Box style={{ flex: 1, background: '#F4F6FB', borderRadius: 10, padding: 14 }}&gt;&#10;                &lt;Text style={{ fontSize: 20, fontWeight: '600', color: '#1E293B', lineHeight: 1.3 }}&gt;浏览器自动化&lt;/Text&gt;&#10;                &lt;Text style={{ fontSize: 18, color: '#475569', lineHeight: 1.5, marginTop: 4 }}&gt;内部系统填报、批量后台操作、页面截图核验。&lt;/Text&gt;&#10;            &lt;/Box&gt;&#10;            &lt;Box style={{ flex: 1, background: '#F4F6FB', borderRadius: 10, padding: 14 }}&gt;&#10;                &lt;Text style={{ fontSize: 20, fontWeight: '600', color: '#1E293B', lineHeight: 1.3 }}&gt;全程可控&lt;/Text&gt;&#10;                &lt;Text style={{ fontSize: 18, color: '#475569', lineHeight: 1.5, marginTop: 4 }}&gt;高风险动作先审批，文件操作按权限执行。&lt;/Text&gt;&#10;            &lt;/Box&gt;&#10;        &lt;/Box&gt;&#10;&#10;        {/* 结论条 */}&#10;        &lt;Box style={{ height: 58, background: '#E8EEFB', borderRadius: 10, padding: 14, marginTop: 16, justifyContent: 'center' }}&gt;&#10;            &lt;Text style={{ fontSize: 19, fontWeight: '600', color: '#1E293B', lineHeight: 1.4 }}&gt;&#10;                大部分办公时间不是花在「想」，而是花在找、抄、改、发——这条链路正是数字员工的主场。&#10;            &lt;/Text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33" name="" descr="{&quot;isTemplate&quot;:true,&quot;type&quot;:&quot;text&quot;}"/>
          <p:cNvSpPr txBox="1"/>
          <p:nvPr/>
        </p:nvSpPr>
        <p:spPr>
          <a:xfrm rot="0" flipH="0" flipV="0">
            <a:off x="571500" y="590550"/>
            <a:ext cx="1133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94A3B8"/>
                </a:solidFill>
                <a:latin typeface="Microsoft YaHei"/>
                <a:ea typeface="Microsoft YaHei"/>
              </a:rPr>
              <a:t xml:space="preserve">02 · </a:t>
            </a:r>
            <a:r>
              <a:rPr lang="zh-CN" sz="1050" spc="150">
                <a:solidFill>
                  <a:srgbClr val="94A3B8"/>
                </a:solidFill>
                <a:latin typeface="Microsoft YaHei"/>
                <a:ea typeface="Microsoft YaHei"/>
              </a:rPr>
              <a:t>业务怎么用</a:t>
            </a:r>
            <a:endParaRPr/>
          </a:p>
        </p:txBody>
      </p:sp>
      <p:sp>
        <p:nvSpPr>
          <p:cNvPr id="434" name=""/>
          <p:cNvSpPr/>
          <p:nvPr/>
        </p:nvSpPr>
        <p:spPr>
          <a:xfrm rot="0" flipH="0" flipV="0">
            <a:off x="11201400" y="647700"/>
            <a:ext cx="419100" cy="38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435" name="" descr="{&quot;isTemplate&quot;:true,&quot;type&quot;:&quot;text&quot;}"/>
          <p:cNvSpPr txBox="1"/>
          <p:nvPr/>
        </p:nvSpPr>
        <p:spPr>
          <a:xfrm rot="0" flipH="0" flipV="0">
            <a:off x="571500" y="914400"/>
            <a:ext cx="110490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E293B"/>
                </a:solidFill>
                <a:latin typeface="Microsoft YaHei"/>
                <a:ea typeface="Microsoft YaHei"/>
              </a:rPr>
              <a:t>专题｜文件、报表与信息收集：从「找到」到「交付」的完整链路</a:t>
            </a:r>
            <a:endParaRPr/>
          </a:p>
        </p:txBody>
      </p:sp>
      <p:sp>
        <p:nvSpPr>
          <p:cNvPr id="436" name=""/>
          <p:cNvSpPr/>
          <p:nvPr/>
        </p:nvSpPr>
        <p:spPr>
          <a:xfrm rot="0" flipH="0" flipV="0">
            <a:off x="571500" y="1533525"/>
            <a:ext cx="1104900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437" name=""/>
          <p:cNvSpPr/>
          <p:nvPr/>
        </p:nvSpPr>
        <p:spPr>
          <a:xfrm rot="0" flipH="0" flipV="0">
            <a:off x="571500" y="1733550"/>
            <a:ext cx="2524125" cy="1876425"/>
          </a:xfrm>
          <a:prstGeom prst="roundRect">
            <a:avLst>
              <a:gd name="adj" fmla="val 5076"/>
            </a:avLst>
          </a:prstGeom>
          <a:solidFill>
            <a:srgbClr val="E8EEFB"/>
          </a:solidFill>
          <a:ln w="12700">
            <a:solidFill>
              <a:srgbClr val="C7D6F5"/>
            </a:solidFill>
            <a:prstDash val="solid"/>
          </a:ln>
        </p:spPr>
        <p:txBody>
          <a:bodyPr/>
          <a:p/>
        </p:txBody>
      </p:sp>
      <p:sp>
        <p:nvSpPr>
          <p:cNvPr id="438" name="" descr="{&quot;isTemplate&quot;:true,&quot;type&quot;:&quot;text&quot;}"/>
          <p:cNvSpPr txBox="1"/>
          <p:nvPr/>
        </p:nvSpPr>
        <p:spPr>
          <a:xfrm rot="0" flipH="0" flipV="0">
            <a:off x="704850" y="1866900"/>
            <a:ext cx="2257425" cy="2762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350" b="1">
                <a:solidFill>
                  <a:srgbClr val="94A3B8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439" name="" descr="{&quot;isTemplate&quot;:true,&quot;type&quot;:&quot;text&quot;}"/>
          <p:cNvSpPr txBox="1"/>
          <p:nvPr/>
        </p:nvSpPr>
        <p:spPr>
          <a:xfrm rot="0" flipH="0" flipV="0">
            <a:off x="704850" y="2181225"/>
            <a:ext cx="2257425" cy="3048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500" b="1">
                <a:solidFill>
                  <a:srgbClr val="1E293B"/>
                </a:solidFill>
                <a:latin typeface="Microsoft YaHei"/>
                <a:ea typeface="Microsoft YaHei"/>
              </a:rPr>
              <a:t>找到信息</a:t>
            </a:r>
            <a:endParaRPr/>
          </a:p>
        </p:txBody>
      </p:sp>
      <p:sp>
        <p:nvSpPr>
          <p:cNvPr id="440" name="" descr="{&quot;isTemplate&quot;:true,&quot;type&quot;:&quot;text&quot;}"/>
          <p:cNvSpPr txBox="1"/>
          <p:nvPr/>
        </p:nvSpPr>
        <p:spPr>
          <a:xfrm rot="0" flipH="0" flipV="0">
            <a:off x="704850" y="2543175"/>
            <a:ext cx="2257425" cy="933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全文检索公司资料、联网搜索公开信息、抓取网页内容，多路并行找料。</a:t>
            </a:r>
            <a:endParaRPr/>
          </a:p>
        </p:txBody>
      </p:sp>
      <p:pic>
        <p:nvPicPr>
          <p:cNvPr id="44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3095625" y="2590800"/>
            <a:ext cx="285750" cy="171450"/>
          </a:xfrm>
          <a:prstGeom prst="rect">
            <a:avLst/>
          </a:prstGeom>
          <a:ln/>
        </p:spPr>
      </p:pic>
      <p:sp>
        <p:nvSpPr>
          <p:cNvPr id="442" name=""/>
          <p:cNvSpPr/>
          <p:nvPr/>
        </p:nvSpPr>
        <p:spPr>
          <a:xfrm rot="0" flipH="0" flipV="0">
            <a:off x="3381375" y="1733550"/>
            <a:ext cx="2524125" cy="1876425"/>
          </a:xfrm>
          <a:prstGeom prst="roundRect">
            <a:avLst>
              <a:gd name="adj" fmla="val 5076"/>
            </a:avLst>
          </a:prstGeom>
          <a:solidFill>
            <a:srgbClr val="D6E4F9"/>
          </a:solidFill>
          <a:ln/>
        </p:spPr>
        <p:txBody>
          <a:bodyPr/>
          <a:p/>
        </p:txBody>
      </p:sp>
      <p:sp>
        <p:nvSpPr>
          <p:cNvPr id="443" name="" descr="{&quot;isTemplate&quot;:true,&quot;type&quot;:&quot;text&quot;}"/>
          <p:cNvSpPr txBox="1"/>
          <p:nvPr/>
        </p:nvSpPr>
        <p:spPr>
          <a:xfrm rot="0" flipH="0" flipV="0">
            <a:off x="3514725" y="1866900"/>
            <a:ext cx="2257425" cy="2762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350" b="1">
                <a:solidFill>
                  <a:srgbClr val="475569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444" name="" descr="{&quot;isTemplate&quot;:true,&quot;type&quot;:&quot;text&quot;}"/>
          <p:cNvSpPr txBox="1"/>
          <p:nvPr/>
        </p:nvSpPr>
        <p:spPr>
          <a:xfrm rot="0" flipH="0" flipV="0">
            <a:off x="3514725" y="2181225"/>
            <a:ext cx="2257425" cy="3048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500" b="1">
                <a:solidFill>
                  <a:srgbClr val="1E293B"/>
                </a:solidFill>
                <a:latin typeface="Microsoft YaHei"/>
                <a:ea typeface="Microsoft YaHei"/>
              </a:rPr>
              <a:t>读懂内容</a:t>
            </a:r>
            <a:endParaRPr/>
          </a:p>
        </p:txBody>
      </p:sp>
      <p:sp>
        <p:nvSpPr>
          <p:cNvPr id="445" name="" descr="{&quot;isTemplate&quot;:true,&quot;type&quot;:&quot;text&quot;}"/>
          <p:cNvSpPr txBox="1"/>
          <p:nvPr/>
        </p:nvSpPr>
        <p:spPr>
          <a:xfrm rot="0" flipH="0" flipV="0">
            <a:off x="3514725" y="2543175"/>
            <a:ext cx="2257425" cy="933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>PDF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、</a:t>
            </a: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>Word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、</a:t>
            </a: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>Excel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、扫描件都能解析，长文档按需摘取要点与数据。</a:t>
            </a:r>
            <a:endParaRPr/>
          </a:p>
        </p:txBody>
      </p:sp>
      <p:pic>
        <p:nvPicPr>
          <p:cNvPr id="44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5905500" y="2590800"/>
            <a:ext cx="285750" cy="171450"/>
          </a:xfrm>
          <a:prstGeom prst="rect">
            <a:avLst/>
          </a:prstGeom>
          <a:ln/>
        </p:spPr>
      </p:pic>
      <p:sp>
        <p:nvSpPr>
          <p:cNvPr id="447" name=""/>
          <p:cNvSpPr/>
          <p:nvPr/>
        </p:nvSpPr>
        <p:spPr>
          <a:xfrm rot="0" flipH="0" flipV="0">
            <a:off x="6191250" y="1733550"/>
            <a:ext cx="2524125" cy="1876425"/>
          </a:xfrm>
          <a:prstGeom prst="roundRect">
            <a:avLst>
              <a:gd name="adj" fmla="val 5076"/>
            </a:avLst>
          </a:prstGeom>
          <a:solidFill>
            <a:srgbClr val="E8EEFB"/>
          </a:solidFill>
          <a:ln w="12700">
            <a:solidFill>
              <a:srgbClr val="C7D6F5"/>
            </a:solidFill>
            <a:prstDash val="solid"/>
          </a:ln>
        </p:spPr>
        <p:txBody>
          <a:bodyPr/>
          <a:p/>
        </p:txBody>
      </p:sp>
      <p:sp>
        <p:nvSpPr>
          <p:cNvPr id="448" name="" descr="{&quot;isTemplate&quot;:true,&quot;type&quot;:&quot;text&quot;}"/>
          <p:cNvSpPr txBox="1"/>
          <p:nvPr/>
        </p:nvSpPr>
        <p:spPr>
          <a:xfrm rot="0" flipH="0" flipV="0">
            <a:off x="6324600" y="1866900"/>
            <a:ext cx="2257425" cy="2762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350" b="1">
                <a:solidFill>
                  <a:srgbClr val="94A3B8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449" name="" descr="{&quot;isTemplate&quot;:true,&quot;type&quot;:&quot;text&quot;}"/>
          <p:cNvSpPr txBox="1"/>
          <p:nvPr/>
        </p:nvSpPr>
        <p:spPr>
          <a:xfrm rot="0" flipH="0" flipV="0">
            <a:off x="6324600" y="2181225"/>
            <a:ext cx="2257425" cy="3048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500" b="1">
                <a:solidFill>
                  <a:srgbClr val="1E293B"/>
                </a:solidFill>
                <a:latin typeface="Microsoft YaHei"/>
                <a:ea typeface="Microsoft YaHei"/>
              </a:rPr>
              <a:t>生成成果</a:t>
            </a:r>
            <a:endParaRPr/>
          </a:p>
        </p:txBody>
      </p:sp>
      <p:sp>
        <p:nvSpPr>
          <p:cNvPr id="450" name="" descr="{&quot;isTemplate&quot;:true,&quot;type&quot;:&quot;text&quot;}"/>
          <p:cNvSpPr txBox="1"/>
          <p:nvPr/>
        </p:nvSpPr>
        <p:spPr>
          <a:xfrm rot="0" flipH="0" flipV="0">
            <a:off x="6324600" y="2543175"/>
            <a:ext cx="2257425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汇总成表、整理成报告、拟定初稿，按你要求的格式产出。</a:t>
            </a:r>
            <a:endParaRPr/>
          </a:p>
        </p:txBody>
      </p:sp>
      <p:pic>
        <p:nvPicPr>
          <p:cNvPr id="45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8715375" y="2590800"/>
            <a:ext cx="285750" cy="171450"/>
          </a:xfrm>
          <a:prstGeom prst="rect">
            <a:avLst/>
          </a:prstGeom>
          <a:ln/>
        </p:spPr>
      </p:pic>
      <p:sp>
        <p:nvSpPr>
          <p:cNvPr id="452" name=""/>
          <p:cNvSpPr/>
          <p:nvPr/>
        </p:nvSpPr>
        <p:spPr>
          <a:xfrm rot="0" flipH="0" flipV="0">
            <a:off x="9001125" y="1733550"/>
            <a:ext cx="2524125" cy="1876425"/>
          </a:xfrm>
          <a:prstGeom prst="roundRect">
            <a:avLst>
              <a:gd name="adj" fmla="val 5076"/>
            </a:avLst>
          </a:prstGeom>
          <a:solidFill>
            <a:srgbClr val="FFF7E9"/>
          </a:solidFill>
          <a:ln w="12700">
            <a:solidFill>
              <a:srgbClr val="F5D9A4"/>
            </a:solidFill>
            <a:prstDash val="solid"/>
          </a:ln>
        </p:spPr>
        <p:txBody>
          <a:bodyPr/>
          <a:p/>
        </p:txBody>
      </p:sp>
      <p:sp>
        <p:nvSpPr>
          <p:cNvPr id="453" name="" descr="{&quot;isTemplate&quot;:true,&quot;type&quot;:&quot;text&quot;}"/>
          <p:cNvSpPr txBox="1"/>
          <p:nvPr/>
        </p:nvSpPr>
        <p:spPr>
          <a:xfrm rot="0" flipH="0" flipV="0">
            <a:off x="9134475" y="1866900"/>
            <a:ext cx="2257425" cy="2762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350" b="1">
                <a:solidFill>
                  <a:srgbClr val="B45309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454" name="" descr="{&quot;isTemplate&quot;:true,&quot;type&quot;:&quot;text&quot;}"/>
          <p:cNvSpPr txBox="1"/>
          <p:nvPr/>
        </p:nvSpPr>
        <p:spPr>
          <a:xfrm rot="0" flipH="0" flipV="0">
            <a:off x="9134475" y="2181225"/>
            <a:ext cx="2257425" cy="3048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500" b="1">
                <a:solidFill>
                  <a:srgbClr val="1E293B"/>
                </a:solidFill>
                <a:latin typeface="Microsoft YaHei"/>
                <a:ea typeface="Microsoft YaHei"/>
              </a:rPr>
              <a:t>交付到位</a:t>
            </a:r>
            <a:endParaRPr/>
          </a:p>
        </p:txBody>
      </p:sp>
      <p:sp>
        <p:nvSpPr>
          <p:cNvPr id="455" name="" descr="{&quot;isTemplate&quot;:true,&quot;type&quot;:&quot;text&quot;}"/>
          <p:cNvSpPr txBox="1"/>
          <p:nvPr/>
        </p:nvSpPr>
        <p:spPr>
          <a:xfrm rot="0" flipH="0" flipV="0">
            <a:off x="9134475" y="2543175"/>
            <a:ext cx="2257425" cy="933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文件直接回传会话、推送到群、或按计划定时发出——结果到人，不用再来取。</a:t>
            </a:r>
            <a:endParaRPr/>
          </a:p>
        </p:txBody>
      </p:sp>
      <p:sp>
        <p:nvSpPr>
          <p:cNvPr id="456" name=""/>
          <p:cNvSpPr/>
          <p:nvPr/>
        </p:nvSpPr>
        <p:spPr>
          <a:xfrm rot="0" flipH="0" flipV="0">
            <a:off x="571500" y="3800475"/>
            <a:ext cx="3581400" cy="1228725"/>
          </a:xfrm>
          <a:prstGeom prst="roundRect">
            <a:avLst>
              <a:gd name="adj" fmla="val 7752"/>
            </a:avLst>
          </a:prstGeom>
          <a:solidFill>
            <a:srgbClr val="F4F6FB"/>
          </a:solidFill>
          <a:ln/>
        </p:spPr>
        <p:txBody>
          <a:bodyPr/>
          <a:p/>
        </p:txBody>
      </p:sp>
      <p:sp>
        <p:nvSpPr>
          <p:cNvPr id="457" name="" descr="{&quot;isTemplate&quot;:true,&quot;type&quot;:&quot;text&quot;}"/>
          <p:cNvSpPr txBox="1"/>
          <p:nvPr/>
        </p:nvSpPr>
        <p:spPr>
          <a:xfrm rot="0" flipH="0" flipV="0">
            <a:off x="704850" y="3933825"/>
            <a:ext cx="3314700" cy="3048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500" b="1">
                <a:solidFill>
                  <a:srgbClr val="1E293B"/>
                </a:solidFill>
                <a:latin typeface="Microsoft YaHei"/>
                <a:ea typeface="Microsoft YaHei"/>
              </a:rPr>
              <a:t>中文场景处理</a:t>
            </a:r>
            <a:endParaRPr/>
          </a:p>
        </p:txBody>
      </p:sp>
      <p:sp>
        <p:nvSpPr>
          <p:cNvPr id="458" name="" descr="{&quot;isTemplate&quot;:true,&quot;type&quot;:&quot;text&quot;}"/>
          <p:cNvSpPr txBox="1"/>
          <p:nvPr/>
        </p:nvSpPr>
        <p:spPr>
          <a:xfrm rot="0" flipH="0" flipV="0">
            <a:off x="704850" y="4276725"/>
            <a:ext cx="33147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编码兼容、老格式转换、扫描件自动识别。</a:t>
            </a:r>
            <a:endParaRPr/>
          </a:p>
        </p:txBody>
      </p:sp>
      <p:sp>
        <p:nvSpPr>
          <p:cNvPr id="459" name=""/>
          <p:cNvSpPr/>
          <p:nvPr/>
        </p:nvSpPr>
        <p:spPr>
          <a:xfrm rot="0" flipH="0" flipV="0">
            <a:off x="4305300" y="3800475"/>
            <a:ext cx="3581400" cy="1228725"/>
          </a:xfrm>
          <a:prstGeom prst="roundRect">
            <a:avLst>
              <a:gd name="adj" fmla="val 7752"/>
            </a:avLst>
          </a:prstGeom>
          <a:solidFill>
            <a:srgbClr val="F4F6FB"/>
          </a:solidFill>
          <a:ln/>
        </p:spPr>
        <p:txBody>
          <a:bodyPr/>
          <a:p/>
        </p:txBody>
      </p:sp>
      <p:sp>
        <p:nvSpPr>
          <p:cNvPr id="460" name="" descr="{&quot;isTemplate&quot;:true,&quot;type&quot;:&quot;text&quot;}"/>
          <p:cNvSpPr txBox="1"/>
          <p:nvPr/>
        </p:nvSpPr>
        <p:spPr>
          <a:xfrm rot="0" flipH="0" flipV="0">
            <a:off x="4438650" y="3933825"/>
            <a:ext cx="3314700" cy="3048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500" b="1">
                <a:solidFill>
                  <a:srgbClr val="1E293B"/>
                </a:solidFill>
                <a:latin typeface="Microsoft YaHei"/>
                <a:ea typeface="Microsoft YaHei"/>
              </a:rPr>
              <a:t>浏览器自动化</a:t>
            </a:r>
            <a:endParaRPr/>
          </a:p>
        </p:txBody>
      </p:sp>
      <p:sp>
        <p:nvSpPr>
          <p:cNvPr id="461" name="" descr="{&quot;isTemplate&quot;:true,&quot;type&quot;:&quot;text&quot;}"/>
          <p:cNvSpPr txBox="1"/>
          <p:nvPr/>
        </p:nvSpPr>
        <p:spPr>
          <a:xfrm rot="0" flipH="0" flipV="0">
            <a:off x="4438650" y="4276725"/>
            <a:ext cx="331470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内部系统填报、批量后台操作、页面截图核验。</a:t>
            </a:r>
            <a:endParaRPr/>
          </a:p>
        </p:txBody>
      </p:sp>
      <p:sp>
        <p:nvSpPr>
          <p:cNvPr id="462" name=""/>
          <p:cNvSpPr/>
          <p:nvPr/>
        </p:nvSpPr>
        <p:spPr>
          <a:xfrm rot="0" flipH="0" flipV="0">
            <a:off x="8039100" y="3800475"/>
            <a:ext cx="3581400" cy="1228725"/>
          </a:xfrm>
          <a:prstGeom prst="roundRect">
            <a:avLst>
              <a:gd name="adj" fmla="val 7752"/>
            </a:avLst>
          </a:prstGeom>
          <a:solidFill>
            <a:srgbClr val="F4F6FB"/>
          </a:solidFill>
          <a:ln/>
        </p:spPr>
        <p:txBody>
          <a:bodyPr/>
          <a:p/>
        </p:txBody>
      </p:sp>
      <p:sp>
        <p:nvSpPr>
          <p:cNvPr id="463" name="" descr="{&quot;isTemplate&quot;:true,&quot;type&quot;:&quot;text&quot;}"/>
          <p:cNvSpPr txBox="1"/>
          <p:nvPr/>
        </p:nvSpPr>
        <p:spPr>
          <a:xfrm rot="0" flipH="0" flipV="0">
            <a:off x="8172450" y="3933825"/>
            <a:ext cx="3314700" cy="3048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500" b="1">
                <a:solidFill>
                  <a:srgbClr val="1E293B"/>
                </a:solidFill>
                <a:latin typeface="Microsoft YaHei"/>
                <a:ea typeface="Microsoft YaHei"/>
              </a:rPr>
              <a:t>全程可控</a:t>
            </a:r>
            <a:endParaRPr/>
          </a:p>
        </p:txBody>
      </p:sp>
      <p:sp>
        <p:nvSpPr>
          <p:cNvPr id="464" name="" descr="{&quot;isTemplate&quot;:true,&quot;type&quot;:&quot;text&quot;}"/>
          <p:cNvSpPr txBox="1"/>
          <p:nvPr/>
        </p:nvSpPr>
        <p:spPr>
          <a:xfrm rot="0" flipH="0" flipV="0">
            <a:off x="8172450" y="4276725"/>
            <a:ext cx="33147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高风险动作先审批，文件操作按权限执行。</a:t>
            </a:r>
            <a:endParaRPr/>
          </a:p>
        </p:txBody>
      </p:sp>
      <p:sp>
        <p:nvSpPr>
          <p:cNvPr id="465" name=""/>
          <p:cNvSpPr/>
          <p:nvPr/>
        </p:nvSpPr>
        <p:spPr>
          <a:xfrm rot="0" flipH="0" flipV="0">
            <a:off x="571500" y="5181600"/>
            <a:ext cx="11049000" cy="552450"/>
          </a:xfrm>
          <a:prstGeom prst="roundRect">
            <a:avLst>
              <a:gd name="adj" fmla="val 17241"/>
            </a:avLst>
          </a:prstGeom>
          <a:solidFill>
            <a:srgbClr val="E8EEFB"/>
          </a:solidFill>
          <a:ln/>
        </p:spPr>
        <p:txBody>
          <a:bodyPr/>
          <a:p/>
        </p:txBody>
      </p:sp>
      <p:sp>
        <p:nvSpPr>
          <p:cNvPr id="466" name="" descr="{&quot;isTemplate&quot;:true,&quot;type&quot;:&quot;text&quot;}"/>
          <p:cNvSpPr txBox="1"/>
          <p:nvPr/>
        </p:nvSpPr>
        <p:spPr>
          <a:xfrm rot="0" flipH="0" flipV="0">
            <a:off x="704850" y="5305425"/>
            <a:ext cx="10782300" cy="3048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425" b="1">
                <a:solidFill>
                  <a:srgbClr val="1E293B"/>
                </a:solidFill>
                <a:latin typeface="Microsoft YaHei"/>
                <a:ea typeface="Microsoft YaHei"/>
              </a:rPr>
              <a:t>大部分办公时间不是花在「想」，而是花在找、抄、改、发——这条链路正是数字员工的主场。</a:t>
            </a:r>
            <a:endParaRPr/>
          </a:p>
        </p:txBody>
      </p:sp>
    </p:spTree>
  </p:cSld>
</p:sld>
</file>

<file path=ppt/slides/slide25.xml><?xml version="1.0" encoding="utf-8"?>
<p:sld xmlns:p="http://schemas.openxmlformats.org/presentationml/2006/main" xmlns:a="http://schemas.openxmlformats.org/drawingml/2006/main">
  <p:cSld>
    <p:spTree>
      <p:nvGrpSpPr>
        <p:cNvPr id="467" name="" descr="&lt;Slide style={{ padding: 60, background: '#FFFFFF' }}&gt;&#10;    &lt;Box style={{ height: 600 }}&gt;&#10;        &lt;Box style={{ height: 20, flexDirection: 'row', justifyContent: 'space-between', alignItems: 'center' }}&gt;&#10;            &lt;Text style={{ fontSize: 14, color: '#94A3B8', letterSpacing: 2 }}&gt;02 · 业务怎么用&lt;/Text&gt;&#10;            &lt;Box style={{ width: 44, height: 4, borderRadius: 2, background: '#2563EB' }} /&gt;&#10;        &lt;/Box&gt;&#10;        &lt;Text style={{ fontSize: 34, fontWeight: 'bold', color: '#1E293B', marginTop: 16, lineHeight: 1.2 }}&gt;&#10;            专题｜24 个技能包、37 个插件：开箱即用的能力库&#10;        &lt;/Text&gt;&#10;        &lt;Box style={{ height: 1, background: '#E2E8F0', marginTop: 16 }} /&gt;&#10;&#10;        &lt;Box style={{ flex: 1, marginTop: 20, flexDirection: 'row', gap: 24 }}&gt;&#10;            {/* 左：技能包 */}&#10;            &lt;Box style={{ width: 540, background: '#F4F6FB', borderRadius: 12, padding: 20 }}&gt;&#10;                &lt;Box style={{ flexDirection: 'row', alignItems: 'baseline' }}&gt;&#10;                    &lt;Text style={{ fontSize: 46, fontWeight: 'bold', color: '#2563EB', lineHeight: 1.0 }}&gt;24&lt;/Text&gt;&#10;                    &lt;Text style={{ fontSize: 20, fontWeight: '600', color: '#1E293B', marginLeft: 10 }}&gt;个技能包（中英双语）&lt;/Text&gt;&#10;                &lt;/Box&gt;&#10;                &lt;Text style={{ fontSize: 18, color: '#475569', lineHeight: 1.5, marginTop: 8 }}&gt;&#10;                    按场景装进不同岗位的数字同事，像给员工配发工具箱。&#10;                &lt;/Text&gt;&#10;                &lt;Box style={{ height: 1, background: '#E2E8F0', marginTop: 12 }} /&gt;&#10;                &lt;Box style={{ flexDirection: 'row', gap: 8, marginTop: 12 }}&gt;&#10;                    &lt;Box style={{ background: '#E8EEFB', borderRadius: 8, padding: 9 }}&gt;&lt;Text style={{ fontSize: 18, color: '#1E293B' }}&gt;计划拆解&lt;/Text&gt;&lt;/Box&gt;&#10;                    &lt;Box style={{ background: '#E8EEFB', borderRadius: 8, padding: 9 }}&gt;&lt;Text style={{ fontSize: 18, color: '#1E293B' }}&gt;PPT 制作&lt;/Text&gt;&lt;/Box&gt;&#10;                    &lt;Box style={{ background: '#E8EEFB', borderRadius: 8, padding: 9 }}&gt;&lt;Text style={{ fontSize: 18, color: '#1E293B' }}&gt;PDF 处理&lt;/Text&gt;&lt;/Box&gt;&#10;                &lt;/Box&gt;&#10;                &lt;Box style={{ flexDirection: 'row', gap: 8, marginTop: 8 }}&gt;&#10;                    &lt;Box style={{ background: '#E8EEFB', borderRadius: 8, padding: 9 }}&gt;&lt;Text style={{ fontSize: 18, color: '#1E293B' }}&gt;扫描件识别&lt;/Text&gt;&lt;/Box&gt;&#10;                    &lt;Box style={{ background: '#E8EEFB', borderRadius: 8, padding: 9 }}&gt;&lt;Text style={{ fontSize: 18, color: '#1E293B' }}&gt;数据笔记本&lt;/Text&gt;&lt;/Box&gt;&#10;                    &lt;Box style={{ background: '#E8EEFB', borderRadius: 8, padding: 9 }}&gt;&lt;Text style={{ fontSize: 18, color: '#1E293B' }}&gt;系统化排障&lt;/Text&gt;&lt;/Box&gt;&#10;                &lt;/Box&gt;&#10;                &lt;Box style={{ flexDirection: 'row', gap: 8, marginTop: 8 }}&gt;&#10;                    &lt;Box style={{ background: '#FFF7E9', borderRadius: 8, padding: 9 }}&gt;&lt;Text style={{ fontSize: 18, color: '#B45309' }}&gt;技能工厂 · 更多…&lt;/Text&gt;&lt;/Box&gt;&#10;                &lt;/Box&gt;&#10;            &lt;/Box&gt;&#10;&#10;            {/* 右：插件 + 扩充 */}&#10;            &lt;Box style={{ flex: 1, gap: 14 }}&gt;&#10;                &lt;Box style={{ flex: 1, background: '#E8EEFB', borderRadius: 12, padding: 20 }}&gt;&#10;                    &lt;Box style={{ flexDirection: 'row', alignItems: 'baseline' }}&gt;&#10;                        &lt;Text style={{ fontSize: 46, fontWeight: 'bold', color: '#2563EB', lineHeight: 1.0 }}&gt;37&lt;/Text&gt;&#10;                        &lt;Text style={{ fontSize: 20, fontWeight: '600', color: '#1E293B', marginLeft: 10 }}&gt;个内置插件&lt;/Text&gt;&#10;                    &lt;/Box&gt;&#10;                    &lt;Text style={{ fontSize: 18, color: '#1E293B', lineHeight: 1.55, marginTop: 8 }}&gt;&#10;                        天气、行情、热点、记账、二维码、习惯打卡、影视查询……装上即可让数字同事多一手技能。&#10;                    &lt;/Text&gt;&#10;                &lt;/Box&gt;&#10;                &lt;Box style={{ flex: 1, background: '#FFF7E9', borderRadius: 12, padding: 20 }}&gt;&#10;                    &lt;Text style={{ fontSize: 22, fontWeight: '600', color: '#B45309', lineHeight: 1.3 }}&gt;持续扩充 + 安全把关&lt;/Text&gt;&#10;                    &lt;Text style={{ fontSize: 18, color: '#7C2D12', lineHeight: 1.55, marginTop: 8 }}&gt;&#10;                        在线技能市场随时安装新能力；第三方技能支持扫描策略（关闭 / 告警 / 阻断），进什么不进什么由公司定。&#10;                    &lt;/Text&gt;&#10;                &lt;/Box&gt;&#10;            &lt;/Box&gt;&#10;        &lt;/Box&gt;&#10;&#10;        {/* 结论条 */}&#10;        &lt;Box style={{ height: 58, background: '#E8EEFB', borderRadius: 10, padding: 14, marginTop: 12, justifyContent: 'center' }}&gt;&#10;            &lt;Text style={{ fontSize: 19, fontWeight: '600', color: '#1E293B', lineHeight: 1.4 }}&gt;&#10;                采购一套产品，也拿到一条可持续扩充能力的供应链——新场景先问「有没有现成技能」，而不是先排开发。&#10;            &lt;/Text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69" name="" descr="{&quot;isTemplate&quot;:true,&quot;type&quot;:&quot;text&quot;}"/>
          <p:cNvSpPr txBox="1"/>
          <p:nvPr/>
        </p:nvSpPr>
        <p:spPr>
          <a:xfrm rot="0" flipH="0" flipV="0">
            <a:off x="571500" y="590550"/>
            <a:ext cx="1133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94A3B8"/>
                </a:solidFill>
                <a:latin typeface="Microsoft YaHei"/>
                <a:ea typeface="Microsoft YaHei"/>
              </a:rPr>
              <a:t xml:space="preserve">02 · </a:t>
            </a:r>
            <a:r>
              <a:rPr lang="zh-CN" sz="1050" spc="150">
                <a:solidFill>
                  <a:srgbClr val="94A3B8"/>
                </a:solidFill>
                <a:latin typeface="Microsoft YaHei"/>
                <a:ea typeface="Microsoft YaHei"/>
              </a:rPr>
              <a:t>业务怎么用</a:t>
            </a:r>
            <a:endParaRPr/>
          </a:p>
        </p:txBody>
      </p:sp>
      <p:sp>
        <p:nvSpPr>
          <p:cNvPr id="470" name=""/>
          <p:cNvSpPr/>
          <p:nvPr/>
        </p:nvSpPr>
        <p:spPr>
          <a:xfrm rot="0" flipH="0" flipV="0">
            <a:off x="11201400" y="647700"/>
            <a:ext cx="419100" cy="38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471" name="" descr="{&quot;isTemplate&quot;:true,&quot;type&quot;:&quot;text&quot;}"/>
          <p:cNvSpPr txBox="1"/>
          <p:nvPr/>
        </p:nvSpPr>
        <p:spPr>
          <a:xfrm rot="0" flipH="0" flipV="0">
            <a:off x="571500" y="914400"/>
            <a:ext cx="110490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E293B"/>
                </a:solidFill>
                <a:latin typeface="Microsoft YaHei"/>
                <a:ea typeface="Microsoft YaHei"/>
              </a:rPr>
              <a:t>专题｜</a:t>
            </a:r>
            <a:r>
              <a:rPr lang="en-US" sz="2550" b="1">
                <a:solidFill>
                  <a:srgbClr val="1E293B"/>
                </a:solidFill>
                <a:latin typeface="Microsoft YaHei"/>
                <a:ea typeface="Microsoft YaHei"/>
              </a:rPr>
              <a:t xml:space="preserve">24 </a:t>
            </a:r>
            <a:r>
              <a:rPr lang="zh-CN" sz="2550" b="1">
                <a:solidFill>
                  <a:srgbClr val="1E293B"/>
                </a:solidFill>
                <a:latin typeface="Microsoft YaHei"/>
                <a:ea typeface="Microsoft YaHei"/>
              </a:rPr>
              <a:t>个技能包、</a:t>
            </a:r>
            <a:r>
              <a:rPr lang="en-US" sz="2550" b="1">
                <a:solidFill>
                  <a:srgbClr val="1E293B"/>
                </a:solidFill>
                <a:latin typeface="Microsoft YaHei"/>
                <a:ea typeface="Microsoft YaHei"/>
              </a:rPr>
              <a:t xml:space="preserve">37 </a:t>
            </a:r>
            <a:r>
              <a:rPr lang="zh-CN" sz="2550" b="1">
                <a:solidFill>
                  <a:srgbClr val="1E293B"/>
                </a:solidFill>
                <a:latin typeface="Microsoft YaHei"/>
                <a:ea typeface="Microsoft YaHei"/>
              </a:rPr>
              <a:t>个插件：开箱即用的能力库</a:t>
            </a:r>
            <a:endParaRPr/>
          </a:p>
        </p:txBody>
      </p:sp>
      <p:sp>
        <p:nvSpPr>
          <p:cNvPr id="472" name=""/>
          <p:cNvSpPr/>
          <p:nvPr/>
        </p:nvSpPr>
        <p:spPr>
          <a:xfrm rot="0" flipH="0" flipV="0">
            <a:off x="571500" y="1533525"/>
            <a:ext cx="1104900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473" name=""/>
          <p:cNvSpPr/>
          <p:nvPr/>
        </p:nvSpPr>
        <p:spPr>
          <a:xfrm rot="0" flipH="0" flipV="0">
            <a:off x="571500" y="1733550"/>
            <a:ext cx="5143500" cy="3886200"/>
          </a:xfrm>
          <a:prstGeom prst="roundRect">
            <a:avLst>
              <a:gd name="adj" fmla="val 2941"/>
            </a:avLst>
          </a:prstGeom>
          <a:solidFill>
            <a:srgbClr val="F4F6FB"/>
          </a:solidFill>
          <a:ln/>
        </p:spPr>
        <p:txBody>
          <a:bodyPr/>
          <a:p/>
        </p:txBody>
      </p:sp>
      <p:sp>
        <p:nvSpPr>
          <p:cNvPr id="474" name="" descr="{&quot;isTemplate&quot;:true,&quot;type&quot;:&quot;text&quot;}"/>
          <p:cNvSpPr txBox="1"/>
          <p:nvPr/>
        </p:nvSpPr>
        <p:spPr>
          <a:xfrm rot="0" flipH="0" flipV="0">
            <a:off x="762000" y="1924050"/>
            <a:ext cx="542925" cy="533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450" b="1">
                <a:solidFill>
                  <a:srgbClr val="2563EB"/>
                </a:solidFill>
                <a:latin typeface="Microsoft YaHei"/>
                <a:ea typeface="Microsoft YaHei"/>
              </a:rPr>
              <a:t>24</a:t>
            </a:r>
            <a:endParaRPr/>
          </a:p>
        </p:txBody>
      </p:sp>
      <p:sp>
        <p:nvSpPr>
          <p:cNvPr id="475" name="" descr="{&quot;isTemplate&quot;:true,&quot;type&quot;:&quot;text&quot;}"/>
          <p:cNvSpPr txBox="1"/>
          <p:nvPr/>
        </p:nvSpPr>
        <p:spPr>
          <a:xfrm rot="0" flipH="0" flipV="0">
            <a:off x="1400175" y="1924050"/>
            <a:ext cx="1905000" cy="533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E293B"/>
                </a:solidFill>
                <a:latin typeface="Microsoft YaHei"/>
                <a:ea typeface="Microsoft YaHei"/>
              </a:rPr>
              <a:t>个技能包（中英双语）</a:t>
            </a:r>
            <a:endParaRPr/>
          </a:p>
        </p:txBody>
      </p:sp>
      <p:sp>
        <p:nvSpPr>
          <p:cNvPr id="476" name="" descr="{&quot;isTemplate&quot;:true,&quot;type&quot;:&quot;text&quot;}"/>
          <p:cNvSpPr txBox="1"/>
          <p:nvPr/>
        </p:nvSpPr>
        <p:spPr>
          <a:xfrm rot="0" flipH="0" flipV="0">
            <a:off x="762000" y="2533650"/>
            <a:ext cx="47625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按场景装进不同岗位的数字同事，像给员工配发工具箱。</a:t>
            </a:r>
            <a:endParaRPr/>
          </a:p>
        </p:txBody>
      </p:sp>
      <p:sp>
        <p:nvSpPr>
          <p:cNvPr id="477" name=""/>
          <p:cNvSpPr/>
          <p:nvPr/>
        </p:nvSpPr>
        <p:spPr>
          <a:xfrm rot="0" flipH="0" flipV="0">
            <a:off x="762000" y="2962275"/>
            <a:ext cx="476250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478" name=""/>
          <p:cNvSpPr/>
          <p:nvPr/>
        </p:nvSpPr>
        <p:spPr>
          <a:xfrm rot="0" flipH="0" flipV="0">
            <a:off x="762000" y="3086100"/>
            <a:ext cx="857250" cy="381000"/>
          </a:xfrm>
          <a:prstGeom prst="roundRect">
            <a:avLst>
              <a:gd name="adj" fmla="val 20000"/>
            </a:avLst>
          </a:prstGeom>
          <a:solidFill>
            <a:srgbClr val="E8EEFB"/>
          </a:solidFill>
          <a:ln/>
        </p:spPr>
        <p:txBody>
          <a:bodyPr/>
          <a:p/>
        </p:txBody>
      </p:sp>
      <p:sp>
        <p:nvSpPr>
          <p:cNvPr id="479" name="" descr="{&quot;isTemplate&quot;:true,&quot;type&quot;:&quot;text&quot;}"/>
          <p:cNvSpPr txBox="1"/>
          <p:nvPr/>
        </p:nvSpPr>
        <p:spPr>
          <a:xfrm rot="0" flipH="0" flipV="0">
            <a:off x="847725" y="3171825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1E293B"/>
                </a:solidFill>
                <a:latin typeface="Microsoft YaHei"/>
                <a:ea typeface="Microsoft YaHei"/>
              </a:rPr>
              <a:t>计划拆解</a:t>
            </a:r>
            <a:endParaRPr/>
          </a:p>
        </p:txBody>
      </p:sp>
      <p:sp>
        <p:nvSpPr>
          <p:cNvPr id="480" name=""/>
          <p:cNvSpPr/>
          <p:nvPr/>
        </p:nvSpPr>
        <p:spPr>
          <a:xfrm rot="0" flipH="0" flipV="0">
            <a:off x="1695450" y="3086100"/>
            <a:ext cx="876300" cy="381000"/>
          </a:xfrm>
          <a:prstGeom prst="roundRect">
            <a:avLst>
              <a:gd name="adj" fmla="val 20000"/>
            </a:avLst>
          </a:prstGeom>
          <a:solidFill>
            <a:srgbClr val="E8EEFB"/>
          </a:solidFill>
          <a:ln/>
        </p:spPr>
        <p:txBody>
          <a:bodyPr/>
          <a:p/>
        </p:txBody>
      </p:sp>
      <p:sp>
        <p:nvSpPr>
          <p:cNvPr id="481" name="" descr="{&quot;isTemplate&quot;:true,&quot;type&quot;:&quot;text&quot;}"/>
          <p:cNvSpPr txBox="1"/>
          <p:nvPr/>
        </p:nvSpPr>
        <p:spPr>
          <a:xfrm rot="0" flipH="0" flipV="0">
            <a:off x="1781175" y="3171825"/>
            <a:ext cx="7048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1E293B"/>
                </a:solidFill>
                <a:latin typeface="Microsoft YaHei"/>
                <a:ea typeface="Microsoft YaHei"/>
              </a:rPr>
              <a:t xml:space="preserve">PPT </a:t>
            </a:r>
            <a:r>
              <a:rPr lang="zh-CN" sz="1350">
                <a:solidFill>
                  <a:srgbClr val="1E293B"/>
                </a:solidFill>
                <a:latin typeface="Microsoft YaHei"/>
                <a:ea typeface="Microsoft YaHei"/>
              </a:rPr>
              <a:t>制作</a:t>
            </a:r>
            <a:endParaRPr/>
          </a:p>
        </p:txBody>
      </p:sp>
      <p:sp>
        <p:nvSpPr>
          <p:cNvPr id="482" name=""/>
          <p:cNvSpPr/>
          <p:nvPr/>
        </p:nvSpPr>
        <p:spPr>
          <a:xfrm rot="0" flipH="0" flipV="0">
            <a:off x="2647950" y="3086100"/>
            <a:ext cx="895350" cy="381000"/>
          </a:xfrm>
          <a:prstGeom prst="roundRect">
            <a:avLst>
              <a:gd name="adj" fmla="val 20000"/>
            </a:avLst>
          </a:prstGeom>
          <a:solidFill>
            <a:srgbClr val="E8EEFB"/>
          </a:solidFill>
          <a:ln/>
        </p:spPr>
        <p:txBody>
          <a:bodyPr/>
          <a:p/>
        </p:txBody>
      </p:sp>
      <p:sp>
        <p:nvSpPr>
          <p:cNvPr id="483" name="" descr="{&quot;isTemplate&quot;:true,&quot;type&quot;:&quot;text&quot;}"/>
          <p:cNvSpPr txBox="1"/>
          <p:nvPr/>
        </p:nvSpPr>
        <p:spPr>
          <a:xfrm rot="0" flipH="0" flipV="0">
            <a:off x="2733675" y="3171825"/>
            <a:ext cx="723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1E293B"/>
                </a:solidFill>
                <a:latin typeface="Microsoft YaHei"/>
                <a:ea typeface="Microsoft YaHei"/>
              </a:rPr>
              <a:t xml:space="preserve">PDF </a:t>
            </a:r>
            <a:r>
              <a:rPr lang="zh-CN" sz="1350">
                <a:solidFill>
                  <a:srgbClr val="1E293B"/>
                </a:solidFill>
                <a:latin typeface="Microsoft YaHei"/>
                <a:ea typeface="Microsoft YaHei"/>
              </a:rPr>
              <a:t>处理</a:t>
            </a:r>
            <a:endParaRPr/>
          </a:p>
        </p:txBody>
      </p:sp>
      <p:sp>
        <p:nvSpPr>
          <p:cNvPr id="484" name=""/>
          <p:cNvSpPr/>
          <p:nvPr/>
        </p:nvSpPr>
        <p:spPr>
          <a:xfrm rot="0" flipH="0" flipV="0">
            <a:off x="762000" y="3543300"/>
            <a:ext cx="1028700" cy="381000"/>
          </a:xfrm>
          <a:prstGeom prst="roundRect">
            <a:avLst>
              <a:gd name="adj" fmla="val 20000"/>
            </a:avLst>
          </a:prstGeom>
          <a:solidFill>
            <a:srgbClr val="E8EEFB"/>
          </a:solidFill>
          <a:ln/>
        </p:spPr>
        <p:txBody>
          <a:bodyPr/>
          <a:p/>
        </p:txBody>
      </p:sp>
      <p:sp>
        <p:nvSpPr>
          <p:cNvPr id="485" name="" descr="{&quot;isTemplate&quot;:true,&quot;type&quot;:&quot;text&quot;}"/>
          <p:cNvSpPr txBox="1"/>
          <p:nvPr/>
        </p:nvSpPr>
        <p:spPr>
          <a:xfrm rot="0" flipH="0" flipV="0">
            <a:off x="847725" y="3629025"/>
            <a:ext cx="857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1E293B"/>
                </a:solidFill>
                <a:latin typeface="Microsoft YaHei"/>
                <a:ea typeface="Microsoft YaHei"/>
              </a:rPr>
              <a:t>扫描件识别</a:t>
            </a:r>
            <a:endParaRPr/>
          </a:p>
        </p:txBody>
      </p:sp>
      <p:sp>
        <p:nvSpPr>
          <p:cNvPr id="486" name=""/>
          <p:cNvSpPr/>
          <p:nvPr/>
        </p:nvSpPr>
        <p:spPr>
          <a:xfrm rot="0" flipH="0" flipV="0">
            <a:off x="1866900" y="3543300"/>
            <a:ext cx="1028700" cy="381000"/>
          </a:xfrm>
          <a:prstGeom prst="roundRect">
            <a:avLst>
              <a:gd name="adj" fmla="val 20000"/>
            </a:avLst>
          </a:prstGeom>
          <a:solidFill>
            <a:srgbClr val="E8EEFB"/>
          </a:solidFill>
          <a:ln/>
        </p:spPr>
        <p:txBody>
          <a:bodyPr/>
          <a:p/>
        </p:txBody>
      </p:sp>
      <p:sp>
        <p:nvSpPr>
          <p:cNvPr id="487" name="" descr="{&quot;isTemplate&quot;:true,&quot;type&quot;:&quot;text&quot;}"/>
          <p:cNvSpPr txBox="1"/>
          <p:nvPr/>
        </p:nvSpPr>
        <p:spPr>
          <a:xfrm rot="0" flipH="0" flipV="0">
            <a:off x="1952625" y="3629025"/>
            <a:ext cx="857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1E293B"/>
                </a:solidFill>
                <a:latin typeface="Microsoft YaHei"/>
                <a:ea typeface="Microsoft YaHei"/>
              </a:rPr>
              <a:t>数据笔记本</a:t>
            </a:r>
            <a:endParaRPr/>
          </a:p>
        </p:txBody>
      </p:sp>
      <p:sp>
        <p:nvSpPr>
          <p:cNvPr id="488" name=""/>
          <p:cNvSpPr/>
          <p:nvPr/>
        </p:nvSpPr>
        <p:spPr>
          <a:xfrm rot="0" flipH="0" flipV="0">
            <a:off x="2971800" y="3543300"/>
            <a:ext cx="1028700" cy="381000"/>
          </a:xfrm>
          <a:prstGeom prst="roundRect">
            <a:avLst>
              <a:gd name="adj" fmla="val 20000"/>
            </a:avLst>
          </a:prstGeom>
          <a:solidFill>
            <a:srgbClr val="E8EEFB"/>
          </a:solidFill>
          <a:ln/>
        </p:spPr>
        <p:txBody>
          <a:bodyPr/>
          <a:p/>
        </p:txBody>
      </p:sp>
      <p:sp>
        <p:nvSpPr>
          <p:cNvPr id="489" name="" descr="{&quot;isTemplate&quot;:true,&quot;type&quot;:&quot;text&quot;}"/>
          <p:cNvSpPr txBox="1"/>
          <p:nvPr/>
        </p:nvSpPr>
        <p:spPr>
          <a:xfrm rot="0" flipH="0" flipV="0">
            <a:off x="3057525" y="3629025"/>
            <a:ext cx="857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1E293B"/>
                </a:solidFill>
                <a:latin typeface="Microsoft YaHei"/>
                <a:ea typeface="Microsoft YaHei"/>
              </a:rPr>
              <a:t>系统化排障</a:t>
            </a:r>
            <a:endParaRPr/>
          </a:p>
        </p:txBody>
      </p:sp>
      <p:sp>
        <p:nvSpPr>
          <p:cNvPr id="490" name=""/>
          <p:cNvSpPr/>
          <p:nvPr/>
        </p:nvSpPr>
        <p:spPr>
          <a:xfrm rot="0" flipH="0" flipV="0">
            <a:off x="762000" y="4000500"/>
            <a:ext cx="1485900" cy="381000"/>
          </a:xfrm>
          <a:prstGeom prst="roundRect">
            <a:avLst>
              <a:gd name="adj" fmla="val 20000"/>
            </a:avLst>
          </a:prstGeom>
          <a:solidFill>
            <a:srgbClr val="FFF7E9"/>
          </a:solidFill>
          <a:ln/>
        </p:spPr>
        <p:txBody>
          <a:bodyPr/>
          <a:p/>
        </p:txBody>
      </p:sp>
      <p:sp>
        <p:nvSpPr>
          <p:cNvPr id="491" name="" descr="{&quot;isTemplate&quot;:true,&quot;type&quot;:&quot;text&quot;}"/>
          <p:cNvSpPr txBox="1"/>
          <p:nvPr/>
        </p:nvSpPr>
        <p:spPr>
          <a:xfrm rot="0" flipH="0" flipV="0">
            <a:off x="847725" y="4086225"/>
            <a:ext cx="1314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B45309"/>
                </a:solidFill>
                <a:latin typeface="Microsoft YaHei"/>
                <a:ea typeface="Microsoft YaHei"/>
              </a:rPr>
              <a:t>技能工厂</a:t>
            </a:r>
            <a:r>
              <a:rPr lang="en-US" sz="1350">
                <a:solidFill>
                  <a:srgbClr val="B4530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350">
                <a:solidFill>
                  <a:srgbClr val="B45309"/>
                </a:solidFill>
                <a:latin typeface="Microsoft YaHei"/>
                <a:ea typeface="Microsoft YaHei"/>
              </a:rPr>
              <a:t>更多…</a:t>
            </a:r>
            <a:endParaRPr/>
          </a:p>
        </p:txBody>
      </p:sp>
      <p:sp>
        <p:nvSpPr>
          <p:cNvPr id="492" name=""/>
          <p:cNvSpPr/>
          <p:nvPr/>
        </p:nvSpPr>
        <p:spPr>
          <a:xfrm rot="0" flipH="0" flipV="0">
            <a:off x="5943600" y="1733550"/>
            <a:ext cx="5676900" cy="1981200"/>
          </a:xfrm>
          <a:prstGeom prst="roundRect">
            <a:avLst>
              <a:gd name="adj" fmla="val 5769"/>
            </a:avLst>
          </a:prstGeom>
          <a:solidFill>
            <a:srgbClr val="E8EEFB"/>
          </a:solidFill>
          <a:ln/>
        </p:spPr>
        <p:txBody>
          <a:bodyPr/>
          <a:p/>
        </p:txBody>
      </p:sp>
      <p:sp>
        <p:nvSpPr>
          <p:cNvPr id="493" name="" descr="{&quot;isTemplate&quot;:true,&quot;type&quot;:&quot;text&quot;}"/>
          <p:cNvSpPr txBox="1"/>
          <p:nvPr/>
        </p:nvSpPr>
        <p:spPr>
          <a:xfrm rot="0" flipH="0" flipV="0">
            <a:off x="6134100" y="1924050"/>
            <a:ext cx="542925" cy="533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450" b="1">
                <a:solidFill>
                  <a:srgbClr val="2563EB"/>
                </a:solidFill>
                <a:latin typeface="Microsoft YaHei"/>
                <a:ea typeface="Microsoft YaHei"/>
              </a:rPr>
              <a:t>37</a:t>
            </a:r>
            <a:endParaRPr/>
          </a:p>
        </p:txBody>
      </p:sp>
      <p:sp>
        <p:nvSpPr>
          <p:cNvPr id="494" name="" descr="{&quot;isTemplate&quot;:true,&quot;type&quot;:&quot;text&quot;}"/>
          <p:cNvSpPr txBox="1"/>
          <p:nvPr/>
        </p:nvSpPr>
        <p:spPr>
          <a:xfrm rot="0" flipH="0" flipV="0">
            <a:off x="6772275" y="1924050"/>
            <a:ext cx="952500" cy="533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E293B"/>
                </a:solidFill>
                <a:latin typeface="Microsoft YaHei"/>
                <a:ea typeface="Microsoft YaHei"/>
              </a:rPr>
              <a:t>个内置插件</a:t>
            </a:r>
            <a:endParaRPr/>
          </a:p>
        </p:txBody>
      </p:sp>
      <p:sp>
        <p:nvSpPr>
          <p:cNvPr id="495" name="" descr="{&quot;isTemplate&quot;:true,&quot;type&quot;:&quot;text&quot;}"/>
          <p:cNvSpPr txBox="1"/>
          <p:nvPr/>
        </p:nvSpPr>
        <p:spPr>
          <a:xfrm rot="0" flipH="0" flipV="0">
            <a:off x="6134100" y="2533650"/>
            <a:ext cx="5295900" cy="638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350">
                <a:solidFill>
                  <a:srgbClr val="1E293B"/>
                </a:solidFill>
                <a:latin typeface="Microsoft YaHei"/>
                <a:ea typeface="Microsoft YaHei"/>
              </a:rPr>
              <a:t>天气、行情、热点、记账、二维码、习惯打卡、影视查询……装上即可让数字同事多一手技能。</a:t>
            </a:r>
            <a:endParaRPr/>
          </a:p>
        </p:txBody>
      </p:sp>
      <p:sp>
        <p:nvSpPr>
          <p:cNvPr id="496" name=""/>
          <p:cNvSpPr/>
          <p:nvPr/>
        </p:nvSpPr>
        <p:spPr>
          <a:xfrm rot="0" flipH="0" flipV="0">
            <a:off x="5943600" y="3848100"/>
            <a:ext cx="5676900" cy="1771650"/>
          </a:xfrm>
          <a:prstGeom prst="roundRect">
            <a:avLst>
              <a:gd name="adj" fmla="val 6452"/>
            </a:avLst>
          </a:prstGeom>
          <a:solidFill>
            <a:srgbClr val="FFF7E9"/>
          </a:solidFill>
          <a:ln/>
        </p:spPr>
        <p:txBody>
          <a:bodyPr/>
          <a:p/>
        </p:txBody>
      </p:sp>
      <p:sp>
        <p:nvSpPr>
          <p:cNvPr id="497" name="" descr="{&quot;isTemplate&quot;:true,&quot;type&quot;:&quot;text&quot;}"/>
          <p:cNvSpPr txBox="1"/>
          <p:nvPr/>
        </p:nvSpPr>
        <p:spPr>
          <a:xfrm rot="0" flipH="0" flipV="0">
            <a:off x="6134100" y="4038600"/>
            <a:ext cx="5295900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B45309"/>
                </a:solidFill>
                <a:latin typeface="Microsoft YaHei"/>
                <a:ea typeface="Microsoft YaHei"/>
              </a:rPr>
              <a:t>持续扩充</a:t>
            </a:r>
            <a:r>
              <a:rPr lang="en-US" sz="1650" b="1">
                <a:solidFill>
                  <a:srgbClr val="B45309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650" b="1">
                <a:solidFill>
                  <a:srgbClr val="B45309"/>
                </a:solidFill>
                <a:latin typeface="Microsoft YaHei"/>
                <a:ea typeface="Microsoft YaHei"/>
              </a:rPr>
              <a:t>安全把关</a:t>
            </a:r>
            <a:endParaRPr/>
          </a:p>
        </p:txBody>
      </p:sp>
      <p:sp>
        <p:nvSpPr>
          <p:cNvPr id="498" name="" descr="{&quot;isTemplate&quot;:true,&quot;type&quot;:&quot;text&quot;}"/>
          <p:cNvSpPr txBox="1"/>
          <p:nvPr/>
        </p:nvSpPr>
        <p:spPr>
          <a:xfrm rot="0" flipH="0" flipV="0">
            <a:off x="6134100" y="4448175"/>
            <a:ext cx="5295900" cy="638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350">
                <a:solidFill>
                  <a:srgbClr val="7C2D12"/>
                </a:solidFill>
                <a:latin typeface="Microsoft YaHei"/>
                <a:ea typeface="Microsoft YaHei"/>
              </a:rPr>
              <a:t>在线技能市场随时安装新能力；第三方技能支持扫描策略（关闭</a:t>
            </a:r>
            <a:r>
              <a:rPr lang="en-US" sz="1350">
                <a:solidFill>
                  <a:srgbClr val="7C2D12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350">
                <a:solidFill>
                  <a:srgbClr val="7C2D12"/>
                </a:solidFill>
                <a:latin typeface="Microsoft YaHei"/>
                <a:ea typeface="Microsoft YaHei"/>
              </a:rPr>
              <a:t>告警</a:t>
            </a:r>
            <a:r>
              <a:rPr lang="en-US" sz="1350">
                <a:solidFill>
                  <a:srgbClr val="7C2D12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350">
                <a:solidFill>
                  <a:srgbClr val="7C2D12"/>
                </a:solidFill>
                <a:latin typeface="Microsoft YaHei"/>
                <a:ea typeface="Microsoft YaHei"/>
              </a:rPr>
              <a:t>阻断），进什么不进什么由公司定。</a:t>
            </a:r>
            <a:endParaRPr/>
          </a:p>
        </p:txBody>
      </p:sp>
      <p:sp>
        <p:nvSpPr>
          <p:cNvPr id="499" name=""/>
          <p:cNvSpPr/>
          <p:nvPr/>
        </p:nvSpPr>
        <p:spPr>
          <a:xfrm rot="0" flipH="0" flipV="0">
            <a:off x="571500" y="5734050"/>
            <a:ext cx="11049000" cy="552450"/>
          </a:xfrm>
          <a:prstGeom prst="roundRect">
            <a:avLst>
              <a:gd name="adj" fmla="val 17241"/>
            </a:avLst>
          </a:prstGeom>
          <a:solidFill>
            <a:srgbClr val="E8EEFB"/>
          </a:solidFill>
          <a:ln/>
        </p:spPr>
        <p:txBody>
          <a:bodyPr/>
          <a:p/>
        </p:txBody>
      </p:sp>
      <p:sp>
        <p:nvSpPr>
          <p:cNvPr id="500" name="" descr="{&quot;isTemplate&quot;:true,&quot;type&quot;:&quot;text&quot;}"/>
          <p:cNvSpPr txBox="1"/>
          <p:nvPr/>
        </p:nvSpPr>
        <p:spPr>
          <a:xfrm rot="0" flipH="0" flipV="0">
            <a:off x="704850" y="5857875"/>
            <a:ext cx="10782300" cy="3048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425" b="1">
                <a:solidFill>
                  <a:srgbClr val="1E293B"/>
                </a:solidFill>
                <a:latin typeface="Microsoft YaHei"/>
                <a:ea typeface="Microsoft YaHei"/>
              </a:rPr>
              <a:t>采购一套产品，也拿到一条可持续扩充能力的供应链——新场景先问「有没有现成技能」，而不是先排开发。</a:t>
            </a:r>
            <a:endParaRPr/>
          </a:p>
        </p:txBody>
      </p:sp>
    </p:spTree>
  </p:cSld>
</p:sld>
</file>

<file path=ppt/slides/slide26.xml><?xml version="1.0" encoding="utf-8"?>
<p:sld xmlns:p="http://schemas.openxmlformats.org/presentationml/2006/main" xmlns:a="http://schemas.openxmlformats.org/drawingml/2006/main">
  <p:cSld>
    <p:spTree>
      <p:nvGrpSpPr>
        <p:cNvPr id="501" name="" descr="&lt;Slide style={{ padding: 60, background: '#FFFFFF' }}&gt;&#13;&#10;    &lt;Box style={{ height: 600 }}&gt;&#13;&#10;        &lt;Box style={{ height: 20, flexDirection: 'row', justifyContent: 'space-between', alignItems: 'center' }}&gt;&#13;&#10;            &lt;Text style={{ fontSize: 14, color: '#94A3B8', letterSpacing: 2 }}&gt;02 · 业务怎么用&lt;/Text&gt;&#13;&#10;            &lt;Box style={{ width: 44, height: 4, borderRadius: 2, background: '#2563EB' }} /&gt;&#13;&#10;        &lt;/Box&gt;&#13;&#10;        &lt;Text style={{ fontSize: 34, fontWeight: 'bold', color: '#1E293B', marginTop: 16, lineHeight: 1.2 }}&gt;&#13;&#10;            专题｜47 个系统连接器：接进公司已经在用的工具&#13;&#10;        &lt;/Text&gt;&#13;&#10;        &lt;Box style={{ height: 1, background: '#E2E8F0', marginTop: 16 }} /&gt;&#13;&#10;&#13;&#10;        &lt;Box style={{ flex: 1, marginTop: 20, flexDirection: 'row', gap: 28 }}&gt;&#13;&#10;            {/* 左：大数字 */}&#13;&#10;            &lt;Box style={{ width: 300 }}&gt;&#13;&#10;                &lt;Text style={{ fontSize: 100, fontWeight: 'bold', color: '#F59E0B', lineHeight: 1.0 }}&gt;47&lt;/Text&gt;&#13;&#10;                &lt;Text style={{ fontSize: 22, fontWeight: '600', color: '#1E293B', marginTop: 8 }}&gt;个企业系统连接器&lt;/Text&gt;&#13;&#10;                &lt;Text style={{ fontSize: 18, color: '#475569', lineHeight: 1.55, marginTop: 12 }}&gt;&#13;&#10;                    43 个已可用、4 个即将上线。授权流程内建：API Key、OAuth2、个人令牌按系统适配。&#13;&#10;                &lt;/Text&gt;&#13;&#10;                &lt;Box style={{ width: 180, height: 1, background: '#E2E8F0', marginTop: 14 }} /&gt;&#13;&#10;                &lt;Text style={{ fontSize: 16, color: '#64748B', lineHeight: 1.5, marginTop: 12 }}&gt;&#13;&#10;                    按岗位绑定：客服接工单与知识库，销售接 CRM 与文档&#13;&#10;                &lt;/Text&gt;&#13;&#10;            &lt;/Box&gt;&#13;&#10;&#13;&#10;            {/* 右：分类 */}&#13;&#10;            &lt;Box style={{ flex: 1, gap: 6 }}&gt;&#13;&#10;                &lt;Box style={{ height: 52, flexDirection: 'row', alignItems: 'center', background: '#F4F6FB', borderRadius: 10, padding: 12 }}&gt;&#13;&#10;                    &lt;Text style={{ width: 170, fontSize: 18, fontWeight: '600', color: '#2563EB' }}&gt;办公文档 · 10&lt;/Text&gt;&#13;&#10;                    &lt;Text style={{ fontSize: 18, color: '#475569' }}&gt;腾讯文档、腾讯会议、微云、金山文档等&lt;/Text&gt;&#13;&#10;                &lt;/Box&gt;&#13;&#10;                &lt;Box style={{ height: 52, flexDirection: 'row', alignItems: 'center', background: '#F4F6FB', borderRadius: 10, padding: 12 }}&gt;&#13;&#10;                    &lt;Text style={{ width: 170, fontSize: 18, fontWeight: '600', color: '#2563EB' }}&gt;知识沉淀 · 8&lt;/Text&gt;&#13;&#10;                    &lt;Text style={{ fontSize: 18, color: '#475569' }}&gt;腾讯 IMA、乐享、语雀、Obsidian 等&lt;/Text&gt;&#13;&#10;                &lt;/Box&gt;&#13;&#10;                &lt;Box style={{ height: 52, flexDirection: 'row', alignItems: 'center', background: '#F4F6FB', borderRadius: 10, padding: 12 }}&gt;&#13;&#10;                    &lt;Text style={{ width: 170, fontSize: 18, fontWeight: '600', color: '#2563EB' }}&gt;效率协作 · 7&lt;/Text&gt;&#13;&#10;                    &lt;Text style={{ fontSize: 18, color: '#475569' }}&gt;邮箱、滴答清单、办公套件、腾讯问卷等&lt;/Text&gt;&#13;&#10;                &lt;/Box&gt;&#13;&#10;                &lt;Box style={{ height: 52, flexDirection: 'row', alignItems: 'center', background: '#F4F6FB', borderRadius: 10, padding: 12 }}&gt;&#13;&#10;                    &lt;Text style={{ width: 170, fontSize: 18, fontWeight: '600', color: '#2563EB' }}&gt;出行差旅 · 5&lt;/Text&gt;&#13;&#10;                    &lt;Text style={{ fontSize: 18, color: '#475569' }}&gt;飞猪、携程、美团、滴滴、百度地图&lt;/Text&gt;&#13;&#10;                &lt;/Box&gt;&#13;&#10;                &lt;Box style={{ height: 52, flexDirection: 'row', alignItems: 'center', background: '#F4F6FB', borderRadius: 10, padding: 12 }}&gt;&#13;&#10;                    &lt;Text style={{ width: 170, fontSize: 18, fontWeight: '600', color: '#2563EB' }}&gt;媒体内容 · 4&lt;/Text&gt;&#13;&#10;                    &lt;Text style={{ fontSize: 18, color: '#475569' }}&gt;腾讯新闻、微信读书、QQ 音乐、RSS&lt;/Text&gt;&#13;&#10;                &lt;/Box&gt;&#13;&#10;                &lt;Box style={{ height: 52, flexDirection: 'row', alignItems: 'center', background: '#F4F6FB', borderRadius: 10, padding: 12 }}&gt;&#13;&#10;                    &lt;Text style={{ width: 170, fontSize: 18, fontWeight: '600', color: '#2563EB' }}&gt;研发与项目 · 4&lt;/Text&gt;&#13;&#10;                    &lt;Text style={{ fontSize: 18, color: '#475569' }}&gt;GitHub、Jira、Linear、TAPD 等&lt;/Text&gt;&#13;&#10;                &lt;/Box&gt;&#13;&#10;                &lt;Box style={{ height: 52, flexDirection: 'row', alignItems: 'center', background: '#FFF7E9', borderRadius: 10, padding: 12 }}&gt;&#13;&#10;                    &lt;Text style={{ width: 170, fontSize: 18, fontWeight: '600', color: '#B45309' }}&gt;专业数据 · 5+&lt;/Text&gt;&#13;&#10;                    &lt;Text style={{ fontSize: 18, color: '#7C2D12' }}&gt;企查查、天眼查、法规、金融数据等；内部系统可自定义接入&lt;/Text&gt;&#13;&#10;                &lt;/Box&gt;&#13;&#10;            &lt;/Box&gt;&#13;&#10;        &lt;/Box&gt;&#13;&#10;&#13;&#10;        {/* 结论条 */}&#13;&#10;        &lt;Box style={{ height: 58, background: '#E8EEFB', borderRadius: 10, padding: 14, marginTop: 12, justifyContent: 'center' }}&gt;&#13;&#10;            &lt;Text style={{ fontSize: 19, fontWeight: '600', color: '#1E293B', lineHeight: 1.4 }}&gt;&#13;&#10;                省下的不是几个接口的工作量，而是整套授权、刷新与运维的长期成本——主流系统接入无需自研。&#13;&#10;            &lt;/Text&gt;&#13;&#10;        &lt;/Box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03" name="" descr="{&quot;isTemplate&quot;:true,&quot;type&quot;:&quot;text&quot;}"/>
          <p:cNvSpPr txBox="1"/>
          <p:nvPr/>
        </p:nvSpPr>
        <p:spPr>
          <a:xfrm rot="0" flipH="0" flipV="0">
            <a:off x="571500" y="590550"/>
            <a:ext cx="1133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94A3B8"/>
                </a:solidFill>
                <a:latin typeface="Microsoft YaHei"/>
                <a:ea typeface="Microsoft YaHei"/>
              </a:rPr>
              <a:t xml:space="preserve">02 · </a:t>
            </a:r>
            <a:r>
              <a:rPr lang="zh-CN" sz="1050" spc="150">
                <a:solidFill>
                  <a:srgbClr val="94A3B8"/>
                </a:solidFill>
                <a:latin typeface="Microsoft YaHei"/>
                <a:ea typeface="Microsoft YaHei"/>
              </a:rPr>
              <a:t>业务怎么用</a:t>
            </a:r>
            <a:endParaRPr/>
          </a:p>
        </p:txBody>
      </p:sp>
      <p:sp>
        <p:nvSpPr>
          <p:cNvPr id="504" name=""/>
          <p:cNvSpPr/>
          <p:nvPr/>
        </p:nvSpPr>
        <p:spPr>
          <a:xfrm rot="0" flipH="0" flipV="0">
            <a:off x="11201400" y="647700"/>
            <a:ext cx="419100" cy="38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505" name="" descr="{&quot;isTemplate&quot;:true,&quot;type&quot;:&quot;text&quot;}"/>
          <p:cNvSpPr txBox="1"/>
          <p:nvPr/>
        </p:nvSpPr>
        <p:spPr>
          <a:xfrm rot="0" flipH="0" flipV="0">
            <a:off x="571500" y="914400"/>
            <a:ext cx="110490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E293B"/>
                </a:solidFill>
                <a:latin typeface="Microsoft YaHei"/>
                <a:ea typeface="Microsoft YaHei"/>
              </a:rPr>
              <a:t>专题｜</a:t>
            </a:r>
            <a:r>
              <a:rPr lang="en-US" sz="2550" b="1">
                <a:solidFill>
                  <a:srgbClr val="1E293B"/>
                </a:solidFill>
                <a:latin typeface="Microsoft YaHei"/>
                <a:ea typeface="Microsoft YaHei"/>
              </a:rPr>
              <a:t xml:space="preserve">47 </a:t>
            </a:r>
            <a:r>
              <a:rPr lang="zh-CN" sz="2550" b="1">
                <a:solidFill>
                  <a:srgbClr val="1E293B"/>
                </a:solidFill>
                <a:latin typeface="Microsoft YaHei"/>
                <a:ea typeface="Microsoft YaHei"/>
              </a:rPr>
              <a:t>个系统连接器：接进公司已经在用的工具</a:t>
            </a:r>
            <a:endParaRPr/>
          </a:p>
        </p:txBody>
      </p:sp>
      <p:sp>
        <p:nvSpPr>
          <p:cNvPr id="506" name=""/>
          <p:cNvSpPr/>
          <p:nvPr/>
        </p:nvSpPr>
        <p:spPr>
          <a:xfrm rot="0" flipH="0" flipV="0">
            <a:off x="571500" y="1533525"/>
            <a:ext cx="1104900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507" name="" descr="{&quot;isTemplate&quot;:true,&quot;type&quot;:&quot;text&quot;}"/>
          <p:cNvSpPr txBox="1"/>
          <p:nvPr/>
        </p:nvSpPr>
        <p:spPr>
          <a:xfrm rot="0" flipH="0" flipV="0">
            <a:off x="571500" y="1733550"/>
            <a:ext cx="2857500" cy="1143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0" b="1">
                <a:solidFill>
                  <a:srgbClr val="F59E0B"/>
                </a:solidFill>
                <a:latin typeface="Microsoft YaHei"/>
                <a:ea typeface="Microsoft YaHei"/>
              </a:rPr>
              <a:t>47</a:t>
            </a:r>
            <a:endParaRPr/>
          </a:p>
        </p:txBody>
      </p:sp>
      <p:sp>
        <p:nvSpPr>
          <p:cNvPr id="508" name="" descr="{&quot;isTemplate&quot;:true,&quot;type&quot;:&quot;text&quot;}"/>
          <p:cNvSpPr txBox="1"/>
          <p:nvPr/>
        </p:nvSpPr>
        <p:spPr>
          <a:xfrm rot="0" flipH="0" flipV="0">
            <a:off x="571500" y="2952750"/>
            <a:ext cx="28575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E293B"/>
                </a:solidFill>
                <a:latin typeface="Microsoft YaHei"/>
                <a:ea typeface="Microsoft YaHei"/>
              </a:rPr>
              <a:t>个企业系统连接器</a:t>
            </a:r>
            <a:endParaRPr/>
          </a:p>
        </p:txBody>
      </p:sp>
      <p:sp>
        <p:nvSpPr>
          <p:cNvPr id="509" name="" descr="{&quot;isTemplate&quot;:true,&quot;type&quot;:&quot;text&quot;}"/>
          <p:cNvSpPr txBox="1"/>
          <p:nvPr/>
        </p:nvSpPr>
        <p:spPr>
          <a:xfrm rot="0" flipH="0" flipV="0">
            <a:off x="571500" y="3324225"/>
            <a:ext cx="2857500" cy="9620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 xml:space="preserve">43 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个已可用、</a:t>
            </a: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 xml:space="preserve">4 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个即将上线。授权流程内建：</a:t>
            </a: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>API Key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、</a:t>
            </a: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>OAuth2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、个人令牌按系统适配。</a:t>
            </a:r>
            <a:endParaRPr/>
          </a:p>
        </p:txBody>
      </p:sp>
      <p:sp>
        <p:nvSpPr>
          <p:cNvPr id="510" name=""/>
          <p:cNvSpPr/>
          <p:nvPr/>
        </p:nvSpPr>
        <p:spPr>
          <a:xfrm rot="0" flipH="0" flipV="0">
            <a:off x="571500" y="4419600"/>
            <a:ext cx="171450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511" name="" descr="{&quot;isTemplate&quot;:true,&quot;type&quot;:&quot;text&quot;}"/>
          <p:cNvSpPr txBox="1"/>
          <p:nvPr/>
        </p:nvSpPr>
        <p:spPr>
          <a:xfrm rot="0" flipH="0" flipV="0">
            <a:off x="571500" y="4543425"/>
            <a:ext cx="28575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按岗位绑定：客服接工单与知识库，销售接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 xml:space="preserve"> CRM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与文档</a:t>
            </a:r>
            <a:endParaRPr/>
          </a:p>
        </p:txBody>
      </p:sp>
      <p:sp>
        <p:nvSpPr>
          <p:cNvPr id="512" name=""/>
          <p:cNvSpPr/>
          <p:nvPr/>
        </p:nvSpPr>
        <p:spPr>
          <a:xfrm rot="0" flipH="0" flipV="0">
            <a:off x="3695700" y="1733550"/>
            <a:ext cx="7924800" cy="495300"/>
          </a:xfrm>
          <a:prstGeom prst="roundRect">
            <a:avLst>
              <a:gd name="adj" fmla="val 19231"/>
            </a:avLst>
          </a:prstGeom>
          <a:solidFill>
            <a:srgbClr val="F4F6FB"/>
          </a:solidFill>
          <a:ln/>
        </p:spPr>
        <p:txBody>
          <a:bodyPr/>
          <a:p/>
        </p:txBody>
      </p:sp>
      <p:sp>
        <p:nvSpPr>
          <p:cNvPr id="513" name="" descr="{&quot;isTemplate&quot;:true,&quot;type&quot;:&quot;text&quot;}"/>
          <p:cNvSpPr txBox="1"/>
          <p:nvPr/>
        </p:nvSpPr>
        <p:spPr>
          <a:xfrm rot="0" flipH="0" flipV="0">
            <a:off x="3810000" y="1876425"/>
            <a:ext cx="1619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563EB"/>
                </a:solidFill>
                <a:latin typeface="Microsoft YaHei"/>
                <a:ea typeface="Microsoft YaHei"/>
              </a:rPr>
              <a:t>办公文档</a:t>
            </a:r>
            <a:r>
              <a:rPr lang="en-US" sz="1350" b="1">
                <a:solidFill>
                  <a:srgbClr val="2563EB"/>
                </a:solidFill>
                <a:latin typeface="Microsoft YaHei"/>
                <a:ea typeface="Microsoft YaHei"/>
              </a:rPr>
              <a:t xml:space="preserve"> · 10</a:t>
            </a:r>
            <a:endParaRPr/>
          </a:p>
        </p:txBody>
      </p:sp>
      <p:sp>
        <p:nvSpPr>
          <p:cNvPr id="514" name="" descr="{&quot;isTemplate&quot;:true,&quot;type&quot;:&quot;text&quot;}"/>
          <p:cNvSpPr txBox="1"/>
          <p:nvPr/>
        </p:nvSpPr>
        <p:spPr>
          <a:xfrm rot="0" flipH="0" flipV="0">
            <a:off x="5429250" y="1876425"/>
            <a:ext cx="30861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腾讯文档、腾讯会议、微云、金山文档等</a:t>
            </a:r>
            <a:endParaRPr/>
          </a:p>
        </p:txBody>
      </p:sp>
      <p:sp>
        <p:nvSpPr>
          <p:cNvPr id="515" name=""/>
          <p:cNvSpPr/>
          <p:nvPr/>
        </p:nvSpPr>
        <p:spPr>
          <a:xfrm rot="0" flipH="0" flipV="0">
            <a:off x="3695700" y="2286000"/>
            <a:ext cx="7924800" cy="495300"/>
          </a:xfrm>
          <a:prstGeom prst="roundRect">
            <a:avLst>
              <a:gd name="adj" fmla="val 19231"/>
            </a:avLst>
          </a:prstGeom>
          <a:solidFill>
            <a:srgbClr val="F4F6FB"/>
          </a:solidFill>
          <a:ln/>
        </p:spPr>
        <p:txBody>
          <a:bodyPr/>
          <a:p/>
        </p:txBody>
      </p:sp>
      <p:sp>
        <p:nvSpPr>
          <p:cNvPr id="516" name="" descr="{&quot;isTemplate&quot;:true,&quot;type&quot;:&quot;text&quot;}"/>
          <p:cNvSpPr txBox="1"/>
          <p:nvPr/>
        </p:nvSpPr>
        <p:spPr>
          <a:xfrm rot="0" flipH="0" flipV="0">
            <a:off x="3810000" y="2428875"/>
            <a:ext cx="1619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563EB"/>
                </a:solidFill>
                <a:latin typeface="Microsoft YaHei"/>
                <a:ea typeface="Microsoft YaHei"/>
              </a:rPr>
              <a:t>知识沉淀</a:t>
            </a:r>
            <a:r>
              <a:rPr lang="en-US" sz="1350" b="1">
                <a:solidFill>
                  <a:srgbClr val="2563EB"/>
                </a:solidFill>
                <a:latin typeface="Microsoft YaHei"/>
                <a:ea typeface="Microsoft YaHei"/>
              </a:rPr>
              <a:t xml:space="preserve"> · 8</a:t>
            </a:r>
            <a:endParaRPr/>
          </a:p>
        </p:txBody>
      </p:sp>
      <p:sp>
        <p:nvSpPr>
          <p:cNvPr id="517" name="" descr="{&quot;isTemplate&quot;:true,&quot;type&quot;:&quot;text&quot;}"/>
          <p:cNvSpPr txBox="1"/>
          <p:nvPr/>
        </p:nvSpPr>
        <p:spPr>
          <a:xfrm rot="0" flipH="0" flipV="0">
            <a:off x="5429250" y="2428875"/>
            <a:ext cx="28860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腾讯</a:t>
            </a: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 xml:space="preserve"> IMA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、乐享、语雀、</a:t>
            </a: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 xml:space="preserve">Obsidian 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等</a:t>
            </a:r>
            <a:endParaRPr/>
          </a:p>
        </p:txBody>
      </p:sp>
      <p:sp>
        <p:nvSpPr>
          <p:cNvPr id="518" name=""/>
          <p:cNvSpPr/>
          <p:nvPr/>
        </p:nvSpPr>
        <p:spPr>
          <a:xfrm rot="0" flipH="0" flipV="0">
            <a:off x="3695700" y="2838450"/>
            <a:ext cx="7924800" cy="495300"/>
          </a:xfrm>
          <a:prstGeom prst="roundRect">
            <a:avLst>
              <a:gd name="adj" fmla="val 19231"/>
            </a:avLst>
          </a:prstGeom>
          <a:solidFill>
            <a:srgbClr val="F4F6FB"/>
          </a:solidFill>
          <a:ln/>
        </p:spPr>
        <p:txBody>
          <a:bodyPr/>
          <a:p/>
        </p:txBody>
      </p:sp>
      <p:sp>
        <p:nvSpPr>
          <p:cNvPr id="519" name="" descr="{&quot;isTemplate&quot;:true,&quot;type&quot;:&quot;text&quot;}"/>
          <p:cNvSpPr txBox="1"/>
          <p:nvPr/>
        </p:nvSpPr>
        <p:spPr>
          <a:xfrm rot="0" flipH="0" flipV="0">
            <a:off x="3810000" y="2981325"/>
            <a:ext cx="1619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563EB"/>
                </a:solidFill>
                <a:latin typeface="Microsoft YaHei"/>
                <a:ea typeface="Microsoft YaHei"/>
              </a:rPr>
              <a:t>效率协作</a:t>
            </a:r>
            <a:r>
              <a:rPr lang="en-US" sz="1350" b="1">
                <a:solidFill>
                  <a:srgbClr val="2563EB"/>
                </a:solidFill>
                <a:latin typeface="Microsoft YaHei"/>
                <a:ea typeface="Microsoft YaHei"/>
              </a:rPr>
              <a:t xml:space="preserve"> · 7</a:t>
            </a:r>
            <a:endParaRPr/>
          </a:p>
        </p:txBody>
      </p:sp>
      <p:sp>
        <p:nvSpPr>
          <p:cNvPr id="520" name="" descr="{&quot;isTemplate&quot;:true,&quot;type&quot;:&quot;text&quot;}"/>
          <p:cNvSpPr txBox="1"/>
          <p:nvPr/>
        </p:nvSpPr>
        <p:spPr>
          <a:xfrm rot="0" flipH="0" flipV="0">
            <a:off x="5429250" y="2981325"/>
            <a:ext cx="30861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邮箱、滴答清单、办公套件、腾讯问卷等</a:t>
            </a:r>
            <a:endParaRPr/>
          </a:p>
        </p:txBody>
      </p:sp>
      <p:sp>
        <p:nvSpPr>
          <p:cNvPr id="521" name=""/>
          <p:cNvSpPr/>
          <p:nvPr/>
        </p:nvSpPr>
        <p:spPr>
          <a:xfrm rot="0" flipH="0" flipV="0">
            <a:off x="3695700" y="3390900"/>
            <a:ext cx="7924800" cy="495300"/>
          </a:xfrm>
          <a:prstGeom prst="roundRect">
            <a:avLst>
              <a:gd name="adj" fmla="val 19231"/>
            </a:avLst>
          </a:prstGeom>
          <a:solidFill>
            <a:srgbClr val="F4F6FB"/>
          </a:solidFill>
          <a:ln/>
        </p:spPr>
        <p:txBody>
          <a:bodyPr/>
          <a:p/>
        </p:txBody>
      </p:sp>
      <p:sp>
        <p:nvSpPr>
          <p:cNvPr id="522" name="" descr="{&quot;isTemplate&quot;:true,&quot;type&quot;:&quot;text&quot;}"/>
          <p:cNvSpPr txBox="1"/>
          <p:nvPr/>
        </p:nvSpPr>
        <p:spPr>
          <a:xfrm rot="0" flipH="0" flipV="0">
            <a:off x="3810000" y="3533775"/>
            <a:ext cx="1619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563EB"/>
                </a:solidFill>
                <a:latin typeface="Microsoft YaHei"/>
                <a:ea typeface="Microsoft YaHei"/>
              </a:rPr>
              <a:t>出行差旅</a:t>
            </a:r>
            <a:r>
              <a:rPr lang="en-US" sz="1350" b="1">
                <a:solidFill>
                  <a:srgbClr val="2563EB"/>
                </a:solidFill>
                <a:latin typeface="Microsoft YaHei"/>
                <a:ea typeface="Microsoft YaHei"/>
              </a:rPr>
              <a:t xml:space="preserve"> · 5</a:t>
            </a:r>
            <a:endParaRPr/>
          </a:p>
        </p:txBody>
      </p:sp>
      <p:sp>
        <p:nvSpPr>
          <p:cNvPr id="523" name="" descr="{&quot;isTemplate&quot;:true,&quot;type&quot;:&quot;text&quot;}"/>
          <p:cNvSpPr txBox="1"/>
          <p:nvPr/>
        </p:nvSpPr>
        <p:spPr>
          <a:xfrm rot="0" flipH="0" flipV="0">
            <a:off x="5429250" y="3533775"/>
            <a:ext cx="27432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飞猪、携程、美团、滴滴、百度地图</a:t>
            </a:r>
            <a:endParaRPr/>
          </a:p>
        </p:txBody>
      </p:sp>
      <p:sp>
        <p:nvSpPr>
          <p:cNvPr id="524" name=""/>
          <p:cNvSpPr/>
          <p:nvPr/>
        </p:nvSpPr>
        <p:spPr>
          <a:xfrm rot="0" flipH="0" flipV="0">
            <a:off x="3695700" y="3943350"/>
            <a:ext cx="7924800" cy="495300"/>
          </a:xfrm>
          <a:prstGeom prst="roundRect">
            <a:avLst>
              <a:gd name="adj" fmla="val 19231"/>
            </a:avLst>
          </a:prstGeom>
          <a:solidFill>
            <a:srgbClr val="F4F6FB"/>
          </a:solidFill>
          <a:ln/>
        </p:spPr>
        <p:txBody>
          <a:bodyPr/>
          <a:p/>
        </p:txBody>
      </p:sp>
      <p:sp>
        <p:nvSpPr>
          <p:cNvPr id="525" name="" descr="{&quot;isTemplate&quot;:true,&quot;type&quot;:&quot;text&quot;}"/>
          <p:cNvSpPr txBox="1"/>
          <p:nvPr/>
        </p:nvSpPr>
        <p:spPr>
          <a:xfrm rot="0" flipH="0" flipV="0">
            <a:off x="3810000" y="4086225"/>
            <a:ext cx="1619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563EB"/>
                </a:solidFill>
                <a:latin typeface="Microsoft YaHei"/>
                <a:ea typeface="Microsoft YaHei"/>
              </a:rPr>
              <a:t>媒体内容</a:t>
            </a:r>
            <a:r>
              <a:rPr lang="en-US" sz="1350" b="1">
                <a:solidFill>
                  <a:srgbClr val="2563EB"/>
                </a:solidFill>
                <a:latin typeface="Microsoft YaHei"/>
                <a:ea typeface="Microsoft YaHei"/>
              </a:rPr>
              <a:t xml:space="preserve"> · 4</a:t>
            </a:r>
            <a:endParaRPr/>
          </a:p>
        </p:txBody>
      </p:sp>
      <p:sp>
        <p:nvSpPr>
          <p:cNvPr id="526" name="" descr="{&quot;isTemplate&quot;:true,&quot;type&quot;:&quot;text&quot;}"/>
          <p:cNvSpPr txBox="1"/>
          <p:nvPr/>
        </p:nvSpPr>
        <p:spPr>
          <a:xfrm rot="0" flipH="0" flipV="0">
            <a:off x="5429250" y="4086225"/>
            <a:ext cx="28765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腾讯新闻、微信读书、</a:t>
            </a: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 xml:space="preserve">QQ 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音乐、</a:t>
            </a: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>RSS</a:t>
            </a:r>
            <a:endParaRPr/>
          </a:p>
        </p:txBody>
      </p:sp>
      <p:sp>
        <p:nvSpPr>
          <p:cNvPr id="527" name=""/>
          <p:cNvSpPr/>
          <p:nvPr/>
        </p:nvSpPr>
        <p:spPr>
          <a:xfrm rot="0" flipH="0" flipV="0">
            <a:off x="3695700" y="4495800"/>
            <a:ext cx="7924800" cy="495300"/>
          </a:xfrm>
          <a:prstGeom prst="roundRect">
            <a:avLst>
              <a:gd name="adj" fmla="val 19231"/>
            </a:avLst>
          </a:prstGeom>
          <a:solidFill>
            <a:srgbClr val="F4F6FB"/>
          </a:solidFill>
          <a:ln/>
        </p:spPr>
        <p:txBody>
          <a:bodyPr/>
          <a:p/>
        </p:txBody>
      </p:sp>
      <p:sp>
        <p:nvSpPr>
          <p:cNvPr id="528" name="" descr="{&quot;isTemplate&quot;:true,&quot;type&quot;:&quot;text&quot;}"/>
          <p:cNvSpPr txBox="1"/>
          <p:nvPr/>
        </p:nvSpPr>
        <p:spPr>
          <a:xfrm rot="0" flipH="0" flipV="0">
            <a:off x="3810000" y="4638675"/>
            <a:ext cx="1619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563EB"/>
                </a:solidFill>
                <a:latin typeface="Microsoft YaHei"/>
                <a:ea typeface="Microsoft YaHei"/>
              </a:rPr>
              <a:t>研发与项目</a:t>
            </a:r>
            <a:r>
              <a:rPr lang="en-US" sz="1350" b="1">
                <a:solidFill>
                  <a:srgbClr val="2563EB"/>
                </a:solidFill>
                <a:latin typeface="Microsoft YaHei"/>
                <a:ea typeface="Microsoft YaHei"/>
              </a:rPr>
              <a:t xml:space="preserve"> · 4</a:t>
            </a:r>
            <a:endParaRPr/>
          </a:p>
        </p:txBody>
      </p:sp>
      <p:sp>
        <p:nvSpPr>
          <p:cNvPr id="529" name="" descr="{&quot;isTemplate&quot;:true,&quot;type&quot;:&quot;text&quot;}"/>
          <p:cNvSpPr txBox="1"/>
          <p:nvPr/>
        </p:nvSpPr>
        <p:spPr>
          <a:xfrm rot="0" flipH="0" flipV="0">
            <a:off x="5429250" y="4638675"/>
            <a:ext cx="25336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>GitHub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、</a:t>
            </a: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>Jira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、</a:t>
            </a: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>Linear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、</a:t>
            </a: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 xml:space="preserve">TAPD 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等</a:t>
            </a:r>
            <a:endParaRPr/>
          </a:p>
        </p:txBody>
      </p:sp>
      <p:sp>
        <p:nvSpPr>
          <p:cNvPr id="530" name=""/>
          <p:cNvSpPr/>
          <p:nvPr/>
        </p:nvSpPr>
        <p:spPr>
          <a:xfrm rot="0" flipH="0" flipV="0">
            <a:off x="3695700" y="5048250"/>
            <a:ext cx="7924800" cy="495300"/>
          </a:xfrm>
          <a:prstGeom prst="roundRect">
            <a:avLst>
              <a:gd name="adj" fmla="val 19231"/>
            </a:avLst>
          </a:prstGeom>
          <a:solidFill>
            <a:srgbClr val="FFF7E9"/>
          </a:solidFill>
          <a:ln/>
        </p:spPr>
        <p:txBody>
          <a:bodyPr/>
          <a:p/>
        </p:txBody>
      </p:sp>
      <p:sp>
        <p:nvSpPr>
          <p:cNvPr id="531" name="" descr="{&quot;isTemplate&quot;:true,&quot;type&quot;:&quot;text&quot;}"/>
          <p:cNvSpPr txBox="1"/>
          <p:nvPr/>
        </p:nvSpPr>
        <p:spPr>
          <a:xfrm rot="0" flipH="0" flipV="0">
            <a:off x="3810000" y="5191125"/>
            <a:ext cx="1619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B45309"/>
                </a:solidFill>
                <a:latin typeface="Microsoft YaHei"/>
                <a:ea typeface="Microsoft YaHei"/>
              </a:rPr>
              <a:t>专业数据</a:t>
            </a:r>
            <a:r>
              <a:rPr lang="en-US" sz="1350" b="1">
                <a:solidFill>
                  <a:srgbClr val="B45309"/>
                </a:solidFill>
                <a:latin typeface="Microsoft YaHei"/>
                <a:ea typeface="Microsoft YaHei"/>
              </a:rPr>
              <a:t xml:space="preserve"> · 5+</a:t>
            </a:r>
            <a:endParaRPr/>
          </a:p>
        </p:txBody>
      </p:sp>
      <p:sp>
        <p:nvSpPr>
          <p:cNvPr id="532" name="" descr="{&quot;isTemplate&quot;:true,&quot;type&quot;:&quot;text&quot;}"/>
          <p:cNvSpPr txBox="1"/>
          <p:nvPr/>
        </p:nvSpPr>
        <p:spPr>
          <a:xfrm rot="0" flipH="0" flipV="0">
            <a:off x="5429250" y="5191125"/>
            <a:ext cx="46291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7C2D12"/>
                </a:solidFill>
                <a:latin typeface="Microsoft YaHei"/>
                <a:ea typeface="Microsoft YaHei"/>
              </a:rPr>
              <a:t>企查查、天眼查、法规、金融数据等；内部系统可自定义接入</a:t>
            </a:r>
            <a:endParaRPr/>
          </a:p>
        </p:txBody>
      </p:sp>
      <p:sp>
        <p:nvSpPr>
          <p:cNvPr id="533" name=""/>
          <p:cNvSpPr/>
          <p:nvPr/>
        </p:nvSpPr>
        <p:spPr>
          <a:xfrm rot="0" flipH="0" flipV="0">
            <a:off x="571500" y="5734050"/>
            <a:ext cx="11049000" cy="552450"/>
          </a:xfrm>
          <a:prstGeom prst="roundRect">
            <a:avLst>
              <a:gd name="adj" fmla="val 17241"/>
            </a:avLst>
          </a:prstGeom>
          <a:solidFill>
            <a:srgbClr val="E8EEFB"/>
          </a:solidFill>
          <a:ln/>
        </p:spPr>
        <p:txBody>
          <a:bodyPr/>
          <a:p/>
        </p:txBody>
      </p:sp>
      <p:sp>
        <p:nvSpPr>
          <p:cNvPr id="534" name="" descr="{&quot;isTemplate&quot;:true,&quot;type&quot;:&quot;text&quot;}"/>
          <p:cNvSpPr txBox="1"/>
          <p:nvPr/>
        </p:nvSpPr>
        <p:spPr>
          <a:xfrm rot="0" flipH="0" flipV="0">
            <a:off x="704850" y="5857875"/>
            <a:ext cx="10782300" cy="3048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425" b="1">
                <a:solidFill>
                  <a:srgbClr val="1E293B"/>
                </a:solidFill>
                <a:latin typeface="Microsoft YaHei"/>
                <a:ea typeface="Microsoft YaHei"/>
              </a:rPr>
              <a:t>省下的不是几个接口的工作量，而是整套授权、刷新与运维的长期成本——主流系统接入无需自研。</a:t>
            </a:r>
            <a:endParaRPr/>
          </a:p>
        </p:txBody>
      </p:sp>
    </p:spTree>
  </p:cSld>
</p:sld>
</file>

<file path=ppt/slides/slide27.xml><?xml version="1.0" encoding="utf-8"?>
<p:sld xmlns:p="http://schemas.openxmlformats.org/presentationml/2006/main" xmlns:a="http://schemas.openxmlformats.org/drawingml/2006/main">
  <p:cSld>
    <p:spTree>
      <p:nvGrpSpPr>
        <p:cNvPr id="535" name="" descr="&lt;Slide style={{ padding: 60, background: '#FFFFFF' }}&gt;&#13;&#10;    &lt;Box style={{ height: 600 }}&gt;&#13;&#10;        &lt;Box style={{ height: 20, flexDirection: 'row', justifyContent: 'space-between', alignItems: 'center' }}&gt;&#13;&#10;            &lt;Text style={{ fontSize: 14, color: '#94A3B8', letterSpacing: 2 }}&gt;02 · 业务怎么用&lt;/Text&gt;&#13;&#10;            &lt;Box style={{ width: 44, height: 4, borderRadius: 2, background: '#2563EB' }} /&gt;&#13;&#10;        &lt;/Box&gt;&#13;&#10;        &lt;Text style={{ fontSize: 34, fontWeight: 'bold', color: '#1E293B', marginTop: 16, lineHeight: 1.2 }}&gt;&#13;&#10;            专题｜三层记忆：换个会话还认得你，纠错一次改一次&#13;&#10;        &lt;/Text&gt;&#13;&#10;        &lt;Box style={{ height: 1, background: '#E2E8F0', marginTop: 16 }} /&gt;&#13;&#10;&#13;&#10;        {/* 三层结构 */}&#13;&#10;        &lt;Box style={{ marginTop: 20, gap: 14 }}&gt;&#13;&#10;            &lt;Box style={{ height: 112, flexDirection: 'row', background: '#E8EEFB', borderRadius: 12, padding: 18 }}&gt;&#13;&#10;                &lt;Box style={{ width: 170, justifyContent: 'center' }}&gt;&#13;&#10;                    &lt;Text style={{ fontSize: 22, fontWeight: 'bold', color: '#2563EB', lineHeight: 1.3 }}&gt;原子事实&lt;/Text&gt;&#13;&#10;                    &lt;Text style={{ fontSize: 16, color: '#64748B', lineHeight: 1.3, marginTop: 2 }}&gt;最小可核验的条目&lt;/Text&gt;&#13;&#10;                &lt;/Box&gt;&#13;&#10;                &lt;Box style={{ flex: 1, justifyContent: 'center', marginLeft: 12 }}&gt;&#13;&#10;                    &lt;Text style={{ fontSize: 18, color: '#1E293B', lineHeight: 1.55 }}&gt;&#13;&#10;                        「项目 A 的负责人是张工」「差旅标准是每天 500 元」——一条一条记住，错了可以纠正、过期可以更新。&#13;&#10;                    &lt;/Text&gt;&#13;&#10;                &lt;/Box&gt;&#13;&#10;            &lt;/Box&gt;&#13;&#10;            &lt;Box style={{ height: 112, flexDirection: 'row', background: '#D6E4F9', borderRadius: 12, padding: 18 }}&gt;&#13;&#10;                &lt;Box style={{ width: 170, justifyContent: 'center' }}&gt;&#13;&#10;                    &lt;Text style={{ fontSize: 22, fontWeight: 'bold', color: '#1E293B', lineHeight: 1.3 }}&gt;实体画像&lt;/Text&gt;&#13;&#10;                    &lt;Text style={{ fontSize: 16, color: '#64748B', lineHeight: 1.3, marginTop: 2 }}&gt;人 / 项目 / 系统的档案&lt;/Text&gt;&#13;&#10;                &lt;/Box&gt;&#13;&#10;                &lt;Box style={{ flex: 1, justifyContent: 'center', marginLeft: 12 }}&gt;&#13;&#10;                    &lt;Text style={{ fontSize: 18, color: '#1E293B', lineHeight: 1.55 }}&gt;&#13;&#10;                        每个人、每个项目、每套系统有自己的档案页：偏好、职责、历史结论一查即得，同名也能分得清。&#13;&#10;                    &lt;/Text&gt;&#13;&#10;                &lt;/Box&gt;&#13;&#10;            &lt;/Box&gt;&#13;&#10;            &lt;Box style={{ height: 112, flexDirection: 'row', background: '#FFF7E9', borderRadius: 12, padding: 18 }}&gt;&#13;&#10;                &lt;Box style={{ width: 170, justifyContent: 'center' }}&gt;&#13;&#10;                    &lt;Text style={{ fontSize: 22, fontWeight: 'bold', color: '#B45309', lineHeight: 1.3 }}&gt;情节经历&lt;/Text&gt;&#13;&#10;                    &lt;Text style={{ fontSize: 16, color: '#64748B', lineHeight: 1.3, marginTop: 2 }}&gt;事件的来龙去脉&lt;/Text&gt;&#13;&#10;                &lt;/Box&gt;&#13;&#10;                &lt;Box style={{ flex: 1, justifyContent: 'center', marginLeft: 12 }}&gt;&#13;&#10;                    &lt;Text style={{ fontSize: 18, color: '#1E293B', lineHeight: 1.55 }}&gt;&#13;&#10;                        保留事情的脉络：上个月为什么改了口径、当时谁拍的板——回答「当时是怎么定的」不再翻聊天记录。&#13;&#10;                    &lt;/Text&gt;&#13;&#10;                &lt;/Box&gt;&#13;&#10;            &lt;/Box&gt;&#13;&#10;        &lt;/Box&gt;&#13;&#10;&#13;&#10;        &lt;Box style={{ flexDirection: 'row', marginTop: 16, gap: 16 }}&gt;&#13;&#10;            &lt;Box style={{ flex: 1 }}&gt;&#13;&#10;                &lt;Text style={{ fontSize: 18, color: '#475569', lineHeight: 1.55 }}&gt;&#13;&#10;                    可纠正：说一次「记错了」，它就改，不再重复同样的误解。&#13;&#10;                &lt;/Text&gt;&#13;&#10;            &lt;/Box&gt;&#13;&#10;            &lt;Box style={{ width: 1, background: '#E2E8F0' }} /&gt;&#13;&#10;            &lt;Box style={{ flex: 1 }}&gt;&#13;&#10;                &lt;Text style={{ fontSize: 18, color: '#475569', lineHeight: 1.55 }}&gt;&#13;&#10;                    可清理：长期运行自动整理归档，不会越堆越乱、越问越慢。&#13;&#10;                &lt;/Text&gt;&#13;&#10;            &lt;/Box&gt;&#13;&#10;        &lt;/Box&gt;&#13;&#10;&#13;&#10;        {/* 结论条 */}&#13;&#10;        &lt;Box style={{ height: 52, background: '#E8EEFB', borderRadius: 10, padding: 14, marginTop: 10, justifyContent: 'center' }}&gt;&#13;&#10;            &lt;Text style={{ fontSize: 19, fontWeight: '600', color: '#1E293B', lineHeight: 1.4 }}&gt;&#13;&#10;                记忆让 AI 的能力随合作时间累积——每次会话不再从零开始，这是「越用越值钱」的技术底座。&#13;&#10;            &lt;/Text&gt;&#13;&#10;        &lt;/Box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37" name="" descr="{&quot;isTemplate&quot;:true,&quot;type&quot;:&quot;text&quot;}"/>
          <p:cNvSpPr txBox="1"/>
          <p:nvPr/>
        </p:nvSpPr>
        <p:spPr>
          <a:xfrm rot="0" flipH="0" flipV="0">
            <a:off x="571500" y="590550"/>
            <a:ext cx="1133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94A3B8"/>
                </a:solidFill>
                <a:latin typeface="Microsoft YaHei"/>
                <a:ea typeface="Microsoft YaHei"/>
              </a:rPr>
              <a:t xml:space="preserve">02 · </a:t>
            </a:r>
            <a:r>
              <a:rPr lang="zh-CN" sz="1050" spc="150">
                <a:solidFill>
                  <a:srgbClr val="94A3B8"/>
                </a:solidFill>
                <a:latin typeface="Microsoft YaHei"/>
                <a:ea typeface="Microsoft YaHei"/>
              </a:rPr>
              <a:t>业务怎么用</a:t>
            </a:r>
            <a:endParaRPr/>
          </a:p>
        </p:txBody>
      </p:sp>
      <p:sp>
        <p:nvSpPr>
          <p:cNvPr id="538" name=""/>
          <p:cNvSpPr/>
          <p:nvPr/>
        </p:nvSpPr>
        <p:spPr>
          <a:xfrm rot="0" flipH="0" flipV="0">
            <a:off x="11201400" y="647700"/>
            <a:ext cx="419100" cy="38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539" name="" descr="{&quot;isTemplate&quot;:true,&quot;type&quot;:&quot;text&quot;}"/>
          <p:cNvSpPr txBox="1"/>
          <p:nvPr/>
        </p:nvSpPr>
        <p:spPr>
          <a:xfrm rot="0" flipH="0" flipV="0">
            <a:off x="571500" y="914400"/>
            <a:ext cx="110490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E293B"/>
                </a:solidFill>
                <a:latin typeface="Microsoft YaHei"/>
                <a:ea typeface="Microsoft YaHei"/>
              </a:rPr>
              <a:t>专题｜三层记忆：换个会话还认得你，纠错一次改一次</a:t>
            </a:r>
            <a:endParaRPr/>
          </a:p>
        </p:txBody>
      </p:sp>
      <p:sp>
        <p:nvSpPr>
          <p:cNvPr id="540" name=""/>
          <p:cNvSpPr/>
          <p:nvPr/>
        </p:nvSpPr>
        <p:spPr>
          <a:xfrm rot="0" flipH="0" flipV="0">
            <a:off x="571500" y="1533525"/>
            <a:ext cx="1104900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541" name=""/>
          <p:cNvSpPr/>
          <p:nvPr/>
        </p:nvSpPr>
        <p:spPr>
          <a:xfrm rot="0" flipH="0" flipV="0">
            <a:off x="571500" y="1733550"/>
            <a:ext cx="11049000" cy="1066800"/>
          </a:xfrm>
          <a:prstGeom prst="roundRect">
            <a:avLst>
              <a:gd name="adj" fmla="val 10714"/>
            </a:avLst>
          </a:prstGeom>
          <a:solidFill>
            <a:srgbClr val="E8EEFB"/>
          </a:solidFill>
          <a:ln/>
        </p:spPr>
        <p:txBody>
          <a:bodyPr/>
          <a:p/>
        </p:txBody>
      </p:sp>
      <p:sp>
        <p:nvSpPr>
          <p:cNvPr id="542" name="" descr="{&quot;isTemplate&quot;:true,&quot;type&quot;:&quot;text&quot;}"/>
          <p:cNvSpPr txBox="1"/>
          <p:nvPr/>
        </p:nvSpPr>
        <p:spPr>
          <a:xfrm rot="0" flipH="0" flipV="0">
            <a:off x="742950" y="1971675"/>
            <a:ext cx="1619250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2563EB"/>
                </a:solidFill>
                <a:latin typeface="Microsoft YaHei"/>
                <a:ea typeface="Microsoft YaHei"/>
              </a:rPr>
              <a:t>原子事实</a:t>
            </a:r>
            <a:endParaRPr/>
          </a:p>
        </p:txBody>
      </p:sp>
      <p:sp>
        <p:nvSpPr>
          <p:cNvPr id="543" name="" descr="{&quot;isTemplate&quot;:true,&quot;type&quot;:&quot;text&quot;}"/>
          <p:cNvSpPr txBox="1"/>
          <p:nvPr/>
        </p:nvSpPr>
        <p:spPr>
          <a:xfrm rot="0" flipH="0" flipV="0">
            <a:off x="742950" y="2324100"/>
            <a:ext cx="1619250" cy="2381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最小可核验的条目</a:t>
            </a:r>
            <a:endParaRPr/>
          </a:p>
        </p:txBody>
      </p:sp>
      <p:sp>
        <p:nvSpPr>
          <p:cNvPr id="544" name="" descr="{&quot;isTemplate&quot;:true,&quot;type&quot;:&quot;text&quot;}"/>
          <p:cNvSpPr txBox="1"/>
          <p:nvPr/>
        </p:nvSpPr>
        <p:spPr>
          <a:xfrm rot="0" flipH="0" flipV="0">
            <a:off x="2476500" y="2105025"/>
            <a:ext cx="8972550" cy="3238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350">
                <a:solidFill>
                  <a:srgbClr val="1E293B"/>
                </a:solidFill>
                <a:latin typeface="Microsoft YaHei"/>
                <a:ea typeface="Microsoft YaHei"/>
              </a:rPr>
              <a:t>「项目</a:t>
            </a:r>
            <a:r>
              <a:rPr lang="en-US" sz="1350">
                <a:solidFill>
                  <a:srgbClr val="1E293B"/>
                </a:solidFill>
                <a:latin typeface="Microsoft YaHei"/>
                <a:ea typeface="Microsoft YaHei"/>
              </a:rPr>
              <a:t xml:space="preserve"> A </a:t>
            </a:r>
            <a:r>
              <a:rPr lang="zh-CN" sz="1350">
                <a:solidFill>
                  <a:srgbClr val="1E293B"/>
                </a:solidFill>
                <a:latin typeface="Microsoft YaHei"/>
                <a:ea typeface="Microsoft YaHei"/>
              </a:rPr>
              <a:t>的负责人是张工」「差旅标准是每天</a:t>
            </a:r>
            <a:r>
              <a:rPr lang="en-US" sz="1350">
                <a:solidFill>
                  <a:srgbClr val="1E293B"/>
                </a:solidFill>
                <a:latin typeface="Microsoft YaHei"/>
                <a:ea typeface="Microsoft YaHei"/>
              </a:rPr>
              <a:t xml:space="preserve"> 500 </a:t>
            </a:r>
            <a:r>
              <a:rPr lang="zh-CN" sz="1350">
                <a:solidFill>
                  <a:srgbClr val="1E293B"/>
                </a:solidFill>
                <a:latin typeface="Microsoft YaHei"/>
                <a:ea typeface="Microsoft YaHei"/>
              </a:rPr>
              <a:t>元」——一条一条记住，错了可以纠正、过期可以更新。</a:t>
            </a:r>
            <a:endParaRPr/>
          </a:p>
        </p:txBody>
      </p:sp>
      <p:sp>
        <p:nvSpPr>
          <p:cNvPr id="545" name=""/>
          <p:cNvSpPr/>
          <p:nvPr/>
        </p:nvSpPr>
        <p:spPr>
          <a:xfrm rot="0" flipH="0" flipV="0">
            <a:off x="571500" y="2933700"/>
            <a:ext cx="11049000" cy="1066800"/>
          </a:xfrm>
          <a:prstGeom prst="roundRect">
            <a:avLst>
              <a:gd name="adj" fmla="val 10714"/>
            </a:avLst>
          </a:prstGeom>
          <a:solidFill>
            <a:srgbClr val="D6E4F9"/>
          </a:solidFill>
          <a:ln/>
        </p:spPr>
        <p:txBody>
          <a:bodyPr/>
          <a:p/>
        </p:txBody>
      </p:sp>
      <p:sp>
        <p:nvSpPr>
          <p:cNvPr id="546" name="" descr="{&quot;isTemplate&quot;:true,&quot;type&quot;:&quot;text&quot;}"/>
          <p:cNvSpPr txBox="1"/>
          <p:nvPr/>
        </p:nvSpPr>
        <p:spPr>
          <a:xfrm rot="0" flipH="0" flipV="0">
            <a:off x="742950" y="3171825"/>
            <a:ext cx="1619250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1E293B"/>
                </a:solidFill>
                <a:latin typeface="Microsoft YaHei"/>
                <a:ea typeface="Microsoft YaHei"/>
              </a:rPr>
              <a:t>实体画像</a:t>
            </a:r>
            <a:endParaRPr/>
          </a:p>
        </p:txBody>
      </p:sp>
      <p:sp>
        <p:nvSpPr>
          <p:cNvPr id="547" name="" descr="{&quot;isTemplate&quot;:true,&quot;type&quot;:&quot;text&quot;}"/>
          <p:cNvSpPr txBox="1"/>
          <p:nvPr/>
        </p:nvSpPr>
        <p:spPr>
          <a:xfrm rot="0" flipH="0" flipV="0">
            <a:off x="742950" y="3524250"/>
            <a:ext cx="1619250" cy="2381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人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项目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系统的档案</a:t>
            </a:r>
            <a:endParaRPr/>
          </a:p>
        </p:txBody>
      </p:sp>
      <p:sp>
        <p:nvSpPr>
          <p:cNvPr id="548" name="" descr="{&quot;isTemplate&quot;:true,&quot;type&quot;:&quot;text&quot;}"/>
          <p:cNvSpPr txBox="1"/>
          <p:nvPr/>
        </p:nvSpPr>
        <p:spPr>
          <a:xfrm rot="0" flipH="0" flipV="0">
            <a:off x="2476500" y="3305175"/>
            <a:ext cx="8972550" cy="3238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350">
                <a:solidFill>
                  <a:srgbClr val="1E293B"/>
                </a:solidFill>
                <a:latin typeface="Microsoft YaHei"/>
                <a:ea typeface="Microsoft YaHei"/>
              </a:rPr>
              <a:t>每个人、每个项目、每套系统有自己的档案页：偏好、职责、历史结论一查即得，同名也能分得清。</a:t>
            </a:r>
            <a:endParaRPr/>
          </a:p>
        </p:txBody>
      </p:sp>
      <p:sp>
        <p:nvSpPr>
          <p:cNvPr id="549" name=""/>
          <p:cNvSpPr/>
          <p:nvPr/>
        </p:nvSpPr>
        <p:spPr>
          <a:xfrm rot="0" flipH="0" flipV="0">
            <a:off x="571500" y="4133850"/>
            <a:ext cx="11049000" cy="1066800"/>
          </a:xfrm>
          <a:prstGeom prst="roundRect">
            <a:avLst>
              <a:gd name="adj" fmla="val 10714"/>
            </a:avLst>
          </a:prstGeom>
          <a:solidFill>
            <a:srgbClr val="FFF7E9"/>
          </a:solidFill>
          <a:ln/>
        </p:spPr>
        <p:txBody>
          <a:bodyPr/>
          <a:p/>
        </p:txBody>
      </p:sp>
      <p:sp>
        <p:nvSpPr>
          <p:cNvPr id="550" name="" descr="{&quot;isTemplate&quot;:true,&quot;type&quot;:&quot;text&quot;}"/>
          <p:cNvSpPr txBox="1"/>
          <p:nvPr/>
        </p:nvSpPr>
        <p:spPr>
          <a:xfrm rot="0" flipH="0" flipV="0">
            <a:off x="742950" y="4371975"/>
            <a:ext cx="1619250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B45309"/>
                </a:solidFill>
                <a:latin typeface="Microsoft YaHei"/>
                <a:ea typeface="Microsoft YaHei"/>
              </a:rPr>
              <a:t>情节经历</a:t>
            </a:r>
            <a:endParaRPr/>
          </a:p>
        </p:txBody>
      </p:sp>
      <p:sp>
        <p:nvSpPr>
          <p:cNvPr id="551" name="" descr="{&quot;isTemplate&quot;:true,&quot;type&quot;:&quot;text&quot;}"/>
          <p:cNvSpPr txBox="1"/>
          <p:nvPr/>
        </p:nvSpPr>
        <p:spPr>
          <a:xfrm rot="0" flipH="0" flipV="0">
            <a:off x="742950" y="4724400"/>
            <a:ext cx="1619250" cy="2381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事件的来龙去脉</a:t>
            </a:r>
            <a:endParaRPr/>
          </a:p>
        </p:txBody>
      </p:sp>
      <p:sp>
        <p:nvSpPr>
          <p:cNvPr id="552" name="" descr="{&quot;isTemplate&quot;:true,&quot;type&quot;:&quot;text&quot;}"/>
          <p:cNvSpPr txBox="1"/>
          <p:nvPr/>
        </p:nvSpPr>
        <p:spPr>
          <a:xfrm rot="0" flipH="0" flipV="0">
            <a:off x="2476500" y="4505325"/>
            <a:ext cx="8972550" cy="3238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350">
                <a:solidFill>
                  <a:srgbClr val="1E293B"/>
                </a:solidFill>
                <a:latin typeface="Microsoft YaHei"/>
                <a:ea typeface="Microsoft YaHei"/>
              </a:rPr>
              <a:t>保留事情的脉络：上个月为什么改了口径、当时谁拍的板——回答「当时是怎么定的」不再翻聊天记录。</a:t>
            </a:r>
            <a:endParaRPr/>
          </a:p>
        </p:txBody>
      </p:sp>
      <p:sp>
        <p:nvSpPr>
          <p:cNvPr id="553" name="" descr="{&quot;isTemplate&quot;:true,&quot;type&quot;:&quot;text&quot;}"/>
          <p:cNvSpPr txBox="1"/>
          <p:nvPr/>
        </p:nvSpPr>
        <p:spPr>
          <a:xfrm rot="0" flipH="0" flipV="0">
            <a:off x="571500" y="5353050"/>
            <a:ext cx="5372100" cy="3238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可纠正：说一次「记错了」，它就改，不再重复同样的误解。</a:t>
            </a:r>
            <a:endParaRPr/>
          </a:p>
        </p:txBody>
      </p:sp>
      <p:sp>
        <p:nvSpPr>
          <p:cNvPr id="554" name=""/>
          <p:cNvSpPr/>
          <p:nvPr/>
        </p:nvSpPr>
        <p:spPr>
          <a:xfrm rot="0" flipH="0" flipV="0">
            <a:off x="6096000" y="5353050"/>
            <a:ext cx="9525" cy="32385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555" name="" descr="{&quot;isTemplate&quot;:true,&quot;type&quot;:&quot;text&quot;}"/>
          <p:cNvSpPr txBox="1"/>
          <p:nvPr/>
        </p:nvSpPr>
        <p:spPr>
          <a:xfrm rot="0" flipH="0" flipV="0">
            <a:off x="6257925" y="5353050"/>
            <a:ext cx="5362575" cy="3238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可清理：长期运行自动整理归档，不会越堆越乱、越问越慢。</a:t>
            </a:r>
            <a:endParaRPr/>
          </a:p>
        </p:txBody>
      </p:sp>
      <p:sp>
        <p:nvSpPr>
          <p:cNvPr id="556" name=""/>
          <p:cNvSpPr/>
          <p:nvPr/>
        </p:nvSpPr>
        <p:spPr>
          <a:xfrm rot="0" flipH="0" flipV="0">
            <a:off x="571500" y="5772150"/>
            <a:ext cx="11049000" cy="495300"/>
          </a:xfrm>
          <a:prstGeom prst="roundRect">
            <a:avLst>
              <a:gd name="adj" fmla="val 19231"/>
            </a:avLst>
          </a:prstGeom>
          <a:solidFill>
            <a:srgbClr val="E8EEFB"/>
          </a:solidFill>
          <a:ln/>
        </p:spPr>
        <p:txBody>
          <a:bodyPr/>
          <a:p/>
        </p:txBody>
      </p:sp>
      <p:sp>
        <p:nvSpPr>
          <p:cNvPr id="557" name="" descr="{&quot;isTemplate&quot;:true,&quot;type&quot;:&quot;text&quot;}"/>
          <p:cNvSpPr txBox="1"/>
          <p:nvPr/>
        </p:nvSpPr>
        <p:spPr>
          <a:xfrm rot="0" flipH="0" flipV="0">
            <a:off x="704850" y="5867400"/>
            <a:ext cx="10782300" cy="3048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425" b="1">
                <a:solidFill>
                  <a:srgbClr val="1E293B"/>
                </a:solidFill>
                <a:latin typeface="Microsoft YaHei"/>
                <a:ea typeface="Microsoft YaHei"/>
              </a:rPr>
              <a:t>记忆让</a:t>
            </a:r>
            <a:r>
              <a:rPr lang="en-US" sz="1425" b="1">
                <a:solidFill>
                  <a:srgbClr val="1E293B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1425" b="1">
                <a:solidFill>
                  <a:srgbClr val="1E293B"/>
                </a:solidFill>
                <a:latin typeface="Microsoft YaHei"/>
                <a:ea typeface="Microsoft YaHei"/>
              </a:rPr>
              <a:t>的能力随合作时间累积——每次会话不再从零开始，这是「越用越值钱」的技术底座。</a:t>
            </a:r>
            <a:endParaRPr/>
          </a:p>
        </p:txBody>
      </p:sp>
    </p:spTree>
  </p:cSld>
</p:sld>
</file>

<file path=ppt/slides/slide28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558" name="" descr="&lt;Slide style={{ padding: 60, background: '#FFFFFF' }}&gt;&#10;    &lt;Box style={{ height: 600 }}&gt;&#10;        &lt;Box style={{ height: 20, flexDirection: 'row', justifyContent: 'space-between', alignItems: 'center' }}&gt;&#10;            &lt;Text style={{ fontSize: 14, color: '#94A3B8', letterSpacing: 2 }}&gt;02 · 业务怎么用&lt;/Text&gt;&#10;            &lt;Box style={{ width: 44, height: 4, borderRadius: 2, background: '#2563EB' }} /&gt;&#10;        &lt;/Box&gt;&#10;        &lt;Text style={{ fontSize: 34, fontWeight: 'bold', color: '#1E293B', marginTop: 16, lineHeight: 1.2 }}&gt;&#10;            专题｜知识库与引用溯源：敢用的前提是说得清出处&#10;        &lt;/Text&gt;&#10;        &lt;Box style={{ height: 1, background: '#E2E8F0', marginTop: 16 }} /&gt;&#10;&#10;        {/* 流程 */}&#10;        &lt;Box style={{ flexDirection: 'row', marginTop: 20, alignItems: 'stretch' }}&gt;&#10;            &lt;Box style={{ width: 265, background: '#E8EEFB', borderWidth: 1, borderColor: '#C7D6F5', borderStyle: 'solid', borderRadius: 10, padding: 14 }}&gt;&#10;                &lt;Text style={{ fontSize: 18, fontWeight: '600', color: '#94A3B8', lineHeight: 1.3 }}&gt;01&lt;/Text&gt;&#10;                &lt;Text style={{ fontSize: 20, fontWeight: '600', color: '#1E293B', lineHeight: 1.3, marginTop: 4 }}&gt;文档进来&lt;/Text&gt;&#10;                &lt;Text style={{ fontSize: 18, color: '#475569', lineHeight: 1.5, marginTop: 6 }}&gt;&#10;                    PDF、Word、Excel、网页、扫描件都能收；编码自动兼容，老格式自动转换。&#10;                &lt;/Text&gt;&#10;            &lt;/Box&gt;&#10;            &lt;Box style={{ width: 30, justifyContent: 'center', alignItems: 'center' }}&gt;&#10;                &lt;svg width={30} height={18} viewBox='0 0 30 18'&gt;&lt;path d='M0 9 L18 9' stroke='#2563EB' strokeWidth='2' /&gt;&lt;path d='M18 2 L30 9 L18 16 Z' fill='#2563EB' /&gt;&lt;/svg&gt;&#10;            &lt;/Box&gt;&#10;            &lt;Box style={{ width: 265, background: '#D6E4F9', borderRadius: 10, padding: 14 }}&gt;&#10;                &lt;Text style={{ fontSize: 18, fontWeight: '600', color: '#475569', lineHeight: 1.3 }}&gt;02&lt;/Text&gt;&#10;                &lt;Text style={{ fontSize: 20, fontWeight: '600', color: '#1E293B', lineHeight: 1.3, marginTop: 4 }}&gt;切片入库&lt;/Text&gt;&#10;                &lt;Text style={{ fontSize: 18, color: '#475569', lineHeight: 1.5, marginTop: 6 }}&gt;&#10;                    自动拆分、建立索引，按知识库分仓管理，谁建的、谁能看一目了然。&#10;                &lt;/Text&gt;&#10;            &lt;/Box&gt;&#10;            &lt;Box style={{ width: 30, justifyContent: 'center', alignItems: 'center' }}&gt;&#10;                &lt;svg width={30} height={18} viewBox='0 0 30 18'&gt;&lt;path d='M0 9 L18 9' stroke='#0891B2' strokeWidth='2' /&gt;&lt;path d='M18 2 L30 9 L18 16 Z' fill='#0891B2' /&gt;&lt;/svg&gt;&#10;            &lt;/Box&gt;&#10;            &lt;Box style={{ width: 265, background: '#E8EEFB', borderWidth: 1, borderColor: '#C7D6F5', borderStyle: 'solid', borderRadius: 10, padding: 14 }}&gt;&#10;                &lt;Text style={{ fontSize: 18, fontWeight: '600', color: '#94A3B8', lineHeight: 1.3 }}&gt;03&lt;/Text&gt;&#10;                &lt;Text style={{ fontSize: 20, fontWeight: '600', color: '#1E293B', lineHeight: 1.3, marginTop: 4 }}&gt;检索作答&lt;/Text&gt;&#10;                &lt;Text style={{ fontSize: 18, color: '#475569', lineHeight: 1.5, marginTop: 6 }}&gt;&#10;                    提问时只取授权范围内的片段作答，超出知识范围就明说。&#10;                &lt;/Text&gt;&#10;            &lt;/Box&gt;&#10;            &lt;Box style={{ width: 30, justifyContent: 'center', alignItems: 'center' }}&gt;&#10;                &lt;svg width={30} height={18} viewBox='0 0 30 18'&gt;&lt;path d='M0 9 L18 9' stroke='#F59E0B' strokeWidth='2' /&gt;&lt;path d='M18 2 L30 9 L18 16 Z' fill='#F59E0B' /&gt;&lt;/svg&gt;&#10;            &lt;/Box&gt;&#10;            &lt;Box style={{ width: 265, background: '#FFF7E9', borderWidth: 1, borderColor: '#F5D9A4', borderStyle: 'solid', borderRadius: 10, padding: 14 }}&gt;&#10;                &lt;Text style={{ fontSize: 18, fontWeight: '600', color: '#B45309', lineHeight: 1.3 }}&gt;04&lt;/Text&gt;&#10;                &lt;Text style={{ fontSize: 20, fontWeight: '600', color: '#1E293B', lineHeight: 1.3, marginTop: 4 }}&gt;出处随答案&lt;/Text&gt;&#10;                &lt;Text style={{ fontSize: 18, color: '#475569', lineHeight: 1.5, marginTop: 6 }}&gt;&#10;                    每条回答标注来源文档与位置，点开即可核对原文。&#10;                &lt;/Text&gt;&#10;            &lt;/Box&gt;&#10;        &lt;/Box&gt;&#10;&#10;        {/* 三点支撑 */}&#10;        &lt;Box style={{ flexDirection: 'row', marginTop: 20, gap: 16 }}&gt;&#10;            &lt;Box style={{ flex: 1, background: '#F4F6FB', borderRadius: 10, padding: 14 }}&gt;&#10;                &lt;Text style={{ fontSize: 20, fontWeight: '600', color: '#1E293B', lineHeight: 1.3 }}&gt;中文场景专门处理&lt;/Text&gt;&#10;                &lt;Text style={{ fontSize: 18, color: '#475569', lineHeight: 1.5, marginTop: 4 }}&gt;编码回退、老格式转换、扫描件 OCR 一条龙。&lt;/Text&gt;&#10;            &lt;/Box&gt;&#10;            &lt;Box style={{ flex: 1, background: '#F4F6FB', borderRadius: 10, padding: 14 }}&gt;&#10;                &lt;Text style={{ fontSize: 20, fontWeight: '600', color: '#1E293B', lineHeight: 1.3 }}&gt;同库共享，按权取用&lt;/Text&gt;&#10;                &lt;Text style={{ fontSize: 18, color: '#475569', lineHeight: 1.5, marginTop: 4 }}&gt;一份受控文档，全公司按权限引用，口径统一。&lt;/Text&gt;&#10;            &lt;/Box&gt;&#10;            &lt;Box style={{ flex: 1, background: '#F4F6FB', borderRadius: 10, padding: 14 }}&gt;&#10;                &lt;Text style={{ fontSize: 20, fontWeight: '600', color: '#1E293B', lineHeight: 1.3 }}&gt;边界说在前面&lt;/Text&gt;&#10;                &lt;Text style={{ fontSize: 18, color: '#475569', lineHeight: 1.5, marginTop: 4 }}&gt;当前为向量检索，中小企业语料规模下足够，超大规模再升级。&lt;/Text&gt;&#10;            &lt;/Box&gt;&#10;        &lt;/Box&gt;&#10;&#10;        {/* 结论条 */}&#10;        &lt;Box style={{ height: 58, background: '#E8EEFB', borderRadius: 10, padding: 14, marginTop: 16, justifyContent: 'center' }}&gt;&#10;            &lt;Text style={{ fontSize: 19, fontWeight: '600', color: '#1E293B', lineHeight: 1.4 }}&gt;&#10;                减少「一本正经地胡说」的关键，不是换个更大的模型，而是让答案锚定公司自己的文档并交出出处。&#10;            &lt;/Text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60" name="" descr="{&quot;isTemplate&quot;:true,&quot;type&quot;:&quot;text&quot;}"/>
          <p:cNvSpPr txBox="1"/>
          <p:nvPr/>
        </p:nvSpPr>
        <p:spPr>
          <a:xfrm rot="0" flipH="0" flipV="0">
            <a:off x="571500" y="590550"/>
            <a:ext cx="1133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94A3B8"/>
                </a:solidFill>
                <a:latin typeface="Microsoft YaHei"/>
                <a:ea typeface="Microsoft YaHei"/>
              </a:rPr>
              <a:t xml:space="preserve">02 · </a:t>
            </a:r>
            <a:r>
              <a:rPr lang="zh-CN" sz="1050" spc="150">
                <a:solidFill>
                  <a:srgbClr val="94A3B8"/>
                </a:solidFill>
                <a:latin typeface="Microsoft YaHei"/>
                <a:ea typeface="Microsoft YaHei"/>
              </a:rPr>
              <a:t>业务怎么用</a:t>
            </a:r>
            <a:endParaRPr/>
          </a:p>
        </p:txBody>
      </p:sp>
      <p:sp>
        <p:nvSpPr>
          <p:cNvPr id="561" name=""/>
          <p:cNvSpPr/>
          <p:nvPr/>
        </p:nvSpPr>
        <p:spPr>
          <a:xfrm rot="0" flipH="0" flipV="0">
            <a:off x="11201400" y="647700"/>
            <a:ext cx="419100" cy="38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562" name="" descr="{&quot;isTemplate&quot;:true,&quot;type&quot;:&quot;text&quot;}"/>
          <p:cNvSpPr txBox="1"/>
          <p:nvPr/>
        </p:nvSpPr>
        <p:spPr>
          <a:xfrm rot="0" flipH="0" flipV="0">
            <a:off x="571500" y="914400"/>
            <a:ext cx="110490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E293B"/>
                </a:solidFill>
                <a:latin typeface="Microsoft YaHei"/>
                <a:ea typeface="Microsoft YaHei"/>
              </a:rPr>
              <a:t>专题｜知识库与引用溯源：敢用的前提是说得清出处</a:t>
            </a:r>
            <a:endParaRPr/>
          </a:p>
        </p:txBody>
      </p:sp>
      <p:sp>
        <p:nvSpPr>
          <p:cNvPr id="563" name=""/>
          <p:cNvSpPr/>
          <p:nvPr/>
        </p:nvSpPr>
        <p:spPr>
          <a:xfrm rot="0" flipH="0" flipV="0">
            <a:off x="571500" y="1533525"/>
            <a:ext cx="1104900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564" name=""/>
          <p:cNvSpPr/>
          <p:nvPr/>
        </p:nvSpPr>
        <p:spPr>
          <a:xfrm rot="0" flipH="0" flipV="0">
            <a:off x="571500" y="1733550"/>
            <a:ext cx="2524125" cy="1876425"/>
          </a:xfrm>
          <a:prstGeom prst="roundRect">
            <a:avLst>
              <a:gd name="adj" fmla="val 5076"/>
            </a:avLst>
          </a:prstGeom>
          <a:solidFill>
            <a:srgbClr val="E8EEFB"/>
          </a:solidFill>
          <a:ln w="12700">
            <a:solidFill>
              <a:srgbClr val="C7D6F5"/>
            </a:solidFill>
            <a:prstDash val="solid"/>
          </a:ln>
        </p:spPr>
        <p:txBody>
          <a:bodyPr/>
          <a:p/>
        </p:txBody>
      </p:sp>
      <p:sp>
        <p:nvSpPr>
          <p:cNvPr id="565" name="" descr="{&quot;isTemplate&quot;:true,&quot;type&quot;:&quot;text&quot;}"/>
          <p:cNvSpPr txBox="1"/>
          <p:nvPr/>
        </p:nvSpPr>
        <p:spPr>
          <a:xfrm rot="0" flipH="0" flipV="0">
            <a:off x="704850" y="1866900"/>
            <a:ext cx="2257425" cy="2762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350" b="1">
                <a:solidFill>
                  <a:srgbClr val="94A3B8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566" name="" descr="{&quot;isTemplate&quot;:true,&quot;type&quot;:&quot;text&quot;}"/>
          <p:cNvSpPr txBox="1"/>
          <p:nvPr/>
        </p:nvSpPr>
        <p:spPr>
          <a:xfrm rot="0" flipH="0" flipV="0">
            <a:off x="704850" y="2181225"/>
            <a:ext cx="2257425" cy="3048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500" b="1">
                <a:solidFill>
                  <a:srgbClr val="1E293B"/>
                </a:solidFill>
                <a:latin typeface="Microsoft YaHei"/>
                <a:ea typeface="Microsoft YaHei"/>
              </a:rPr>
              <a:t>文档进来</a:t>
            </a:r>
            <a:endParaRPr/>
          </a:p>
        </p:txBody>
      </p:sp>
      <p:sp>
        <p:nvSpPr>
          <p:cNvPr id="567" name="" descr="{&quot;isTemplate&quot;:true,&quot;type&quot;:&quot;text&quot;}"/>
          <p:cNvSpPr txBox="1"/>
          <p:nvPr/>
        </p:nvSpPr>
        <p:spPr>
          <a:xfrm rot="0" flipH="0" flipV="0">
            <a:off x="704850" y="2543175"/>
            <a:ext cx="2257425" cy="933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>PDF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、</a:t>
            </a: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>Word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、</a:t>
            </a: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>Excel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、网页、扫描件都能收；编码自动兼容，老格式自动转换。</a:t>
            </a:r>
            <a:endParaRPr/>
          </a:p>
        </p:txBody>
      </p:sp>
      <p:pic>
        <p:nvPicPr>
          <p:cNvPr id="56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3095625" y="2590800"/>
            <a:ext cx="285750" cy="171450"/>
          </a:xfrm>
          <a:prstGeom prst="rect">
            <a:avLst/>
          </a:prstGeom>
          <a:ln/>
        </p:spPr>
      </p:pic>
      <p:sp>
        <p:nvSpPr>
          <p:cNvPr id="569" name=""/>
          <p:cNvSpPr/>
          <p:nvPr/>
        </p:nvSpPr>
        <p:spPr>
          <a:xfrm rot="0" flipH="0" flipV="0">
            <a:off x="3381375" y="1733550"/>
            <a:ext cx="2524125" cy="1876425"/>
          </a:xfrm>
          <a:prstGeom prst="roundRect">
            <a:avLst>
              <a:gd name="adj" fmla="val 5076"/>
            </a:avLst>
          </a:prstGeom>
          <a:solidFill>
            <a:srgbClr val="D6E4F9"/>
          </a:solidFill>
          <a:ln/>
        </p:spPr>
        <p:txBody>
          <a:bodyPr/>
          <a:p/>
        </p:txBody>
      </p:sp>
      <p:sp>
        <p:nvSpPr>
          <p:cNvPr id="570" name="" descr="{&quot;isTemplate&quot;:true,&quot;type&quot;:&quot;text&quot;}"/>
          <p:cNvSpPr txBox="1"/>
          <p:nvPr/>
        </p:nvSpPr>
        <p:spPr>
          <a:xfrm rot="0" flipH="0" flipV="0">
            <a:off x="3514725" y="1866900"/>
            <a:ext cx="2257425" cy="2762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350" b="1">
                <a:solidFill>
                  <a:srgbClr val="475569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571" name="" descr="{&quot;isTemplate&quot;:true,&quot;type&quot;:&quot;text&quot;}"/>
          <p:cNvSpPr txBox="1"/>
          <p:nvPr/>
        </p:nvSpPr>
        <p:spPr>
          <a:xfrm rot="0" flipH="0" flipV="0">
            <a:off x="3514725" y="2181225"/>
            <a:ext cx="2257425" cy="3048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500" b="1">
                <a:solidFill>
                  <a:srgbClr val="1E293B"/>
                </a:solidFill>
                <a:latin typeface="Microsoft YaHei"/>
                <a:ea typeface="Microsoft YaHei"/>
              </a:rPr>
              <a:t>切片入库</a:t>
            </a:r>
            <a:endParaRPr/>
          </a:p>
        </p:txBody>
      </p:sp>
      <p:sp>
        <p:nvSpPr>
          <p:cNvPr id="572" name="" descr="{&quot;isTemplate&quot;:true,&quot;type&quot;:&quot;text&quot;}"/>
          <p:cNvSpPr txBox="1"/>
          <p:nvPr/>
        </p:nvSpPr>
        <p:spPr>
          <a:xfrm rot="0" flipH="0" flipV="0">
            <a:off x="3514725" y="2543175"/>
            <a:ext cx="2257425" cy="933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自动拆分、建立索引，按知识库分仓管理，谁建的、谁能看一目了然。</a:t>
            </a:r>
            <a:endParaRPr/>
          </a:p>
        </p:txBody>
      </p:sp>
      <p:pic>
        <p:nvPicPr>
          <p:cNvPr id="57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5905500" y="2590800"/>
            <a:ext cx="285750" cy="171450"/>
          </a:xfrm>
          <a:prstGeom prst="rect">
            <a:avLst/>
          </a:prstGeom>
          <a:ln/>
        </p:spPr>
      </p:pic>
      <p:sp>
        <p:nvSpPr>
          <p:cNvPr id="574" name=""/>
          <p:cNvSpPr/>
          <p:nvPr/>
        </p:nvSpPr>
        <p:spPr>
          <a:xfrm rot="0" flipH="0" flipV="0">
            <a:off x="6191250" y="1733550"/>
            <a:ext cx="2524125" cy="1876425"/>
          </a:xfrm>
          <a:prstGeom prst="roundRect">
            <a:avLst>
              <a:gd name="adj" fmla="val 5076"/>
            </a:avLst>
          </a:prstGeom>
          <a:solidFill>
            <a:srgbClr val="E8EEFB"/>
          </a:solidFill>
          <a:ln w="12700">
            <a:solidFill>
              <a:srgbClr val="C7D6F5"/>
            </a:solidFill>
            <a:prstDash val="solid"/>
          </a:ln>
        </p:spPr>
        <p:txBody>
          <a:bodyPr/>
          <a:p/>
        </p:txBody>
      </p:sp>
      <p:sp>
        <p:nvSpPr>
          <p:cNvPr id="575" name="" descr="{&quot;isTemplate&quot;:true,&quot;type&quot;:&quot;text&quot;}"/>
          <p:cNvSpPr txBox="1"/>
          <p:nvPr/>
        </p:nvSpPr>
        <p:spPr>
          <a:xfrm rot="0" flipH="0" flipV="0">
            <a:off x="6324600" y="1866900"/>
            <a:ext cx="2257425" cy="2762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350" b="1">
                <a:solidFill>
                  <a:srgbClr val="94A3B8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576" name="" descr="{&quot;isTemplate&quot;:true,&quot;type&quot;:&quot;text&quot;}"/>
          <p:cNvSpPr txBox="1"/>
          <p:nvPr/>
        </p:nvSpPr>
        <p:spPr>
          <a:xfrm rot="0" flipH="0" flipV="0">
            <a:off x="6324600" y="2181225"/>
            <a:ext cx="2257425" cy="3048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500" b="1">
                <a:solidFill>
                  <a:srgbClr val="1E293B"/>
                </a:solidFill>
                <a:latin typeface="Microsoft YaHei"/>
                <a:ea typeface="Microsoft YaHei"/>
              </a:rPr>
              <a:t>检索作答</a:t>
            </a:r>
            <a:endParaRPr/>
          </a:p>
        </p:txBody>
      </p:sp>
      <p:sp>
        <p:nvSpPr>
          <p:cNvPr id="577" name="" descr="{&quot;isTemplate&quot;:true,&quot;type&quot;:&quot;text&quot;}"/>
          <p:cNvSpPr txBox="1"/>
          <p:nvPr/>
        </p:nvSpPr>
        <p:spPr>
          <a:xfrm rot="0" flipH="0" flipV="0">
            <a:off x="6324600" y="2543175"/>
            <a:ext cx="2257425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提问时只取授权范围内的片段作答，超出知识范围就明说。</a:t>
            </a:r>
            <a:endParaRPr/>
          </a:p>
        </p:txBody>
      </p:sp>
      <p:pic>
        <p:nvPicPr>
          <p:cNvPr id="57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8715375" y="2590800"/>
            <a:ext cx="285750" cy="171450"/>
          </a:xfrm>
          <a:prstGeom prst="rect">
            <a:avLst/>
          </a:prstGeom>
          <a:ln/>
        </p:spPr>
      </p:pic>
      <p:sp>
        <p:nvSpPr>
          <p:cNvPr id="579" name=""/>
          <p:cNvSpPr/>
          <p:nvPr/>
        </p:nvSpPr>
        <p:spPr>
          <a:xfrm rot="0" flipH="0" flipV="0">
            <a:off x="9001125" y="1733550"/>
            <a:ext cx="2524125" cy="1876425"/>
          </a:xfrm>
          <a:prstGeom prst="roundRect">
            <a:avLst>
              <a:gd name="adj" fmla="val 5076"/>
            </a:avLst>
          </a:prstGeom>
          <a:solidFill>
            <a:srgbClr val="FFF7E9"/>
          </a:solidFill>
          <a:ln w="12700">
            <a:solidFill>
              <a:srgbClr val="F5D9A4"/>
            </a:solidFill>
            <a:prstDash val="solid"/>
          </a:ln>
        </p:spPr>
        <p:txBody>
          <a:bodyPr/>
          <a:p/>
        </p:txBody>
      </p:sp>
      <p:sp>
        <p:nvSpPr>
          <p:cNvPr id="580" name="" descr="{&quot;isTemplate&quot;:true,&quot;type&quot;:&quot;text&quot;}"/>
          <p:cNvSpPr txBox="1"/>
          <p:nvPr/>
        </p:nvSpPr>
        <p:spPr>
          <a:xfrm rot="0" flipH="0" flipV="0">
            <a:off x="9134475" y="1866900"/>
            <a:ext cx="2257425" cy="2762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350" b="1">
                <a:solidFill>
                  <a:srgbClr val="B45309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581" name="" descr="{&quot;isTemplate&quot;:true,&quot;type&quot;:&quot;text&quot;}"/>
          <p:cNvSpPr txBox="1"/>
          <p:nvPr/>
        </p:nvSpPr>
        <p:spPr>
          <a:xfrm rot="0" flipH="0" flipV="0">
            <a:off x="9134475" y="2181225"/>
            <a:ext cx="2257425" cy="3048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500" b="1">
                <a:solidFill>
                  <a:srgbClr val="1E293B"/>
                </a:solidFill>
                <a:latin typeface="Microsoft YaHei"/>
                <a:ea typeface="Microsoft YaHei"/>
              </a:rPr>
              <a:t>出处随答案</a:t>
            </a:r>
            <a:endParaRPr/>
          </a:p>
        </p:txBody>
      </p:sp>
      <p:sp>
        <p:nvSpPr>
          <p:cNvPr id="582" name="" descr="{&quot;isTemplate&quot;:true,&quot;type&quot;:&quot;text&quot;}"/>
          <p:cNvSpPr txBox="1"/>
          <p:nvPr/>
        </p:nvSpPr>
        <p:spPr>
          <a:xfrm rot="0" flipH="0" flipV="0">
            <a:off x="9134475" y="2543175"/>
            <a:ext cx="2257425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每条回答标注来源文档与位置，点开即可核对原文。</a:t>
            </a:r>
            <a:endParaRPr/>
          </a:p>
        </p:txBody>
      </p:sp>
      <p:sp>
        <p:nvSpPr>
          <p:cNvPr id="583" name=""/>
          <p:cNvSpPr/>
          <p:nvPr/>
        </p:nvSpPr>
        <p:spPr>
          <a:xfrm rot="0" flipH="0" flipV="0">
            <a:off x="571500" y="3800475"/>
            <a:ext cx="3581400" cy="1228725"/>
          </a:xfrm>
          <a:prstGeom prst="roundRect">
            <a:avLst>
              <a:gd name="adj" fmla="val 7752"/>
            </a:avLst>
          </a:prstGeom>
          <a:solidFill>
            <a:srgbClr val="F4F6FB"/>
          </a:solidFill>
          <a:ln/>
        </p:spPr>
        <p:txBody>
          <a:bodyPr/>
          <a:p/>
        </p:txBody>
      </p:sp>
      <p:sp>
        <p:nvSpPr>
          <p:cNvPr id="584" name="" descr="{&quot;isTemplate&quot;:true,&quot;type&quot;:&quot;text&quot;}"/>
          <p:cNvSpPr txBox="1"/>
          <p:nvPr/>
        </p:nvSpPr>
        <p:spPr>
          <a:xfrm rot="0" flipH="0" flipV="0">
            <a:off x="704850" y="3933825"/>
            <a:ext cx="3314700" cy="3048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500" b="1">
                <a:solidFill>
                  <a:srgbClr val="1E293B"/>
                </a:solidFill>
                <a:latin typeface="Microsoft YaHei"/>
                <a:ea typeface="Microsoft YaHei"/>
              </a:rPr>
              <a:t>中文场景专门处理</a:t>
            </a:r>
            <a:endParaRPr/>
          </a:p>
        </p:txBody>
      </p:sp>
      <p:sp>
        <p:nvSpPr>
          <p:cNvPr id="585" name="" descr="{&quot;isTemplate&quot;:true,&quot;type&quot;:&quot;text&quot;}"/>
          <p:cNvSpPr txBox="1"/>
          <p:nvPr/>
        </p:nvSpPr>
        <p:spPr>
          <a:xfrm rot="0" flipH="0" flipV="0">
            <a:off x="704850" y="4276725"/>
            <a:ext cx="331470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编码回退、老格式转换、扫描件</a:t>
            </a: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 xml:space="preserve"> OCR 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一条龙。</a:t>
            </a:r>
            <a:endParaRPr/>
          </a:p>
        </p:txBody>
      </p:sp>
      <p:sp>
        <p:nvSpPr>
          <p:cNvPr id="586" name=""/>
          <p:cNvSpPr/>
          <p:nvPr/>
        </p:nvSpPr>
        <p:spPr>
          <a:xfrm rot="0" flipH="0" flipV="0">
            <a:off x="4305300" y="3800475"/>
            <a:ext cx="3581400" cy="1228725"/>
          </a:xfrm>
          <a:prstGeom prst="roundRect">
            <a:avLst>
              <a:gd name="adj" fmla="val 7752"/>
            </a:avLst>
          </a:prstGeom>
          <a:solidFill>
            <a:srgbClr val="F4F6FB"/>
          </a:solidFill>
          <a:ln/>
        </p:spPr>
        <p:txBody>
          <a:bodyPr/>
          <a:p/>
        </p:txBody>
      </p:sp>
      <p:sp>
        <p:nvSpPr>
          <p:cNvPr id="587" name="" descr="{&quot;isTemplate&quot;:true,&quot;type&quot;:&quot;text&quot;}"/>
          <p:cNvSpPr txBox="1"/>
          <p:nvPr/>
        </p:nvSpPr>
        <p:spPr>
          <a:xfrm rot="0" flipH="0" flipV="0">
            <a:off x="4438650" y="3933825"/>
            <a:ext cx="3314700" cy="3048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500" b="1">
                <a:solidFill>
                  <a:srgbClr val="1E293B"/>
                </a:solidFill>
                <a:latin typeface="Microsoft YaHei"/>
                <a:ea typeface="Microsoft YaHei"/>
              </a:rPr>
              <a:t>同库共享，按权取用</a:t>
            </a:r>
            <a:endParaRPr/>
          </a:p>
        </p:txBody>
      </p:sp>
      <p:sp>
        <p:nvSpPr>
          <p:cNvPr id="588" name="" descr="{&quot;isTemplate&quot;:true,&quot;type&quot;:&quot;text&quot;}"/>
          <p:cNvSpPr txBox="1"/>
          <p:nvPr/>
        </p:nvSpPr>
        <p:spPr>
          <a:xfrm rot="0" flipH="0" flipV="0">
            <a:off x="4438650" y="4276725"/>
            <a:ext cx="331470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一份受控文档，全公司按权限引用，口径统一。</a:t>
            </a:r>
            <a:endParaRPr/>
          </a:p>
        </p:txBody>
      </p:sp>
      <p:sp>
        <p:nvSpPr>
          <p:cNvPr id="589" name=""/>
          <p:cNvSpPr/>
          <p:nvPr/>
        </p:nvSpPr>
        <p:spPr>
          <a:xfrm rot="0" flipH="0" flipV="0">
            <a:off x="8039100" y="3800475"/>
            <a:ext cx="3581400" cy="1228725"/>
          </a:xfrm>
          <a:prstGeom prst="roundRect">
            <a:avLst>
              <a:gd name="adj" fmla="val 7752"/>
            </a:avLst>
          </a:prstGeom>
          <a:solidFill>
            <a:srgbClr val="F4F6FB"/>
          </a:solidFill>
          <a:ln/>
        </p:spPr>
        <p:txBody>
          <a:bodyPr/>
          <a:p/>
        </p:txBody>
      </p:sp>
      <p:sp>
        <p:nvSpPr>
          <p:cNvPr id="590" name="" descr="{&quot;isTemplate&quot;:true,&quot;type&quot;:&quot;text&quot;}"/>
          <p:cNvSpPr txBox="1"/>
          <p:nvPr/>
        </p:nvSpPr>
        <p:spPr>
          <a:xfrm rot="0" flipH="0" flipV="0">
            <a:off x="8172450" y="3933825"/>
            <a:ext cx="3314700" cy="3048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500" b="1">
                <a:solidFill>
                  <a:srgbClr val="1E293B"/>
                </a:solidFill>
                <a:latin typeface="Microsoft YaHei"/>
                <a:ea typeface="Microsoft YaHei"/>
              </a:rPr>
              <a:t>边界说在前面</a:t>
            </a:r>
            <a:endParaRPr/>
          </a:p>
        </p:txBody>
      </p:sp>
      <p:sp>
        <p:nvSpPr>
          <p:cNvPr id="591" name="" descr="{&quot;isTemplate&quot;:true,&quot;type&quot;:&quot;text&quot;}"/>
          <p:cNvSpPr txBox="1"/>
          <p:nvPr/>
        </p:nvSpPr>
        <p:spPr>
          <a:xfrm rot="0" flipH="0" flipV="0">
            <a:off x="8172450" y="4276725"/>
            <a:ext cx="331470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当前为向量检索，中小企业语料规模下足够，超大规模再升级。</a:t>
            </a:r>
            <a:endParaRPr/>
          </a:p>
        </p:txBody>
      </p:sp>
      <p:sp>
        <p:nvSpPr>
          <p:cNvPr id="592" name=""/>
          <p:cNvSpPr/>
          <p:nvPr/>
        </p:nvSpPr>
        <p:spPr>
          <a:xfrm rot="0" flipH="0" flipV="0">
            <a:off x="571500" y="5181600"/>
            <a:ext cx="11049000" cy="552450"/>
          </a:xfrm>
          <a:prstGeom prst="roundRect">
            <a:avLst>
              <a:gd name="adj" fmla="val 17241"/>
            </a:avLst>
          </a:prstGeom>
          <a:solidFill>
            <a:srgbClr val="E8EEFB"/>
          </a:solidFill>
          <a:ln/>
        </p:spPr>
        <p:txBody>
          <a:bodyPr/>
          <a:p/>
        </p:txBody>
      </p:sp>
      <p:sp>
        <p:nvSpPr>
          <p:cNvPr id="593" name="" descr="{&quot;isTemplate&quot;:true,&quot;type&quot;:&quot;text&quot;}"/>
          <p:cNvSpPr txBox="1"/>
          <p:nvPr/>
        </p:nvSpPr>
        <p:spPr>
          <a:xfrm rot="0" flipH="0" flipV="0">
            <a:off x="704850" y="5305425"/>
            <a:ext cx="10782300" cy="3048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425" b="1">
                <a:solidFill>
                  <a:srgbClr val="1E293B"/>
                </a:solidFill>
                <a:latin typeface="Microsoft YaHei"/>
                <a:ea typeface="Microsoft YaHei"/>
              </a:rPr>
              <a:t>减少「一本正经地胡说」的关键，不是换个更大的模型，而是让答案锚定公司自己的文档并交出出处。</a:t>
            </a:r>
            <a:endParaRPr/>
          </a:p>
        </p:txBody>
      </p:sp>
    </p:spTree>
  </p:cSld>
</p:sld>
</file>

<file path=ppt/slides/slide29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594" name="" descr="&lt;Slide style={{ padding: 60, background: '#FFFFFF' }}&gt;&#13;&#10;    &lt;Box style={{ height: 600 }}&gt;&#13;&#10;        &lt;Box style={{ height: 20, flexDirection: 'row', justifyContent: 'space-between', alignItems: 'center' }}&gt;&#13;&#10;            &lt;Text style={{ fontSize: 14, color: '#94A3B8', letterSpacing: 2 }}&gt;02 · 业务怎么用&lt;/Text&gt;&#13;&#10;            &lt;Box style={{ width: 44, height: 4, borderRadius: 2, background: '#2563EB' }} /&gt;&#13;&#10;        &lt;/Box&gt;&#13;&#10;        &lt;Text style={{ fontSize: 34, fontWeight: 'bold', color: '#1E293B', marginTop: 16, lineHeight: 1.2 }}&gt;&#13;&#10;            专题｜复杂任务交给一个团队，而不是一个人硬扛&#13;&#10;        &lt;/Text&gt;&#13;&#10;        &lt;Box style={{ height: 1, background: '#E2E8F0', marginTop: 16 }} /&gt;&#13;&#10;&#13;&#10;        &lt;Box style={{ flex: 1, marginTop: 20, flexDirection: 'row', gap: 28 }}&gt;&#13;&#10;            {/* 左：编排示意 */}&#13;&#10;            &lt;Box style={{ width: 420, background: '#F4F6FB', borderRadius: 12, padding: 20, justifyContent: 'center', alignItems: 'center' }}&gt;&#13;&#10;                &lt;svg width={340} height={260} viewBox='0 0 340 260'&gt;&#13;&#10;                    &lt;rect x='110' y='14' width='120' height='52' rx='10' fill='#2563EB' /&gt;&#13;&#10;                    &lt;text x='170' y='46' textAnchor='middle' fontSize='16' fill='#FFFFFF' fontFamily='Microsoft YaHei'&gt;协调者&lt;/text&gt;&#13;&#10;                    &lt;rect x='18' y='140' width='96' height='44' rx='10' fill='#E8EEFB' stroke='#C7D6F5' strokeWidth='1.5' /&gt;&#13;&#10;                    &lt;text x='66' y='167' textAnchor='middle' fontSize='14' fill='#1E293B' fontFamily='Microsoft YaHei'&gt;数据专家&lt;/text&gt;&#13;&#10;                    &lt;rect x='122' y='140' width='96' height='44' rx='10' fill='#E8EEFB' stroke='#C7D6F5' strokeWidth='1.5' /&gt;&#13;&#10;                    &lt;text x='170' y='167' textAnchor='middle' fontSize='14' fill='#1E293B' fontFamily='Microsoft YaHei'&gt;文档专家&lt;/text&gt;&#13;&#10;                    &lt;rect x='226' y='140' width='96' height='44' rx='10' fill='#E8EEFB' stroke='#C7D6F5' strokeWidth='1.5' /&gt;&#13;&#10;                    &lt;text x='274' y='167' textAnchor='middle' fontSize='14' fill='#1E293B' fontFamily='Microsoft YaHei'&gt;审核专家&lt;/text&gt;&#13;&#10;                    &lt;line x1='170' y1='66' x2='66' y2='140' stroke='#93C5FD' strokeWidth='2' /&gt;&#13;&#10;                    &lt;line x1='170' y1='66' x2='170' y2='140' stroke='#93C5FD' strokeWidth='2' /&gt;&#13;&#10;                    &lt;line x1='170' y1='66' x2='274' y2='140' stroke='#93C5FD' strokeWidth='2' /&gt;&#13;&#10;                    &lt;rect x='80' y='214' width='180' height='38' rx='10' fill='#FFF7E9' stroke='#F5D9A4' strokeWidth='1.5' /&gt;&#13;&#10;                    &lt;text x='170' y='238' textAnchor='middle' fontSize='14' fill='#B45309' fontFamily='Microsoft YaHei'&gt;汇总结果 · 回到原会话&lt;/text&gt;&#13;&#10;                &lt;/svg&gt;&#13;&#10;                &lt;Text style={{ fontSize: 16, color: '#64748B', lineHeight: 1.5, marginTop: 10 }}&gt;&#13;&#10;                    多步骤目标从任一入口进来，走同一条协作管线（团队编排能力持续打磨中）&#13;&#10;                &lt;/Text&gt;&#13;&#10;            &lt;/Box&gt;&#13;&#10;&#13;&#10;            {/* 右：四点 */}&#13;&#10;            &lt;Box style={{ gap: 8 }}&gt;&#13;&#10;                &lt;Box style={{ height: 96, background: '#FFFFFF', borderWidth: 1, borderColor: '#C7D6F5', borderStyle: 'solid', borderRadius: 12, padding: 18 }}&gt;&#13;&#10;                    &lt;Text style={{ fontSize: 22, fontWeight: '600', color: '#1E293B', lineHeight: 1.3 }}&gt;拆解：一次目标，多段完成&lt;/Text&gt;&#13;&#10;                    &lt;Text style={{ fontSize: 18, color: '#475569', lineHeight: 1.5, marginTop: 6 }}&gt;&#13;&#10;                        协调者把复杂任务拆成子目标，按专长派给不同岗位专家。&#13;&#10;                    &lt;/Text&gt;&#13;&#10;                &lt;/Box&gt;&#13;&#10;                &lt;Box style={{ height: 96, background: '#FFFFFF', borderWidth: 1, borderColor: '#C7D6F5', borderStyle: 'solid', borderRadius: 12, padding: 18 }}&gt;&#13;&#10;                    &lt;Text style={{ fontSize: 22, fontWeight: '600', color: '#1E293B', lineHeight: 1.3 }}&gt;并行：互不阻塞&lt;/Text&gt;&#13;&#10;                    &lt;Text style={{ fontSize: 18, color: '#475569', lineHeight: 1.5, marginTop: 6 }}&gt;&#13;&#10;                        各成员在自己的会话里干活，结果回流汇总，不用等一个串一个。&#13;&#10;                    &lt;/Text&gt;&#13;&#10;                &lt;/Box&gt;&#13;&#10;                &lt;Box style={{ height: 96, background: '#FFFFFF', borderWidth: 1, borderColor: '#C7D6F5', borderStyle: 'solid', borderRadius: 12, padding: 18 }}&gt;&#13;&#10;                    &lt;Text style={{ fontSize: 22, fontWeight: '600', color: '#1E293B', lineHeight: 1.3 }}&gt;可见：随时插话叫停&lt;/Text&gt;&#13;&#10;                    &lt;Text style={{ fontSize: 18, color: '#475569', lineHeight: 1.5, marginTop: 6 }}&gt;&#13;&#10;                        按角色分条呈现进度，中途可以补充要求、修改方向或直接叫停。&#13;&#10;                    &lt;/Text&gt;&#13;&#10;                &lt;/Box&gt;&#13;&#10;                &lt;Box style={{ height: 96, background: '#FFF7E9', borderRadius: 12, padding: 18 }}&gt;&#13;&#10;                    &lt;Text style={{ fontSize: 22, fontWeight: '600', color: '#B45309', lineHeight: 1.3 }}&gt;沉淀：流程可复用&lt;/Text&gt;&#13;&#10;                    &lt;Text style={{ fontSize: 18, color: '#7C2D12', lineHeight: 1.5, marginTop: 6 }}&gt;&#13;&#10;                        跑顺一次的协作方式可以沉淀下来，下次同类任务照着走。&#13;&#10;                    &lt;/Text&gt;&#13;&#10;                &lt;/Box&gt;&#13;&#10;            &lt;/Box&gt;&#13;&#10;        &lt;/Box&gt;&#13;&#10;&#13;&#10;        {/* 结论条 */}&#13;&#10;        &lt;Box style={{ height: 52, background: '#E8EEFB', borderRadius: 10, padding: 14, marginTop: 10, justifyContent: 'center' }}&gt;&#13;&#10;            &lt;Text style={{ fontSize: 19, fontWeight: '600', color: '#1E293B', lineHeight: 1.4 }}&gt;&#13;&#10;                把一次性的复杂任务变成可编排、可追溯的流水线——多步骤业务才敢真正托付出去。&#13;&#10;            &lt;/Text&gt;&#13;&#10;        &lt;/Box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96" name="" descr="{&quot;isTemplate&quot;:true,&quot;type&quot;:&quot;text&quot;}"/>
          <p:cNvSpPr txBox="1"/>
          <p:nvPr/>
        </p:nvSpPr>
        <p:spPr>
          <a:xfrm rot="0" flipH="0" flipV="0">
            <a:off x="571500" y="590550"/>
            <a:ext cx="1133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94A3B8"/>
                </a:solidFill>
                <a:latin typeface="Microsoft YaHei"/>
                <a:ea typeface="Microsoft YaHei"/>
              </a:rPr>
              <a:t xml:space="preserve">02 · </a:t>
            </a:r>
            <a:r>
              <a:rPr lang="zh-CN" sz="1050" spc="150">
                <a:solidFill>
                  <a:srgbClr val="94A3B8"/>
                </a:solidFill>
                <a:latin typeface="Microsoft YaHei"/>
                <a:ea typeface="Microsoft YaHei"/>
              </a:rPr>
              <a:t>业务怎么用</a:t>
            </a:r>
            <a:endParaRPr/>
          </a:p>
        </p:txBody>
      </p:sp>
      <p:sp>
        <p:nvSpPr>
          <p:cNvPr id="597" name=""/>
          <p:cNvSpPr/>
          <p:nvPr/>
        </p:nvSpPr>
        <p:spPr>
          <a:xfrm rot="0" flipH="0" flipV="0">
            <a:off x="11201400" y="647700"/>
            <a:ext cx="419100" cy="38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598" name="" descr="{&quot;isTemplate&quot;:true,&quot;type&quot;:&quot;text&quot;}"/>
          <p:cNvSpPr txBox="1"/>
          <p:nvPr/>
        </p:nvSpPr>
        <p:spPr>
          <a:xfrm rot="0" flipH="0" flipV="0">
            <a:off x="571500" y="914400"/>
            <a:ext cx="110490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E293B"/>
                </a:solidFill>
                <a:latin typeface="Microsoft YaHei"/>
                <a:ea typeface="Microsoft YaHei"/>
              </a:rPr>
              <a:t>专题｜复杂任务交给一个团队，而不是一个人硬扛</a:t>
            </a:r>
            <a:endParaRPr/>
          </a:p>
        </p:txBody>
      </p:sp>
      <p:sp>
        <p:nvSpPr>
          <p:cNvPr id="599" name=""/>
          <p:cNvSpPr/>
          <p:nvPr/>
        </p:nvSpPr>
        <p:spPr>
          <a:xfrm rot="0" flipH="0" flipV="0">
            <a:off x="571500" y="1533525"/>
            <a:ext cx="1104900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600" name=""/>
          <p:cNvSpPr/>
          <p:nvPr/>
        </p:nvSpPr>
        <p:spPr>
          <a:xfrm rot="0" flipH="0" flipV="0">
            <a:off x="571500" y="1733550"/>
            <a:ext cx="4000500" cy="3962400"/>
          </a:xfrm>
          <a:prstGeom prst="roundRect">
            <a:avLst>
              <a:gd name="adj" fmla="val 2885"/>
            </a:avLst>
          </a:prstGeom>
          <a:solidFill>
            <a:srgbClr val="F4F6FB"/>
          </a:solidFill>
          <a:ln/>
        </p:spPr>
        <p:txBody>
          <a:bodyPr/>
          <a:p/>
        </p:txBody>
      </p:sp>
      <p:pic>
        <p:nvPicPr>
          <p:cNvPr id="60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952500" y="2152650"/>
            <a:ext cx="3238500" cy="2476500"/>
          </a:xfrm>
          <a:prstGeom prst="rect">
            <a:avLst/>
          </a:prstGeom>
          <a:ln/>
        </p:spPr>
      </p:pic>
      <p:sp>
        <p:nvSpPr>
          <p:cNvPr id="602" name="" descr="{&quot;isTemplate&quot;:true,&quot;type&quot;:&quot;text&quot;}"/>
          <p:cNvSpPr txBox="1"/>
          <p:nvPr/>
        </p:nvSpPr>
        <p:spPr>
          <a:xfrm rot="0" flipH="0" flipV="0">
            <a:off x="762000" y="4724400"/>
            <a:ext cx="36195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多步骤目标从任一入口进来，走同一条协作管线（团队编排能力持续打磨中）</a:t>
            </a:r>
            <a:endParaRPr/>
          </a:p>
        </p:txBody>
      </p:sp>
      <p:sp>
        <p:nvSpPr>
          <p:cNvPr id="603" name=""/>
          <p:cNvSpPr/>
          <p:nvPr/>
        </p:nvSpPr>
        <p:spPr>
          <a:xfrm rot="0" flipH="0" flipV="0">
            <a:off x="4838700" y="1733550"/>
            <a:ext cx="5314950" cy="9144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C7D6F5"/>
            </a:solidFill>
            <a:prstDash val="solid"/>
          </a:ln>
        </p:spPr>
        <p:txBody>
          <a:bodyPr/>
          <a:p/>
        </p:txBody>
      </p:sp>
      <p:sp>
        <p:nvSpPr>
          <p:cNvPr id="604" name="" descr="{&quot;isTemplate&quot;:true,&quot;type&quot;:&quot;text&quot;}"/>
          <p:cNvSpPr txBox="1"/>
          <p:nvPr/>
        </p:nvSpPr>
        <p:spPr>
          <a:xfrm rot="0" flipH="0" flipV="0">
            <a:off x="5010150" y="1905000"/>
            <a:ext cx="4972050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1E293B"/>
                </a:solidFill>
                <a:latin typeface="Microsoft YaHei"/>
                <a:ea typeface="Microsoft YaHei"/>
              </a:rPr>
              <a:t>拆解：一次目标，多段完成</a:t>
            </a:r>
            <a:endParaRPr/>
          </a:p>
        </p:txBody>
      </p:sp>
      <p:sp>
        <p:nvSpPr>
          <p:cNvPr id="605" name="" descr="{&quot;isTemplate&quot;:true,&quot;type&quot;:&quot;text&quot;}"/>
          <p:cNvSpPr txBox="1"/>
          <p:nvPr/>
        </p:nvSpPr>
        <p:spPr>
          <a:xfrm rot="0" flipH="0" flipV="0">
            <a:off x="5010150" y="2295525"/>
            <a:ext cx="497205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协调者把复杂任务拆成子目标，按专长派给不同岗位专家。</a:t>
            </a:r>
            <a:endParaRPr/>
          </a:p>
        </p:txBody>
      </p:sp>
      <p:sp>
        <p:nvSpPr>
          <p:cNvPr id="606" name=""/>
          <p:cNvSpPr/>
          <p:nvPr/>
        </p:nvSpPr>
        <p:spPr>
          <a:xfrm rot="0" flipH="0" flipV="0">
            <a:off x="4838700" y="2724150"/>
            <a:ext cx="5314950" cy="9144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C7D6F5"/>
            </a:solidFill>
            <a:prstDash val="solid"/>
          </a:ln>
        </p:spPr>
        <p:txBody>
          <a:bodyPr/>
          <a:p/>
        </p:txBody>
      </p:sp>
      <p:sp>
        <p:nvSpPr>
          <p:cNvPr id="607" name="" descr="{&quot;isTemplate&quot;:true,&quot;type&quot;:&quot;text&quot;}"/>
          <p:cNvSpPr txBox="1"/>
          <p:nvPr/>
        </p:nvSpPr>
        <p:spPr>
          <a:xfrm rot="0" flipH="0" flipV="0">
            <a:off x="5010150" y="2895600"/>
            <a:ext cx="4972050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1E293B"/>
                </a:solidFill>
                <a:latin typeface="Microsoft YaHei"/>
                <a:ea typeface="Microsoft YaHei"/>
              </a:rPr>
              <a:t>并行：互不阻塞</a:t>
            </a:r>
            <a:endParaRPr/>
          </a:p>
        </p:txBody>
      </p:sp>
      <p:sp>
        <p:nvSpPr>
          <p:cNvPr id="608" name="" descr="{&quot;isTemplate&quot;:true,&quot;type&quot;:&quot;text&quot;}"/>
          <p:cNvSpPr txBox="1"/>
          <p:nvPr/>
        </p:nvSpPr>
        <p:spPr>
          <a:xfrm rot="0" flipH="0" flipV="0">
            <a:off x="5010150" y="3286125"/>
            <a:ext cx="497205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各成员在自己的会话里干活，结果回流汇总，不用等一个串一个。</a:t>
            </a:r>
            <a:endParaRPr/>
          </a:p>
        </p:txBody>
      </p:sp>
      <p:sp>
        <p:nvSpPr>
          <p:cNvPr id="609" name=""/>
          <p:cNvSpPr/>
          <p:nvPr/>
        </p:nvSpPr>
        <p:spPr>
          <a:xfrm rot="0" flipH="0" flipV="0">
            <a:off x="4838700" y="3714750"/>
            <a:ext cx="5314950" cy="9144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C7D6F5"/>
            </a:solidFill>
            <a:prstDash val="solid"/>
          </a:ln>
        </p:spPr>
        <p:txBody>
          <a:bodyPr/>
          <a:p/>
        </p:txBody>
      </p:sp>
      <p:sp>
        <p:nvSpPr>
          <p:cNvPr id="610" name="" descr="{&quot;isTemplate&quot;:true,&quot;type&quot;:&quot;text&quot;}"/>
          <p:cNvSpPr txBox="1"/>
          <p:nvPr/>
        </p:nvSpPr>
        <p:spPr>
          <a:xfrm rot="0" flipH="0" flipV="0">
            <a:off x="5010150" y="3886200"/>
            <a:ext cx="4972050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1E293B"/>
                </a:solidFill>
                <a:latin typeface="Microsoft YaHei"/>
                <a:ea typeface="Microsoft YaHei"/>
              </a:rPr>
              <a:t>可见：随时插话叫停</a:t>
            </a:r>
            <a:endParaRPr/>
          </a:p>
        </p:txBody>
      </p:sp>
      <p:sp>
        <p:nvSpPr>
          <p:cNvPr id="611" name="" descr="{&quot;isTemplate&quot;:true,&quot;type&quot;:&quot;text&quot;}"/>
          <p:cNvSpPr txBox="1"/>
          <p:nvPr/>
        </p:nvSpPr>
        <p:spPr>
          <a:xfrm rot="0" flipH="0" flipV="0">
            <a:off x="5010150" y="4276725"/>
            <a:ext cx="497205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按角色分条呈现进度，中途可以补充要求、修改方向或直接叫停。</a:t>
            </a:r>
            <a:endParaRPr/>
          </a:p>
        </p:txBody>
      </p:sp>
      <p:sp>
        <p:nvSpPr>
          <p:cNvPr id="612" name=""/>
          <p:cNvSpPr/>
          <p:nvPr/>
        </p:nvSpPr>
        <p:spPr>
          <a:xfrm rot="0" flipH="0" flipV="0">
            <a:off x="4838700" y="4705350"/>
            <a:ext cx="5314950" cy="914400"/>
          </a:xfrm>
          <a:prstGeom prst="roundRect">
            <a:avLst>
              <a:gd name="adj" fmla="val 12500"/>
            </a:avLst>
          </a:prstGeom>
          <a:solidFill>
            <a:srgbClr val="FFF7E9"/>
          </a:solidFill>
          <a:ln/>
        </p:spPr>
        <p:txBody>
          <a:bodyPr/>
          <a:p/>
        </p:txBody>
      </p:sp>
      <p:sp>
        <p:nvSpPr>
          <p:cNvPr id="613" name="" descr="{&quot;isTemplate&quot;:true,&quot;type&quot;:&quot;text&quot;}"/>
          <p:cNvSpPr txBox="1"/>
          <p:nvPr/>
        </p:nvSpPr>
        <p:spPr>
          <a:xfrm rot="0" flipH="0" flipV="0">
            <a:off x="5010150" y="4876800"/>
            <a:ext cx="4972050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B45309"/>
                </a:solidFill>
                <a:latin typeface="Microsoft YaHei"/>
                <a:ea typeface="Microsoft YaHei"/>
              </a:rPr>
              <a:t>沉淀：流程可复用</a:t>
            </a:r>
            <a:endParaRPr/>
          </a:p>
        </p:txBody>
      </p:sp>
      <p:sp>
        <p:nvSpPr>
          <p:cNvPr id="614" name="" descr="{&quot;isTemplate&quot;:true,&quot;type&quot;:&quot;text&quot;}"/>
          <p:cNvSpPr txBox="1"/>
          <p:nvPr/>
        </p:nvSpPr>
        <p:spPr>
          <a:xfrm rot="0" flipH="0" flipV="0">
            <a:off x="5010150" y="5267325"/>
            <a:ext cx="497205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7C2D12"/>
                </a:solidFill>
                <a:latin typeface="Microsoft YaHei"/>
                <a:ea typeface="Microsoft YaHei"/>
              </a:rPr>
              <a:t>跑顺一次的协作方式可以沉淀下来，下次同类任务照着走。</a:t>
            </a:r>
            <a:endParaRPr/>
          </a:p>
        </p:txBody>
      </p:sp>
      <p:sp>
        <p:nvSpPr>
          <p:cNvPr id="615" name=""/>
          <p:cNvSpPr/>
          <p:nvPr/>
        </p:nvSpPr>
        <p:spPr>
          <a:xfrm rot="0" flipH="0" flipV="0">
            <a:off x="571500" y="5791200"/>
            <a:ext cx="11049000" cy="495300"/>
          </a:xfrm>
          <a:prstGeom prst="roundRect">
            <a:avLst>
              <a:gd name="adj" fmla="val 19231"/>
            </a:avLst>
          </a:prstGeom>
          <a:solidFill>
            <a:srgbClr val="E8EEFB"/>
          </a:solidFill>
          <a:ln/>
        </p:spPr>
        <p:txBody>
          <a:bodyPr/>
          <a:p/>
        </p:txBody>
      </p:sp>
      <p:sp>
        <p:nvSpPr>
          <p:cNvPr id="616" name="" descr="{&quot;isTemplate&quot;:true,&quot;type&quot;:&quot;text&quot;}"/>
          <p:cNvSpPr txBox="1"/>
          <p:nvPr/>
        </p:nvSpPr>
        <p:spPr>
          <a:xfrm rot="0" flipH="0" flipV="0">
            <a:off x="704850" y="5886450"/>
            <a:ext cx="10782300" cy="3048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425" b="1">
                <a:solidFill>
                  <a:srgbClr val="1E293B"/>
                </a:solidFill>
                <a:latin typeface="Microsoft YaHei"/>
                <a:ea typeface="Microsoft YaHei"/>
              </a:rPr>
              <a:t>把一次性的复杂任务变成可编排、可追溯的流水线——多步骤业务才敢真正托付出去。</a:t>
            </a:r>
            <a:endParaRPr/>
          </a:p>
        </p:txBody>
      </p:sp>
    </p:spTree>
  </p:cSld>
</p:sld>
</file>

<file path=ppt/slides/slide30.xml><?xml version="1.0" encoding="utf-8"?>
<p:sld xmlns:p="http://schemas.openxmlformats.org/presentationml/2006/main" xmlns:a="http://schemas.openxmlformats.org/drawingml/2006/main">
  <p:cSld>
    <p:spTree>
      <p:nvGrpSpPr>
        <p:cNvPr id="639" name="" descr="&lt;Slide style={{ padding: 60, background: '#FFFFFF' }}&gt;&#10;    &lt;Box style={{ height: 600 }}&gt;&#10;        &lt;Box style={{ height: 20, flexDirection: 'row', justifyContent: 'space-between', alignItems: 'center' }}&gt;&#10;            &lt;Text style={{ fontSize: 14, color: '#94A3B8', letterSpacing: 2 }}&gt;02 · 业务怎么用&lt;/Text&gt;&#10;            &lt;Box style={{ width: 44, height: 4, borderRadius: 2, background: '#2563EB' }} /&gt;&#10;        &lt;/Box&gt;&#10;        &lt;Text style={{ fontSize: 34, fontWeight: 'bold', color: '#1E293B', marginTop: 16, lineHeight: 1.2 }}&gt;&#10;            员工零学习成本：在天天用的聊天框里派活&#10;        &lt;/Text&gt;&#10;        &lt;Box style={{ height: 1, background: '#E2E8F0', marginTop: 16 }} /&gt;&#10;&#10;        &lt;Box style={{ flex: 1, marginTop: 20, flexDirection: 'row', gap: 32 }}&gt;&#10;            {/* 左：入口面板 */}&#10;            &lt;Box style={{ width: 420, background: '#F4F6FB', borderRadius: 12, padding: 22 }}&gt;&#10;                &lt;Text style={{ fontSize: 22, fontWeight: '600', color: '#1E293B', lineHeight: 1.3 }}&gt;10 个入口，覆盖主流协作平台&lt;/Text&gt;&#10;                &lt;Text style={{ fontSize: 18, color: '#475569', lineHeight: 1.5, marginTop: 8 }}&gt;&#10;                    员工在熟悉的聊天工具里直接派活，不必学新系统、不必改习惯。&#10;                &lt;/Text&gt;&#10;                &lt;Box style={{ height: 1, background: '#E2E8F0', marginTop: 14 }} /&gt;&#10;                &lt;Box style={{ flexDirection: 'row', gap: 8, marginTop: 14 }}&gt;&#10;                    &lt;Box style={{ background: '#E8EEFB', borderRadius: 8, padding: 10 }}&gt;&lt;Text style={{ fontSize: 18, color: '#1E293B' }}&gt;飞书&lt;/Text&gt;&lt;/Box&gt;&#10;                    &lt;Box style={{ background: '#E8EEFB', borderRadius: 8, padding: 10 }}&gt;&lt;Text style={{ fontSize: 18, color: '#1E293B' }}&gt;钉钉&lt;/Text&gt;&lt;/Box&gt;&#10;                    &lt;Box style={{ background: '#E8EEFB', borderRadius: 8, padding: 10 }}&gt;&lt;Text style={{ fontSize: 18, color: '#1E293B' }}&gt;企业微信&lt;/Text&gt;&lt;/Box&gt;&#10;                    &lt;Box style={{ background: '#E8EEFB', borderRadius: 8, padding: 10 }}&gt;&lt;Text style={{ fontSize: 18, color: '#1E293B' }}&gt;微信&lt;/Text&gt;&lt;/Box&gt;&#10;                &lt;/Box&gt;&#10;                &lt;Box style={{ flexDirection: 'row', gap: 8, marginTop: 8 }}&gt;&#10;                    &lt;Box style={{ background: '#E8EEFB', borderRadius: 8, padding: 10 }}&gt;&lt;Text style={{ fontSize: 18, color: '#1E293B' }}&gt;QQ&lt;/Text&gt;&lt;/Box&gt;&#10;                    &lt;Box style={{ background: '#E8EEFB', borderRadius: 8, padding: 10 }}&gt;&lt;Text style={{ fontSize: 18, color: '#1E293B' }}&gt;腾讯元宝&lt;/Text&gt;&lt;/Box&gt;&#10;                    &lt;Box style={{ background: '#E8EEFB', borderRadius: 8, padding: 10 }}&gt;&lt;Text style={{ fontSize: 18, color: '#1E293B' }}&gt;小艺&lt;/Text&gt;&lt;/Box&gt;&#10;                &lt;/Box&gt;&#10;                &lt;Box style={{ flexDirection: 'row', gap: 8, marginTop: 8 }}&gt;&#10;                    &lt;Box style={{ background: '#FFF7E9', borderRadius: 8, padding: 10 }}&gt;&lt;Text style={{ fontSize: 18, color: '#B45309' }}&gt;Telegram&lt;/Text&gt;&lt;/Box&gt;&#10;                    &lt;Box style={{ background: '#FFF7E9', borderRadius: 8, padding: 10 }}&gt;&lt;Text style={{ fontSize: 18, color: '#B45309' }}&gt;Discord&lt;/Text&gt;&lt;/Box&gt;&#10;                    &lt;Box style={{ background: '#FFF7E9', borderRadius: 8, padding: 10 }}&gt;&lt;Text style={{ fontSize: 18, color: '#B45309' }}&gt;MQTT（IoT）&lt;/Text&gt;&lt;/Box&gt;&#10;                &lt;/Box&gt;&#10;            &lt;/Box&gt;&#10;&#10;            {/* 右：三行 */}&#10;            &lt;Box style={{ flex: 1 }}&gt;&#10;                &lt;Box style={{ height: 132, borderBottomWidth: 1, borderBottomColor: '#E2E8F0', borderBottomStyle: 'solid' }}&gt;&#10;                    &lt;Text style={{ fontSize: 22, fontWeight: '600', color: '#1E293B', lineHeight: 1.3, marginTop: 4 }}&gt;扫码即接入，几分钟上线&lt;/Text&gt;&#10;                    &lt;Text style={{ fontSize: 18, color: '#475569', lineHeight: 1.5, marginTop: 8 }}&gt;&#10;                        主流平台支持扫码绑定与机器人自助创建，IT 配置一次，全员可用。&#10;                    &lt;/Text&gt;&#10;                &lt;/Box&gt;&#10;                &lt;Box style={{ height: 132, borderBottomWidth: 1, borderBottomColor: '#E2E8F0', borderBottomStyle: 'solid' }}&gt;&#10;                    &lt;Text style={{ fontSize: 22, fontWeight: '600', color: '#1E293B', lineHeight: 1.3, marginTop: 4 }}&gt;群聊私聊都好用&lt;/Text&gt;&#10;                    &lt;Text style={{ fontSize: 18, color: '#475569', lineHeight: 1.5, marginTop: 8 }}&gt;&#10;                        单聊、群聊各自成会话，上下文不串台；群里 @ 一下即可让数字同事干活。&#10;                    &lt;/Text&gt;&#10;                &lt;/Box&gt;&#10;                &lt;Box style={{ height: 132 }}&gt;&#10;                    &lt;Text style={{ fontSize: 22, fontWeight: '600', color: '#1E293B', lineHeight: 1.3, marginTop: 4 }}&gt;不只是应答，还能主动触达&lt;/Text&gt;&#10;                    &lt;Text style={{ fontSize: 18, color: '#475569', lineHeight: 1.5, marginTop: 8 }}&gt;&#10;                        日报、预警、待办直接推到指定会话——该提醒的事，它先开口。&#10;                    &lt;/Text&gt;&#10;                &lt;/Box&gt;&#10;            &lt;/Box&gt;&#10;        &lt;/Box&gt;&#10;&#10;        {/* 结论条 */}&#10;        &lt;Box style={{ height: 58, background: '#E8EEFB', borderRadius: 10, padding: 14, marginTop: 10, justifyContent: 'center' }}&gt;&#10;            &lt;Text style={{ fontSize: 19, fontWeight: '600', color: '#1E293B', lineHeight: 1.4 }}&gt;&#10;                推广 AI 最大的成本是改变人的习惯——把它放进现有的协作工具里，这一步就省掉了。&#10;            &lt;/Text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41" name="" descr="{&quot;isTemplate&quot;:true,&quot;type&quot;:&quot;text&quot;}"/>
          <p:cNvSpPr txBox="1"/>
          <p:nvPr/>
        </p:nvSpPr>
        <p:spPr>
          <a:xfrm rot="0" flipH="0" flipV="0">
            <a:off x="571500" y="590550"/>
            <a:ext cx="1133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94A3B8"/>
                </a:solidFill>
                <a:latin typeface="Microsoft YaHei"/>
                <a:ea typeface="Microsoft YaHei"/>
              </a:rPr>
              <a:t xml:space="preserve">02 · </a:t>
            </a:r>
            <a:r>
              <a:rPr lang="zh-CN" sz="1050" spc="150">
                <a:solidFill>
                  <a:srgbClr val="94A3B8"/>
                </a:solidFill>
                <a:latin typeface="Microsoft YaHei"/>
                <a:ea typeface="Microsoft YaHei"/>
              </a:rPr>
              <a:t>业务怎么用</a:t>
            </a:r>
            <a:endParaRPr/>
          </a:p>
        </p:txBody>
      </p:sp>
      <p:sp>
        <p:nvSpPr>
          <p:cNvPr id="642" name=""/>
          <p:cNvSpPr/>
          <p:nvPr/>
        </p:nvSpPr>
        <p:spPr>
          <a:xfrm rot="0" flipH="0" flipV="0">
            <a:off x="11201400" y="647700"/>
            <a:ext cx="419100" cy="38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643" name="" descr="{&quot;isTemplate&quot;:true,&quot;type&quot;:&quot;text&quot;}"/>
          <p:cNvSpPr txBox="1"/>
          <p:nvPr/>
        </p:nvSpPr>
        <p:spPr>
          <a:xfrm rot="0" flipH="0" flipV="0">
            <a:off x="571500" y="914400"/>
            <a:ext cx="110490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E293B"/>
                </a:solidFill>
                <a:latin typeface="Microsoft YaHei"/>
                <a:ea typeface="Microsoft YaHei"/>
              </a:rPr>
              <a:t>员工零学习成本：在天天用的聊天框里派活</a:t>
            </a:r>
            <a:endParaRPr/>
          </a:p>
        </p:txBody>
      </p:sp>
      <p:sp>
        <p:nvSpPr>
          <p:cNvPr id="644" name=""/>
          <p:cNvSpPr/>
          <p:nvPr/>
        </p:nvSpPr>
        <p:spPr>
          <a:xfrm rot="0" flipH="0" flipV="0">
            <a:off x="571500" y="1533525"/>
            <a:ext cx="1104900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645" name=""/>
          <p:cNvSpPr/>
          <p:nvPr/>
        </p:nvSpPr>
        <p:spPr>
          <a:xfrm rot="0" flipH="0" flipV="0">
            <a:off x="571500" y="1733550"/>
            <a:ext cx="4000500" cy="3905250"/>
          </a:xfrm>
          <a:prstGeom prst="roundRect">
            <a:avLst>
              <a:gd name="adj" fmla="val 2927"/>
            </a:avLst>
          </a:prstGeom>
          <a:solidFill>
            <a:srgbClr val="F4F6FB"/>
          </a:solidFill>
          <a:ln/>
        </p:spPr>
        <p:txBody>
          <a:bodyPr/>
          <a:p/>
        </p:txBody>
      </p:sp>
      <p:sp>
        <p:nvSpPr>
          <p:cNvPr id="646" name="" descr="{&quot;isTemplate&quot;:true,&quot;type&quot;:&quot;text&quot;}"/>
          <p:cNvSpPr txBox="1"/>
          <p:nvPr/>
        </p:nvSpPr>
        <p:spPr>
          <a:xfrm rot="0" flipH="0" flipV="0">
            <a:off x="781050" y="1943100"/>
            <a:ext cx="3581400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650" b="1">
                <a:solidFill>
                  <a:srgbClr val="1E293B"/>
                </a:solidFill>
                <a:latin typeface="Microsoft YaHei"/>
                <a:ea typeface="Microsoft YaHei"/>
              </a:rPr>
              <a:t xml:space="preserve">10 </a:t>
            </a:r>
            <a:r>
              <a:rPr lang="zh-CN" sz="1650" b="1">
                <a:solidFill>
                  <a:srgbClr val="1E293B"/>
                </a:solidFill>
                <a:latin typeface="Microsoft YaHei"/>
                <a:ea typeface="Microsoft YaHei"/>
              </a:rPr>
              <a:t>个入口，覆盖主流协作平台</a:t>
            </a:r>
            <a:endParaRPr/>
          </a:p>
        </p:txBody>
      </p:sp>
      <p:sp>
        <p:nvSpPr>
          <p:cNvPr id="647" name="" descr="{&quot;isTemplate&quot;:true,&quot;type&quot;:&quot;text&quot;}"/>
          <p:cNvSpPr txBox="1"/>
          <p:nvPr/>
        </p:nvSpPr>
        <p:spPr>
          <a:xfrm rot="0" flipH="0" flipV="0">
            <a:off x="781050" y="2352675"/>
            <a:ext cx="358140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员工在熟悉的聊天工具里直接派活，不必学新系统、不必改习惯。</a:t>
            </a:r>
            <a:endParaRPr/>
          </a:p>
        </p:txBody>
      </p:sp>
      <p:sp>
        <p:nvSpPr>
          <p:cNvPr id="648" name=""/>
          <p:cNvSpPr/>
          <p:nvPr/>
        </p:nvSpPr>
        <p:spPr>
          <a:xfrm rot="0" flipH="0" flipV="0">
            <a:off x="781050" y="3105150"/>
            <a:ext cx="358140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649" name=""/>
          <p:cNvSpPr/>
          <p:nvPr/>
        </p:nvSpPr>
        <p:spPr>
          <a:xfrm rot="0" flipH="0" flipV="0">
            <a:off x="781050" y="3248025"/>
            <a:ext cx="533400" cy="400050"/>
          </a:xfrm>
          <a:prstGeom prst="roundRect">
            <a:avLst>
              <a:gd name="adj" fmla="val 19048"/>
            </a:avLst>
          </a:prstGeom>
          <a:solidFill>
            <a:srgbClr val="E8EEFB"/>
          </a:solidFill>
          <a:ln/>
        </p:spPr>
        <p:txBody>
          <a:bodyPr/>
          <a:p/>
        </p:txBody>
      </p:sp>
      <p:sp>
        <p:nvSpPr>
          <p:cNvPr id="650" name="" descr="{&quot;isTemplate&quot;:true,&quot;type&quot;:&quot;text&quot;}"/>
          <p:cNvSpPr txBox="1"/>
          <p:nvPr/>
        </p:nvSpPr>
        <p:spPr>
          <a:xfrm rot="0" flipH="0" flipV="0">
            <a:off x="876300" y="3343275"/>
            <a:ext cx="342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1E293B"/>
                </a:solidFill>
                <a:latin typeface="Microsoft YaHei"/>
                <a:ea typeface="Microsoft YaHei"/>
              </a:rPr>
              <a:t>飞书</a:t>
            </a:r>
            <a:endParaRPr/>
          </a:p>
        </p:txBody>
      </p:sp>
      <p:sp>
        <p:nvSpPr>
          <p:cNvPr id="651" name=""/>
          <p:cNvSpPr/>
          <p:nvPr/>
        </p:nvSpPr>
        <p:spPr>
          <a:xfrm rot="0" flipH="0" flipV="0">
            <a:off x="1390650" y="3248025"/>
            <a:ext cx="533400" cy="400050"/>
          </a:xfrm>
          <a:prstGeom prst="roundRect">
            <a:avLst>
              <a:gd name="adj" fmla="val 19048"/>
            </a:avLst>
          </a:prstGeom>
          <a:solidFill>
            <a:srgbClr val="E8EEFB"/>
          </a:solidFill>
          <a:ln/>
        </p:spPr>
        <p:txBody>
          <a:bodyPr/>
          <a:p/>
        </p:txBody>
      </p:sp>
      <p:sp>
        <p:nvSpPr>
          <p:cNvPr id="652" name="" descr="{&quot;isTemplate&quot;:true,&quot;type&quot;:&quot;text&quot;}"/>
          <p:cNvSpPr txBox="1"/>
          <p:nvPr/>
        </p:nvSpPr>
        <p:spPr>
          <a:xfrm rot="0" flipH="0" flipV="0">
            <a:off x="1485900" y="3343275"/>
            <a:ext cx="342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1E293B"/>
                </a:solidFill>
                <a:latin typeface="Microsoft YaHei"/>
                <a:ea typeface="Microsoft YaHei"/>
              </a:rPr>
              <a:t>钉钉</a:t>
            </a:r>
            <a:endParaRPr/>
          </a:p>
        </p:txBody>
      </p:sp>
      <p:sp>
        <p:nvSpPr>
          <p:cNvPr id="653" name=""/>
          <p:cNvSpPr/>
          <p:nvPr/>
        </p:nvSpPr>
        <p:spPr>
          <a:xfrm rot="0" flipH="0" flipV="0">
            <a:off x="2000250" y="3248025"/>
            <a:ext cx="876300" cy="400050"/>
          </a:xfrm>
          <a:prstGeom prst="roundRect">
            <a:avLst>
              <a:gd name="adj" fmla="val 19048"/>
            </a:avLst>
          </a:prstGeom>
          <a:solidFill>
            <a:srgbClr val="E8EEFB"/>
          </a:solidFill>
          <a:ln/>
        </p:spPr>
        <p:txBody>
          <a:bodyPr/>
          <a:p/>
        </p:txBody>
      </p:sp>
      <p:sp>
        <p:nvSpPr>
          <p:cNvPr id="654" name="" descr="{&quot;isTemplate&quot;:true,&quot;type&quot;:&quot;text&quot;}"/>
          <p:cNvSpPr txBox="1"/>
          <p:nvPr/>
        </p:nvSpPr>
        <p:spPr>
          <a:xfrm rot="0" flipH="0" flipV="0">
            <a:off x="2095500" y="3343275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1E293B"/>
                </a:solidFill>
                <a:latin typeface="Microsoft YaHei"/>
                <a:ea typeface="Microsoft YaHei"/>
              </a:rPr>
              <a:t>企业微信</a:t>
            </a:r>
            <a:endParaRPr/>
          </a:p>
        </p:txBody>
      </p:sp>
      <p:sp>
        <p:nvSpPr>
          <p:cNvPr id="655" name=""/>
          <p:cNvSpPr/>
          <p:nvPr/>
        </p:nvSpPr>
        <p:spPr>
          <a:xfrm rot="0" flipH="0" flipV="0">
            <a:off x="2952750" y="3248025"/>
            <a:ext cx="533400" cy="400050"/>
          </a:xfrm>
          <a:prstGeom prst="roundRect">
            <a:avLst>
              <a:gd name="adj" fmla="val 19048"/>
            </a:avLst>
          </a:prstGeom>
          <a:solidFill>
            <a:srgbClr val="E8EEFB"/>
          </a:solidFill>
          <a:ln/>
        </p:spPr>
        <p:txBody>
          <a:bodyPr/>
          <a:p/>
        </p:txBody>
      </p:sp>
      <p:sp>
        <p:nvSpPr>
          <p:cNvPr id="656" name="" descr="{&quot;isTemplate&quot;:true,&quot;type&quot;:&quot;text&quot;}"/>
          <p:cNvSpPr txBox="1"/>
          <p:nvPr/>
        </p:nvSpPr>
        <p:spPr>
          <a:xfrm rot="0" flipH="0" flipV="0">
            <a:off x="3048000" y="3343275"/>
            <a:ext cx="342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1E293B"/>
                </a:solidFill>
                <a:latin typeface="Microsoft YaHei"/>
                <a:ea typeface="Microsoft YaHei"/>
              </a:rPr>
              <a:t>微信</a:t>
            </a:r>
            <a:endParaRPr/>
          </a:p>
        </p:txBody>
      </p:sp>
      <p:sp>
        <p:nvSpPr>
          <p:cNvPr id="657" name=""/>
          <p:cNvSpPr/>
          <p:nvPr/>
        </p:nvSpPr>
        <p:spPr>
          <a:xfrm rot="0" flipH="0" flipV="0">
            <a:off x="781050" y="3724275"/>
            <a:ext cx="476250" cy="400050"/>
          </a:xfrm>
          <a:prstGeom prst="roundRect">
            <a:avLst>
              <a:gd name="adj" fmla="val 19048"/>
            </a:avLst>
          </a:prstGeom>
          <a:solidFill>
            <a:srgbClr val="E8EEFB"/>
          </a:solidFill>
          <a:ln/>
        </p:spPr>
        <p:txBody>
          <a:bodyPr/>
          <a:p/>
        </p:txBody>
      </p:sp>
      <p:sp>
        <p:nvSpPr>
          <p:cNvPr id="658" name="" descr="{&quot;isTemplate&quot;:true,&quot;type&quot;:&quot;text&quot;}"/>
          <p:cNvSpPr txBox="1"/>
          <p:nvPr/>
        </p:nvSpPr>
        <p:spPr>
          <a:xfrm rot="0" flipH="0" flipV="0">
            <a:off x="876300" y="3819525"/>
            <a:ext cx="285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1E293B"/>
                </a:solidFill>
                <a:latin typeface="Microsoft YaHei"/>
                <a:ea typeface="Microsoft YaHei"/>
              </a:rPr>
              <a:t>QQ</a:t>
            </a:r>
            <a:endParaRPr/>
          </a:p>
        </p:txBody>
      </p:sp>
      <p:sp>
        <p:nvSpPr>
          <p:cNvPr id="659" name=""/>
          <p:cNvSpPr/>
          <p:nvPr/>
        </p:nvSpPr>
        <p:spPr>
          <a:xfrm rot="0" flipH="0" flipV="0">
            <a:off x="1333500" y="3724275"/>
            <a:ext cx="876300" cy="400050"/>
          </a:xfrm>
          <a:prstGeom prst="roundRect">
            <a:avLst>
              <a:gd name="adj" fmla="val 19048"/>
            </a:avLst>
          </a:prstGeom>
          <a:solidFill>
            <a:srgbClr val="E8EEFB"/>
          </a:solidFill>
          <a:ln/>
        </p:spPr>
        <p:txBody>
          <a:bodyPr/>
          <a:p/>
        </p:txBody>
      </p:sp>
      <p:sp>
        <p:nvSpPr>
          <p:cNvPr id="660" name="" descr="{&quot;isTemplate&quot;:true,&quot;type&quot;:&quot;text&quot;}"/>
          <p:cNvSpPr txBox="1"/>
          <p:nvPr/>
        </p:nvSpPr>
        <p:spPr>
          <a:xfrm rot="0" flipH="0" flipV="0">
            <a:off x="1428750" y="3819525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1E293B"/>
                </a:solidFill>
                <a:latin typeface="Microsoft YaHei"/>
                <a:ea typeface="Microsoft YaHei"/>
              </a:rPr>
              <a:t>腾讯元宝</a:t>
            </a:r>
            <a:endParaRPr/>
          </a:p>
        </p:txBody>
      </p:sp>
      <p:sp>
        <p:nvSpPr>
          <p:cNvPr id="661" name=""/>
          <p:cNvSpPr/>
          <p:nvPr/>
        </p:nvSpPr>
        <p:spPr>
          <a:xfrm rot="0" flipH="0" flipV="0">
            <a:off x="2286000" y="3724275"/>
            <a:ext cx="533400" cy="400050"/>
          </a:xfrm>
          <a:prstGeom prst="roundRect">
            <a:avLst>
              <a:gd name="adj" fmla="val 19048"/>
            </a:avLst>
          </a:prstGeom>
          <a:solidFill>
            <a:srgbClr val="E8EEFB"/>
          </a:solidFill>
          <a:ln/>
        </p:spPr>
        <p:txBody>
          <a:bodyPr/>
          <a:p/>
        </p:txBody>
      </p:sp>
      <p:sp>
        <p:nvSpPr>
          <p:cNvPr id="662" name="" descr="{&quot;isTemplate&quot;:true,&quot;type&quot;:&quot;text&quot;}"/>
          <p:cNvSpPr txBox="1"/>
          <p:nvPr/>
        </p:nvSpPr>
        <p:spPr>
          <a:xfrm rot="0" flipH="0" flipV="0">
            <a:off x="2381250" y="3819525"/>
            <a:ext cx="342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1E293B"/>
                </a:solidFill>
                <a:latin typeface="Microsoft YaHei"/>
                <a:ea typeface="Microsoft YaHei"/>
              </a:rPr>
              <a:t>小艺</a:t>
            </a:r>
            <a:endParaRPr/>
          </a:p>
        </p:txBody>
      </p:sp>
      <p:sp>
        <p:nvSpPr>
          <p:cNvPr id="663" name=""/>
          <p:cNvSpPr/>
          <p:nvPr/>
        </p:nvSpPr>
        <p:spPr>
          <a:xfrm rot="0" flipH="0" flipV="0">
            <a:off x="781050" y="4200525"/>
            <a:ext cx="942975" cy="400050"/>
          </a:xfrm>
          <a:prstGeom prst="roundRect">
            <a:avLst>
              <a:gd name="adj" fmla="val 19048"/>
            </a:avLst>
          </a:prstGeom>
          <a:solidFill>
            <a:srgbClr val="FFF7E9"/>
          </a:solidFill>
          <a:ln/>
        </p:spPr>
        <p:txBody>
          <a:bodyPr/>
          <a:p/>
        </p:txBody>
      </p:sp>
      <p:sp>
        <p:nvSpPr>
          <p:cNvPr id="664" name="" descr="{&quot;isTemplate&quot;:true,&quot;type&quot;:&quot;text&quot;}"/>
          <p:cNvSpPr txBox="1"/>
          <p:nvPr/>
        </p:nvSpPr>
        <p:spPr>
          <a:xfrm rot="0" flipH="0" flipV="0">
            <a:off x="876300" y="4295775"/>
            <a:ext cx="7524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B45309"/>
                </a:solidFill>
                <a:latin typeface="Microsoft YaHei"/>
                <a:ea typeface="Microsoft YaHei"/>
              </a:rPr>
              <a:t>Telegram</a:t>
            </a:r>
            <a:endParaRPr/>
          </a:p>
        </p:txBody>
      </p:sp>
      <p:sp>
        <p:nvSpPr>
          <p:cNvPr id="665" name=""/>
          <p:cNvSpPr/>
          <p:nvPr/>
        </p:nvSpPr>
        <p:spPr>
          <a:xfrm rot="0" flipH="0" flipV="0">
            <a:off x="1800225" y="4200525"/>
            <a:ext cx="819150" cy="400050"/>
          </a:xfrm>
          <a:prstGeom prst="roundRect">
            <a:avLst>
              <a:gd name="adj" fmla="val 19048"/>
            </a:avLst>
          </a:prstGeom>
          <a:solidFill>
            <a:srgbClr val="FFF7E9"/>
          </a:solidFill>
          <a:ln/>
        </p:spPr>
        <p:txBody>
          <a:bodyPr/>
          <a:p/>
        </p:txBody>
      </p:sp>
      <p:sp>
        <p:nvSpPr>
          <p:cNvPr id="666" name="" descr="{&quot;isTemplate&quot;:true,&quot;type&quot;:&quot;text&quot;}"/>
          <p:cNvSpPr txBox="1"/>
          <p:nvPr/>
        </p:nvSpPr>
        <p:spPr>
          <a:xfrm rot="0" flipH="0" flipV="0">
            <a:off x="1895475" y="4295775"/>
            <a:ext cx="6286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B45309"/>
                </a:solidFill>
                <a:latin typeface="Microsoft YaHei"/>
                <a:ea typeface="Microsoft YaHei"/>
              </a:rPr>
              <a:t>Discord</a:t>
            </a:r>
            <a:endParaRPr/>
          </a:p>
        </p:txBody>
      </p:sp>
      <p:sp>
        <p:nvSpPr>
          <p:cNvPr id="667" name=""/>
          <p:cNvSpPr/>
          <p:nvPr/>
        </p:nvSpPr>
        <p:spPr>
          <a:xfrm rot="0" flipH="0" flipV="0">
            <a:off x="2695575" y="4200525"/>
            <a:ext cx="1295400" cy="400050"/>
          </a:xfrm>
          <a:prstGeom prst="roundRect">
            <a:avLst>
              <a:gd name="adj" fmla="val 19048"/>
            </a:avLst>
          </a:prstGeom>
          <a:solidFill>
            <a:srgbClr val="FFF7E9"/>
          </a:solidFill>
          <a:ln/>
        </p:spPr>
        <p:txBody>
          <a:bodyPr/>
          <a:p/>
        </p:txBody>
      </p:sp>
      <p:sp>
        <p:nvSpPr>
          <p:cNvPr id="668" name="" descr="{&quot;isTemplate&quot;:true,&quot;type&quot;:&quot;text&quot;}"/>
          <p:cNvSpPr txBox="1"/>
          <p:nvPr/>
        </p:nvSpPr>
        <p:spPr>
          <a:xfrm rot="0" flipH="0" flipV="0">
            <a:off x="2790825" y="4295775"/>
            <a:ext cx="1104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B45309"/>
                </a:solidFill>
                <a:latin typeface="Microsoft YaHei"/>
                <a:ea typeface="Microsoft YaHei"/>
              </a:rPr>
              <a:t>MQTT</a:t>
            </a:r>
            <a:r>
              <a:rPr lang="zh-CN" sz="1350">
                <a:solidFill>
                  <a:srgbClr val="B45309"/>
                </a:solidFill>
                <a:latin typeface="Microsoft YaHei"/>
                <a:ea typeface="Microsoft YaHei"/>
              </a:rPr>
              <a:t>（</a:t>
            </a:r>
            <a:r>
              <a:rPr lang="en-US" sz="1350">
                <a:solidFill>
                  <a:srgbClr val="B45309"/>
                </a:solidFill>
                <a:latin typeface="Microsoft YaHei"/>
                <a:ea typeface="Microsoft YaHei"/>
              </a:rPr>
              <a:t>IoT</a:t>
            </a:r>
            <a:r>
              <a:rPr lang="zh-CN" sz="1350">
                <a:solidFill>
                  <a:srgbClr val="B45309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669" name=""/>
          <p:cNvSpPr/>
          <p:nvPr/>
        </p:nvSpPr>
        <p:spPr>
          <a:xfrm rot="0" flipH="0" flipV="0">
            <a:off x="4876800" y="1733550"/>
            <a:ext cx="6743700" cy="1257300"/>
          </a:xfrm>
          <a:custGeom>
            <a:pathLst>
              <a:path w="708" h="132">
                <a:moveTo>
                  <a:pt x="0" y="131"/>
                </a:moveTo>
                <a:lnTo>
                  <a:pt x="708" y="131"/>
                </a:lnTo>
                <a:lnTo>
                  <a:pt x="708" y="132"/>
                </a:lnTo>
                <a:lnTo>
                  <a:pt x="0" y="132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p/>
        </p:txBody>
      </p:sp>
      <p:sp>
        <p:nvSpPr>
          <p:cNvPr id="670" name="" descr="{&quot;isTemplate&quot;:true,&quot;type&quot;:&quot;text&quot;}"/>
          <p:cNvSpPr txBox="1"/>
          <p:nvPr/>
        </p:nvSpPr>
        <p:spPr>
          <a:xfrm rot="0" flipH="0" flipV="0">
            <a:off x="4876800" y="1771650"/>
            <a:ext cx="6743700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1E293B"/>
                </a:solidFill>
                <a:latin typeface="Microsoft YaHei"/>
                <a:ea typeface="Microsoft YaHei"/>
              </a:rPr>
              <a:t>扫码即接入，几分钟上线</a:t>
            </a:r>
            <a:endParaRPr/>
          </a:p>
        </p:txBody>
      </p:sp>
      <p:sp>
        <p:nvSpPr>
          <p:cNvPr id="671" name="" descr="{&quot;isTemplate&quot;:true,&quot;type&quot;:&quot;text&quot;}"/>
          <p:cNvSpPr txBox="1"/>
          <p:nvPr/>
        </p:nvSpPr>
        <p:spPr>
          <a:xfrm rot="0" flipH="0" flipV="0">
            <a:off x="4876800" y="2181225"/>
            <a:ext cx="67437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主流平台支持扫码绑定与机器人自助创建，</a:t>
            </a: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 xml:space="preserve">IT 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配置一次，全员可用。</a:t>
            </a:r>
            <a:endParaRPr/>
          </a:p>
        </p:txBody>
      </p:sp>
      <p:sp>
        <p:nvSpPr>
          <p:cNvPr id="672" name=""/>
          <p:cNvSpPr/>
          <p:nvPr/>
        </p:nvSpPr>
        <p:spPr>
          <a:xfrm rot="0" flipH="0" flipV="0">
            <a:off x="4876800" y="2990850"/>
            <a:ext cx="6743700" cy="1257300"/>
          </a:xfrm>
          <a:custGeom>
            <a:pathLst>
              <a:path w="708" h="132">
                <a:moveTo>
                  <a:pt x="0" y="131"/>
                </a:moveTo>
                <a:lnTo>
                  <a:pt x="708" y="131"/>
                </a:lnTo>
                <a:lnTo>
                  <a:pt x="708" y="132"/>
                </a:lnTo>
                <a:lnTo>
                  <a:pt x="0" y="132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p/>
        </p:txBody>
      </p:sp>
      <p:sp>
        <p:nvSpPr>
          <p:cNvPr id="673" name="" descr="{&quot;isTemplate&quot;:true,&quot;type&quot;:&quot;text&quot;}"/>
          <p:cNvSpPr txBox="1"/>
          <p:nvPr/>
        </p:nvSpPr>
        <p:spPr>
          <a:xfrm rot="0" flipH="0" flipV="0">
            <a:off x="4876800" y="3028950"/>
            <a:ext cx="6743700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1E293B"/>
                </a:solidFill>
                <a:latin typeface="Microsoft YaHei"/>
                <a:ea typeface="Microsoft YaHei"/>
              </a:rPr>
              <a:t>群聊私聊都好用</a:t>
            </a:r>
            <a:endParaRPr/>
          </a:p>
        </p:txBody>
      </p:sp>
      <p:sp>
        <p:nvSpPr>
          <p:cNvPr id="674" name="" descr="{&quot;isTemplate&quot;:true,&quot;type&quot;:&quot;text&quot;}"/>
          <p:cNvSpPr txBox="1"/>
          <p:nvPr/>
        </p:nvSpPr>
        <p:spPr>
          <a:xfrm rot="0" flipH="0" flipV="0">
            <a:off x="4876800" y="3438525"/>
            <a:ext cx="67437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单聊、群聊各自成会话，上下文不串台；群里</a:t>
            </a: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 xml:space="preserve"> @ 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一下即可让数字同事干活。</a:t>
            </a:r>
            <a:endParaRPr/>
          </a:p>
        </p:txBody>
      </p:sp>
      <p:sp>
        <p:nvSpPr>
          <p:cNvPr id="675" name="" descr="{&quot;isTemplate&quot;:true,&quot;type&quot;:&quot;text&quot;}"/>
          <p:cNvSpPr txBox="1"/>
          <p:nvPr/>
        </p:nvSpPr>
        <p:spPr>
          <a:xfrm rot="0" flipH="0" flipV="0">
            <a:off x="4876800" y="4286250"/>
            <a:ext cx="6743700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1E293B"/>
                </a:solidFill>
                <a:latin typeface="Microsoft YaHei"/>
                <a:ea typeface="Microsoft YaHei"/>
              </a:rPr>
              <a:t>不只是应答，还能主动触达</a:t>
            </a:r>
            <a:endParaRPr/>
          </a:p>
        </p:txBody>
      </p:sp>
      <p:sp>
        <p:nvSpPr>
          <p:cNvPr id="676" name="" descr="{&quot;isTemplate&quot;:true,&quot;type&quot;:&quot;text&quot;}"/>
          <p:cNvSpPr txBox="1"/>
          <p:nvPr/>
        </p:nvSpPr>
        <p:spPr>
          <a:xfrm rot="0" flipH="0" flipV="0">
            <a:off x="4876800" y="4695825"/>
            <a:ext cx="67437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日报、预警、待办直接推到指定会话——该提醒的事，它先开口。</a:t>
            </a:r>
            <a:endParaRPr/>
          </a:p>
        </p:txBody>
      </p:sp>
      <p:sp>
        <p:nvSpPr>
          <p:cNvPr id="677" name=""/>
          <p:cNvSpPr/>
          <p:nvPr/>
        </p:nvSpPr>
        <p:spPr>
          <a:xfrm rot="0" flipH="0" flipV="0">
            <a:off x="571500" y="5734050"/>
            <a:ext cx="11049000" cy="552450"/>
          </a:xfrm>
          <a:prstGeom prst="roundRect">
            <a:avLst>
              <a:gd name="adj" fmla="val 17241"/>
            </a:avLst>
          </a:prstGeom>
          <a:solidFill>
            <a:srgbClr val="E8EEFB"/>
          </a:solidFill>
          <a:ln/>
        </p:spPr>
        <p:txBody>
          <a:bodyPr/>
          <a:p/>
        </p:txBody>
      </p:sp>
      <p:sp>
        <p:nvSpPr>
          <p:cNvPr id="678" name="" descr="{&quot;isTemplate&quot;:true,&quot;type&quot;:&quot;text&quot;}"/>
          <p:cNvSpPr txBox="1"/>
          <p:nvPr/>
        </p:nvSpPr>
        <p:spPr>
          <a:xfrm rot="0" flipH="0" flipV="0">
            <a:off x="704850" y="5857875"/>
            <a:ext cx="10782300" cy="3048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425" b="1">
                <a:solidFill>
                  <a:srgbClr val="1E293B"/>
                </a:solidFill>
                <a:latin typeface="Microsoft YaHei"/>
                <a:ea typeface="Microsoft YaHei"/>
              </a:rPr>
              <a:t>推广</a:t>
            </a:r>
            <a:r>
              <a:rPr lang="en-US" sz="1425" b="1">
                <a:solidFill>
                  <a:srgbClr val="1E293B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1425" b="1">
                <a:solidFill>
                  <a:srgbClr val="1E293B"/>
                </a:solidFill>
                <a:latin typeface="Microsoft YaHei"/>
                <a:ea typeface="Microsoft YaHei"/>
              </a:rPr>
              <a:t>最大的成本是改变人的习惯——把它放进现有的协作工具里，这一步就省掉了。</a:t>
            </a:r>
            <a:endParaRPr/>
          </a:p>
        </p:txBody>
      </p:sp>
    </p:spTree>
  </p:cSld>
</p:sld>
</file>

<file path=ppt/slides/slide31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679" name="" descr="&lt;Slide style={{ padding: 60, background: '#F4F6FB', position: 'relative' }}&gt;&#10;    &lt;Box style={{ position: 'absolute', right: 60, top: 130, width: 420, height: 460 }}&gt;&#10;        &lt;svg width={420} height={460} viewBox='0 0 420 460'&gt;&#10;            &lt;circle cx='210' cy='240' r='150' fill='none' stroke='#C7D6F5' strokeWidth='1' /&gt;&#10;            &lt;circle cx='210' cy='240' r='200' fill='none' stroke='#C7D6F5' strokeWidth='1' /&gt;&#10;            &lt;path d='M10 240 A200 200 0 0 1 410 240' fill='none' stroke='#0891B2' strokeWidth='3' opacity='0.6' /&gt;&#10;            &lt;circle cx='360' cy='240' r='8' fill='#F59E0B' /&gt;&#10;            &lt;circle cx='60' cy='240' r='8' fill='#2563EB' /&gt;&#10;            &lt;circle cx='210' cy='40' r='6' fill='#0891B2' /&gt;&#10;        &lt;/svg&gt;&#10;    &lt;/Box&gt;&#10;&#10;    &lt;Box style={{ position: 'absolute', left: 92, top: 168, width: 680 }}&gt;&#10;        &lt;Text style={{ fontSize: 180, fontWeight: 'bold', color: '#CBD9F0', lineHeight: 1.05 }}&gt;&#10;            03&#10;        &lt;/Text&gt;&#10;        &lt;Text style={{ fontSize: 64, fontWeight: 'bold', color: '#1E293B', lineHeight: 1.15, marginTop: 12 }}&gt;&#10;            为什么放心&#10;        &lt;/Text&gt;&#10;        &lt;Box style={{ width: 72, height: 6, borderRadius: 3, background: '#F59E0B', marginTop: 30 }} /&gt;&#10;        &lt;Text style={{ fontSize: 22, color: '#64748B', lineHeight: 1.5, marginTop: 26 }}&gt;&#10;            动作有人拍板，过程可回放，数据不出内网&#10;        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4F6FB"/>
          </a:solidFill>
          <a:ln/>
        </p:spPr>
        <p:txBody>
          <a:bodyPr/>
          <a:p/>
        </p:txBody>
      </p:sp>
      <p:pic>
        <p:nvPicPr>
          <p:cNvPr id="68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620000" y="1238250"/>
            <a:ext cx="4000500" cy="4381500"/>
          </a:xfrm>
          <a:prstGeom prst="rect">
            <a:avLst/>
          </a:prstGeom>
          <a:ln/>
        </p:spPr>
      </p:pic>
      <p:sp>
        <p:nvSpPr>
          <p:cNvPr id="682" name="" descr="{&quot;isTemplate&quot;:true,&quot;type&quot;:&quot;text&quot;}"/>
          <p:cNvSpPr txBox="1"/>
          <p:nvPr/>
        </p:nvSpPr>
        <p:spPr>
          <a:xfrm rot="0" flipH="0" flipV="0">
            <a:off x="876300" y="1600200"/>
            <a:ext cx="6477000" cy="2162175"/>
          </a:xfrm>
          <a:prstGeom prst="rect"/>
        </p:spPr>
        <p:txBody>
          <a:bodyPr wrap="none" lIns="0" tIns="0" rIns="0" bIns="0"/>
          <a:p>
            <a:pPr>
              <a:lnSpc>
                <a:spcPct val="105000"/>
              </a:lnSpc>
            </a:pPr>
            <a:r>
              <a:rPr lang="en-US" sz="13500" b="1">
                <a:solidFill>
                  <a:srgbClr val="CBD9F0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683" name="" descr="{&quot;isTemplate&quot;:true,&quot;type&quot;:&quot;text&quot;}"/>
          <p:cNvSpPr txBox="1"/>
          <p:nvPr/>
        </p:nvSpPr>
        <p:spPr>
          <a:xfrm rot="0" flipH="0" flipV="0">
            <a:off x="876300" y="3876675"/>
            <a:ext cx="6477000" cy="847725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800" b="1">
                <a:solidFill>
                  <a:srgbClr val="1E293B"/>
                </a:solidFill>
                <a:latin typeface="Microsoft YaHei"/>
                <a:ea typeface="Microsoft YaHei"/>
              </a:rPr>
              <a:t>为什么放心</a:t>
            </a:r>
            <a:endParaRPr/>
          </a:p>
        </p:txBody>
      </p:sp>
      <p:sp>
        <p:nvSpPr>
          <p:cNvPr id="684" name=""/>
          <p:cNvSpPr/>
          <p:nvPr/>
        </p:nvSpPr>
        <p:spPr>
          <a:xfrm rot="0" flipH="0" flipV="0">
            <a:off x="876300" y="5010150"/>
            <a:ext cx="685800" cy="5715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685" name="" descr="{&quot;isTemplate&quot;:true,&quot;type&quot;:&quot;text&quot;}"/>
          <p:cNvSpPr txBox="1"/>
          <p:nvPr/>
        </p:nvSpPr>
        <p:spPr>
          <a:xfrm rot="0" flipH="0" flipV="0">
            <a:off x="876300" y="5314950"/>
            <a:ext cx="6477000" cy="3810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650">
                <a:solidFill>
                  <a:srgbClr val="64748B"/>
                </a:solidFill>
                <a:latin typeface="Microsoft YaHei"/>
                <a:ea typeface="Microsoft YaHei"/>
              </a:rPr>
              <a:t>动作有人拍板，过程可回放，数据不出内网</a:t>
            </a:r>
            <a:endParaRPr/>
          </a:p>
        </p:txBody>
      </p:sp>
    </p:spTree>
  </p:cSld>
</p:sld>
</file>

<file path=ppt/slides/slide32.xml><?xml version="1.0" encoding="utf-8"?>
<p:sld xmlns:p="http://schemas.openxmlformats.org/presentationml/2006/main" xmlns:a="http://schemas.openxmlformats.org/drawingml/2006/main">
  <p:cSld>
    <p:spTree>
      <p:nvGrpSpPr>
        <p:cNvPr id="686" name="" descr="&lt;Slide style={{ padding: 60, background: '#FFFFFF' }}&gt;&#10;    &lt;Box style={{ height: 600 }}&gt;&#10;        &lt;Box style={{ height: 20, flexDirection: 'row', justifyContent: 'space-between', alignItems: 'center' }}&gt;&#10;            &lt;Text style={{ fontSize: 14, color: '#94A3B8', letterSpacing: 2 }}&gt;03 · 为什么放心&lt;/Text&gt;&#10;            &lt;Box style={{ width: 44, height: 4, borderRadius: 2, background: '#2563EB' }} /&gt;&#10;        &lt;/Box&gt;&#10;        &lt;Text style={{ fontSize: 34, fontWeight: 'bold', color: '#1E293B', marginTop: 16, lineHeight: 1.2 }}&gt;&#10;            越界动作先由人拍板：自主执行与人工掌控并存&#10;        &lt;/Text&gt;&#10;        &lt;Box style={{ height: 1, background: '#E2E8F0', marginTop: 16 }} /&gt;&#10;&#10;        {/* 三层：事前 / 事中 / 事后 */}&#10;        &lt;Box style={{ marginTop: 18, gap: 12 }}&gt;&#10;            &lt;Box style={{ height: 92, flexDirection: 'row', background: '#E8EEFB', borderRadius: 12, padding: 18 }}&gt;&#10;                &lt;Box style={{ width: 150, justifyContent: 'center' }}&gt;&#10;                    &lt;Text style={{ fontSize: 22, fontWeight: 'bold', color: '#2563EB' }}&gt;事前 · 立规矩&lt;/Text&gt;&#10;                &lt;/Box&gt;&#10;                &lt;Box style={{ flex: 1, justifyContent: 'center', marginLeft: 12 }}&gt;&#10;                    &lt;Text style={{ fontSize: 18, color: '#1E293B', lineHeight: 1.55 }}&gt;&#10;                        写文件、改文件、执行命令、删除这类高风险动作默认纳入审批清单；哪些动作要人点头、由谁来批，管理员可按岗位逐项设定。&#10;                    &lt;/Text&gt;&#10;                &lt;/Box&gt;&#10;            &lt;/Box&gt;&#10;            &lt;Box style={{ height: 92, flexDirection: 'row', background: '#D6E4F9', borderRadius: 12, padding: 18 }}&gt;&#10;                &lt;Box style={{ width: 150, justifyContent: 'center' }}&gt;&#10;                    &lt;Text style={{ fontSize: 22, fontWeight: 'bold', color: '#1E293B' }}&gt;事中 · 暂停等决策&lt;/Text&gt;&#10;                &lt;/Box&gt;&#10;                &lt;Box style={{ flex: 1, justifyContent: 'center', marginLeft: 12 }}&gt;&#10;                    &lt;Text style={{ fontSize: 18, color: '#1E293B', lineHeight: 1.55 }}&gt;&#10;                        命中审批清单或危险命令规则时，任务在此挂起等待人工处置：通过、修改后通过、拒绝、追问补充四种决策任选，结果回写进度。&#10;                    &lt;/Text&gt;&#10;                &lt;/Box&gt;&#10;            &lt;/Box&gt;&#10;            &lt;Box style={{ height: 92, flexDirection: 'row', background: '#FFF7E9', borderRadius: 12, padding: 18 }}&gt;&#10;                &lt;Box style={{ width: 150, justifyContent: 'center' }}&gt;&#10;                    &lt;Text style={{ fontSize: 22, fontWeight: 'bold', color: '#B45309' }}&gt;事后 · 留痕可回放&lt;/Text&gt;&#10;                &lt;/Box&gt;&#10;                &lt;Box style={{ flex: 1, justifyContent: 'center', marginLeft: 12 }}&gt;&#10;                    &lt;Text style={{ fontSize: 18, color: '#1E293B', lineHeight: 1.55 }}&gt;&#10;                        每一次工具调用写入轨迹账本，可按会话回放完整过程；决策记录在案，任务从断点继续，出了争议也拿得出证据。&#10;                    &lt;/Text&gt;&#10;                &lt;/Box&gt;&#10;            &lt;/Box&gt;&#10;        &lt;/Box&gt;&#10;&#10;        {/* 补充说明行 */}&#10;        &lt;Box style={{ flexDirection: 'row', marginTop: 12, gap: 16 }}&gt;&#10;            &lt;Box style={{ flex: 1 }}&gt;&#10;                &lt;Text style={{ fontSize: 18, color: '#475569', lineHeight: 1.55 }}&gt;&#10;                    会话级放行：确认某个工具可信后，可以一次放行整段会话，同类动作不再反复打断工作流。&#10;                &lt;/Text&gt;&#10;            &lt;/Box&gt;&#10;            &lt;Box style={{ width: 1, background: '#E2E8F0' }} /&gt;&#10;            &lt;Box style={{ flex: 1 }}&gt;&#10;                &lt;Text style={{ fontSize: 18, color: '#475569', lineHeight: 1.55 }}&gt;&#10;                    四处入口同一套审批：网页、命令行、聊天工具、定时任务触发的动作，走的是同一套审批规则。&#10;                &lt;/Text&gt;&#10;            &lt;/Box&gt;&#10;        &lt;/Box&gt;&#10;&#10;        {/* 结论条 */}&#10;        &lt;Box style={{ height: 58, background: '#E8EEFB', borderRadius: 10, padding: 14, marginTop: 10, justifyContent: 'center' }}&gt;&#10;            &lt;Text style={{ fontSize: 19, fontWeight: '600', color: '#1E293B', lineHeight: 1.4 }}&gt;&#10;                机器负责把活干完，人保留随时改主意和问清楚的权利——这才敢让 AI 进业务流程。&#10;            &lt;/Text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88" name="" descr="{&quot;isTemplate&quot;:true,&quot;type&quot;:&quot;text&quot;}"/>
          <p:cNvSpPr txBox="1"/>
          <p:nvPr/>
        </p:nvSpPr>
        <p:spPr>
          <a:xfrm rot="0" flipH="0" flipV="0">
            <a:off x="571500" y="590550"/>
            <a:ext cx="1133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94A3B8"/>
                </a:solidFill>
                <a:latin typeface="Microsoft YaHei"/>
                <a:ea typeface="Microsoft YaHei"/>
              </a:rPr>
              <a:t xml:space="preserve">03 · </a:t>
            </a:r>
            <a:r>
              <a:rPr lang="zh-CN" sz="1050" spc="150">
                <a:solidFill>
                  <a:srgbClr val="94A3B8"/>
                </a:solidFill>
                <a:latin typeface="Microsoft YaHei"/>
                <a:ea typeface="Microsoft YaHei"/>
              </a:rPr>
              <a:t>为什么放心</a:t>
            </a:r>
            <a:endParaRPr/>
          </a:p>
        </p:txBody>
      </p:sp>
      <p:sp>
        <p:nvSpPr>
          <p:cNvPr id="689" name=""/>
          <p:cNvSpPr/>
          <p:nvPr/>
        </p:nvSpPr>
        <p:spPr>
          <a:xfrm rot="0" flipH="0" flipV="0">
            <a:off x="11201400" y="647700"/>
            <a:ext cx="419100" cy="38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690" name="" descr="{&quot;isTemplate&quot;:true,&quot;type&quot;:&quot;text&quot;}"/>
          <p:cNvSpPr txBox="1"/>
          <p:nvPr/>
        </p:nvSpPr>
        <p:spPr>
          <a:xfrm rot="0" flipH="0" flipV="0">
            <a:off x="571500" y="914400"/>
            <a:ext cx="110490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E293B"/>
                </a:solidFill>
                <a:latin typeface="Microsoft YaHei"/>
                <a:ea typeface="Microsoft YaHei"/>
              </a:rPr>
              <a:t>越界动作先由人拍板：自主执行与人工掌控并存</a:t>
            </a:r>
            <a:endParaRPr/>
          </a:p>
        </p:txBody>
      </p:sp>
      <p:sp>
        <p:nvSpPr>
          <p:cNvPr id="691" name=""/>
          <p:cNvSpPr/>
          <p:nvPr/>
        </p:nvSpPr>
        <p:spPr>
          <a:xfrm rot="0" flipH="0" flipV="0">
            <a:off x="571500" y="1533525"/>
            <a:ext cx="1104900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692" name=""/>
          <p:cNvSpPr/>
          <p:nvPr/>
        </p:nvSpPr>
        <p:spPr>
          <a:xfrm rot="0" flipH="0" flipV="0">
            <a:off x="571500" y="1714500"/>
            <a:ext cx="11049000" cy="876300"/>
          </a:xfrm>
          <a:prstGeom prst="roundRect">
            <a:avLst>
              <a:gd name="adj" fmla="val 13043"/>
            </a:avLst>
          </a:prstGeom>
          <a:solidFill>
            <a:srgbClr val="E8EEFB"/>
          </a:solidFill>
          <a:ln/>
        </p:spPr>
        <p:txBody>
          <a:bodyPr/>
          <a:p/>
        </p:txBody>
      </p:sp>
      <p:sp>
        <p:nvSpPr>
          <p:cNvPr id="693" name="" descr="{&quot;isTemplate&quot;:true,&quot;type&quot;:&quot;text&quot;}"/>
          <p:cNvSpPr txBox="1"/>
          <p:nvPr/>
        </p:nvSpPr>
        <p:spPr>
          <a:xfrm rot="0" flipH="0" flipV="0">
            <a:off x="742950" y="2028825"/>
            <a:ext cx="14287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563EB"/>
                </a:solidFill>
                <a:latin typeface="Microsoft YaHei"/>
                <a:ea typeface="Microsoft YaHei"/>
              </a:rPr>
              <a:t>事前</a:t>
            </a:r>
            <a:r>
              <a:rPr lang="en-US" sz="1650" b="1">
                <a:solidFill>
                  <a:srgbClr val="2563EB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650" b="1">
                <a:solidFill>
                  <a:srgbClr val="2563EB"/>
                </a:solidFill>
                <a:latin typeface="Microsoft YaHei"/>
                <a:ea typeface="Microsoft YaHei"/>
              </a:rPr>
              <a:t>立规矩</a:t>
            </a:r>
            <a:endParaRPr/>
          </a:p>
        </p:txBody>
      </p:sp>
      <p:sp>
        <p:nvSpPr>
          <p:cNvPr id="694" name="" descr="{&quot;isTemplate&quot;:true,&quot;type&quot;:&quot;text&quot;}"/>
          <p:cNvSpPr txBox="1"/>
          <p:nvPr/>
        </p:nvSpPr>
        <p:spPr>
          <a:xfrm rot="0" flipH="0" flipV="0">
            <a:off x="2286000" y="1885950"/>
            <a:ext cx="9163050" cy="638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350">
                <a:solidFill>
                  <a:srgbClr val="1E293B"/>
                </a:solidFill>
                <a:latin typeface="Microsoft YaHei"/>
                <a:ea typeface="Microsoft YaHei"/>
              </a:rPr>
              <a:t>写文件、改文件、执行命令、删除这类高风险动作默认纳入审批清单；哪些动作要人点头、由谁来批，管理员可按岗位逐项设定。</a:t>
            </a:r>
            <a:endParaRPr/>
          </a:p>
        </p:txBody>
      </p:sp>
      <p:sp>
        <p:nvSpPr>
          <p:cNvPr id="695" name=""/>
          <p:cNvSpPr/>
          <p:nvPr/>
        </p:nvSpPr>
        <p:spPr>
          <a:xfrm rot="0" flipH="0" flipV="0">
            <a:off x="571500" y="2705100"/>
            <a:ext cx="11049000" cy="876300"/>
          </a:xfrm>
          <a:prstGeom prst="roundRect">
            <a:avLst>
              <a:gd name="adj" fmla="val 13043"/>
            </a:avLst>
          </a:prstGeom>
          <a:solidFill>
            <a:srgbClr val="D6E4F9"/>
          </a:solidFill>
          <a:ln/>
        </p:spPr>
        <p:txBody>
          <a:bodyPr/>
          <a:p/>
        </p:txBody>
      </p:sp>
      <p:sp>
        <p:nvSpPr>
          <p:cNvPr id="696" name="" descr="{&quot;isTemplate&quot;:true,&quot;type&quot;:&quot;text&quot;}"/>
          <p:cNvSpPr txBox="1"/>
          <p:nvPr/>
        </p:nvSpPr>
        <p:spPr>
          <a:xfrm rot="0" flipH="0" flipV="0">
            <a:off x="742950" y="2895600"/>
            <a:ext cx="142875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E293B"/>
                </a:solidFill>
                <a:latin typeface="Microsoft YaHei"/>
                <a:ea typeface="Microsoft YaHei"/>
              </a:rPr>
              <a:t>事中</a:t>
            </a:r>
            <a:r>
              <a:rPr lang="en-US" sz="1650" b="1">
                <a:solidFill>
                  <a:srgbClr val="1E293B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650" b="1">
                <a:solidFill>
                  <a:srgbClr val="1E293B"/>
                </a:solidFill>
                <a:latin typeface="Microsoft YaHei"/>
                <a:ea typeface="Microsoft YaHei"/>
              </a:rPr>
              <a:t>暂停等决策</a:t>
            </a:r>
            <a:endParaRPr/>
          </a:p>
        </p:txBody>
      </p:sp>
      <p:sp>
        <p:nvSpPr>
          <p:cNvPr id="697" name="" descr="{&quot;isTemplate&quot;:true,&quot;type&quot;:&quot;text&quot;}"/>
          <p:cNvSpPr txBox="1"/>
          <p:nvPr/>
        </p:nvSpPr>
        <p:spPr>
          <a:xfrm rot="0" flipH="0" flipV="0">
            <a:off x="2286000" y="2876550"/>
            <a:ext cx="9163050" cy="638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350">
                <a:solidFill>
                  <a:srgbClr val="1E293B"/>
                </a:solidFill>
                <a:latin typeface="Microsoft YaHei"/>
                <a:ea typeface="Microsoft YaHei"/>
              </a:rPr>
              <a:t>命中审批清单或危险命令规则时，任务在此挂起等待人工处置：通过、修改后通过、拒绝、追问补充四种决策任选，结果回写进度。</a:t>
            </a:r>
            <a:endParaRPr/>
          </a:p>
        </p:txBody>
      </p:sp>
      <p:sp>
        <p:nvSpPr>
          <p:cNvPr id="698" name=""/>
          <p:cNvSpPr/>
          <p:nvPr/>
        </p:nvSpPr>
        <p:spPr>
          <a:xfrm rot="0" flipH="0" flipV="0">
            <a:off x="571500" y="3695700"/>
            <a:ext cx="11049000" cy="876300"/>
          </a:xfrm>
          <a:prstGeom prst="roundRect">
            <a:avLst>
              <a:gd name="adj" fmla="val 13043"/>
            </a:avLst>
          </a:prstGeom>
          <a:solidFill>
            <a:srgbClr val="FFF7E9"/>
          </a:solidFill>
          <a:ln/>
        </p:spPr>
        <p:txBody>
          <a:bodyPr/>
          <a:p/>
        </p:txBody>
      </p:sp>
      <p:sp>
        <p:nvSpPr>
          <p:cNvPr id="699" name="" descr="{&quot;isTemplate&quot;:true,&quot;type&quot;:&quot;text&quot;}"/>
          <p:cNvSpPr txBox="1"/>
          <p:nvPr/>
        </p:nvSpPr>
        <p:spPr>
          <a:xfrm rot="0" flipH="0" flipV="0">
            <a:off x="742950" y="3886200"/>
            <a:ext cx="142875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B45309"/>
                </a:solidFill>
                <a:latin typeface="Microsoft YaHei"/>
                <a:ea typeface="Microsoft YaHei"/>
              </a:rPr>
              <a:t>事后</a:t>
            </a:r>
            <a:r>
              <a:rPr lang="en-US" sz="1650" b="1">
                <a:solidFill>
                  <a:srgbClr val="B4530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650" b="1">
                <a:solidFill>
                  <a:srgbClr val="B45309"/>
                </a:solidFill>
                <a:latin typeface="Microsoft YaHei"/>
                <a:ea typeface="Microsoft YaHei"/>
              </a:rPr>
              <a:t>留痕可回放</a:t>
            </a:r>
            <a:endParaRPr/>
          </a:p>
        </p:txBody>
      </p:sp>
      <p:sp>
        <p:nvSpPr>
          <p:cNvPr id="700" name="" descr="{&quot;isTemplate&quot;:true,&quot;type&quot;:&quot;text&quot;}"/>
          <p:cNvSpPr txBox="1"/>
          <p:nvPr/>
        </p:nvSpPr>
        <p:spPr>
          <a:xfrm rot="0" flipH="0" flipV="0">
            <a:off x="2286000" y="3971925"/>
            <a:ext cx="9163050" cy="3238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350">
                <a:solidFill>
                  <a:srgbClr val="1E293B"/>
                </a:solidFill>
                <a:latin typeface="Microsoft YaHei"/>
                <a:ea typeface="Microsoft YaHei"/>
              </a:rPr>
              <a:t>每一次工具调用写入轨迹账本，可按会话回放完整过程；决策记录在案，任务从断点继续，出了争议也拿得出证据。</a:t>
            </a:r>
            <a:endParaRPr/>
          </a:p>
        </p:txBody>
      </p:sp>
      <p:sp>
        <p:nvSpPr>
          <p:cNvPr id="701" name="" descr="{&quot;isTemplate&quot;:true,&quot;type&quot;:&quot;text&quot;}"/>
          <p:cNvSpPr txBox="1"/>
          <p:nvPr/>
        </p:nvSpPr>
        <p:spPr>
          <a:xfrm rot="0" flipH="0" flipV="0">
            <a:off x="571500" y="4686300"/>
            <a:ext cx="5372100" cy="638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会话级放行：确认某个工具可信后，可以一次放行整段会话，同类动作不再反复打断工作流。</a:t>
            </a:r>
            <a:endParaRPr/>
          </a:p>
        </p:txBody>
      </p:sp>
      <p:sp>
        <p:nvSpPr>
          <p:cNvPr id="702" name=""/>
          <p:cNvSpPr/>
          <p:nvPr/>
        </p:nvSpPr>
        <p:spPr>
          <a:xfrm rot="0" flipH="0" flipV="0">
            <a:off x="6096000" y="4686300"/>
            <a:ext cx="9525" cy="63817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703" name="" descr="{&quot;isTemplate&quot;:true,&quot;type&quot;:&quot;text&quot;}"/>
          <p:cNvSpPr txBox="1"/>
          <p:nvPr/>
        </p:nvSpPr>
        <p:spPr>
          <a:xfrm rot="0" flipH="0" flipV="0">
            <a:off x="6257925" y="4686300"/>
            <a:ext cx="5362575" cy="638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四处入口同一套审批：网页、命令行、聊天工具、定时任务触发的动作，走的是同一套审批规则。</a:t>
            </a:r>
            <a:endParaRPr/>
          </a:p>
        </p:txBody>
      </p:sp>
      <p:sp>
        <p:nvSpPr>
          <p:cNvPr id="704" name=""/>
          <p:cNvSpPr/>
          <p:nvPr/>
        </p:nvSpPr>
        <p:spPr>
          <a:xfrm rot="0" flipH="0" flipV="0">
            <a:off x="571500" y="5419725"/>
            <a:ext cx="11049000" cy="552450"/>
          </a:xfrm>
          <a:prstGeom prst="roundRect">
            <a:avLst>
              <a:gd name="adj" fmla="val 17241"/>
            </a:avLst>
          </a:prstGeom>
          <a:solidFill>
            <a:srgbClr val="E8EEFB"/>
          </a:solidFill>
          <a:ln/>
        </p:spPr>
        <p:txBody>
          <a:bodyPr/>
          <a:p/>
        </p:txBody>
      </p:sp>
      <p:sp>
        <p:nvSpPr>
          <p:cNvPr id="705" name="" descr="{&quot;isTemplate&quot;:true,&quot;type&quot;:&quot;text&quot;}"/>
          <p:cNvSpPr txBox="1"/>
          <p:nvPr/>
        </p:nvSpPr>
        <p:spPr>
          <a:xfrm rot="0" flipH="0" flipV="0">
            <a:off x="704850" y="5543550"/>
            <a:ext cx="10782300" cy="3048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425" b="1">
                <a:solidFill>
                  <a:srgbClr val="1E293B"/>
                </a:solidFill>
                <a:latin typeface="Microsoft YaHei"/>
                <a:ea typeface="Microsoft YaHei"/>
              </a:rPr>
              <a:t>机器负责把活干完，人保留随时改主意和问清楚的权利——这才敢让</a:t>
            </a:r>
            <a:r>
              <a:rPr lang="en-US" sz="1425" b="1">
                <a:solidFill>
                  <a:srgbClr val="1E293B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1425" b="1">
                <a:solidFill>
                  <a:srgbClr val="1E293B"/>
                </a:solidFill>
                <a:latin typeface="Microsoft YaHei"/>
                <a:ea typeface="Microsoft YaHei"/>
              </a:rPr>
              <a:t>进业务流程。</a:t>
            </a:r>
            <a:endParaRPr/>
          </a:p>
        </p:txBody>
      </p:sp>
    </p:spTree>
  </p:cSld>
</p:sld>
</file>

<file path=ppt/slides/slide33.xml><?xml version="1.0" encoding="utf-8"?>
<p:sld xmlns:p="http://schemas.openxmlformats.org/presentationml/2006/main" xmlns:a="http://schemas.openxmlformats.org/drawingml/2006/main">
  <p:cSld>
    <p:spTree>
      <p:nvGrpSpPr>
        <p:cNvPr id="706" name="" descr="&lt;Slide style={{ padding: 60, background: '#FFFFFF' }}&gt;&#13;&#10;    &lt;Box style={{ height: 600 }}&gt;&#13;&#10;        &lt;Box style={{ height: 20, flexDirection: 'row', justifyContent: 'space-between', alignItems: 'center' }}&gt;&#13;&#10;            &lt;Text style={{ fontSize: 14, color: '#94A3B8', letterSpacing: 2 }}&gt;03 · 为什么放心&lt;/Text&gt;&#13;&#10;            &lt;Box style={{ width: 44, height: 4, borderRadius: 2, background: '#2563EB' }} /&gt;&#13;&#10;        &lt;/Box&gt;&#13;&#10;        &lt;Text style={{ fontSize: 34, fontWeight: 'bold', color: '#1E293B', marginTop: 16, lineHeight: 1.2 }}&gt;&#13;&#10;            五层防线：每一层都看得见、查得到、改得动&#13;&#10;        &lt;/Text&gt;&#13;&#10;        &lt;Box style={{ height: 1, background: '#E2E8F0', marginTop: 16 }} /&gt;&#13;&#10;&#13;&#10;        &lt;Box style={{ marginTop: 20, gap: 12 }}&gt;&#13;&#10;            &lt;Box style={{ height: 72, flexDirection: 'row', alignItems: 'center', borderBottomWidth: 1, borderBottomColor: '#E2E8F0', borderBottomStyle: 'solid' }}&gt;&#13;&#10;                &lt;Text style={{ width: 56, fontSize: 22, fontWeight: 'bold', color: '#2563EB' }}&gt;01&lt;/Text&gt;&#13;&#10;                &lt;Text style={{ width: 210, fontSize: 20, fontWeight: '600', color: '#1E293B' }}&gt;身份与授权&lt;/Text&gt;&#13;&#10;                &lt;Text style={{ fontSize: 18, color: '#475569', lineHeight: 1.5 }}&gt;密码、LDAP、SSO 单点登录与邀请码；数据按人隔离，谁能看谁的一目了然。&lt;/Text&gt;&#13;&#10;            &lt;/Box&gt;&#13;&#10;            &lt;Box style={{ height: 72, flexDirection: 'row', alignItems: 'center', borderBottomWidth: 1, borderBottomColor: '#E2E8F0', borderBottomStyle: 'solid' }}&gt;&#13;&#10;                &lt;Text style={{ width: 56, fontSize: 22, fontWeight: 'bold', color: '#2563EB' }}&gt;02&lt;/Text&gt;&#13;&#10;                &lt;Text style={{ width: 210, fontSize: 20, fontWeight: '600', color: '#1E293B' }}&gt;命令守卫&lt;/Text&gt;&#13;&#10;                &lt;Text style={{ fontSize: 18, color: '#475569', lineHeight: 1.5 }}&gt;20 条内建危险命令规则：删除、提权、危险网络操作等，拦截、告警或转审批可配。&lt;/Text&gt;&#13;&#10;            &lt;/Box&gt;&#13;&#10;            &lt;Box style={{ height: 72, flexDirection: 'row', alignItems: 'center', borderBottomWidth: 1, borderBottomColor: '#E2E8F0', borderBottomStyle: 'solid' }}&gt;&#13;&#10;                &lt;Text style={{ width: 56, fontSize: 22, fontWeight: 'bold', color: '#2563EB' }}&gt;03&lt;/Text&gt;&#13;&#10;                &lt;Text style={{ width: 210, fontSize: 20, fontWeight: '600', color: '#1E293B' }}&gt;文件系统沙箱&lt;/Text&gt;&#13;&#10;                &lt;Text style={{ fontSize: 18, color: '#475569', lineHeight: 1.5 }}&gt;按操作与路径授权；系统目录、密钥、凭证等敏感位置默认拦截，开箱即在保护状态。&lt;/Text&gt;&#13;&#10;            &lt;/Box&gt;&#13;&#10;            &lt;Box style={{ height: 72, flexDirection: 'row', alignItems: 'center', borderBottomWidth: 1, borderBottomColor: '#E2E8F0', borderBottomStyle: 'solid' }}&gt;&#13;&#10;                &lt;Text style={{ width: 56, fontSize: 22, fontWeight: 'bold', color: '#2563EB' }}&gt;04&lt;/Text&gt;&#13;&#10;                &lt;Text style={{ width: 210, fontSize: 20, fontWeight: '600', color: '#1E293B' }}&gt;数据脱敏与出站&lt;/Text&gt;&#13;&#10;                &lt;Text style={{ fontSize: 18, color: '#475569', lineHeight: 1.5 }}&gt;阻断、删除、掩码、哈希四种脱敏策略作用于输入输出；对外请求先过安全校验。&lt;/Text&gt;&#13;&#10;            &lt;/Box&gt;&#13;&#10;            &lt;Box style={{ height: 72, flexDirection: 'row', alignItems: 'center' }}&gt;&#13;&#10;                &lt;Text style={{ width: 56, fontSize: 22, fontWeight: 'bold', color: '#2563EB' }}&gt;05&lt;/Text&gt;&#13;&#10;                &lt;Text style={{ width: 210, fontSize: 20, fontWeight: '600', color: '#1E293B' }}&gt;审计与备份&lt;/Text&gt;&#13;&#10;                &lt;Text style={{ fontSize: 18, color: '#475569', lineHeight: 1.5 }}&gt;工具调用全量进轨迹账本，支持自动备份与一键恢复，出事之前就有准备。&lt;/Text&gt;&#13;&#10;            &lt;/Box&gt;&#13;&#10;        &lt;/Box&gt;&#13;&#10;&#13;&#10;        {/* 结论条 */}&#13;&#10;        &lt;Box style={{ height: 52, background: '#E8EEFB', borderRadius: 10, padding: 14, marginTop: 12, justifyContent: 'center' }}&gt;&#13;&#10;            &lt;Text style={{ fontSize: 19, fontWeight: '600', color: '#1E293B', lineHeight: 1.4 }}&gt;&#13;&#10;                安全不是一句承诺：这五层都是配置里看得见、改得动、有日志可查的具体机制。&#13;&#10;            &lt;/Text&gt;&#13;&#10;        &lt;/Box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08" name="" descr="{&quot;isTemplate&quot;:true,&quot;type&quot;:&quot;text&quot;}"/>
          <p:cNvSpPr txBox="1"/>
          <p:nvPr/>
        </p:nvSpPr>
        <p:spPr>
          <a:xfrm rot="0" flipH="0" flipV="0">
            <a:off x="571500" y="590550"/>
            <a:ext cx="1133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94A3B8"/>
                </a:solidFill>
                <a:latin typeface="Microsoft YaHei"/>
                <a:ea typeface="Microsoft YaHei"/>
              </a:rPr>
              <a:t xml:space="preserve">03 · </a:t>
            </a:r>
            <a:r>
              <a:rPr lang="zh-CN" sz="1050" spc="150">
                <a:solidFill>
                  <a:srgbClr val="94A3B8"/>
                </a:solidFill>
                <a:latin typeface="Microsoft YaHei"/>
                <a:ea typeface="Microsoft YaHei"/>
              </a:rPr>
              <a:t>为什么放心</a:t>
            </a:r>
            <a:endParaRPr/>
          </a:p>
        </p:txBody>
      </p:sp>
      <p:sp>
        <p:nvSpPr>
          <p:cNvPr id="709" name=""/>
          <p:cNvSpPr/>
          <p:nvPr/>
        </p:nvSpPr>
        <p:spPr>
          <a:xfrm rot="0" flipH="0" flipV="0">
            <a:off x="11201400" y="647700"/>
            <a:ext cx="419100" cy="38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710" name="" descr="{&quot;isTemplate&quot;:true,&quot;type&quot;:&quot;text&quot;}"/>
          <p:cNvSpPr txBox="1"/>
          <p:nvPr/>
        </p:nvSpPr>
        <p:spPr>
          <a:xfrm rot="0" flipH="0" flipV="0">
            <a:off x="571500" y="914400"/>
            <a:ext cx="110490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E293B"/>
                </a:solidFill>
                <a:latin typeface="Microsoft YaHei"/>
                <a:ea typeface="Microsoft YaHei"/>
              </a:rPr>
              <a:t>五层防线：每一层都看得见、查得到、改得动</a:t>
            </a:r>
            <a:endParaRPr/>
          </a:p>
        </p:txBody>
      </p:sp>
      <p:sp>
        <p:nvSpPr>
          <p:cNvPr id="711" name=""/>
          <p:cNvSpPr/>
          <p:nvPr/>
        </p:nvSpPr>
        <p:spPr>
          <a:xfrm rot="0" flipH="0" flipV="0">
            <a:off x="571500" y="1533525"/>
            <a:ext cx="1104900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712" name=""/>
          <p:cNvSpPr/>
          <p:nvPr/>
        </p:nvSpPr>
        <p:spPr>
          <a:xfrm rot="0" flipH="0" flipV="0">
            <a:off x="571500" y="1733550"/>
            <a:ext cx="11049000" cy="685800"/>
          </a:xfrm>
          <a:custGeom>
            <a:pathLst>
              <a:path w="1160" h="72">
                <a:moveTo>
                  <a:pt x="0" y="71"/>
                </a:moveTo>
                <a:lnTo>
                  <a:pt x="1160" y="71"/>
                </a:lnTo>
                <a:lnTo>
                  <a:pt x="1160" y="72"/>
                </a:lnTo>
                <a:lnTo>
                  <a:pt x="0" y="72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p/>
        </p:txBody>
      </p:sp>
      <p:sp>
        <p:nvSpPr>
          <p:cNvPr id="713" name="" descr="{&quot;isTemplate&quot;:true,&quot;type&quot;:&quot;text&quot;}"/>
          <p:cNvSpPr txBox="1"/>
          <p:nvPr/>
        </p:nvSpPr>
        <p:spPr>
          <a:xfrm rot="0" flipH="0" flipV="0">
            <a:off x="571500" y="1943100"/>
            <a:ext cx="5334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2563EB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714" name="" descr="{&quot;isTemplate&quot;:true,&quot;type&quot;:&quot;text&quot;}"/>
          <p:cNvSpPr txBox="1"/>
          <p:nvPr/>
        </p:nvSpPr>
        <p:spPr>
          <a:xfrm rot="0" flipH="0" flipV="0">
            <a:off x="1104900" y="1962150"/>
            <a:ext cx="2000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E293B"/>
                </a:solidFill>
                <a:latin typeface="Microsoft YaHei"/>
                <a:ea typeface="Microsoft YaHei"/>
              </a:rPr>
              <a:t>身份与授权</a:t>
            </a:r>
            <a:endParaRPr/>
          </a:p>
        </p:txBody>
      </p:sp>
      <p:sp>
        <p:nvSpPr>
          <p:cNvPr id="715" name="" descr="{&quot;isTemplate&quot;:true,&quot;type&quot;:&quot;text&quot;}"/>
          <p:cNvSpPr txBox="1"/>
          <p:nvPr/>
        </p:nvSpPr>
        <p:spPr>
          <a:xfrm rot="0" flipH="0" flipV="0">
            <a:off x="3105150" y="1914525"/>
            <a:ext cx="59817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密码、</a:t>
            </a: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>LDAP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、</a:t>
            </a: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 xml:space="preserve">SSO 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单点登录与邀请码；数据按人隔离，谁能看谁的一目了然。</a:t>
            </a:r>
            <a:endParaRPr/>
          </a:p>
        </p:txBody>
      </p:sp>
      <p:sp>
        <p:nvSpPr>
          <p:cNvPr id="716" name=""/>
          <p:cNvSpPr/>
          <p:nvPr/>
        </p:nvSpPr>
        <p:spPr>
          <a:xfrm rot="0" flipH="0" flipV="0">
            <a:off x="571500" y="2533650"/>
            <a:ext cx="11049000" cy="685800"/>
          </a:xfrm>
          <a:custGeom>
            <a:pathLst>
              <a:path w="1160" h="72">
                <a:moveTo>
                  <a:pt x="0" y="71"/>
                </a:moveTo>
                <a:lnTo>
                  <a:pt x="1160" y="71"/>
                </a:lnTo>
                <a:lnTo>
                  <a:pt x="1160" y="72"/>
                </a:lnTo>
                <a:lnTo>
                  <a:pt x="0" y="72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p/>
        </p:txBody>
      </p:sp>
      <p:sp>
        <p:nvSpPr>
          <p:cNvPr id="717" name="" descr="{&quot;isTemplate&quot;:true,&quot;type&quot;:&quot;text&quot;}"/>
          <p:cNvSpPr txBox="1"/>
          <p:nvPr/>
        </p:nvSpPr>
        <p:spPr>
          <a:xfrm rot="0" flipH="0" flipV="0">
            <a:off x="571500" y="2743200"/>
            <a:ext cx="5334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2563EB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718" name="" descr="{&quot;isTemplate&quot;:true,&quot;type&quot;:&quot;text&quot;}"/>
          <p:cNvSpPr txBox="1"/>
          <p:nvPr/>
        </p:nvSpPr>
        <p:spPr>
          <a:xfrm rot="0" flipH="0" flipV="0">
            <a:off x="1104900" y="2762250"/>
            <a:ext cx="2000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E293B"/>
                </a:solidFill>
                <a:latin typeface="Microsoft YaHei"/>
                <a:ea typeface="Microsoft YaHei"/>
              </a:rPr>
              <a:t>命令守卫</a:t>
            </a:r>
            <a:endParaRPr/>
          </a:p>
        </p:txBody>
      </p:sp>
      <p:sp>
        <p:nvSpPr>
          <p:cNvPr id="719" name="" descr="{&quot;isTemplate&quot;:true,&quot;type&quot;:&quot;text&quot;}"/>
          <p:cNvSpPr txBox="1"/>
          <p:nvPr/>
        </p:nvSpPr>
        <p:spPr>
          <a:xfrm rot="0" flipH="0" flipV="0">
            <a:off x="3105150" y="2714625"/>
            <a:ext cx="6429375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 xml:space="preserve">20 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条内建危险命令规则：删除、提权、危险网络操作等，拦截、告警或转审批可配。</a:t>
            </a:r>
            <a:endParaRPr/>
          </a:p>
        </p:txBody>
      </p:sp>
      <p:sp>
        <p:nvSpPr>
          <p:cNvPr id="720" name=""/>
          <p:cNvSpPr/>
          <p:nvPr/>
        </p:nvSpPr>
        <p:spPr>
          <a:xfrm rot="0" flipH="0" flipV="0">
            <a:off x="571500" y="3333750"/>
            <a:ext cx="11049000" cy="685800"/>
          </a:xfrm>
          <a:custGeom>
            <a:pathLst>
              <a:path w="1160" h="72">
                <a:moveTo>
                  <a:pt x="0" y="71"/>
                </a:moveTo>
                <a:lnTo>
                  <a:pt x="1160" y="71"/>
                </a:lnTo>
                <a:lnTo>
                  <a:pt x="1160" y="72"/>
                </a:lnTo>
                <a:lnTo>
                  <a:pt x="0" y="72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p/>
        </p:txBody>
      </p:sp>
      <p:sp>
        <p:nvSpPr>
          <p:cNvPr id="721" name="" descr="{&quot;isTemplate&quot;:true,&quot;type&quot;:&quot;text&quot;}"/>
          <p:cNvSpPr txBox="1"/>
          <p:nvPr/>
        </p:nvSpPr>
        <p:spPr>
          <a:xfrm rot="0" flipH="0" flipV="0">
            <a:off x="571500" y="3543300"/>
            <a:ext cx="5334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2563EB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722" name="" descr="{&quot;isTemplate&quot;:true,&quot;type&quot;:&quot;text&quot;}"/>
          <p:cNvSpPr txBox="1"/>
          <p:nvPr/>
        </p:nvSpPr>
        <p:spPr>
          <a:xfrm rot="0" flipH="0" flipV="0">
            <a:off x="1104900" y="3562350"/>
            <a:ext cx="2000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E293B"/>
                </a:solidFill>
                <a:latin typeface="Microsoft YaHei"/>
                <a:ea typeface="Microsoft YaHei"/>
              </a:rPr>
              <a:t>文件系统沙箱</a:t>
            </a:r>
            <a:endParaRPr/>
          </a:p>
        </p:txBody>
      </p:sp>
      <p:sp>
        <p:nvSpPr>
          <p:cNvPr id="723" name="" descr="{&quot;isTemplate&quot;:true,&quot;type&quot;:&quot;text&quot;}"/>
          <p:cNvSpPr txBox="1"/>
          <p:nvPr/>
        </p:nvSpPr>
        <p:spPr>
          <a:xfrm rot="0" flipH="0" flipV="0">
            <a:off x="3105150" y="3514725"/>
            <a:ext cx="65151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按操作与路径授权；系统目录、密钥、凭证等敏感位置默认拦截，开箱即在保护状态。</a:t>
            </a:r>
            <a:endParaRPr/>
          </a:p>
        </p:txBody>
      </p:sp>
      <p:sp>
        <p:nvSpPr>
          <p:cNvPr id="724" name=""/>
          <p:cNvSpPr/>
          <p:nvPr/>
        </p:nvSpPr>
        <p:spPr>
          <a:xfrm rot="0" flipH="0" flipV="0">
            <a:off x="571500" y="4133850"/>
            <a:ext cx="11049000" cy="685800"/>
          </a:xfrm>
          <a:custGeom>
            <a:pathLst>
              <a:path w="1160" h="72">
                <a:moveTo>
                  <a:pt x="0" y="71"/>
                </a:moveTo>
                <a:lnTo>
                  <a:pt x="1160" y="71"/>
                </a:lnTo>
                <a:lnTo>
                  <a:pt x="1160" y="72"/>
                </a:lnTo>
                <a:lnTo>
                  <a:pt x="0" y="72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p/>
        </p:txBody>
      </p:sp>
      <p:sp>
        <p:nvSpPr>
          <p:cNvPr id="725" name="" descr="{&quot;isTemplate&quot;:true,&quot;type&quot;:&quot;text&quot;}"/>
          <p:cNvSpPr txBox="1"/>
          <p:nvPr/>
        </p:nvSpPr>
        <p:spPr>
          <a:xfrm rot="0" flipH="0" flipV="0">
            <a:off x="571500" y="4343400"/>
            <a:ext cx="5334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2563EB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726" name="" descr="{&quot;isTemplate&quot;:true,&quot;type&quot;:&quot;text&quot;}"/>
          <p:cNvSpPr txBox="1"/>
          <p:nvPr/>
        </p:nvSpPr>
        <p:spPr>
          <a:xfrm rot="0" flipH="0" flipV="0">
            <a:off x="1104900" y="4362450"/>
            <a:ext cx="2000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E293B"/>
                </a:solidFill>
                <a:latin typeface="Microsoft YaHei"/>
                <a:ea typeface="Microsoft YaHei"/>
              </a:rPr>
              <a:t>数据脱敏与出站</a:t>
            </a:r>
            <a:endParaRPr/>
          </a:p>
        </p:txBody>
      </p:sp>
      <p:sp>
        <p:nvSpPr>
          <p:cNvPr id="727" name="" descr="{&quot;isTemplate&quot;:true,&quot;type&quot;:&quot;text&quot;}"/>
          <p:cNvSpPr txBox="1"/>
          <p:nvPr/>
        </p:nvSpPr>
        <p:spPr>
          <a:xfrm rot="0" flipH="0" flipV="0">
            <a:off x="3105150" y="4314825"/>
            <a:ext cx="61722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阻断、删除、掩码、哈希四种脱敏策略作用于输入输出；对外请求先过安全校验。</a:t>
            </a:r>
            <a:endParaRPr/>
          </a:p>
        </p:txBody>
      </p:sp>
      <p:sp>
        <p:nvSpPr>
          <p:cNvPr id="728" name="" descr="{&quot;isTemplate&quot;:true,&quot;type&quot;:&quot;text&quot;}"/>
          <p:cNvSpPr txBox="1"/>
          <p:nvPr/>
        </p:nvSpPr>
        <p:spPr>
          <a:xfrm rot="0" flipH="0" flipV="0">
            <a:off x="571500" y="5153025"/>
            <a:ext cx="5334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2563EB"/>
                </a:solidFill>
                <a:latin typeface="Microsoft YaHei"/>
                <a:ea typeface="Microsoft YaHei"/>
              </a:rPr>
              <a:t>05</a:t>
            </a:r>
            <a:endParaRPr/>
          </a:p>
        </p:txBody>
      </p:sp>
      <p:sp>
        <p:nvSpPr>
          <p:cNvPr id="729" name="" descr="{&quot;isTemplate&quot;:true,&quot;type&quot;:&quot;text&quot;}"/>
          <p:cNvSpPr txBox="1"/>
          <p:nvPr/>
        </p:nvSpPr>
        <p:spPr>
          <a:xfrm rot="0" flipH="0" flipV="0">
            <a:off x="1104900" y="5162550"/>
            <a:ext cx="2000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E293B"/>
                </a:solidFill>
                <a:latin typeface="Microsoft YaHei"/>
                <a:ea typeface="Microsoft YaHei"/>
              </a:rPr>
              <a:t>审计与备份</a:t>
            </a:r>
            <a:endParaRPr/>
          </a:p>
        </p:txBody>
      </p:sp>
      <p:sp>
        <p:nvSpPr>
          <p:cNvPr id="730" name="" descr="{&quot;isTemplate&quot;:true,&quot;type&quot;:&quot;text&quot;}"/>
          <p:cNvSpPr txBox="1"/>
          <p:nvPr/>
        </p:nvSpPr>
        <p:spPr>
          <a:xfrm rot="0" flipH="0" flipV="0">
            <a:off x="3105150" y="5124450"/>
            <a:ext cx="565785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工具调用全量进轨迹账本，支持自动备份与一键恢复，出事之前就有准备。</a:t>
            </a:r>
            <a:endParaRPr/>
          </a:p>
        </p:txBody>
      </p:sp>
      <p:sp>
        <p:nvSpPr>
          <p:cNvPr id="731" name=""/>
          <p:cNvSpPr/>
          <p:nvPr/>
        </p:nvSpPr>
        <p:spPr>
          <a:xfrm rot="0" flipH="0" flipV="0">
            <a:off x="571500" y="5734050"/>
            <a:ext cx="11049000" cy="495300"/>
          </a:xfrm>
          <a:prstGeom prst="roundRect">
            <a:avLst>
              <a:gd name="adj" fmla="val 19231"/>
            </a:avLst>
          </a:prstGeom>
          <a:solidFill>
            <a:srgbClr val="E8EEFB"/>
          </a:solidFill>
          <a:ln/>
        </p:spPr>
        <p:txBody>
          <a:bodyPr/>
          <a:p/>
        </p:txBody>
      </p:sp>
      <p:sp>
        <p:nvSpPr>
          <p:cNvPr id="732" name="" descr="{&quot;isTemplate&quot;:true,&quot;type&quot;:&quot;text&quot;}"/>
          <p:cNvSpPr txBox="1"/>
          <p:nvPr/>
        </p:nvSpPr>
        <p:spPr>
          <a:xfrm rot="0" flipH="0" flipV="0">
            <a:off x="704850" y="5829300"/>
            <a:ext cx="10782300" cy="3048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425" b="1">
                <a:solidFill>
                  <a:srgbClr val="1E293B"/>
                </a:solidFill>
                <a:latin typeface="Microsoft YaHei"/>
                <a:ea typeface="Microsoft YaHei"/>
              </a:rPr>
              <a:t>安全不是一句承诺：这五层都是配置里看得见、改得动、有日志可查的具体机制。</a:t>
            </a:r>
            <a:endParaRPr/>
          </a:p>
        </p:txBody>
      </p:sp>
    </p:spTree>
  </p:cSld>
</p:sld>
</file>

<file path=ppt/slides/slide34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733" name="" descr="&lt;Slide style={{ padding: 60, background: '#FFFFFF' }}&gt;&#10;    &lt;Box style={{ height: 600 }}&gt;&#10;        &lt;Box style={{ height: 20, flexDirection: 'row', justifyContent: 'space-between', alignItems: 'center' }}&gt;&#10;            &lt;Text style={{ fontSize: 14, color: '#94A3B8', letterSpacing: 2 }}&gt;03 · 为什么放心&lt;/Text&gt;&#10;            &lt;Box style={{ width: 44, height: 4, borderRadius: 2, background: '#2563EB' }} /&gt;&#10;        &lt;/Box&gt;&#10;        &lt;Text style={{ fontSize: 34, fontWeight: 'bold', color: '#1E293B', marginTop: 16, lineHeight: 1.2 }}&gt;&#10;            数据主权：数据不出内网，开关握在自己手里&#10;        &lt;/Text&gt;&#10;        &lt;Box style={{ height: 1, background: '#E2E8F0', marginTop: 16 }} /&gt;&#10;&#10;        &lt;Box style={{ flex: 1, marginTop: 20, flexDirection: 'row', gap: 32 }}&gt;&#10;            {/* 左：盾形 SVG */}&#10;            &lt;Box style={{ width: 380, justifyContent: 'center', alignItems: 'center' }}&gt;&#10;                &lt;svg width={320} height={340} viewBox='0 0 320 340'&gt;&#10;                    &lt;path d='M160 20 L290 70 L290 170 C290 250 230 300 160 320 C90 300 30 250 30 170 L30 70 Z' fill='#E8EEFB' stroke='#2563EB' strokeWidth='3' /&gt;&#10;                    &lt;path d='M160 60 L250 95 L250 168 C250 228 208 266 160 282 C112 266 70 228 70 168 L70 95 Z' fill='#FFFFFF' stroke='#C7D6F5' strokeWidth='2' /&gt;&#10;                    &lt;rect x='118' y='150' width='84' height='64' rx='8' fill='#2563EB' /&gt;&#10;                    &lt;path d='M134 150 L134 134 C134 116 146 104 160 104 C174 104 186 116 186 134 L186 150' fill='none' stroke='#2563EB' strokeWidth='10' /&gt;&#10;                    &lt;circle cx='160' cy='178' r='9' fill='#FFFFFF' /&gt;&#10;                    &lt;rect x='156' y='178' width='8' height='18' fill='#FFFFFF' /&gt;&#10;                    &lt;text x='160' y='252' textAnchor='middle' fontSize='17' fill='#1E293B' fontFamily='Microsoft YaHei' fontWeight='bold'&gt;数据留在自己机器上&lt;/text&gt;&#10;                &lt;/svg&gt;&#10;            &lt;/Box&gt;&#10;&#10;            {/* 右：四行 */}&#10;            &lt;Box style={{ flex: 1 }}&gt;&#10;                &lt;Box style={{ height: 100, borderBottomWidth: 1, borderBottomColor: '#E2E8F0', borderBottomStyle: 'solid' }}&gt;&#10;                    &lt;Text style={{ fontSize: 22, fontWeight: '600', color: '#1E293B', lineHeight: 1.3, marginTop: 4 }}&gt;本地部署，数据自持&lt;/Text&gt;&#10;                    &lt;Text style={{ fontSize: 18, color: '#475569', lineHeight: 1.5, marginTop: 6 }}&gt;&#10;                        一台服务器跑起来，配置、会话、文档、记忆全部落在公司自己的机器上。&#10;                    &lt;/Text&gt;&#10;                &lt;/Box&gt;&#10;                &lt;Box style={{ height: 100, borderBottomWidth: 1, borderBottomColor: '#E2E8F0', borderBottomStyle: 'solid' }}&gt;&#10;                    &lt;Text style={{ fontSize: 22, fontWeight: '600', color: '#1E293B', lineHeight: 1.3, marginTop: 4 }}&gt;脱敏策略自己定&lt;/Text&gt;&#10;                    &lt;Text style={{ fontSize: 18, color: '#475569', lineHeight: 1.5, marginTop: 6 }}&gt;&#10;                        输入输出可配置阻断、删除、掩码、哈希四种脱敏策略，按数据敏感度选择。&#10;                    &lt;/Text&gt;&#10;                &lt;/Box&gt;&#10;                &lt;Box style={{ height: 100, borderBottomWidth: 1, borderBottomColor: '#E2E8F0', borderBottomStyle: 'solid' }}&gt;&#10;                    &lt;Text style={{ fontSize: 22, fontWeight: '600', color: '#1E293B', lineHeight: 1.3, marginTop: 4 }}&gt;权限隔离，运维留痕&lt;/Text&gt;&#10;                    &lt;Text style={{ fontSize: 18, color: '#475569', lineHeight: 1.5, marginTop: 6 }}&gt;&#10;                        数据按人隔离，员工只见自己的资源；管理员跨用户运维同样留痕可查。&#10;                    &lt;/Text&gt;&#10;                &lt;/Box&gt;&#10;                &lt;Box style={{ height: 100 }}&gt;&#10;                    &lt;Text style={{ fontSize: 22, fontWeight: '600', color: '#1E293B', lineHeight: 1.3, marginTop: 4 }}&gt;敏感场景可完全离线&lt;/Text&gt;&#10;                    &lt;Text style={{ fontSize: 18, color: '#475569', lineHeight: 1.5, marginTop: 6 }}&gt;&#10;                        支持本地模型与本地向量化：内网推理、内网检索，不出网也能用起来。&#10;                    &lt;/Text&gt;&#10;                &lt;/Box&gt;&#10;            &lt;/Box&gt;&#10;        &lt;/Box&gt;&#10;&#10;        {/* 结论条 */}&#10;        &lt;Box style={{ height: 58, background: '#FFF7E9', borderRadius: 10, padding: 14, marginTop: 10, justifyContent: 'center' }}&gt;&#10;            &lt;Text style={{ fontSize: 19, fontWeight: '600', color: '#7C2D12', lineHeight: 1.4 }}&gt;&#10;                该上云的环节仍可上云，该留内网的必须留得住——选择权在配置里，不在合同里。&#10;            &lt;/Text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35" name="" descr="{&quot;isTemplate&quot;:true,&quot;type&quot;:&quot;text&quot;}"/>
          <p:cNvSpPr txBox="1"/>
          <p:nvPr/>
        </p:nvSpPr>
        <p:spPr>
          <a:xfrm rot="0" flipH="0" flipV="0">
            <a:off x="571500" y="590550"/>
            <a:ext cx="1133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94A3B8"/>
                </a:solidFill>
                <a:latin typeface="Microsoft YaHei"/>
                <a:ea typeface="Microsoft YaHei"/>
              </a:rPr>
              <a:t xml:space="preserve">03 · </a:t>
            </a:r>
            <a:r>
              <a:rPr lang="zh-CN" sz="1050" spc="150">
                <a:solidFill>
                  <a:srgbClr val="94A3B8"/>
                </a:solidFill>
                <a:latin typeface="Microsoft YaHei"/>
                <a:ea typeface="Microsoft YaHei"/>
              </a:rPr>
              <a:t>为什么放心</a:t>
            </a:r>
            <a:endParaRPr/>
          </a:p>
        </p:txBody>
      </p:sp>
      <p:sp>
        <p:nvSpPr>
          <p:cNvPr id="736" name=""/>
          <p:cNvSpPr/>
          <p:nvPr/>
        </p:nvSpPr>
        <p:spPr>
          <a:xfrm rot="0" flipH="0" flipV="0">
            <a:off x="11201400" y="647700"/>
            <a:ext cx="419100" cy="38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737" name="" descr="{&quot;isTemplate&quot;:true,&quot;type&quot;:&quot;text&quot;}"/>
          <p:cNvSpPr txBox="1"/>
          <p:nvPr/>
        </p:nvSpPr>
        <p:spPr>
          <a:xfrm rot="0" flipH="0" flipV="0">
            <a:off x="571500" y="914400"/>
            <a:ext cx="110490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E293B"/>
                </a:solidFill>
                <a:latin typeface="Microsoft YaHei"/>
                <a:ea typeface="Microsoft YaHei"/>
              </a:rPr>
              <a:t>数据主权：数据不出内网，开关握在自己手里</a:t>
            </a:r>
            <a:endParaRPr/>
          </a:p>
        </p:txBody>
      </p:sp>
      <p:sp>
        <p:nvSpPr>
          <p:cNvPr id="738" name=""/>
          <p:cNvSpPr/>
          <p:nvPr/>
        </p:nvSpPr>
        <p:spPr>
          <a:xfrm rot="0" flipH="0" flipV="0">
            <a:off x="571500" y="1533525"/>
            <a:ext cx="1104900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pic>
        <p:nvPicPr>
          <p:cNvPr id="73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57250" y="2066925"/>
            <a:ext cx="3048000" cy="3238500"/>
          </a:xfrm>
          <a:prstGeom prst="rect">
            <a:avLst/>
          </a:prstGeom>
          <a:ln/>
        </p:spPr>
      </p:pic>
      <p:sp>
        <p:nvSpPr>
          <p:cNvPr id="740" name=""/>
          <p:cNvSpPr/>
          <p:nvPr/>
        </p:nvSpPr>
        <p:spPr>
          <a:xfrm rot="0" flipH="0" flipV="0">
            <a:off x="4495800" y="1733550"/>
            <a:ext cx="7124700" cy="952500"/>
          </a:xfrm>
          <a:custGeom>
            <a:pathLst>
              <a:path w="748" h="100">
                <a:moveTo>
                  <a:pt x="0" y="99"/>
                </a:moveTo>
                <a:lnTo>
                  <a:pt x="748" y="99"/>
                </a:lnTo>
                <a:lnTo>
                  <a:pt x="748" y="100"/>
                </a:lnTo>
                <a:lnTo>
                  <a:pt x="0" y="100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p/>
        </p:txBody>
      </p:sp>
      <p:sp>
        <p:nvSpPr>
          <p:cNvPr id="741" name="" descr="{&quot;isTemplate&quot;:true,&quot;type&quot;:&quot;text&quot;}"/>
          <p:cNvSpPr txBox="1"/>
          <p:nvPr/>
        </p:nvSpPr>
        <p:spPr>
          <a:xfrm rot="0" flipH="0" flipV="0">
            <a:off x="4495800" y="1771650"/>
            <a:ext cx="7124700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1E293B"/>
                </a:solidFill>
                <a:latin typeface="Microsoft YaHei"/>
                <a:ea typeface="Microsoft YaHei"/>
              </a:rPr>
              <a:t>本地部署，数据自持</a:t>
            </a:r>
            <a:endParaRPr/>
          </a:p>
        </p:txBody>
      </p:sp>
      <p:sp>
        <p:nvSpPr>
          <p:cNvPr id="742" name="" descr="{&quot;isTemplate&quot;:true,&quot;type&quot;:&quot;text&quot;}"/>
          <p:cNvSpPr txBox="1"/>
          <p:nvPr/>
        </p:nvSpPr>
        <p:spPr>
          <a:xfrm rot="0" flipH="0" flipV="0">
            <a:off x="4495800" y="2162175"/>
            <a:ext cx="71247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一台服务器跑起来，配置、会话、文档、记忆全部落在公司自己的机器上。</a:t>
            </a:r>
            <a:endParaRPr/>
          </a:p>
        </p:txBody>
      </p:sp>
      <p:sp>
        <p:nvSpPr>
          <p:cNvPr id="743" name=""/>
          <p:cNvSpPr/>
          <p:nvPr/>
        </p:nvSpPr>
        <p:spPr>
          <a:xfrm rot="0" flipH="0" flipV="0">
            <a:off x="4495800" y="2686050"/>
            <a:ext cx="7124700" cy="952500"/>
          </a:xfrm>
          <a:custGeom>
            <a:pathLst>
              <a:path w="748" h="100">
                <a:moveTo>
                  <a:pt x="0" y="99"/>
                </a:moveTo>
                <a:lnTo>
                  <a:pt x="748" y="99"/>
                </a:lnTo>
                <a:lnTo>
                  <a:pt x="748" y="100"/>
                </a:lnTo>
                <a:lnTo>
                  <a:pt x="0" y="100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p/>
        </p:txBody>
      </p:sp>
      <p:sp>
        <p:nvSpPr>
          <p:cNvPr id="744" name="" descr="{&quot;isTemplate&quot;:true,&quot;type&quot;:&quot;text&quot;}"/>
          <p:cNvSpPr txBox="1"/>
          <p:nvPr/>
        </p:nvSpPr>
        <p:spPr>
          <a:xfrm rot="0" flipH="0" flipV="0">
            <a:off x="4495800" y="2724150"/>
            <a:ext cx="7124700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1E293B"/>
                </a:solidFill>
                <a:latin typeface="Microsoft YaHei"/>
                <a:ea typeface="Microsoft YaHei"/>
              </a:rPr>
              <a:t>脱敏策略自己定</a:t>
            </a:r>
            <a:endParaRPr/>
          </a:p>
        </p:txBody>
      </p:sp>
      <p:sp>
        <p:nvSpPr>
          <p:cNvPr id="745" name="" descr="{&quot;isTemplate&quot;:true,&quot;type&quot;:&quot;text&quot;}"/>
          <p:cNvSpPr txBox="1"/>
          <p:nvPr/>
        </p:nvSpPr>
        <p:spPr>
          <a:xfrm rot="0" flipH="0" flipV="0">
            <a:off x="4495800" y="3114675"/>
            <a:ext cx="71247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输入输出可配置阻断、删除、掩码、哈希四种脱敏策略，按数据敏感度选择。</a:t>
            </a:r>
            <a:endParaRPr/>
          </a:p>
        </p:txBody>
      </p:sp>
      <p:sp>
        <p:nvSpPr>
          <p:cNvPr id="746" name=""/>
          <p:cNvSpPr/>
          <p:nvPr/>
        </p:nvSpPr>
        <p:spPr>
          <a:xfrm rot="0" flipH="0" flipV="0">
            <a:off x="4495800" y="3638550"/>
            <a:ext cx="7124700" cy="952500"/>
          </a:xfrm>
          <a:custGeom>
            <a:pathLst>
              <a:path w="748" h="100">
                <a:moveTo>
                  <a:pt x="0" y="99"/>
                </a:moveTo>
                <a:lnTo>
                  <a:pt x="748" y="99"/>
                </a:lnTo>
                <a:lnTo>
                  <a:pt x="748" y="100"/>
                </a:lnTo>
                <a:lnTo>
                  <a:pt x="0" y="100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p/>
        </p:txBody>
      </p:sp>
      <p:sp>
        <p:nvSpPr>
          <p:cNvPr id="747" name="" descr="{&quot;isTemplate&quot;:true,&quot;type&quot;:&quot;text&quot;}"/>
          <p:cNvSpPr txBox="1"/>
          <p:nvPr/>
        </p:nvSpPr>
        <p:spPr>
          <a:xfrm rot="0" flipH="0" flipV="0">
            <a:off x="4495800" y="3676650"/>
            <a:ext cx="7124700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1E293B"/>
                </a:solidFill>
                <a:latin typeface="Microsoft YaHei"/>
                <a:ea typeface="Microsoft YaHei"/>
              </a:rPr>
              <a:t>权限隔离，运维留痕</a:t>
            </a:r>
            <a:endParaRPr/>
          </a:p>
        </p:txBody>
      </p:sp>
      <p:sp>
        <p:nvSpPr>
          <p:cNvPr id="748" name="" descr="{&quot;isTemplate&quot;:true,&quot;type&quot;:&quot;text&quot;}"/>
          <p:cNvSpPr txBox="1"/>
          <p:nvPr/>
        </p:nvSpPr>
        <p:spPr>
          <a:xfrm rot="0" flipH="0" flipV="0">
            <a:off x="4495800" y="4067175"/>
            <a:ext cx="71247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数据按人隔离，员工只见自己的资源；管理员跨用户运维同样留痕可查。</a:t>
            </a:r>
            <a:endParaRPr/>
          </a:p>
        </p:txBody>
      </p:sp>
      <p:sp>
        <p:nvSpPr>
          <p:cNvPr id="749" name="" descr="{&quot;isTemplate&quot;:true,&quot;type&quot;:&quot;text&quot;}"/>
          <p:cNvSpPr txBox="1"/>
          <p:nvPr/>
        </p:nvSpPr>
        <p:spPr>
          <a:xfrm rot="0" flipH="0" flipV="0">
            <a:off x="4495800" y="4629150"/>
            <a:ext cx="7124700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1E293B"/>
                </a:solidFill>
                <a:latin typeface="Microsoft YaHei"/>
                <a:ea typeface="Microsoft YaHei"/>
              </a:rPr>
              <a:t>敏感场景可完全离线</a:t>
            </a:r>
            <a:endParaRPr/>
          </a:p>
        </p:txBody>
      </p:sp>
      <p:sp>
        <p:nvSpPr>
          <p:cNvPr id="750" name="" descr="{&quot;isTemplate&quot;:true,&quot;type&quot;:&quot;text&quot;}"/>
          <p:cNvSpPr txBox="1"/>
          <p:nvPr/>
        </p:nvSpPr>
        <p:spPr>
          <a:xfrm rot="0" flipH="0" flipV="0">
            <a:off x="4495800" y="5019675"/>
            <a:ext cx="71247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支持本地模型与本地向量化：内网推理、内网检索，不出网也能用起来。</a:t>
            </a:r>
            <a:endParaRPr/>
          </a:p>
        </p:txBody>
      </p:sp>
      <p:sp>
        <p:nvSpPr>
          <p:cNvPr id="751" name=""/>
          <p:cNvSpPr/>
          <p:nvPr/>
        </p:nvSpPr>
        <p:spPr>
          <a:xfrm rot="0" flipH="0" flipV="0">
            <a:off x="571500" y="5734050"/>
            <a:ext cx="11049000" cy="552450"/>
          </a:xfrm>
          <a:prstGeom prst="roundRect">
            <a:avLst>
              <a:gd name="adj" fmla="val 17241"/>
            </a:avLst>
          </a:prstGeom>
          <a:solidFill>
            <a:srgbClr val="FFF7E9"/>
          </a:solidFill>
          <a:ln/>
        </p:spPr>
        <p:txBody>
          <a:bodyPr/>
          <a:p/>
        </p:txBody>
      </p:sp>
      <p:sp>
        <p:nvSpPr>
          <p:cNvPr id="752" name="" descr="{&quot;isTemplate&quot;:true,&quot;type&quot;:&quot;text&quot;}"/>
          <p:cNvSpPr txBox="1"/>
          <p:nvPr/>
        </p:nvSpPr>
        <p:spPr>
          <a:xfrm rot="0" flipH="0" flipV="0">
            <a:off x="704850" y="5857875"/>
            <a:ext cx="10782300" cy="3048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425" b="1">
                <a:solidFill>
                  <a:srgbClr val="7C2D12"/>
                </a:solidFill>
                <a:latin typeface="Microsoft YaHei"/>
                <a:ea typeface="Microsoft YaHei"/>
              </a:rPr>
              <a:t>该上云的环节仍可上云，该留内网的必须留得住——选择权在配置里，不在合同里。</a:t>
            </a:r>
            <a:endParaRPr/>
          </a:p>
        </p:txBody>
      </p:sp>
    </p:spTree>
  </p:cSld>
</p:sld>
</file>

<file path=ppt/slides/slide35.xml><?xml version="1.0" encoding="utf-8"?>
<p:sld xmlns:p="http://schemas.openxmlformats.org/presentationml/2006/main" xmlns:a="http://schemas.openxmlformats.org/drawingml/2006/main">
  <p:cSld>
    <p:spTree>
      <p:nvGrpSpPr>
        <p:cNvPr id="753" name="" descr="&lt;Slide style={{ padding: 60, background: '#FFFFFF' }}&gt;&#10;    &lt;Box style={{ height: 600 }}&gt;&#10;        &lt;Box style={{ height: 20, flexDirection: 'row', justifyContent: 'space-between', alignItems: 'center' }}&gt;&#10;            &lt;Text style={{ fontSize: 14, color: '#94A3B8', letterSpacing: 2 }}&gt;03 · 为什么放心&lt;/Text&gt;&#10;            &lt;Box style={{ width: 44, height: 4, borderRadius: 2, background: '#2563EB' }} /&gt;&#10;        &lt;/Box&gt;&#10;        &lt;Text style={{ fontSize: 34, fontWeight: 'bold', color: '#1E293B', marginTop: 16, lineHeight: 1.2 }}&gt;&#10;            一台服务器全员共用，数据彼此看不见&#10;        &lt;/Text&gt;&#10;        &lt;Box style={{ height: 1, background: '#E2E8F0', marginTop: 16 }} /&gt;&#10;&#10;        &lt;Box style={{ flex: 1, marginTop: 20, flexDirection: 'row', gap: 16 }}&gt;&#10;            &lt;Box style={{ flex: 1, background: '#E8EEFB', borderRadius: 12, padding: 20 }}&gt;&#10;                &lt;Text style={{ fontSize: 22, fontWeight: '600', color: '#2563EB', lineHeight: 1.3 }}&gt;三种角色&lt;/Text&gt;&#10;                &lt;Text style={{ fontSize: 18, color: '#1E293B', lineHeight: 1.6, marginTop: 10 }}&gt;&#10;                    管理员：全局运维视角，跨用户操作也留痕。普通成员：只见自己的资源与 Agent。外部协作：邀请码开通，范围受控。&#10;                &lt;/Text&gt;&#10;            &lt;/Box&gt;&#10;            &lt;Box style={{ flex: 1, background: '#D6E4F9', borderRadius: 12, padding: 20 }}&gt;&#10;                &lt;Text style={{ fontSize: 22, fontWeight: '600', color: '#1E293B', lineHeight: 1.3 }}&gt;按人隔离&lt;/Text&gt;&#10;                &lt;Text style={{ fontSize: 18, color: '#1E293B', lineHeight: 1.6, marginTop: 10 }}&gt;&#10;                    每位用户创建自己的专家、知识库、定时任务与通道；数据归属逐条校验，共用一台服务器，不共用一份上下文。&#10;                &lt;/Text&gt;&#10;            &lt;/Box&gt;&#10;            &lt;Box style={{ flex: 1, background: '#FFF7E9', borderRadius: 12, padding: 20 }}&gt;&#10;                &lt;Text style={{ fontSize: 22, fontWeight: '600', color: '#B45309', lineHeight: 1.3 }}&gt;按模块授权&lt;/Text&gt;&#10;                &lt;Text style={{ fontSize: 18, color: '#1E293B', lineHeight: 1.6, marginTop: 10 }}&gt;&#10;                    权限目录 + 角色模板：谁能用哪些功能、看哪些数据，逐项配置，人员变动即时收回。&#10;                &lt;/Text&gt;&#10;            &lt;/Box&gt;&#10;        &lt;/Box&gt;&#10;&#10;        &lt;Box style={{ flexDirection: 'row', marginTop: 16, gap: 16 }}&gt;&#10;            &lt;Box style={{ flex: 1 }}&gt;&#10;                &lt;Text style={{ fontSize: 18, color: '#475569', lineHeight: 1.55 }}&gt;&#10;                    对 IT：账号生命周期沿用现有目录服务，离职即失效，不必另建人员台账。&#10;                &lt;/Text&gt;&#10;            &lt;/Box&gt;&#10;            &lt;Box style={{ width: 1, background: '#E2E8F0' }} /&gt;&#10;            &lt;Box style={{ flex: 1 }}&gt;&#10;                &lt;Text style={{ fontSize: 18, color: '#475569', lineHeight: 1.55 }}&gt;&#10;                    对业务：跨团队协作通过共享专家与邀请实现，既不封闭也不失控。&#10;                &lt;/Text&gt;&#10;            &lt;/Box&gt;&#10;        &lt;/Box&gt;&#10;&#10;        {/* 结论条 */}&#10;        &lt;Box style={{ height: 58, background: '#E8EEFB', borderRadius: 10, padding: 14, marginTop: 14, justifyContent: 'center' }}&gt;&#10;            &lt;Text style={{ fontSize: 19, fontWeight: '600', color: '#1E293B', lineHeight: 1.4 }}&gt;&#10;                一人运维、全员使用：服务器是共享的成本项，数据与智能体资产是严格隔离的。&#10;            &lt;/Text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55" name="" descr="{&quot;isTemplate&quot;:true,&quot;type&quot;:&quot;text&quot;}"/>
          <p:cNvSpPr txBox="1"/>
          <p:nvPr/>
        </p:nvSpPr>
        <p:spPr>
          <a:xfrm rot="0" flipH="0" flipV="0">
            <a:off x="571500" y="590550"/>
            <a:ext cx="1133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94A3B8"/>
                </a:solidFill>
                <a:latin typeface="Microsoft YaHei"/>
                <a:ea typeface="Microsoft YaHei"/>
              </a:rPr>
              <a:t xml:space="preserve">03 · </a:t>
            </a:r>
            <a:r>
              <a:rPr lang="zh-CN" sz="1050" spc="150">
                <a:solidFill>
                  <a:srgbClr val="94A3B8"/>
                </a:solidFill>
                <a:latin typeface="Microsoft YaHei"/>
                <a:ea typeface="Microsoft YaHei"/>
              </a:rPr>
              <a:t>为什么放心</a:t>
            </a:r>
            <a:endParaRPr/>
          </a:p>
        </p:txBody>
      </p:sp>
      <p:sp>
        <p:nvSpPr>
          <p:cNvPr id="756" name=""/>
          <p:cNvSpPr/>
          <p:nvPr/>
        </p:nvSpPr>
        <p:spPr>
          <a:xfrm rot="0" flipH="0" flipV="0">
            <a:off x="11201400" y="647700"/>
            <a:ext cx="419100" cy="38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757" name="" descr="{&quot;isTemplate&quot;:true,&quot;type&quot;:&quot;text&quot;}"/>
          <p:cNvSpPr txBox="1"/>
          <p:nvPr/>
        </p:nvSpPr>
        <p:spPr>
          <a:xfrm rot="0" flipH="0" flipV="0">
            <a:off x="571500" y="914400"/>
            <a:ext cx="110490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E293B"/>
                </a:solidFill>
                <a:latin typeface="Microsoft YaHei"/>
                <a:ea typeface="Microsoft YaHei"/>
              </a:rPr>
              <a:t>一台服务器全员共用，数据彼此看不见</a:t>
            </a:r>
            <a:endParaRPr/>
          </a:p>
        </p:txBody>
      </p:sp>
      <p:sp>
        <p:nvSpPr>
          <p:cNvPr id="758" name=""/>
          <p:cNvSpPr/>
          <p:nvPr/>
        </p:nvSpPr>
        <p:spPr>
          <a:xfrm rot="0" flipH="0" flipV="0">
            <a:off x="571500" y="1533525"/>
            <a:ext cx="1104900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759" name=""/>
          <p:cNvSpPr/>
          <p:nvPr/>
        </p:nvSpPr>
        <p:spPr>
          <a:xfrm rot="0" flipH="0" flipV="0">
            <a:off x="571500" y="1733550"/>
            <a:ext cx="3581400" cy="3076575"/>
          </a:xfrm>
          <a:prstGeom prst="roundRect">
            <a:avLst>
              <a:gd name="adj" fmla="val 3715"/>
            </a:avLst>
          </a:prstGeom>
          <a:solidFill>
            <a:srgbClr val="E8EEFB"/>
          </a:solidFill>
          <a:ln/>
        </p:spPr>
        <p:txBody>
          <a:bodyPr/>
          <a:p/>
        </p:txBody>
      </p:sp>
      <p:sp>
        <p:nvSpPr>
          <p:cNvPr id="760" name="" descr="{&quot;isTemplate&quot;:true,&quot;type&quot;:&quot;text&quot;}"/>
          <p:cNvSpPr txBox="1"/>
          <p:nvPr/>
        </p:nvSpPr>
        <p:spPr>
          <a:xfrm rot="0" flipH="0" flipV="0">
            <a:off x="762000" y="1924050"/>
            <a:ext cx="3200400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2563EB"/>
                </a:solidFill>
                <a:latin typeface="Microsoft YaHei"/>
                <a:ea typeface="Microsoft YaHei"/>
              </a:rPr>
              <a:t>三种角色</a:t>
            </a:r>
            <a:endParaRPr/>
          </a:p>
        </p:txBody>
      </p:sp>
      <p:sp>
        <p:nvSpPr>
          <p:cNvPr id="761" name="" descr="{&quot;isTemplate&quot;:true,&quot;type&quot;:&quot;text&quot;}"/>
          <p:cNvSpPr txBox="1"/>
          <p:nvPr/>
        </p:nvSpPr>
        <p:spPr>
          <a:xfrm rot="0" flipH="0" flipV="0">
            <a:off x="762000" y="2352675"/>
            <a:ext cx="3200400" cy="13239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>
                <a:solidFill>
                  <a:srgbClr val="1E293B"/>
                </a:solidFill>
                <a:latin typeface="Microsoft YaHei"/>
                <a:ea typeface="Microsoft YaHei"/>
              </a:rPr>
              <a:t>管理员：全局运维视角，跨用户操作也留痕。普通成员：只见自己的资源与</a:t>
            </a:r>
            <a:r>
              <a:rPr lang="en-US" sz="1350">
                <a:solidFill>
                  <a:srgbClr val="1E293B"/>
                </a:solidFill>
                <a:latin typeface="Microsoft YaHei"/>
                <a:ea typeface="Microsoft YaHei"/>
              </a:rPr>
              <a:t xml:space="preserve"> Agent</a:t>
            </a:r>
            <a:r>
              <a:rPr lang="zh-CN" sz="1350">
                <a:solidFill>
                  <a:srgbClr val="1E293B"/>
                </a:solidFill>
                <a:latin typeface="Microsoft YaHei"/>
                <a:ea typeface="Microsoft YaHei"/>
              </a:rPr>
              <a:t>。外部协作：邀请码开通，范围受控。</a:t>
            </a:r>
            <a:endParaRPr/>
          </a:p>
        </p:txBody>
      </p:sp>
      <p:sp>
        <p:nvSpPr>
          <p:cNvPr id="762" name=""/>
          <p:cNvSpPr/>
          <p:nvPr/>
        </p:nvSpPr>
        <p:spPr>
          <a:xfrm rot="0" flipH="0" flipV="0">
            <a:off x="4305300" y="1733550"/>
            <a:ext cx="3581400" cy="3076575"/>
          </a:xfrm>
          <a:prstGeom prst="roundRect">
            <a:avLst>
              <a:gd name="adj" fmla="val 3715"/>
            </a:avLst>
          </a:prstGeom>
          <a:solidFill>
            <a:srgbClr val="D6E4F9"/>
          </a:solidFill>
          <a:ln/>
        </p:spPr>
        <p:txBody>
          <a:bodyPr/>
          <a:p/>
        </p:txBody>
      </p:sp>
      <p:sp>
        <p:nvSpPr>
          <p:cNvPr id="763" name="" descr="{&quot;isTemplate&quot;:true,&quot;type&quot;:&quot;text&quot;}"/>
          <p:cNvSpPr txBox="1"/>
          <p:nvPr/>
        </p:nvSpPr>
        <p:spPr>
          <a:xfrm rot="0" flipH="0" flipV="0">
            <a:off x="4495800" y="1924050"/>
            <a:ext cx="3200400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1E293B"/>
                </a:solidFill>
                <a:latin typeface="Microsoft YaHei"/>
                <a:ea typeface="Microsoft YaHei"/>
              </a:rPr>
              <a:t>按人隔离</a:t>
            </a:r>
            <a:endParaRPr/>
          </a:p>
        </p:txBody>
      </p:sp>
      <p:sp>
        <p:nvSpPr>
          <p:cNvPr id="764" name="" descr="{&quot;isTemplate&quot;:true,&quot;type&quot;:&quot;text&quot;}"/>
          <p:cNvSpPr txBox="1"/>
          <p:nvPr/>
        </p:nvSpPr>
        <p:spPr>
          <a:xfrm rot="0" flipH="0" flipV="0">
            <a:off x="4495800" y="2352675"/>
            <a:ext cx="3200400" cy="990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>
                <a:solidFill>
                  <a:srgbClr val="1E293B"/>
                </a:solidFill>
                <a:latin typeface="Microsoft YaHei"/>
                <a:ea typeface="Microsoft YaHei"/>
              </a:rPr>
              <a:t>每位用户创建自己的专家、知识库、定时任务与通道；数据归属逐条校验，共用一台服务器，不共用一份上下文。</a:t>
            </a:r>
            <a:endParaRPr/>
          </a:p>
        </p:txBody>
      </p:sp>
      <p:sp>
        <p:nvSpPr>
          <p:cNvPr id="765" name=""/>
          <p:cNvSpPr/>
          <p:nvPr/>
        </p:nvSpPr>
        <p:spPr>
          <a:xfrm rot="0" flipH="0" flipV="0">
            <a:off x="8039100" y="1733550"/>
            <a:ext cx="3581400" cy="3076575"/>
          </a:xfrm>
          <a:prstGeom prst="roundRect">
            <a:avLst>
              <a:gd name="adj" fmla="val 3715"/>
            </a:avLst>
          </a:prstGeom>
          <a:solidFill>
            <a:srgbClr val="FFF7E9"/>
          </a:solidFill>
          <a:ln/>
        </p:spPr>
        <p:txBody>
          <a:bodyPr/>
          <a:p/>
        </p:txBody>
      </p:sp>
      <p:sp>
        <p:nvSpPr>
          <p:cNvPr id="766" name="" descr="{&quot;isTemplate&quot;:true,&quot;type&quot;:&quot;text&quot;}"/>
          <p:cNvSpPr txBox="1"/>
          <p:nvPr/>
        </p:nvSpPr>
        <p:spPr>
          <a:xfrm rot="0" flipH="0" flipV="0">
            <a:off x="8229600" y="1924050"/>
            <a:ext cx="3200400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B45309"/>
                </a:solidFill>
                <a:latin typeface="Microsoft YaHei"/>
                <a:ea typeface="Microsoft YaHei"/>
              </a:rPr>
              <a:t>按模块授权</a:t>
            </a:r>
            <a:endParaRPr/>
          </a:p>
        </p:txBody>
      </p:sp>
      <p:sp>
        <p:nvSpPr>
          <p:cNvPr id="767" name="" descr="{&quot;isTemplate&quot;:true,&quot;type&quot;:&quot;text&quot;}"/>
          <p:cNvSpPr txBox="1"/>
          <p:nvPr/>
        </p:nvSpPr>
        <p:spPr>
          <a:xfrm rot="0" flipH="0" flipV="0">
            <a:off x="8229600" y="2352675"/>
            <a:ext cx="3200400" cy="990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>
                <a:solidFill>
                  <a:srgbClr val="1E293B"/>
                </a:solidFill>
                <a:latin typeface="Microsoft YaHei"/>
                <a:ea typeface="Microsoft YaHei"/>
              </a:rPr>
              <a:t>权限目录</a:t>
            </a:r>
            <a:r>
              <a:rPr lang="en-US" sz="1350">
                <a:solidFill>
                  <a:srgbClr val="1E293B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350">
                <a:solidFill>
                  <a:srgbClr val="1E293B"/>
                </a:solidFill>
                <a:latin typeface="Microsoft YaHei"/>
                <a:ea typeface="Microsoft YaHei"/>
              </a:rPr>
              <a:t>角色模板：谁能用哪些功能、看哪些数据，逐项配置，人员变动即时收回。</a:t>
            </a:r>
            <a:endParaRPr/>
          </a:p>
        </p:txBody>
      </p:sp>
      <p:sp>
        <p:nvSpPr>
          <p:cNvPr id="768" name="" descr="{&quot;isTemplate&quot;:true,&quot;type&quot;:&quot;text&quot;}"/>
          <p:cNvSpPr txBox="1"/>
          <p:nvPr/>
        </p:nvSpPr>
        <p:spPr>
          <a:xfrm rot="0" flipH="0" flipV="0">
            <a:off x="571500" y="4962525"/>
            <a:ext cx="5372100" cy="638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对</a:t>
            </a: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 xml:space="preserve"> IT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：账号生命周期沿用现有目录服务，离职即失效，不必另建人员台账。</a:t>
            </a:r>
            <a:endParaRPr/>
          </a:p>
        </p:txBody>
      </p:sp>
      <p:sp>
        <p:nvSpPr>
          <p:cNvPr id="769" name=""/>
          <p:cNvSpPr/>
          <p:nvPr/>
        </p:nvSpPr>
        <p:spPr>
          <a:xfrm rot="0" flipH="0" flipV="0">
            <a:off x="6096000" y="4962525"/>
            <a:ext cx="9525" cy="63817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770" name="" descr="{&quot;isTemplate&quot;:true,&quot;type&quot;:&quot;text&quot;}"/>
          <p:cNvSpPr txBox="1"/>
          <p:nvPr/>
        </p:nvSpPr>
        <p:spPr>
          <a:xfrm rot="0" flipH="0" flipV="0">
            <a:off x="6257925" y="4962525"/>
            <a:ext cx="5362575" cy="3238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对业务：跨团队协作通过共享专家与邀请实现，既不封闭也不失控。</a:t>
            </a:r>
            <a:endParaRPr/>
          </a:p>
        </p:txBody>
      </p:sp>
      <p:sp>
        <p:nvSpPr>
          <p:cNvPr id="771" name=""/>
          <p:cNvSpPr/>
          <p:nvPr/>
        </p:nvSpPr>
        <p:spPr>
          <a:xfrm rot="0" flipH="0" flipV="0">
            <a:off x="571500" y="5734050"/>
            <a:ext cx="11049000" cy="552450"/>
          </a:xfrm>
          <a:prstGeom prst="roundRect">
            <a:avLst>
              <a:gd name="adj" fmla="val 17241"/>
            </a:avLst>
          </a:prstGeom>
          <a:solidFill>
            <a:srgbClr val="E8EEFB"/>
          </a:solidFill>
          <a:ln/>
        </p:spPr>
        <p:txBody>
          <a:bodyPr/>
          <a:p/>
        </p:txBody>
      </p:sp>
      <p:sp>
        <p:nvSpPr>
          <p:cNvPr id="772" name="" descr="{&quot;isTemplate&quot;:true,&quot;type&quot;:&quot;text&quot;}"/>
          <p:cNvSpPr txBox="1"/>
          <p:nvPr/>
        </p:nvSpPr>
        <p:spPr>
          <a:xfrm rot="0" flipH="0" flipV="0">
            <a:off x="704850" y="5857875"/>
            <a:ext cx="10782300" cy="3048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425" b="1">
                <a:solidFill>
                  <a:srgbClr val="1E293B"/>
                </a:solidFill>
                <a:latin typeface="Microsoft YaHei"/>
                <a:ea typeface="Microsoft YaHei"/>
              </a:rPr>
              <a:t>一人运维、全员使用：服务器是共享的成本项，数据与智能体资产是严格隔离的。</a:t>
            </a:r>
            <a:endParaRPr/>
          </a:p>
        </p:txBody>
      </p:sp>
    </p:spTree>
  </p:cSld>
</p:sld>
</file>

<file path=ppt/slides/slide36.xml><?xml version="1.0" encoding="utf-8"?>
<p:sld xmlns:p="http://schemas.openxmlformats.org/presentationml/2006/main" xmlns:a="http://schemas.openxmlformats.org/drawingml/2006/main">
  <p:cSld>
    <p:spTree>
      <p:nvGrpSpPr>
        <p:cNvPr id="773" name="" descr="&lt;Slide style={{ padding: 60, background: '#FFFFFF' }}&gt;&#10;    &lt;Box style={{ height: 600 }}&gt;&#10;        &lt;Box style={{ height: 20, flexDirection: 'row', justifyContent: 'space-between', alignItems: 'center' }}&gt;&#10;            &lt;Text style={{ fontSize: 14, color: '#94A3B8', letterSpacing: 2 }}&gt;03 · 为什么放心&lt;/Text&gt;&#10;            &lt;Box style={{ width: 44, height: 4, borderRadius: 2, background: '#2563EB' }} /&gt;&#10;        &lt;/Box&gt;&#10;        &lt;Text style={{ fontSize: 34, fontWeight: 'bold', color: '#1E293B', marginTop: 16, lineHeight: 1.2 }}&gt;&#10;            出问题能回放每一步，出问题之前能提前备份&#10;        &lt;/Text&gt;&#10;        &lt;Box style={{ height: 1, background: '#E2E8F0', marginTop: 16 }} /&gt;&#10;&#10;        {/* 四步链 */}&#10;        &lt;Box style={{ flexDirection: 'row', marginTop: 20, gap: 14 }}&gt;&#10;            &lt;Box style={{ flex: 1, background: '#E8EEFB', borderRadius: 12, padding: 16 }}&gt;&#10;                &lt;Text style={{ fontSize: 20, fontWeight: '600', color: '#2563EB', lineHeight: 1.3 }}&gt;调用即留痕&lt;/Text&gt;&#10;                &lt;Text style={{ fontSize: 18, color: '#475569', lineHeight: 1.5, marginTop: 6 }}&gt;&#10;                    读文件、跑命令、查知识库——每次动作的参数与结果都记录在案。&#10;                &lt;/Text&gt;&#10;            &lt;/Box&gt;&#10;            &lt;Box style={{ flex: 1, background: '#D6E4F9', borderRadius: 12, padding: 16 }}&gt;&#10;                &lt;Text style={{ fontSize: 20, fontWeight: '600', color: '#1E293B', lineHeight: 1.3 }}&gt;多视图检视&lt;/Text&gt;&#10;                &lt;Text style={{ fontSize: 18, color: '#475569', lineHeight: 1.5, marginTop: 6 }}&gt;&#10;                    调用清单、时间轴、明细三种看法，管理视角一屏看全。&#10;                &lt;/Text&gt;&#10;            &lt;/Box&gt;&#10;            &lt;Box style={{ flex: 1, background: '#E8EEFB', borderRadius: 12, padding: 16 }}&gt;&#10;                &lt;Text style={{ fontSize: 20, fontWeight: '600', color: '#2563EB', lineHeight: 1.3 }}&gt;按会话回放&lt;/Text&gt;&#10;                &lt;Text style={{ fontSize: 18, color: '#475569', lineHeight: 1.5, marginTop: 6 }}&gt;&#10;                    出争议时完整回放过程：它做了什么、谁批的、结果是什么。&#10;                &lt;/Text&gt;&#10;            &lt;/Box&gt;&#10;            &lt;Box style={{ flex: 1, background: '#FFF7E9', borderRadius: 12, padding: 16 }}&gt;&#10;                &lt;Text style={{ fontSize: 20, fontWeight: '600', color: '#B45309', lineHeight: 1.3 }}&gt;备份先于意外&lt;/Text&gt;&#10;                &lt;Text style={{ fontSize: 18, color: '#475569', lineHeight: 1.5, marginTop: 6 }}&gt;&#10;                    自动备份可挂定时任务，覆盖数据与工作区；升级前一键导出。&#10;                &lt;/Text&gt;&#10;            &lt;/Box&gt;&#10;        &lt;/Box&gt;&#10;&#10;        {/* 两个补充 */}&#10;        &lt;Box style={{ flexDirection: 'row', marginTop: 18, gap: 16 }}&gt;&#10;            &lt;Box style={{ flex: 1, background: '#F4F6FB', borderRadius: 10, padding: 16 }}&gt;&#10;                &lt;Text style={{ fontSize: 20, fontWeight: '600', color: '#1E293B', lineHeight: 1.3 }}&gt;轨迹不只是日志&lt;/Text&gt;&#10;                &lt;Text style={{ fontSize: 18, color: '#475569', lineHeight: 1.55, marginTop: 6 }}&gt;&#10;                    除了追责，也能复盘效果：哪些任务被反复使用、哪些环节总被人工干预——优化从这里开始。&#10;                &lt;/Text&gt;&#10;            &lt;/Box&gt;&#10;            &lt;Box style={{ flex: 1, background: '#F4F6FB', borderRadius: 10, padding: 16 }}&gt;&#10;                &lt;Text style={{ fontSize: 20, fontWeight: '600', color: '#1E293B', lineHeight: 1.3 }}&gt;恢复有路径&lt;/Text&gt;&#10;                &lt;Text style={{ fontSize: 18, color: '#475569', lineHeight: 1.55, marginTop: 6 }}&gt;&#10;                    支持数据转储与工作区归档；服务模式下升级后自动重启恢复，误操作也有退路。&#10;                &lt;/Text&gt;&#10;            &lt;/Box&gt;&#10;        &lt;/Box&gt;&#10;&#10;        {/* 结论条 */}&#10;        &lt;Box style={{ height: 58, background: '#E8EEFB', borderRadius: 10, padding: 14, marginTop: 16, justifyContent: 'center' }}&gt;&#10;            &lt;Text style={{ fontSize: 19, fontWeight: '600', color: '#1E293B', lineHeight: 1.4 }}&gt;&#10;                可回放、可恢复、可解释——这三项决定了 AI 能不能真正通过企业的内控与安全评审。&#10;            &lt;/Text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75" name="" descr="{&quot;isTemplate&quot;:true,&quot;type&quot;:&quot;text&quot;}"/>
          <p:cNvSpPr txBox="1"/>
          <p:nvPr/>
        </p:nvSpPr>
        <p:spPr>
          <a:xfrm rot="0" flipH="0" flipV="0">
            <a:off x="571500" y="590550"/>
            <a:ext cx="1133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94A3B8"/>
                </a:solidFill>
                <a:latin typeface="Microsoft YaHei"/>
                <a:ea typeface="Microsoft YaHei"/>
              </a:rPr>
              <a:t xml:space="preserve">03 · </a:t>
            </a:r>
            <a:r>
              <a:rPr lang="zh-CN" sz="1050" spc="150">
                <a:solidFill>
                  <a:srgbClr val="94A3B8"/>
                </a:solidFill>
                <a:latin typeface="Microsoft YaHei"/>
                <a:ea typeface="Microsoft YaHei"/>
              </a:rPr>
              <a:t>为什么放心</a:t>
            </a:r>
            <a:endParaRPr/>
          </a:p>
        </p:txBody>
      </p:sp>
      <p:sp>
        <p:nvSpPr>
          <p:cNvPr id="776" name=""/>
          <p:cNvSpPr/>
          <p:nvPr/>
        </p:nvSpPr>
        <p:spPr>
          <a:xfrm rot="0" flipH="0" flipV="0">
            <a:off x="11201400" y="647700"/>
            <a:ext cx="419100" cy="38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777" name="" descr="{&quot;isTemplate&quot;:true,&quot;type&quot;:&quot;text&quot;}"/>
          <p:cNvSpPr txBox="1"/>
          <p:nvPr/>
        </p:nvSpPr>
        <p:spPr>
          <a:xfrm rot="0" flipH="0" flipV="0">
            <a:off x="571500" y="914400"/>
            <a:ext cx="110490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E293B"/>
                </a:solidFill>
                <a:latin typeface="Microsoft YaHei"/>
                <a:ea typeface="Microsoft YaHei"/>
              </a:rPr>
              <a:t>出问题能回放每一步，出问题之前能提前备份</a:t>
            </a:r>
            <a:endParaRPr/>
          </a:p>
        </p:txBody>
      </p:sp>
      <p:sp>
        <p:nvSpPr>
          <p:cNvPr id="778" name=""/>
          <p:cNvSpPr/>
          <p:nvPr/>
        </p:nvSpPr>
        <p:spPr>
          <a:xfrm rot="0" flipH="0" flipV="0">
            <a:off x="571500" y="1533525"/>
            <a:ext cx="1104900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779" name=""/>
          <p:cNvSpPr/>
          <p:nvPr/>
        </p:nvSpPr>
        <p:spPr>
          <a:xfrm rot="0" flipH="0" flipV="0">
            <a:off x="571500" y="1733550"/>
            <a:ext cx="2667000" cy="1600200"/>
          </a:xfrm>
          <a:prstGeom prst="roundRect">
            <a:avLst>
              <a:gd name="adj" fmla="val 7143"/>
            </a:avLst>
          </a:prstGeom>
          <a:solidFill>
            <a:srgbClr val="E8EEFB"/>
          </a:solidFill>
          <a:ln/>
        </p:spPr>
        <p:txBody>
          <a:bodyPr/>
          <a:p/>
        </p:txBody>
      </p:sp>
      <p:sp>
        <p:nvSpPr>
          <p:cNvPr id="780" name="" descr="{&quot;isTemplate&quot;:true,&quot;type&quot;:&quot;text&quot;}"/>
          <p:cNvSpPr txBox="1"/>
          <p:nvPr/>
        </p:nvSpPr>
        <p:spPr>
          <a:xfrm rot="0" flipH="0" flipV="0">
            <a:off x="723900" y="1885950"/>
            <a:ext cx="2362200" cy="3048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500" b="1">
                <a:solidFill>
                  <a:srgbClr val="2563EB"/>
                </a:solidFill>
                <a:latin typeface="Microsoft YaHei"/>
                <a:ea typeface="Microsoft YaHei"/>
              </a:rPr>
              <a:t>调用即留痕</a:t>
            </a:r>
            <a:endParaRPr/>
          </a:p>
        </p:txBody>
      </p:sp>
      <p:sp>
        <p:nvSpPr>
          <p:cNvPr id="781" name="" descr="{&quot;isTemplate&quot;:true,&quot;type&quot;:&quot;text&quot;}"/>
          <p:cNvSpPr txBox="1"/>
          <p:nvPr/>
        </p:nvSpPr>
        <p:spPr>
          <a:xfrm rot="0" flipH="0" flipV="0">
            <a:off x="723900" y="2247900"/>
            <a:ext cx="2362200" cy="933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读文件、跑命令、查知识库——每次动作的参数与结果都记录在案。</a:t>
            </a:r>
            <a:endParaRPr/>
          </a:p>
        </p:txBody>
      </p:sp>
      <p:sp>
        <p:nvSpPr>
          <p:cNvPr id="782" name=""/>
          <p:cNvSpPr/>
          <p:nvPr/>
        </p:nvSpPr>
        <p:spPr>
          <a:xfrm rot="0" flipH="0" flipV="0">
            <a:off x="3371850" y="1733550"/>
            <a:ext cx="2657475" cy="1600200"/>
          </a:xfrm>
          <a:prstGeom prst="roundRect">
            <a:avLst>
              <a:gd name="adj" fmla="val 7143"/>
            </a:avLst>
          </a:prstGeom>
          <a:solidFill>
            <a:srgbClr val="D6E4F9"/>
          </a:solidFill>
          <a:ln/>
        </p:spPr>
        <p:txBody>
          <a:bodyPr/>
          <a:p/>
        </p:txBody>
      </p:sp>
      <p:sp>
        <p:nvSpPr>
          <p:cNvPr id="783" name="" descr="{&quot;isTemplate&quot;:true,&quot;type&quot;:&quot;text&quot;}"/>
          <p:cNvSpPr txBox="1"/>
          <p:nvPr/>
        </p:nvSpPr>
        <p:spPr>
          <a:xfrm rot="0" flipH="0" flipV="0">
            <a:off x="3524250" y="1885950"/>
            <a:ext cx="2352675" cy="3048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500" b="1">
                <a:solidFill>
                  <a:srgbClr val="1E293B"/>
                </a:solidFill>
                <a:latin typeface="Microsoft YaHei"/>
                <a:ea typeface="Microsoft YaHei"/>
              </a:rPr>
              <a:t>多视图检视</a:t>
            </a:r>
            <a:endParaRPr/>
          </a:p>
        </p:txBody>
      </p:sp>
      <p:sp>
        <p:nvSpPr>
          <p:cNvPr id="784" name="" descr="{&quot;isTemplate&quot;:true,&quot;type&quot;:&quot;text&quot;}"/>
          <p:cNvSpPr txBox="1"/>
          <p:nvPr/>
        </p:nvSpPr>
        <p:spPr>
          <a:xfrm rot="0" flipH="0" flipV="0">
            <a:off x="3524250" y="2247900"/>
            <a:ext cx="2352675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调用清单、时间轴、明细三种看法，管理视角一屏看全。</a:t>
            </a:r>
            <a:endParaRPr/>
          </a:p>
        </p:txBody>
      </p:sp>
      <p:sp>
        <p:nvSpPr>
          <p:cNvPr id="785" name=""/>
          <p:cNvSpPr/>
          <p:nvPr/>
        </p:nvSpPr>
        <p:spPr>
          <a:xfrm rot="0" flipH="0" flipV="0">
            <a:off x="6162675" y="1733550"/>
            <a:ext cx="2667000" cy="1600200"/>
          </a:xfrm>
          <a:prstGeom prst="roundRect">
            <a:avLst>
              <a:gd name="adj" fmla="val 7143"/>
            </a:avLst>
          </a:prstGeom>
          <a:solidFill>
            <a:srgbClr val="E8EEFB"/>
          </a:solidFill>
          <a:ln/>
        </p:spPr>
        <p:txBody>
          <a:bodyPr/>
          <a:p/>
        </p:txBody>
      </p:sp>
      <p:sp>
        <p:nvSpPr>
          <p:cNvPr id="786" name="" descr="{&quot;isTemplate&quot;:true,&quot;type&quot;:&quot;text&quot;}"/>
          <p:cNvSpPr txBox="1"/>
          <p:nvPr/>
        </p:nvSpPr>
        <p:spPr>
          <a:xfrm rot="0" flipH="0" flipV="0">
            <a:off x="6315075" y="1885950"/>
            <a:ext cx="2362200" cy="3048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500" b="1">
                <a:solidFill>
                  <a:srgbClr val="2563EB"/>
                </a:solidFill>
                <a:latin typeface="Microsoft YaHei"/>
                <a:ea typeface="Microsoft YaHei"/>
              </a:rPr>
              <a:t>按会话回放</a:t>
            </a:r>
            <a:endParaRPr/>
          </a:p>
        </p:txBody>
      </p:sp>
      <p:sp>
        <p:nvSpPr>
          <p:cNvPr id="787" name="" descr="{&quot;isTemplate&quot;:true,&quot;type&quot;:&quot;text&quot;}"/>
          <p:cNvSpPr txBox="1"/>
          <p:nvPr/>
        </p:nvSpPr>
        <p:spPr>
          <a:xfrm rot="0" flipH="0" flipV="0">
            <a:off x="6315075" y="2247900"/>
            <a:ext cx="2362200" cy="933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出争议时完整回放过程：它做了什么、谁批的、结果是什么。</a:t>
            </a:r>
            <a:endParaRPr/>
          </a:p>
        </p:txBody>
      </p:sp>
      <p:sp>
        <p:nvSpPr>
          <p:cNvPr id="788" name=""/>
          <p:cNvSpPr/>
          <p:nvPr/>
        </p:nvSpPr>
        <p:spPr>
          <a:xfrm rot="0" flipH="0" flipV="0">
            <a:off x="8963025" y="1733550"/>
            <a:ext cx="2657475" cy="1600200"/>
          </a:xfrm>
          <a:prstGeom prst="roundRect">
            <a:avLst>
              <a:gd name="adj" fmla="val 7143"/>
            </a:avLst>
          </a:prstGeom>
          <a:solidFill>
            <a:srgbClr val="FFF7E9"/>
          </a:solidFill>
          <a:ln/>
        </p:spPr>
        <p:txBody>
          <a:bodyPr/>
          <a:p/>
        </p:txBody>
      </p:sp>
      <p:sp>
        <p:nvSpPr>
          <p:cNvPr id="789" name="" descr="{&quot;isTemplate&quot;:true,&quot;type&quot;:&quot;text&quot;}"/>
          <p:cNvSpPr txBox="1"/>
          <p:nvPr/>
        </p:nvSpPr>
        <p:spPr>
          <a:xfrm rot="0" flipH="0" flipV="0">
            <a:off x="9115425" y="1885950"/>
            <a:ext cx="2352675" cy="3048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500" b="1">
                <a:solidFill>
                  <a:srgbClr val="B45309"/>
                </a:solidFill>
                <a:latin typeface="Microsoft YaHei"/>
                <a:ea typeface="Microsoft YaHei"/>
              </a:rPr>
              <a:t>备份先于意外</a:t>
            </a:r>
            <a:endParaRPr/>
          </a:p>
        </p:txBody>
      </p:sp>
      <p:sp>
        <p:nvSpPr>
          <p:cNvPr id="790" name="" descr="{&quot;isTemplate&quot;:true,&quot;type&quot;:&quot;text&quot;}"/>
          <p:cNvSpPr txBox="1"/>
          <p:nvPr/>
        </p:nvSpPr>
        <p:spPr>
          <a:xfrm rot="0" flipH="0" flipV="0">
            <a:off x="9115425" y="2247900"/>
            <a:ext cx="2352675" cy="933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自动备份可挂定时任务，覆盖数据与工作区；升级前一键导出。</a:t>
            </a:r>
            <a:endParaRPr/>
          </a:p>
        </p:txBody>
      </p:sp>
      <p:sp>
        <p:nvSpPr>
          <p:cNvPr id="791" name=""/>
          <p:cNvSpPr/>
          <p:nvPr/>
        </p:nvSpPr>
        <p:spPr>
          <a:xfrm rot="0" flipH="0" flipV="0">
            <a:off x="571500" y="3505200"/>
            <a:ext cx="5448300" cy="1304925"/>
          </a:xfrm>
          <a:prstGeom prst="roundRect">
            <a:avLst>
              <a:gd name="adj" fmla="val 7299"/>
            </a:avLst>
          </a:prstGeom>
          <a:solidFill>
            <a:srgbClr val="F4F6FB"/>
          </a:solidFill>
          <a:ln/>
        </p:spPr>
        <p:txBody>
          <a:bodyPr/>
          <a:p/>
        </p:txBody>
      </p:sp>
      <p:sp>
        <p:nvSpPr>
          <p:cNvPr id="792" name="" descr="{&quot;isTemplate&quot;:true,&quot;type&quot;:&quot;text&quot;}"/>
          <p:cNvSpPr txBox="1"/>
          <p:nvPr/>
        </p:nvSpPr>
        <p:spPr>
          <a:xfrm rot="0" flipH="0" flipV="0">
            <a:off x="723900" y="3657600"/>
            <a:ext cx="5143500" cy="3048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500" b="1">
                <a:solidFill>
                  <a:srgbClr val="1E293B"/>
                </a:solidFill>
                <a:latin typeface="Microsoft YaHei"/>
                <a:ea typeface="Microsoft YaHei"/>
              </a:rPr>
              <a:t>轨迹不只是日志</a:t>
            </a:r>
            <a:endParaRPr/>
          </a:p>
        </p:txBody>
      </p:sp>
      <p:sp>
        <p:nvSpPr>
          <p:cNvPr id="793" name="" descr="{&quot;isTemplate&quot;:true,&quot;type&quot;:&quot;text&quot;}"/>
          <p:cNvSpPr txBox="1"/>
          <p:nvPr/>
        </p:nvSpPr>
        <p:spPr>
          <a:xfrm rot="0" flipH="0" flipV="0">
            <a:off x="723900" y="4019550"/>
            <a:ext cx="5143500" cy="638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除了追责，也能复盘效果：哪些任务被反复使用、哪些环节总被人工干预——优化从这里开始。</a:t>
            </a:r>
            <a:endParaRPr/>
          </a:p>
        </p:txBody>
      </p:sp>
      <p:sp>
        <p:nvSpPr>
          <p:cNvPr id="794" name=""/>
          <p:cNvSpPr/>
          <p:nvPr/>
        </p:nvSpPr>
        <p:spPr>
          <a:xfrm rot="0" flipH="0" flipV="0">
            <a:off x="6172200" y="3505200"/>
            <a:ext cx="5448300" cy="1304925"/>
          </a:xfrm>
          <a:prstGeom prst="roundRect">
            <a:avLst>
              <a:gd name="adj" fmla="val 7299"/>
            </a:avLst>
          </a:prstGeom>
          <a:solidFill>
            <a:srgbClr val="F4F6FB"/>
          </a:solidFill>
          <a:ln/>
        </p:spPr>
        <p:txBody>
          <a:bodyPr/>
          <a:p/>
        </p:txBody>
      </p:sp>
      <p:sp>
        <p:nvSpPr>
          <p:cNvPr id="795" name="" descr="{&quot;isTemplate&quot;:true,&quot;type&quot;:&quot;text&quot;}"/>
          <p:cNvSpPr txBox="1"/>
          <p:nvPr/>
        </p:nvSpPr>
        <p:spPr>
          <a:xfrm rot="0" flipH="0" flipV="0">
            <a:off x="6324600" y="3657600"/>
            <a:ext cx="5143500" cy="3048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500" b="1">
                <a:solidFill>
                  <a:srgbClr val="1E293B"/>
                </a:solidFill>
                <a:latin typeface="Microsoft YaHei"/>
                <a:ea typeface="Microsoft YaHei"/>
              </a:rPr>
              <a:t>恢复有路径</a:t>
            </a:r>
            <a:endParaRPr/>
          </a:p>
        </p:txBody>
      </p:sp>
      <p:sp>
        <p:nvSpPr>
          <p:cNvPr id="796" name="" descr="{&quot;isTemplate&quot;:true,&quot;type&quot;:&quot;text&quot;}"/>
          <p:cNvSpPr txBox="1"/>
          <p:nvPr/>
        </p:nvSpPr>
        <p:spPr>
          <a:xfrm rot="0" flipH="0" flipV="0">
            <a:off x="6324600" y="4019550"/>
            <a:ext cx="5143500" cy="638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支持数据转储与工作区归档；服务模式下升级后自动重启恢复，误操作也有退路。</a:t>
            </a:r>
            <a:endParaRPr/>
          </a:p>
        </p:txBody>
      </p:sp>
      <p:sp>
        <p:nvSpPr>
          <p:cNvPr id="797" name=""/>
          <p:cNvSpPr/>
          <p:nvPr/>
        </p:nvSpPr>
        <p:spPr>
          <a:xfrm rot="0" flipH="0" flipV="0">
            <a:off x="571500" y="4962525"/>
            <a:ext cx="11049000" cy="552450"/>
          </a:xfrm>
          <a:prstGeom prst="roundRect">
            <a:avLst>
              <a:gd name="adj" fmla="val 17241"/>
            </a:avLst>
          </a:prstGeom>
          <a:solidFill>
            <a:srgbClr val="E8EEFB"/>
          </a:solidFill>
          <a:ln/>
        </p:spPr>
        <p:txBody>
          <a:bodyPr/>
          <a:p/>
        </p:txBody>
      </p:sp>
      <p:sp>
        <p:nvSpPr>
          <p:cNvPr id="798" name="" descr="{&quot;isTemplate&quot;:true,&quot;type&quot;:&quot;text&quot;}"/>
          <p:cNvSpPr txBox="1"/>
          <p:nvPr/>
        </p:nvSpPr>
        <p:spPr>
          <a:xfrm rot="0" flipH="0" flipV="0">
            <a:off x="704850" y="5086350"/>
            <a:ext cx="10782300" cy="3048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425" b="1">
                <a:solidFill>
                  <a:srgbClr val="1E293B"/>
                </a:solidFill>
                <a:latin typeface="Microsoft YaHei"/>
                <a:ea typeface="Microsoft YaHei"/>
              </a:rPr>
              <a:t>可回放、可恢复、可解释——这三项决定了</a:t>
            </a:r>
            <a:r>
              <a:rPr lang="en-US" sz="1425" b="1">
                <a:solidFill>
                  <a:srgbClr val="1E293B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1425" b="1">
                <a:solidFill>
                  <a:srgbClr val="1E293B"/>
                </a:solidFill>
                <a:latin typeface="Microsoft YaHei"/>
                <a:ea typeface="Microsoft YaHei"/>
              </a:rPr>
              <a:t>能不能真正通过企业的内控与安全评审。</a:t>
            </a:r>
            <a:endParaRPr/>
          </a:p>
        </p:txBody>
      </p:sp>
    </p:spTree>
  </p:cSld>
</p:sld>
</file>

<file path=ppt/slides/slide37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799" name="" descr="&lt;Slide style={{ padding: 60, background: '#F4F6FB', position: 'relative' }}&gt;&#10;    &lt;Box style={{ position: 'absolute', right: 60, top: 130, width: 420, height: 460 }}&gt;&#10;        &lt;svg width={420} height={460} viewBox='0 0 420 460'&gt;&#10;            &lt;circle cx='210' cy='240' r='150' fill='none' stroke='#C7D6F5' strokeWidth='1' /&gt;&#10;            &lt;circle cx='210' cy='240' r='200' fill='none' stroke='#C7D6F5' strokeWidth='1' /&gt;&#10;            &lt;path d='M10 240 A200 200 0 0 1 410 240' fill='none' stroke='#0891B2' strokeWidth='3' opacity='0.6' /&gt;&#10;            &lt;circle cx='360' cy='240' r='8' fill='#F59E0B' /&gt;&#10;            &lt;circle cx='60' cy='240' r='8' fill='#2563EB' /&gt;&#10;            &lt;circle cx='210' cy='40' r='6' fill='#0891B2' /&gt;&#10;        &lt;/svg&gt;&#10;    &lt;/Box&gt;&#10;&#10;    &lt;Box style={{ position: 'absolute', left: 92, top: 168, width: 680 }}&gt;&#10;        &lt;Text style={{ fontSize: 180, fontWeight: 'bold', color: '#CBD9F0', lineHeight: 1.05 }}&gt;&#10;            04&#10;        &lt;/Text&gt;&#10;        &lt;Text style={{ fontSize: 64, fontWeight: 'bold', color: '#1E293B', lineHeight: 1.15, marginTop: 12 }}&gt;&#10;            怎么开始&#10;        &lt;/Text&gt;&#10;        &lt;Box style={{ width: 72, height: 6, borderRadius: 3, background: '#F59E0B', marginTop: 30 }} /&gt;&#10;        &lt;Text style={{ fontSize: 22, color: '#64748B', lineHeight: 1.5, marginTop: 26 }}&gt;&#10;            从一台电脑试点，到全公司共用&#10;        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4F6FB"/>
          </a:solidFill>
          <a:ln/>
        </p:spPr>
        <p:txBody>
          <a:bodyPr/>
          <a:p/>
        </p:txBody>
      </p:sp>
      <p:pic>
        <p:nvPicPr>
          <p:cNvPr id="80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620000" y="1238250"/>
            <a:ext cx="4000500" cy="4381500"/>
          </a:xfrm>
          <a:prstGeom prst="rect">
            <a:avLst/>
          </a:prstGeom>
          <a:ln/>
        </p:spPr>
      </p:pic>
      <p:sp>
        <p:nvSpPr>
          <p:cNvPr id="802" name="" descr="{&quot;isTemplate&quot;:true,&quot;type&quot;:&quot;text&quot;}"/>
          <p:cNvSpPr txBox="1"/>
          <p:nvPr/>
        </p:nvSpPr>
        <p:spPr>
          <a:xfrm rot="0" flipH="0" flipV="0">
            <a:off x="876300" y="1600200"/>
            <a:ext cx="6477000" cy="2162175"/>
          </a:xfrm>
          <a:prstGeom prst="rect"/>
        </p:spPr>
        <p:txBody>
          <a:bodyPr wrap="none" lIns="0" tIns="0" rIns="0" bIns="0"/>
          <a:p>
            <a:pPr>
              <a:lnSpc>
                <a:spcPct val="105000"/>
              </a:lnSpc>
            </a:pPr>
            <a:r>
              <a:rPr lang="en-US" sz="13500" b="1">
                <a:solidFill>
                  <a:srgbClr val="CBD9F0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803" name="" descr="{&quot;isTemplate&quot;:true,&quot;type&quot;:&quot;text&quot;}"/>
          <p:cNvSpPr txBox="1"/>
          <p:nvPr/>
        </p:nvSpPr>
        <p:spPr>
          <a:xfrm rot="0" flipH="0" flipV="0">
            <a:off x="876300" y="3876675"/>
            <a:ext cx="6477000" cy="847725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800" b="1">
                <a:solidFill>
                  <a:srgbClr val="1E293B"/>
                </a:solidFill>
                <a:latin typeface="Microsoft YaHei"/>
                <a:ea typeface="Microsoft YaHei"/>
              </a:rPr>
              <a:t>怎么开始</a:t>
            </a:r>
            <a:endParaRPr/>
          </a:p>
        </p:txBody>
      </p:sp>
      <p:sp>
        <p:nvSpPr>
          <p:cNvPr id="804" name=""/>
          <p:cNvSpPr/>
          <p:nvPr/>
        </p:nvSpPr>
        <p:spPr>
          <a:xfrm rot="0" flipH="0" flipV="0">
            <a:off x="876300" y="5010150"/>
            <a:ext cx="685800" cy="5715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805" name="" descr="{&quot;isTemplate&quot;:true,&quot;type&quot;:&quot;text&quot;}"/>
          <p:cNvSpPr txBox="1"/>
          <p:nvPr/>
        </p:nvSpPr>
        <p:spPr>
          <a:xfrm rot="0" flipH="0" flipV="0">
            <a:off x="876300" y="5314950"/>
            <a:ext cx="6477000" cy="3810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650">
                <a:solidFill>
                  <a:srgbClr val="64748B"/>
                </a:solidFill>
                <a:latin typeface="Microsoft YaHei"/>
                <a:ea typeface="Microsoft YaHei"/>
              </a:rPr>
              <a:t>从一台电脑试点，到全公司共用</a:t>
            </a:r>
            <a:endParaRPr/>
          </a:p>
        </p:txBody>
      </p:sp>
    </p:spTree>
  </p:cSld>
</p:sld>
</file>

<file path=ppt/slides/slide38.xml><?xml version="1.0" encoding="utf-8"?>
<p:sld xmlns:p="http://schemas.openxmlformats.org/presentationml/2006/main" xmlns:a="http://schemas.openxmlformats.org/drawingml/2006/main">
  <p:cSld>
    <p:spTree>
      <p:nvGrpSpPr>
        <p:cNvPr id="806" name="" descr="&lt;Slide style={{ padding: 60, background: '#FFFFFF' }}&gt;&#10;    &lt;Box style={{ height: 600 }}&gt;&#10;        &lt;Box style={{ height: 20, flexDirection: 'row', justifyContent: 'space-between', alignItems: 'center' }}&gt;&#10;            &lt;Text style={{ fontSize: 14, color: '#94A3B8', letterSpacing: 2 }}&gt;04 · 怎么开始&lt;/Text&gt;&#10;            &lt;Box style={{ width: 44, height: 4, borderRadius: 2, background: '#2563EB' }} /&gt;&#10;        &lt;/Box&gt;&#10;        &lt;Text style={{ fontSize: 34, fontWeight: 'bold', color: '#1E293B', marginTop: 16, lineHeight: 1.2 }}&gt;&#10;            三条路径：从一台电脑到全公司，规模变了不用换产品&#10;        &lt;/Text&gt;&#10;        &lt;Box style={{ height: 1, background: '#E2E8F0', marginTop: 16 }} /&gt;&#10;&#10;        {/* 阶梯三步 */}&#10;        &lt;Box style={{ flexDirection: 'row', marginTop: 24, gap: 20, alignItems: 'flex-end' }}&gt;&#10;            &lt;Box style={{ width: 373, background: '#E8EEFB', borderRadius: 12, padding: 20 }}&gt;&#10;                &lt;Text style={{ fontSize: 18, fontWeight: '600', color: '#2563EB', lineHeight: 1.3 }}&gt;路径一 · 自助验证&lt;/Text&gt;&#10;                &lt;Text style={{ fontSize: 22, fontWeight: '600', color: '#1E293B', lineHeight: 1.3, marginTop: 8 }}&gt;一台笔记本跑通一个场景&lt;/Text&gt;&#10;                &lt;Text style={{ fontSize: 18, color: '#475569', lineHeight: 1.55, marginTop: 8 }}&gt;&#10;                    一键脚本安装，本地运行，不需要任何中间件与采购流程。适合先小范围验证，成本几乎为零。&#10;                &lt;/Text&gt;&#10;            &lt;/Box&gt;&#10;            &lt;Box style={{ width: 373, background: '#D6E4F9', borderRadius: 12, padding: 20 }}&gt;&#10;                &lt;Text style={{ fontSize: 18, fontWeight: '600', color: '#2563EB', lineHeight: 1.3 }}&gt;路径二 · 团队部署&lt;/Text&gt;&#10;                &lt;Text style={{ fontSize: 22, fontWeight: '600', color: '#1E293B', lineHeight: 1.3, marginTop: 8 }}&gt;一个部门稳定使用&lt;/Text&gt;&#10;                &lt;Text style={{ fontSize: 18, color: '#475569', lineHeight: 1.55, marginTop: 8 }}&gt;&#10;                    切到服务器部署，开多用户、备份与 HTTPS 对外访问。适合部门级常态化使用。&#10;                &lt;/Text&gt;&#10;            &lt;/Box&gt;&#10;            &lt;Box style={{ width: 374, background: '#2563EB', borderRadius: 12, padding: 20 }}&gt;&#10;                &lt;Text style={{ fontSize: 18, fontWeight: '600', color: '#BFDBFE', lineHeight: 1.3 }}&gt;路径三 · 规模推广&lt;/Text&gt;&#10;                &lt;Text style={{ fontSize: 22, fontWeight: '600', color: '#FFFFFF', lineHeight: 1.3, marginTop: 8 }}&gt;全公司共用一台实例&lt;/Text&gt;&#10;                &lt;Text style={{ fontSize: 18, color: '#DBEAFE', lineHeight: 1.55, marginTop: 8 }}&gt;&#10;                    桌面客户端与 NAS 包分发到终端，专家与知识库沉淀为组织资产，数据与资产按人隔离。&#10;                &lt;/Text&gt;&#10;            &lt;/Box&gt;&#10;        &lt;/Box&gt;&#10;&#10;        {/* 部署形态 */}&#10;        &lt;Box style={{ flexDirection: 'row', marginTop: 20, gap: 10, alignItems: 'center' }}&gt;&#10;            &lt;Text style={{ fontSize: 18, color: '#64748B' }}&gt;部署形态：&lt;/Text&gt;&#10;            &lt;Box style={{ background: '#F4F6FB', borderRadius: 8, padding: 9 }}&gt;&lt;Text style={{ fontSize: 18, color: '#1E293B' }}&gt;一键脚本&lt;/Text&gt;&lt;/Box&gt;&#10;            &lt;Box style={{ background: '#F4F6FB', borderRadius: 8, padding: 9 }}&gt;&lt;Text style={{ fontSize: 18, color: '#1E293B' }}&gt;Docker&lt;/Text&gt;&lt;/Box&gt;&#10;            &lt;Box style={{ background: '#F4F6FB', borderRadius: 8, padding: 9 }}&gt;&lt;Text style={{ fontSize: 18, color: '#1E293B' }}&gt;系统服务&lt;/Text&gt;&lt;/Box&gt;&#10;            &lt;Box style={{ background: '#F4F6FB', borderRadius: 8, padding: 9 }}&gt;&lt;Text style={{ fontSize: 18, color: '#1E293B' }}&gt;桌面客户端&lt;/Text&gt;&lt;/Box&gt;&#10;            &lt;Box style={{ background: '#F4F6FB', borderRadius: 8, padding: 9 }}&gt;&lt;Text style={{ fontSize: 18, color: '#1E293B' }}&gt;NAS&lt;/Text&gt;&lt;/Box&gt;&#10;        &lt;/Box&gt;&#10;&#10;        {/* 结论条 */}&#10;        &lt;Box style={{ height: 58, background: '#E8EEFB', borderRadius: 10, padding: 14, marginTop: 16, justifyContent: 'center' }}&gt;&#10;            &lt;Text style={{ fontSize: 19, fontWeight: '600', color: '#1E293B', lineHeight: 1.4 }}&gt;&#10;                三条路径共用同一份配置与数据：试点时积累的专家、知识库与记忆，扩大规模时直接带走。&#10;            &lt;/Text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08" name="" descr="{&quot;isTemplate&quot;:true,&quot;type&quot;:&quot;text&quot;}"/>
          <p:cNvSpPr txBox="1"/>
          <p:nvPr/>
        </p:nvSpPr>
        <p:spPr>
          <a:xfrm rot="0" flipH="0" flipV="0">
            <a:off x="571500" y="590550"/>
            <a:ext cx="981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94A3B8"/>
                </a:solidFill>
                <a:latin typeface="Microsoft YaHei"/>
                <a:ea typeface="Microsoft YaHei"/>
              </a:rPr>
              <a:t xml:space="preserve">04 · </a:t>
            </a:r>
            <a:r>
              <a:rPr lang="zh-CN" sz="1050" spc="150">
                <a:solidFill>
                  <a:srgbClr val="94A3B8"/>
                </a:solidFill>
                <a:latin typeface="Microsoft YaHei"/>
                <a:ea typeface="Microsoft YaHei"/>
              </a:rPr>
              <a:t>怎么开始</a:t>
            </a:r>
            <a:endParaRPr/>
          </a:p>
        </p:txBody>
      </p:sp>
      <p:sp>
        <p:nvSpPr>
          <p:cNvPr id="809" name=""/>
          <p:cNvSpPr/>
          <p:nvPr/>
        </p:nvSpPr>
        <p:spPr>
          <a:xfrm rot="0" flipH="0" flipV="0">
            <a:off x="11201400" y="647700"/>
            <a:ext cx="419100" cy="38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810" name="" descr="{&quot;isTemplate&quot;:true,&quot;type&quot;:&quot;text&quot;}"/>
          <p:cNvSpPr txBox="1"/>
          <p:nvPr/>
        </p:nvSpPr>
        <p:spPr>
          <a:xfrm rot="0" flipH="0" flipV="0">
            <a:off x="571500" y="914400"/>
            <a:ext cx="110490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E293B"/>
                </a:solidFill>
                <a:latin typeface="Microsoft YaHei"/>
                <a:ea typeface="Microsoft YaHei"/>
              </a:rPr>
              <a:t>三条路径：从一台电脑到全公司，规模变了不用换产品</a:t>
            </a:r>
            <a:endParaRPr/>
          </a:p>
        </p:txBody>
      </p:sp>
      <p:sp>
        <p:nvSpPr>
          <p:cNvPr id="811" name=""/>
          <p:cNvSpPr/>
          <p:nvPr/>
        </p:nvSpPr>
        <p:spPr>
          <a:xfrm rot="0" flipH="0" flipV="0">
            <a:off x="571500" y="1533525"/>
            <a:ext cx="1104900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812" name=""/>
          <p:cNvSpPr/>
          <p:nvPr/>
        </p:nvSpPr>
        <p:spPr>
          <a:xfrm rot="0" flipH="0" flipV="0">
            <a:off x="571500" y="1771650"/>
            <a:ext cx="3552825" cy="2105025"/>
          </a:xfrm>
          <a:prstGeom prst="roundRect">
            <a:avLst>
              <a:gd name="adj" fmla="val 5430"/>
            </a:avLst>
          </a:prstGeom>
          <a:solidFill>
            <a:srgbClr val="E8EEFB"/>
          </a:solidFill>
          <a:ln/>
        </p:spPr>
        <p:txBody>
          <a:bodyPr/>
          <a:p/>
        </p:txBody>
      </p:sp>
      <p:sp>
        <p:nvSpPr>
          <p:cNvPr id="813" name="" descr="{&quot;isTemplate&quot;:true,&quot;type&quot;:&quot;text&quot;}"/>
          <p:cNvSpPr txBox="1"/>
          <p:nvPr/>
        </p:nvSpPr>
        <p:spPr>
          <a:xfrm rot="0" flipH="0" flipV="0">
            <a:off x="762000" y="1962150"/>
            <a:ext cx="3171825" cy="2762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350" b="1">
                <a:solidFill>
                  <a:srgbClr val="2563EB"/>
                </a:solidFill>
                <a:latin typeface="Microsoft YaHei"/>
                <a:ea typeface="Microsoft YaHei"/>
              </a:rPr>
              <a:t>路径一</a:t>
            </a:r>
            <a:r>
              <a:rPr lang="en-US" sz="1350" b="1">
                <a:solidFill>
                  <a:srgbClr val="2563EB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350" b="1">
                <a:solidFill>
                  <a:srgbClr val="2563EB"/>
                </a:solidFill>
                <a:latin typeface="Microsoft YaHei"/>
                <a:ea typeface="Microsoft YaHei"/>
              </a:rPr>
              <a:t>自助验证</a:t>
            </a:r>
            <a:endParaRPr/>
          </a:p>
        </p:txBody>
      </p:sp>
      <p:sp>
        <p:nvSpPr>
          <p:cNvPr id="814" name="" descr="{&quot;isTemplate&quot;:true,&quot;type&quot;:&quot;text&quot;}"/>
          <p:cNvSpPr txBox="1"/>
          <p:nvPr/>
        </p:nvSpPr>
        <p:spPr>
          <a:xfrm rot="0" flipH="0" flipV="0">
            <a:off x="762000" y="2314575"/>
            <a:ext cx="3171825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1E293B"/>
                </a:solidFill>
                <a:latin typeface="Microsoft YaHei"/>
                <a:ea typeface="Microsoft YaHei"/>
              </a:rPr>
              <a:t>一台笔记本跑通一个场景</a:t>
            </a:r>
            <a:endParaRPr/>
          </a:p>
        </p:txBody>
      </p:sp>
      <p:sp>
        <p:nvSpPr>
          <p:cNvPr id="815" name="" descr="{&quot;isTemplate&quot;:true,&quot;type&quot;:&quot;text&quot;}"/>
          <p:cNvSpPr txBox="1"/>
          <p:nvPr/>
        </p:nvSpPr>
        <p:spPr>
          <a:xfrm rot="0" flipH="0" flipV="0">
            <a:off x="762000" y="2724150"/>
            <a:ext cx="3171825" cy="9620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一键脚本安装，本地运行，不需要任何中间件与采购流程。适合先小范围验证，成本几乎为零。</a:t>
            </a:r>
            <a:endParaRPr/>
          </a:p>
        </p:txBody>
      </p:sp>
      <p:sp>
        <p:nvSpPr>
          <p:cNvPr id="816" name=""/>
          <p:cNvSpPr/>
          <p:nvPr/>
        </p:nvSpPr>
        <p:spPr>
          <a:xfrm rot="0" flipH="0" flipV="0">
            <a:off x="4314825" y="1771650"/>
            <a:ext cx="3552825" cy="2105025"/>
          </a:xfrm>
          <a:prstGeom prst="roundRect">
            <a:avLst>
              <a:gd name="adj" fmla="val 5430"/>
            </a:avLst>
          </a:prstGeom>
          <a:solidFill>
            <a:srgbClr val="D6E4F9"/>
          </a:solidFill>
          <a:ln/>
        </p:spPr>
        <p:txBody>
          <a:bodyPr/>
          <a:p/>
        </p:txBody>
      </p:sp>
      <p:sp>
        <p:nvSpPr>
          <p:cNvPr id="817" name="" descr="{&quot;isTemplate&quot;:true,&quot;type&quot;:&quot;text&quot;}"/>
          <p:cNvSpPr txBox="1"/>
          <p:nvPr/>
        </p:nvSpPr>
        <p:spPr>
          <a:xfrm rot="0" flipH="0" flipV="0">
            <a:off x="4505325" y="1962150"/>
            <a:ext cx="3171825" cy="2762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350" b="1">
                <a:solidFill>
                  <a:srgbClr val="2563EB"/>
                </a:solidFill>
                <a:latin typeface="Microsoft YaHei"/>
                <a:ea typeface="Microsoft YaHei"/>
              </a:rPr>
              <a:t>路径二</a:t>
            </a:r>
            <a:r>
              <a:rPr lang="en-US" sz="1350" b="1">
                <a:solidFill>
                  <a:srgbClr val="2563EB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350" b="1">
                <a:solidFill>
                  <a:srgbClr val="2563EB"/>
                </a:solidFill>
                <a:latin typeface="Microsoft YaHei"/>
                <a:ea typeface="Microsoft YaHei"/>
              </a:rPr>
              <a:t>团队部署</a:t>
            </a:r>
            <a:endParaRPr/>
          </a:p>
        </p:txBody>
      </p:sp>
      <p:sp>
        <p:nvSpPr>
          <p:cNvPr id="818" name="" descr="{&quot;isTemplate&quot;:true,&quot;type&quot;:&quot;text&quot;}"/>
          <p:cNvSpPr txBox="1"/>
          <p:nvPr/>
        </p:nvSpPr>
        <p:spPr>
          <a:xfrm rot="0" flipH="0" flipV="0">
            <a:off x="4505325" y="2314575"/>
            <a:ext cx="3171825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1E293B"/>
                </a:solidFill>
                <a:latin typeface="Microsoft YaHei"/>
                <a:ea typeface="Microsoft YaHei"/>
              </a:rPr>
              <a:t>一个部门稳定使用</a:t>
            </a:r>
            <a:endParaRPr/>
          </a:p>
        </p:txBody>
      </p:sp>
      <p:sp>
        <p:nvSpPr>
          <p:cNvPr id="819" name="" descr="{&quot;isTemplate&quot;:true,&quot;type&quot;:&quot;text&quot;}"/>
          <p:cNvSpPr txBox="1"/>
          <p:nvPr/>
        </p:nvSpPr>
        <p:spPr>
          <a:xfrm rot="0" flipH="0" flipV="0">
            <a:off x="4505325" y="2724150"/>
            <a:ext cx="3171825" cy="9620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切到服务器部署，开多用户、备份与</a:t>
            </a: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 xml:space="preserve"> HTTPS 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对外访问。适合部门级常态化使用。</a:t>
            </a:r>
            <a:endParaRPr/>
          </a:p>
        </p:txBody>
      </p:sp>
      <p:sp>
        <p:nvSpPr>
          <p:cNvPr id="820" name=""/>
          <p:cNvSpPr/>
          <p:nvPr/>
        </p:nvSpPr>
        <p:spPr>
          <a:xfrm rot="0" flipH="0" flipV="0">
            <a:off x="8058150" y="1771650"/>
            <a:ext cx="3562350" cy="2105025"/>
          </a:xfrm>
          <a:prstGeom prst="roundRect">
            <a:avLst>
              <a:gd name="adj" fmla="val 543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821" name="" descr="{&quot;isTemplate&quot;:true,&quot;type&quot;:&quot;text&quot;}"/>
          <p:cNvSpPr txBox="1"/>
          <p:nvPr/>
        </p:nvSpPr>
        <p:spPr>
          <a:xfrm rot="0" flipH="0" flipV="0">
            <a:off x="8248650" y="1962150"/>
            <a:ext cx="3181350" cy="2762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350" b="1">
                <a:solidFill>
                  <a:srgbClr val="BFDBFE"/>
                </a:solidFill>
                <a:latin typeface="Microsoft YaHei"/>
                <a:ea typeface="Microsoft YaHei"/>
              </a:rPr>
              <a:t>路径三</a:t>
            </a:r>
            <a:r>
              <a:rPr lang="en-US" sz="1350" b="1">
                <a:solidFill>
                  <a:srgbClr val="BFDBFE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350" b="1">
                <a:solidFill>
                  <a:srgbClr val="BFDBFE"/>
                </a:solidFill>
                <a:latin typeface="Microsoft YaHei"/>
                <a:ea typeface="Microsoft YaHei"/>
              </a:rPr>
              <a:t>规模推广</a:t>
            </a:r>
            <a:endParaRPr/>
          </a:p>
        </p:txBody>
      </p:sp>
      <p:sp>
        <p:nvSpPr>
          <p:cNvPr id="822" name="" descr="{&quot;isTemplate&quot;:true,&quot;type&quot;:&quot;text&quot;}"/>
          <p:cNvSpPr txBox="1"/>
          <p:nvPr/>
        </p:nvSpPr>
        <p:spPr>
          <a:xfrm rot="0" flipH="0" flipV="0">
            <a:off x="8248650" y="2314575"/>
            <a:ext cx="3181350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全公司共用一台实例</a:t>
            </a:r>
            <a:endParaRPr/>
          </a:p>
        </p:txBody>
      </p:sp>
      <p:sp>
        <p:nvSpPr>
          <p:cNvPr id="823" name="" descr="{&quot;isTemplate&quot;:true,&quot;type&quot;:&quot;text&quot;}"/>
          <p:cNvSpPr txBox="1"/>
          <p:nvPr/>
        </p:nvSpPr>
        <p:spPr>
          <a:xfrm rot="0" flipH="0" flipV="0">
            <a:off x="8248650" y="2724150"/>
            <a:ext cx="3181350" cy="9620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350">
                <a:solidFill>
                  <a:srgbClr val="DBEAFE"/>
                </a:solidFill>
                <a:latin typeface="Microsoft YaHei"/>
                <a:ea typeface="Microsoft YaHei"/>
              </a:rPr>
              <a:t>桌面客户端与</a:t>
            </a:r>
            <a:r>
              <a:rPr lang="en-US" sz="1350">
                <a:solidFill>
                  <a:srgbClr val="DBEAFE"/>
                </a:solidFill>
                <a:latin typeface="Microsoft YaHei"/>
                <a:ea typeface="Microsoft YaHei"/>
              </a:rPr>
              <a:t xml:space="preserve"> NAS </a:t>
            </a:r>
            <a:r>
              <a:rPr lang="zh-CN" sz="1350">
                <a:solidFill>
                  <a:srgbClr val="DBEAFE"/>
                </a:solidFill>
                <a:latin typeface="Microsoft YaHei"/>
                <a:ea typeface="Microsoft YaHei"/>
              </a:rPr>
              <a:t>包分发到终端，专家与知识库沉淀为组织资产，数据与资产按人隔离。</a:t>
            </a:r>
            <a:endParaRPr/>
          </a:p>
        </p:txBody>
      </p:sp>
      <p:sp>
        <p:nvSpPr>
          <p:cNvPr id="824" name="" descr="{&quot;isTemplate&quot;:true,&quot;type&quot;:&quot;text&quot;}"/>
          <p:cNvSpPr txBox="1"/>
          <p:nvPr/>
        </p:nvSpPr>
        <p:spPr>
          <a:xfrm rot="0" flipH="0" flipV="0">
            <a:off x="571500" y="4152900"/>
            <a:ext cx="857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64748B"/>
                </a:solidFill>
                <a:latin typeface="Microsoft YaHei"/>
                <a:ea typeface="Microsoft YaHei"/>
              </a:rPr>
              <a:t>部署形态：</a:t>
            </a:r>
            <a:endParaRPr/>
          </a:p>
        </p:txBody>
      </p:sp>
      <p:sp>
        <p:nvSpPr>
          <p:cNvPr id="825" name=""/>
          <p:cNvSpPr/>
          <p:nvPr/>
        </p:nvSpPr>
        <p:spPr>
          <a:xfrm rot="0" flipH="0" flipV="0">
            <a:off x="1524000" y="4067175"/>
            <a:ext cx="857250" cy="381000"/>
          </a:xfrm>
          <a:prstGeom prst="roundRect">
            <a:avLst>
              <a:gd name="adj" fmla="val 20000"/>
            </a:avLst>
          </a:prstGeom>
          <a:solidFill>
            <a:srgbClr val="F4F6FB"/>
          </a:solidFill>
          <a:ln/>
        </p:spPr>
        <p:txBody>
          <a:bodyPr/>
          <a:p/>
        </p:txBody>
      </p:sp>
      <p:sp>
        <p:nvSpPr>
          <p:cNvPr id="826" name="" descr="{&quot;isTemplate&quot;:true,&quot;type&quot;:&quot;text&quot;}"/>
          <p:cNvSpPr txBox="1"/>
          <p:nvPr/>
        </p:nvSpPr>
        <p:spPr>
          <a:xfrm rot="0" flipH="0" flipV="0">
            <a:off x="1609725" y="4152900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1E293B"/>
                </a:solidFill>
                <a:latin typeface="Microsoft YaHei"/>
                <a:ea typeface="Microsoft YaHei"/>
              </a:rPr>
              <a:t>一键脚本</a:t>
            </a:r>
            <a:endParaRPr/>
          </a:p>
        </p:txBody>
      </p:sp>
      <p:sp>
        <p:nvSpPr>
          <p:cNvPr id="827" name=""/>
          <p:cNvSpPr/>
          <p:nvPr/>
        </p:nvSpPr>
        <p:spPr>
          <a:xfrm rot="0" flipH="0" flipV="0">
            <a:off x="2476500" y="4067175"/>
            <a:ext cx="752475" cy="381000"/>
          </a:xfrm>
          <a:prstGeom prst="roundRect">
            <a:avLst>
              <a:gd name="adj" fmla="val 20000"/>
            </a:avLst>
          </a:prstGeom>
          <a:solidFill>
            <a:srgbClr val="F4F6FB"/>
          </a:solidFill>
          <a:ln/>
        </p:spPr>
        <p:txBody>
          <a:bodyPr/>
          <a:p/>
        </p:txBody>
      </p:sp>
      <p:sp>
        <p:nvSpPr>
          <p:cNvPr id="828" name="" descr="{&quot;isTemplate&quot;:true,&quot;type&quot;:&quot;text&quot;}"/>
          <p:cNvSpPr txBox="1"/>
          <p:nvPr/>
        </p:nvSpPr>
        <p:spPr>
          <a:xfrm rot="0" flipH="0" flipV="0">
            <a:off x="2562225" y="4152900"/>
            <a:ext cx="5810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1E293B"/>
                </a:solidFill>
                <a:latin typeface="Microsoft YaHei"/>
                <a:ea typeface="Microsoft YaHei"/>
              </a:rPr>
              <a:t>Docker</a:t>
            </a:r>
            <a:endParaRPr/>
          </a:p>
        </p:txBody>
      </p:sp>
      <p:sp>
        <p:nvSpPr>
          <p:cNvPr id="829" name=""/>
          <p:cNvSpPr/>
          <p:nvPr/>
        </p:nvSpPr>
        <p:spPr>
          <a:xfrm rot="0" flipH="0" flipV="0">
            <a:off x="3324225" y="4067175"/>
            <a:ext cx="857250" cy="381000"/>
          </a:xfrm>
          <a:prstGeom prst="roundRect">
            <a:avLst>
              <a:gd name="adj" fmla="val 20000"/>
            </a:avLst>
          </a:prstGeom>
          <a:solidFill>
            <a:srgbClr val="F4F6FB"/>
          </a:solidFill>
          <a:ln/>
        </p:spPr>
        <p:txBody>
          <a:bodyPr/>
          <a:p/>
        </p:txBody>
      </p:sp>
      <p:sp>
        <p:nvSpPr>
          <p:cNvPr id="830" name="" descr="{&quot;isTemplate&quot;:true,&quot;type&quot;:&quot;text&quot;}"/>
          <p:cNvSpPr txBox="1"/>
          <p:nvPr/>
        </p:nvSpPr>
        <p:spPr>
          <a:xfrm rot="0" flipH="0" flipV="0">
            <a:off x="3409950" y="4152900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1E293B"/>
                </a:solidFill>
                <a:latin typeface="Microsoft YaHei"/>
                <a:ea typeface="Microsoft YaHei"/>
              </a:rPr>
              <a:t>系统服务</a:t>
            </a:r>
            <a:endParaRPr/>
          </a:p>
        </p:txBody>
      </p:sp>
      <p:sp>
        <p:nvSpPr>
          <p:cNvPr id="831" name=""/>
          <p:cNvSpPr/>
          <p:nvPr/>
        </p:nvSpPr>
        <p:spPr>
          <a:xfrm rot="0" flipH="0" flipV="0">
            <a:off x="4276725" y="4067175"/>
            <a:ext cx="1028700" cy="381000"/>
          </a:xfrm>
          <a:prstGeom prst="roundRect">
            <a:avLst>
              <a:gd name="adj" fmla="val 20000"/>
            </a:avLst>
          </a:prstGeom>
          <a:solidFill>
            <a:srgbClr val="F4F6FB"/>
          </a:solidFill>
          <a:ln/>
        </p:spPr>
        <p:txBody>
          <a:bodyPr/>
          <a:p/>
        </p:txBody>
      </p:sp>
      <p:sp>
        <p:nvSpPr>
          <p:cNvPr id="832" name="" descr="{&quot;isTemplate&quot;:true,&quot;type&quot;:&quot;text&quot;}"/>
          <p:cNvSpPr txBox="1"/>
          <p:nvPr/>
        </p:nvSpPr>
        <p:spPr>
          <a:xfrm rot="0" flipH="0" flipV="0">
            <a:off x="4362450" y="4152900"/>
            <a:ext cx="857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1E293B"/>
                </a:solidFill>
                <a:latin typeface="Microsoft YaHei"/>
                <a:ea typeface="Microsoft YaHei"/>
              </a:rPr>
              <a:t>桌面客户端</a:t>
            </a:r>
            <a:endParaRPr/>
          </a:p>
        </p:txBody>
      </p:sp>
      <p:sp>
        <p:nvSpPr>
          <p:cNvPr id="833" name=""/>
          <p:cNvSpPr/>
          <p:nvPr/>
        </p:nvSpPr>
        <p:spPr>
          <a:xfrm rot="0" flipH="0" flipV="0">
            <a:off x="5400675" y="4067175"/>
            <a:ext cx="533400" cy="381000"/>
          </a:xfrm>
          <a:prstGeom prst="roundRect">
            <a:avLst>
              <a:gd name="adj" fmla="val 20000"/>
            </a:avLst>
          </a:prstGeom>
          <a:solidFill>
            <a:srgbClr val="F4F6FB"/>
          </a:solidFill>
          <a:ln/>
        </p:spPr>
        <p:txBody>
          <a:bodyPr/>
          <a:p/>
        </p:txBody>
      </p:sp>
      <p:sp>
        <p:nvSpPr>
          <p:cNvPr id="834" name="" descr="{&quot;isTemplate&quot;:true,&quot;type&quot;:&quot;text&quot;}"/>
          <p:cNvSpPr txBox="1"/>
          <p:nvPr/>
        </p:nvSpPr>
        <p:spPr>
          <a:xfrm rot="0" flipH="0" flipV="0">
            <a:off x="5486400" y="4152900"/>
            <a:ext cx="3619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1E293B"/>
                </a:solidFill>
                <a:latin typeface="Microsoft YaHei"/>
                <a:ea typeface="Microsoft YaHei"/>
              </a:rPr>
              <a:t>NAS</a:t>
            </a:r>
            <a:endParaRPr/>
          </a:p>
        </p:txBody>
      </p:sp>
      <p:sp>
        <p:nvSpPr>
          <p:cNvPr id="835" name=""/>
          <p:cNvSpPr/>
          <p:nvPr/>
        </p:nvSpPr>
        <p:spPr>
          <a:xfrm rot="0" flipH="0" flipV="0">
            <a:off x="571500" y="4600575"/>
            <a:ext cx="11049000" cy="552450"/>
          </a:xfrm>
          <a:prstGeom prst="roundRect">
            <a:avLst>
              <a:gd name="adj" fmla="val 17241"/>
            </a:avLst>
          </a:prstGeom>
          <a:solidFill>
            <a:srgbClr val="E8EEFB"/>
          </a:solidFill>
          <a:ln/>
        </p:spPr>
        <p:txBody>
          <a:bodyPr/>
          <a:p/>
        </p:txBody>
      </p:sp>
      <p:sp>
        <p:nvSpPr>
          <p:cNvPr id="836" name="" descr="{&quot;isTemplate&quot;:true,&quot;type&quot;:&quot;text&quot;}"/>
          <p:cNvSpPr txBox="1"/>
          <p:nvPr/>
        </p:nvSpPr>
        <p:spPr>
          <a:xfrm rot="0" flipH="0" flipV="0">
            <a:off x="704850" y="4724400"/>
            <a:ext cx="10782300" cy="3048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425" b="1">
                <a:solidFill>
                  <a:srgbClr val="1E293B"/>
                </a:solidFill>
                <a:latin typeface="Microsoft YaHei"/>
                <a:ea typeface="Microsoft YaHei"/>
              </a:rPr>
              <a:t>三条路径共用同一份配置与数据：试点时积累的专家、知识库与记忆，扩大规模时直接带走。</a:t>
            </a:r>
            <a:endParaRPr/>
          </a:p>
        </p:txBody>
      </p:sp>
    </p:spTree>
  </p:cSld>
</p:sld>
</file>

<file path=ppt/slides/slide39.xml><?xml version="1.0" encoding="utf-8"?>
<p:sld xmlns:p="http://schemas.openxmlformats.org/presentationml/2006/main" xmlns:a="http://schemas.openxmlformats.org/drawingml/2006/main">
  <p:cSld>
    <p:spTree>
      <p:nvGrpSpPr>
        <p:cNvPr id="837" name="" descr="&lt;Slide style={{ padding: 60, background: '#FFFFFF' }}&gt;&#13;&#10;    &lt;Box style={{ height: 600 }}&gt;&#13;&#10;        &lt;Box style={{ height: 20, flexDirection: 'row', justifyContent: 'space-between', alignItems: 'center' }}&gt;&#13;&#10;            &lt;Text style={{ fontSize: 14, color: '#94A3B8', letterSpacing: 2 }}&gt;04 · 怎么开始&lt;/Text&gt;&#13;&#10;            &lt;Box style={{ width: 44, height: 4, borderRadius: 2, background: '#2563EB' }} /&gt;&#13;&#10;        &lt;/Box&gt;&#13;&#10;        &lt;Text style={{ fontSize: 34, fontWeight: 'bold', color: '#1E293B', marginTop: 16, lineHeight: 1.2 }}&gt;&#13;&#10;            五种部署形态：从一台电脑到一台 NAS，都有对应跑法&#13;&#10;        &lt;/Text&gt;&#13;&#10;        &lt;Box style={{ height: 1, background: '#E2E8F0', marginTop: 16 }} /&gt;&#13;&#10;&#13;&#10;        &lt;Box style={{ marginTop: 20, gap: 12 }}&gt;&#13;&#10;            &lt;Box style={{ height: 72, flexDirection: 'row', alignItems: 'center', borderBottomWidth: 1, borderBottomColor: '#E2E8F0', borderBottomStyle: 'solid' }}&gt;&#13;&#10;                &lt;Box style={{ width: 200, justifyContent: 'center' }}&gt;&#13;&#10;                    &lt;Text style={{ fontSize: 20, fontWeight: '600', color: '#2563EB' }}&gt;一键脚本安装&lt;/Text&gt;&#13;&#10;                &lt;/Box&gt;&#13;&#10;                &lt;Text style={{ fontSize: 18, color: '#475569', lineHeight: 1.5 }}&gt;&#13;&#10;                  各平台一条命令装好，自动配独立运行环境，不碰系统原有配置。适合个人验证。&#13;&#10;                &lt;/Text&gt;&#13;&#10;            &lt;/Box&gt;&#13;&#10;            &lt;Box style={{ height: 72, flexDirection: 'row', alignItems: 'center', borderBottomWidth: 1, borderBottomColor: '#E2E8F0', borderBottomStyle: 'solid' }}&gt;&#13;&#10;                &lt;Box style={{ width: 200, justifyContent: 'center' }}&gt;&#13;&#10;                    &lt;Text style={{ fontSize: 20, fontWeight: '600', color: '#2563EB' }}&gt;Docker Compose&lt;/Text&gt;&#13;&#10;                &lt;/Box&gt;&#13;&#10;                &lt;Text style={{ fontSize: 18, color: '#475569', lineHeight: 1.5 }}&gt;&#13;&#10;                    官方编排文件开箱可用，另有国内镜像加速版；生产环境推荐，迁移方便。&#13;&#10;                &lt;/Text&gt;&#13;&#10;            &lt;/Box&gt;&#13;&#10;            &lt;Box style={{ height: 72, flexDirection: 'row', alignItems: 'center', borderBottomWidth: 1, borderBottomColor: '#E2E8F0', borderBottomStyle: 'solid' }}&gt;&#13;&#10;                &lt;Box style={{ width: 200, justifyContent: 'center' }}&gt;&#13;&#10;                    &lt;Text style={{ fontSize: 20, fontWeight: '600', color: '#2563EB' }}&gt;注册为系统服务&lt;/Text&gt;&#13;&#10;                &lt;/Box&gt;&#13;&#10;                &lt;Text style={{ fontSize: 18, color: '#475569', lineHeight: 1.5 }}&gt;&#13;&#10;                    开机自启、内置自更新，升级后自动重启恢复——像运维一套正式系统。&#13;&#10;                &lt;/Text&gt;&#13;&#10;            &lt;/Box&gt;&#13;&#10;            &lt;Box style={{ height: 72, flexDirection: 'row', alignItems: 'center', borderBottomWidth: 1, borderBottomColor: '#E2E8F0', borderBottomStyle: 'solid' }}&gt;&#13;&#10;                &lt;Box style={{ width: 200, justifyContent: 'center' }}&gt;&#13;&#10;                    &lt;Text style={{ fontSize: 20, fontWeight: '600', color: '#2563EB' }}&gt;桌面客户端&lt;/Text&gt;&#13;&#10;                &lt;/Box&gt;&#13;&#10;                &lt;Text style={{ fontSize: 18, color: '#475569', lineHeight: 1.5 }}&gt;&#13;&#10;                    Windows / macOS / Linux 原生安装包，图形界面完成安装，不需要终端。&#13;&#10;                &lt;/Text&gt;&#13;&#10;            &lt;/Box&gt;&#13;&#10;            &lt;Box style={{ height: 72, flexDirection: 'row', alignItems: 'center' }}&gt;&#13;&#10;                &lt;Box style={{ width: 200, justifyContent: 'center' }}&gt;&#13;&#10;                    &lt;Text style={{ fontSize: 20, fontWeight: '600', color: '#2563EB' }}&gt;NAS 与移动访问&lt;/Text&gt;&#13;&#10;                &lt;/Box&gt;&#13;&#10;                &lt;Text style={{ fontSize: 18, color: '#475569', lineHeight: 1.5 }}&gt;&#13;&#10;                    飞牛 fnOS 提供原生与容器两种包；控制台支持手机浏览器与 HTTPS 安全访问。&#13;&#10;                &lt;/Text&gt;&#13;&#10;            &lt;/Box&gt;&#13;&#10;        &lt;/Box&gt;&#13;&#10;&#13;&#10;        {/* 结论条 */}&#13;&#10;        &lt;Box style={{ height: 52, background: '#E8EEFB', borderRadius: 10, padding: 14, marginTop: 12, justifyContent: 'center' }}&gt;&#13;&#10;            &lt;Text style={{ fontSize: 19, fontWeight: '600', color: '#1E293B', lineHeight: 1.4 }}&gt;&#13;&#10;                上线路径不依赖任何云厂商：试点在一台电脑上完成，规模扩大时配置与数据可平滑带走。&#13;&#10;            &lt;/Text&gt;&#13;&#10;        &lt;/Box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39" name="" descr="{&quot;isTemplate&quot;:true,&quot;type&quot;:&quot;text&quot;}"/>
          <p:cNvSpPr txBox="1"/>
          <p:nvPr/>
        </p:nvSpPr>
        <p:spPr>
          <a:xfrm rot="0" flipH="0" flipV="0">
            <a:off x="571500" y="590550"/>
            <a:ext cx="981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94A3B8"/>
                </a:solidFill>
                <a:latin typeface="Microsoft YaHei"/>
                <a:ea typeface="Microsoft YaHei"/>
              </a:rPr>
              <a:t xml:space="preserve">04 · </a:t>
            </a:r>
            <a:r>
              <a:rPr lang="zh-CN" sz="1050" spc="150">
                <a:solidFill>
                  <a:srgbClr val="94A3B8"/>
                </a:solidFill>
                <a:latin typeface="Microsoft YaHei"/>
                <a:ea typeface="Microsoft YaHei"/>
              </a:rPr>
              <a:t>怎么开始</a:t>
            </a:r>
            <a:endParaRPr/>
          </a:p>
        </p:txBody>
      </p:sp>
      <p:sp>
        <p:nvSpPr>
          <p:cNvPr id="840" name=""/>
          <p:cNvSpPr/>
          <p:nvPr/>
        </p:nvSpPr>
        <p:spPr>
          <a:xfrm rot="0" flipH="0" flipV="0">
            <a:off x="11201400" y="647700"/>
            <a:ext cx="419100" cy="38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841" name="" descr="{&quot;isTemplate&quot;:true,&quot;type&quot;:&quot;text&quot;}"/>
          <p:cNvSpPr txBox="1"/>
          <p:nvPr/>
        </p:nvSpPr>
        <p:spPr>
          <a:xfrm rot="0" flipH="0" flipV="0">
            <a:off x="571500" y="914400"/>
            <a:ext cx="110490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E293B"/>
                </a:solidFill>
                <a:latin typeface="Microsoft YaHei"/>
                <a:ea typeface="Microsoft YaHei"/>
              </a:rPr>
              <a:t>五种部署形态：从一台电脑到一台</a:t>
            </a:r>
            <a:r>
              <a:rPr lang="en-US" sz="2550" b="1">
                <a:solidFill>
                  <a:srgbClr val="1E293B"/>
                </a:solidFill>
                <a:latin typeface="Microsoft YaHei"/>
                <a:ea typeface="Microsoft YaHei"/>
              </a:rPr>
              <a:t xml:space="preserve"> NAS</a:t>
            </a:r>
            <a:r>
              <a:rPr lang="zh-CN" sz="2550" b="1">
                <a:solidFill>
                  <a:srgbClr val="1E293B"/>
                </a:solidFill>
                <a:latin typeface="Microsoft YaHei"/>
                <a:ea typeface="Microsoft YaHei"/>
              </a:rPr>
              <a:t>，都有对应跑法</a:t>
            </a:r>
            <a:endParaRPr/>
          </a:p>
        </p:txBody>
      </p:sp>
      <p:sp>
        <p:nvSpPr>
          <p:cNvPr id="842" name=""/>
          <p:cNvSpPr/>
          <p:nvPr/>
        </p:nvSpPr>
        <p:spPr>
          <a:xfrm rot="0" flipH="0" flipV="0">
            <a:off x="571500" y="1533525"/>
            <a:ext cx="1104900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843" name=""/>
          <p:cNvSpPr/>
          <p:nvPr/>
        </p:nvSpPr>
        <p:spPr>
          <a:xfrm rot="0" flipH="0" flipV="0">
            <a:off x="571500" y="1733550"/>
            <a:ext cx="11049000" cy="685800"/>
          </a:xfrm>
          <a:custGeom>
            <a:pathLst>
              <a:path w="1160" h="72">
                <a:moveTo>
                  <a:pt x="0" y="71"/>
                </a:moveTo>
                <a:lnTo>
                  <a:pt x="1160" y="71"/>
                </a:lnTo>
                <a:lnTo>
                  <a:pt x="1160" y="72"/>
                </a:lnTo>
                <a:lnTo>
                  <a:pt x="0" y="72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p/>
        </p:txBody>
      </p:sp>
      <p:sp>
        <p:nvSpPr>
          <p:cNvPr id="844" name="" descr="{&quot;isTemplate&quot;:true,&quot;type&quot;:&quot;text&quot;}"/>
          <p:cNvSpPr txBox="1"/>
          <p:nvPr/>
        </p:nvSpPr>
        <p:spPr>
          <a:xfrm rot="0" flipH="0" flipV="0">
            <a:off x="571500" y="1962150"/>
            <a:ext cx="1905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563EB"/>
                </a:solidFill>
                <a:latin typeface="Microsoft YaHei"/>
                <a:ea typeface="Microsoft YaHei"/>
              </a:rPr>
              <a:t>一键脚本安装</a:t>
            </a:r>
            <a:endParaRPr/>
          </a:p>
        </p:txBody>
      </p:sp>
      <p:sp>
        <p:nvSpPr>
          <p:cNvPr id="845" name="" descr="{&quot;isTemplate&quot;:true,&quot;type&quot;:&quot;text&quot;}"/>
          <p:cNvSpPr txBox="1"/>
          <p:nvPr/>
        </p:nvSpPr>
        <p:spPr>
          <a:xfrm rot="0" flipH="0" flipV="0">
            <a:off x="2476500" y="1914525"/>
            <a:ext cx="61722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各平台一条命令装好，自动配独立运行环境，不碰系统原有配置。适合个人验证。</a:t>
            </a:r>
            <a:endParaRPr/>
          </a:p>
        </p:txBody>
      </p:sp>
      <p:sp>
        <p:nvSpPr>
          <p:cNvPr id="846" name=""/>
          <p:cNvSpPr/>
          <p:nvPr/>
        </p:nvSpPr>
        <p:spPr>
          <a:xfrm rot="0" flipH="0" flipV="0">
            <a:off x="571500" y="2533650"/>
            <a:ext cx="11049000" cy="685800"/>
          </a:xfrm>
          <a:custGeom>
            <a:pathLst>
              <a:path w="1160" h="72">
                <a:moveTo>
                  <a:pt x="0" y="71"/>
                </a:moveTo>
                <a:lnTo>
                  <a:pt x="1160" y="71"/>
                </a:lnTo>
                <a:lnTo>
                  <a:pt x="1160" y="72"/>
                </a:lnTo>
                <a:lnTo>
                  <a:pt x="0" y="72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p/>
        </p:txBody>
      </p:sp>
      <p:sp>
        <p:nvSpPr>
          <p:cNvPr id="847" name="" descr="{&quot;isTemplate&quot;:true,&quot;type&quot;:&quot;text&quot;}"/>
          <p:cNvSpPr txBox="1"/>
          <p:nvPr/>
        </p:nvSpPr>
        <p:spPr>
          <a:xfrm rot="0" flipH="0" flipV="0">
            <a:off x="571500" y="2762250"/>
            <a:ext cx="1905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2563EB"/>
                </a:solidFill>
                <a:latin typeface="Microsoft YaHei"/>
                <a:ea typeface="Microsoft YaHei"/>
              </a:rPr>
              <a:t>Docker Compose</a:t>
            </a:r>
            <a:endParaRPr/>
          </a:p>
        </p:txBody>
      </p:sp>
      <p:sp>
        <p:nvSpPr>
          <p:cNvPr id="848" name="" descr="{&quot;isTemplate&quot;:true,&quot;type&quot;:&quot;text&quot;}"/>
          <p:cNvSpPr txBox="1"/>
          <p:nvPr/>
        </p:nvSpPr>
        <p:spPr>
          <a:xfrm rot="0" flipH="0" flipV="0">
            <a:off x="2476500" y="2714625"/>
            <a:ext cx="565785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官方编排文件开箱可用，另有国内镜像加速版；生产环境推荐，迁移方便。</a:t>
            </a:r>
            <a:endParaRPr/>
          </a:p>
        </p:txBody>
      </p:sp>
      <p:sp>
        <p:nvSpPr>
          <p:cNvPr id="849" name=""/>
          <p:cNvSpPr/>
          <p:nvPr/>
        </p:nvSpPr>
        <p:spPr>
          <a:xfrm rot="0" flipH="0" flipV="0">
            <a:off x="571500" y="3333750"/>
            <a:ext cx="11049000" cy="685800"/>
          </a:xfrm>
          <a:custGeom>
            <a:pathLst>
              <a:path w="1160" h="72">
                <a:moveTo>
                  <a:pt x="0" y="71"/>
                </a:moveTo>
                <a:lnTo>
                  <a:pt x="1160" y="71"/>
                </a:lnTo>
                <a:lnTo>
                  <a:pt x="1160" y="72"/>
                </a:lnTo>
                <a:lnTo>
                  <a:pt x="0" y="72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p/>
        </p:txBody>
      </p:sp>
      <p:sp>
        <p:nvSpPr>
          <p:cNvPr id="850" name="" descr="{&quot;isTemplate&quot;:true,&quot;type&quot;:&quot;text&quot;}"/>
          <p:cNvSpPr txBox="1"/>
          <p:nvPr/>
        </p:nvSpPr>
        <p:spPr>
          <a:xfrm rot="0" flipH="0" flipV="0">
            <a:off x="571500" y="3562350"/>
            <a:ext cx="1905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563EB"/>
                </a:solidFill>
                <a:latin typeface="Microsoft YaHei"/>
                <a:ea typeface="Microsoft YaHei"/>
              </a:rPr>
              <a:t>注册为系统服务</a:t>
            </a:r>
            <a:endParaRPr/>
          </a:p>
        </p:txBody>
      </p:sp>
      <p:sp>
        <p:nvSpPr>
          <p:cNvPr id="851" name="" descr="{&quot;isTemplate&quot;:true,&quot;type&quot;:&quot;text&quot;}"/>
          <p:cNvSpPr txBox="1"/>
          <p:nvPr/>
        </p:nvSpPr>
        <p:spPr>
          <a:xfrm rot="0" flipH="0" flipV="0">
            <a:off x="2476500" y="3514725"/>
            <a:ext cx="5514975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开机自启、内置自更新，升级后自动重启恢复——像运维一套正式系统。</a:t>
            </a:r>
            <a:endParaRPr/>
          </a:p>
        </p:txBody>
      </p:sp>
      <p:sp>
        <p:nvSpPr>
          <p:cNvPr id="852" name=""/>
          <p:cNvSpPr/>
          <p:nvPr/>
        </p:nvSpPr>
        <p:spPr>
          <a:xfrm rot="0" flipH="0" flipV="0">
            <a:off x="571500" y="4133850"/>
            <a:ext cx="11049000" cy="685800"/>
          </a:xfrm>
          <a:custGeom>
            <a:pathLst>
              <a:path w="1160" h="72">
                <a:moveTo>
                  <a:pt x="0" y="71"/>
                </a:moveTo>
                <a:lnTo>
                  <a:pt x="1160" y="71"/>
                </a:lnTo>
                <a:lnTo>
                  <a:pt x="1160" y="72"/>
                </a:lnTo>
                <a:lnTo>
                  <a:pt x="0" y="72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p/>
        </p:txBody>
      </p:sp>
      <p:sp>
        <p:nvSpPr>
          <p:cNvPr id="853" name="" descr="{&quot;isTemplate&quot;:true,&quot;type&quot;:&quot;text&quot;}"/>
          <p:cNvSpPr txBox="1"/>
          <p:nvPr/>
        </p:nvSpPr>
        <p:spPr>
          <a:xfrm rot="0" flipH="0" flipV="0">
            <a:off x="571500" y="4362450"/>
            <a:ext cx="1905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563EB"/>
                </a:solidFill>
                <a:latin typeface="Microsoft YaHei"/>
                <a:ea typeface="Microsoft YaHei"/>
              </a:rPr>
              <a:t>桌面客户端</a:t>
            </a:r>
            <a:endParaRPr/>
          </a:p>
        </p:txBody>
      </p:sp>
      <p:sp>
        <p:nvSpPr>
          <p:cNvPr id="854" name="" descr="{&quot;isTemplate&quot;:true,&quot;type&quot;:&quot;text&quot;}"/>
          <p:cNvSpPr txBox="1"/>
          <p:nvPr/>
        </p:nvSpPr>
        <p:spPr>
          <a:xfrm rot="0" flipH="0" flipV="0">
            <a:off x="2476500" y="4314825"/>
            <a:ext cx="577215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 xml:space="preserve">Windows / macOS / Linux 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原生安装包，图形界面完成安装，不需要终端。</a:t>
            </a:r>
            <a:endParaRPr/>
          </a:p>
        </p:txBody>
      </p:sp>
      <p:sp>
        <p:nvSpPr>
          <p:cNvPr id="855" name="" descr="{&quot;isTemplate&quot;:true,&quot;type&quot;:&quot;text&quot;}"/>
          <p:cNvSpPr txBox="1"/>
          <p:nvPr/>
        </p:nvSpPr>
        <p:spPr>
          <a:xfrm rot="0" flipH="0" flipV="0">
            <a:off x="571500" y="5162550"/>
            <a:ext cx="1905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2563EB"/>
                </a:solidFill>
                <a:latin typeface="Microsoft YaHei"/>
                <a:ea typeface="Microsoft YaHei"/>
              </a:rPr>
              <a:t xml:space="preserve">NAS </a:t>
            </a:r>
            <a:r>
              <a:rPr lang="zh-CN" sz="1500" b="1">
                <a:solidFill>
                  <a:srgbClr val="2563EB"/>
                </a:solidFill>
                <a:latin typeface="Microsoft YaHei"/>
                <a:ea typeface="Microsoft YaHei"/>
              </a:rPr>
              <a:t>与移动访问</a:t>
            </a:r>
            <a:endParaRPr/>
          </a:p>
        </p:txBody>
      </p:sp>
      <p:sp>
        <p:nvSpPr>
          <p:cNvPr id="856" name="" descr="{&quot;isTemplate&quot;:true,&quot;type&quot;:&quot;text&quot;}"/>
          <p:cNvSpPr txBox="1"/>
          <p:nvPr/>
        </p:nvSpPr>
        <p:spPr>
          <a:xfrm rot="0" flipH="0" flipV="0">
            <a:off x="2476500" y="5124450"/>
            <a:ext cx="6124575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飞牛</a:t>
            </a: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 xml:space="preserve"> fnOS 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提供原生与容器两种包；控制台支持手机浏览器与</a:t>
            </a: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 xml:space="preserve"> HTTPS 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安全访问。</a:t>
            </a:r>
            <a:endParaRPr/>
          </a:p>
        </p:txBody>
      </p:sp>
      <p:sp>
        <p:nvSpPr>
          <p:cNvPr id="857" name=""/>
          <p:cNvSpPr/>
          <p:nvPr/>
        </p:nvSpPr>
        <p:spPr>
          <a:xfrm rot="0" flipH="0" flipV="0">
            <a:off x="571500" y="5734050"/>
            <a:ext cx="11049000" cy="495300"/>
          </a:xfrm>
          <a:prstGeom prst="roundRect">
            <a:avLst>
              <a:gd name="adj" fmla="val 19231"/>
            </a:avLst>
          </a:prstGeom>
          <a:solidFill>
            <a:srgbClr val="E8EEFB"/>
          </a:solidFill>
          <a:ln/>
        </p:spPr>
        <p:txBody>
          <a:bodyPr/>
          <a:p/>
        </p:txBody>
      </p:sp>
      <p:sp>
        <p:nvSpPr>
          <p:cNvPr id="858" name="" descr="{&quot;isTemplate&quot;:true,&quot;type&quot;:&quot;text&quot;}"/>
          <p:cNvSpPr txBox="1"/>
          <p:nvPr/>
        </p:nvSpPr>
        <p:spPr>
          <a:xfrm rot="0" flipH="0" flipV="0">
            <a:off x="704850" y="5829300"/>
            <a:ext cx="10782300" cy="3048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425" b="1">
                <a:solidFill>
                  <a:srgbClr val="1E293B"/>
                </a:solidFill>
                <a:latin typeface="Microsoft YaHei"/>
                <a:ea typeface="Microsoft YaHei"/>
              </a:rPr>
              <a:t>上线路径不依赖任何云厂商：试点在一台电脑上完成，规模扩大时配置与数据可平滑带走。</a:t>
            </a:r>
            <a:endParaRPr/>
          </a:p>
        </p:txBody>
      </p:sp>
    </p:spTree>
  </p:cSld>
</p:sld>
</file>

<file path=ppt/slides/slide40.xml><?xml version="1.0" encoding="utf-8"?>
<p:sld xmlns:p="http://schemas.openxmlformats.org/presentationml/2006/main" xmlns:a="http://schemas.openxmlformats.org/drawingml/2006/main">
  <p:cSld>
    <p:spTree>
      <p:nvGrpSpPr>
        <p:cNvPr id="866" name="" descr="&lt;Slide style={{ padding: 60, background: '#FFFFFF' }}&gt;&#10;    &lt;Box style={{ height: 600 }}&gt;&#10;        &lt;Box style={{ height: 20, flexDirection: 'row', justifyContent: 'space-between', alignItems: 'center' }}&gt;&#10;            &lt;Text style={{ fontSize: 14, color: '#94A3B8', letterSpacing: 2 }}&gt;04 · 怎么开始&lt;/Text&gt;&#10;            &lt;Box style={{ width: 44, height: 4, borderRadius: 2, background: '#2563EB' }} /&gt;&#10;        &lt;/Box&gt;&#10;        &lt;Text style={{ fontSize: 34, fontWeight: 'bold', color: '#1E293B', marginTop: 16, lineHeight: 1.2 }}&gt;&#10;            建议：30 天，验证一个真实场景&#10;        &lt;/Text&gt;&#10;        &lt;Box style={{ height: 1, background: '#E2E8F0', marginTop: 16 }} /&gt;&#10;&#10;        &lt;Box style={{ flex: 1, marginTop: 20, flexDirection: 'row', gap: 32 }}&gt;&#10;            {/* 左：30 天 */}&#10;            &lt;Box style={{ width: 300, background: '#2563EB', borderRadius: 12, padding: 22, justifyContent: 'center' }}&gt;&#10;                &lt;Text style={{ fontSize: 88, fontWeight: 'bold', color: '#FFFFFF', lineHeight: 1.0 }}&gt;30&lt;/Text&gt;&#10;                &lt;Text style={{ fontSize: 22, fontWeight: '600', color: '#DBEAFE', marginTop: 8, lineHeight: 1.3 }}&gt;天完成一次可决策的验证&lt;/Text&gt;&#10;                &lt;Box style={{ height: 1, background: '#3B82F6', marginTop: 16 }} /&gt;&#10;                &lt;Text style={{ fontSize: 18, color: '#DBEAFE', lineHeight: 1.55, marginTop: 14 }}&gt;&#10;                    需要的投入：1 位业务对接人，每天几条真实问题。产出：一份可以拿去开会的评估结论。&#10;                &lt;/Text&gt;&#10;            &lt;/Box&gt;&#10;&#10;            {/* 右：四周安排 */}&#10;            &lt;Box style={{ flex: 1 }}&gt;&#10;                &lt;Box style={{ height: 102, flexDirection: 'row', borderBottomWidth: 1, borderBottomColor: '#E2E8F0', borderBottomStyle: 'solid' }}&gt;&#10;                    &lt;Box style={{ width: 96, justifyContent: 'center' }}&gt;&#10;                        &lt;Text style={{ fontSize: 20, fontWeight: 'bold', color: '#2563EB' }}&gt;第 1 周&lt;/Text&gt;&#10;                    &lt;/Box&gt;&#10;                    &lt;Box style={{ flex: 1, justifyContent: 'center', marginLeft: 10 }}&gt;&#10;                        &lt;Text style={{ fontSize: 20, fontWeight: '600', color: '#1E293B', lineHeight: 1.3 }}&gt;选定场景，搭好环境&lt;/Text&gt;&#10;                        &lt;Text style={{ fontSize: 18, color: '#475569', lineHeight: 1.5, marginTop: 4 }}&gt;&#10;                            确定 1 个高频、可衡量的场景与业务对接人，部署试点环境、导入核心文档。&#10;                        &lt;/Text&gt;&#10;                    &lt;/Box&gt;&#10;                &lt;/Box&gt;&#10;                &lt;Box style={{ height: 102, flexDirection: 'row', borderBottomWidth: 1, borderBottomColor: '#E2E8F0', borderBottomStyle: 'solid' }}&gt;&#10;                    &lt;Box style={{ width: 96, justifyContent: 'center' }}&gt;&#10;                        &lt;Text style={{ fontSize: 20, fontWeight: 'bold', color: '#2563EB' }}&gt;第 2 周&lt;/Text&gt;&#10;                    &lt;/Box&gt;&#10;                    &lt;Box style={{ flex: 1, justifyContent: 'center', marginLeft: 10 }}&gt;&#10;                        &lt;Text style={{ fontSize: 20, fontWeight: '600', color: '#1E293B', lineHeight: 1.3 }}&gt;配置专家，设定规则&lt;/Text&gt;&#10;                        &lt;Text style={{ fontSize: 18, color: '#475569', lineHeight: 1.5, marginTop: 4 }}&gt;&#10;                            挑选或微调岗位专家，设定审批清单与使用规范，小范围内先行试用。&#10;                        &lt;/Text&gt;&#10;                    &lt;/Box&gt;&#10;                &lt;/Box&gt;&#10;                &lt;Box style={{ height: 102, flexDirection: 'row', borderBottomWidth: 1, borderBottomColor: '#E2E8F0', borderBottomStyle: 'solid' }}&gt;&#10;                    &lt;Box style={{ width: 96, justifyContent: 'center' }}&gt;&#10;                        &lt;Text style={{ fontSize: 20, fontWeight: 'bold', color: '#2563EB' }}&gt;第 3 周&lt;/Text&gt;&#10;                    &lt;/Box&gt;&#10;                    &lt;Box style={{ flex: 1, justifyContent: 'center', marginLeft: 10 }}&gt;&#10;                        &lt;Text style={{ fontSize: 20, fontWeight: '600', color: '#1E293B', lineHeight: 1.3 }}&gt;真实使用，持续微调&lt;/Text&gt;&#10;                        &lt;Text style={{ fontSize: 18, color: '#475569', lineHeight: 1.5, marginTop: 4 }}&gt;&#10;                            放进真实业务跑起来，按反馈补充知识库、调整话术，观察员工的使用意愿。&#10;                        &lt;/Text&gt;&#10;                    &lt;/Box&gt;&#10;                &lt;/Box&gt;&#10;                &lt;Box style={{ height: 102, flexDirection: 'row' }}&gt;&#10;                    &lt;Box style={{ width: 96, justifyContent: 'center' }}&gt;&#10;                        &lt;Text style={{ fontSize: 20, fontWeight: 'bold', color: '#F59E0B' }}&gt;第 4 周&lt;/Text&gt;&#10;                    &lt;/Box&gt;&#10;                    &lt;Box style={{ flex: 1, justifyContent: 'center', marginLeft: 10 }}&gt;&#10;                        &lt;Text style={{ fontSize: 20, fontWeight: '600', color: '#1E293B', lineHeight: 1.3 }}&gt;复盘效果，决定下一步&lt;/Text&gt;&#10;                        &lt;Text style={{ fontSize: 18, color: '#475569', lineHeight: 1.5, marginTop: 4 }}&gt;&#10;                            看三个问题：答得准不准、处理快没快、员工愿不愿用——据此决定扩大、调整还是停止。&#10;                        &lt;/Text&gt;&#10;                    &lt;/Box&gt;&#10;                &lt;/Box&gt;&#10;            &lt;/Box&gt;&#10;        &lt;/Box&gt;&#10;&#10;        {/* 结论条 */}&#10;        &lt;Box style={{ height: 58, background: '#FFF7E9', borderRadius: 10, padding: 14, marginTop: 12, justifyContent: 'center' }}&gt;&#10;            &lt;Text style={{ fontSize: 19, fontWeight: '600', color: '#7C2D12', lineHeight: 1.4 }}&gt;&#10;                不需要先签合同再验证：装好跑通一个场景，再决定要不要扩大到全公司。&#10;            &lt;/Text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68" name="" descr="{&quot;isTemplate&quot;:true,&quot;type&quot;:&quot;text&quot;}"/>
          <p:cNvSpPr txBox="1"/>
          <p:nvPr/>
        </p:nvSpPr>
        <p:spPr>
          <a:xfrm rot="0" flipH="0" flipV="0">
            <a:off x="571500" y="590550"/>
            <a:ext cx="981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94A3B8"/>
                </a:solidFill>
                <a:latin typeface="Microsoft YaHei"/>
                <a:ea typeface="Microsoft YaHei"/>
              </a:rPr>
              <a:t xml:space="preserve">04 · </a:t>
            </a:r>
            <a:r>
              <a:rPr lang="zh-CN" sz="1050" spc="150">
                <a:solidFill>
                  <a:srgbClr val="94A3B8"/>
                </a:solidFill>
                <a:latin typeface="Microsoft YaHei"/>
                <a:ea typeface="Microsoft YaHei"/>
              </a:rPr>
              <a:t>怎么开始</a:t>
            </a:r>
            <a:endParaRPr/>
          </a:p>
        </p:txBody>
      </p:sp>
      <p:sp>
        <p:nvSpPr>
          <p:cNvPr id="869" name=""/>
          <p:cNvSpPr/>
          <p:nvPr/>
        </p:nvSpPr>
        <p:spPr>
          <a:xfrm rot="0" flipH="0" flipV="0">
            <a:off x="11201400" y="647700"/>
            <a:ext cx="419100" cy="38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870" name="" descr="{&quot;isTemplate&quot;:true,&quot;type&quot;:&quot;text&quot;}"/>
          <p:cNvSpPr txBox="1"/>
          <p:nvPr/>
        </p:nvSpPr>
        <p:spPr>
          <a:xfrm rot="0" flipH="0" flipV="0">
            <a:off x="571500" y="914400"/>
            <a:ext cx="110490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E293B"/>
                </a:solidFill>
                <a:latin typeface="Microsoft YaHei"/>
                <a:ea typeface="Microsoft YaHei"/>
              </a:rPr>
              <a:t>建议：</a:t>
            </a:r>
            <a:r>
              <a:rPr lang="en-US" sz="2550" b="1">
                <a:solidFill>
                  <a:srgbClr val="1E293B"/>
                </a:solidFill>
                <a:latin typeface="Microsoft YaHei"/>
                <a:ea typeface="Microsoft YaHei"/>
              </a:rPr>
              <a:t xml:space="preserve">30 </a:t>
            </a:r>
            <a:r>
              <a:rPr lang="zh-CN" sz="2550" b="1">
                <a:solidFill>
                  <a:srgbClr val="1E293B"/>
                </a:solidFill>
                <a:latin typeface="Microsoft YaHei"/>
                <a:ea typeface="Microsoft YaHei"/>
              </a:rPr>
              <a:t>天，验证一个真实场景</a:t>
            </a:r>
            <a:endParaRPr/>
          </a:p>
        </p:txBody>
      </p:sp>
      <p:sp>
        <p:nvSpPr>
          <p:cNvPr id="871" name=""/>
          <p:cNvSpPr/>
          <p:nvPr/>
        </p:nvSpPr>
        <p:spPr>
          <a:xfrm rot="0" flipH="0" flipV="0">
            <a:off x="571500" y="1533525"/>
            <a:ext cx="1104900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872" name=""/>
          <p:cNvSpPr/>
          <p:nvPr/>
        </p:nvSpPr>
        <p:spPr>
          <a:xfrm rot="0" flipH="0" flipV="0">
            <a:off x="571500" y="1733550"/>
            <a:ext cx="2857500" cy="3886200"/>
          </a:xfrm>
          <a:prstGeom prst="roundRect">
            <a:avLst>
              <a:gd name="adj" fmla="val 400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873" name="" descr="{&quot;isTemplate&quot;:true,&quot;type&quot;:&quot;text&quot;}"/>
          <p:cNvSpPr txBox="1"/>
          <p:nvPr/>
        </p:nvSpPr>
        <p:spPr>
          <a:xfrm rot="0" flipH="0" flipV="0">
            <a:off x="781050" y="2343150"/>
            <a:ext cx="2438400" cy="1009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600" b="1">
                <a:solidFill>
                  <a:srgbClr val="FFFFFF"/>
                </a:solidFill>
                <a:latin typeface="Microsoft YaHei"/>
                <a:ea typeface="Microsoft YaHei"/>
              </a:rPr>
              <a:t>30</a:t>
            </a:r>
            <a:endParaRPr/>
          </a:p>
        </p:txBody>
      </p:sp>
      <p:sp>
        <p:nvSpPr>
          <p:cNvPr id="874" name="" descr="{&quot;isTemplate&quot;:true,&quot;type&quot;:&quot;text&quot;}"/>
          <p:cNvSpPr txBox="1"/>
          <p:nvPr/>
        </p:nvSpPr>
        <p:spPr>
          <a:xfrm rot="0" flipH="0" flipV="0">
            <a:off x="781050" y="3429000"/>
            <a:ext cx="2438400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DBEAFE"/>
                </a:solidFill>
                <a:latin typeface="Microsoft YaHei"/>
                <a:ea typeface="Microsoft YaHei"/>
              </a:rPr>
              <a:t>天完成一次可决策的验证</a:t>
            </a:r>
            <a:endParaRPr/>
          </a:p>
        </p:txBody>
      </p:sp>
      <p:sp>
        <p:nvSpPr>
          <p:cNvPr id="875" name=""/>
          <p:cNvSpPr/>
          <p:nvPr/>
        </p:nvSpPr>
        <p:spPr>
          <a:xfrm rot="0" flipH="0" flipV="0">
            <a:off x="781050" y="3914775"/>
            <a:ext cx="2438400" cy="952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876" name="" descr="{&quot;isTemplate&quot;:true,&quot;type&quot;:&quot;text&quot;}"/>
          <p:cNvSpPr txBox="1"/>
          <p:nvPr/>
        </p:nvSpPr>
        <p:spPr>
          <a:xfrm rot="0" flipH="0" flipV="0">
            <a:off x="781050" y="4057650"/>
            <a:ext cx="2438400" cy="9620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350">
                <a:solidFill>
                  <a:srgbClr val="DBEAFE"/>
                </a:solidFill>
                <a:latin typeface="Microsoft YaHei"/>
                <a:ea typeface="Microsoft YaHei"/>
              </a:rPr>
              <a:t>需要的投入：</a:t>
            </a:r>
            <a:r>
              <a:rPr lang="en-US" sz="1350">
                <a:solidFill>
                  <a:srgbClr val="DBEAFE"/>
                </a:solidFill>
                <a:latin typeface="Microsoft YaHei"/>
                <a:ea typeface="Microsoft YaHei"/>
              </a:rPr>
              <a:t xml:space="preserve">1 </a:t>
            </a:r>
            <a:r>
              <a:rPr lang="zh-CN" sz="1350">
                <a:solidFill>
                  <a:srgbClr val="DBEAFE"/>
                </a:solidFill>
                <a:latin typeface="Microsoft YaHei"/>
                <a:ea typeface="Microsoft YaHei"/>
              </a:rPr>
              <a:t>位业务对接人，每天几条真实问题。产出：一份可以拿去开会的评估结论。</a:t>
            </a:r>
            <a:endParaRPr/>
          </a:p>
        </p:txBody>
      </p:sp>
      <p:sp>
        <p:nvSpPr>
          <p:cNvPr id="877" name=""/>
          <p:cNvSpPr/>
          <p:nvPr/>
        </p:nvSpPr>
        <p:spPr>
          <a:xfrm rot="0" flipH="0" flipV="0">
            <a:off x="3733800" y="1733550"/>
            <a:ext cx="7886700" cy="971550"/>
          </a:xfrm>
          <a:custGeom>
            <a:pathLst>
              <a:path w="828" h="102">
                <a:moveTo>
                  <a:pt x="0" y="101"/>
                </a:moveTo>
                <a:lnTo>
                  <a:pt x="828" y="101"/>
                </a:lnTo>
                <a:lnTo>
                  <a:pt x="828" y="102"/>
                </a:lnTo>
                <a:lnTo>
                  <a:pt x="0" y="102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p/>
        </p:txBody>
      </p:sp>
      <p:sp>
        <p:nvSpPr>
          <p:cNvPr id="878" name="" descr="{&quot;isTemplate&quot;:true,&quot;type&quot;:&quot;text&quot;}"/>
          <p:cNvSpPr txBox="1"/>
          <p:nvPr/>
        </p:nvSpPr>
        <p:spPr>
          <a:xfrm rot="0" flipH="0" flipV="0">
            <a:off x="3733800" y="2105025"/>
            <a:ext cx="9144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563EB"/>
                </a:solidFill>
                <a:latin typeface="Microsoft YaHei"/>
                <a:ea typeface="Microsoft YaHei"/>
              </a:rPr>
              <a:t>第</a:t>
            </a:r>
            <a:r>
              <a:rPr lang="en-US" sz="1500" b="1">
                <a:solidFill>
                  <a:srgbClr val="2563EB"/>
                </a:solidFill>
                <a:latin typeface="Microsoft YaHei"/>
                <a:ea typeface="Microsoft YaHei"/>
              </a:rPr>
              <a:t xml:space="preserve"> 1 </a:t>
            </a:r>
            <a:r>
              <a:rPr lang="zh-CN" sz="1500" b="1">
                <a:solidFill>
                  <a:srgbClr val="2563EB"/>
                </a:solidFill>
                <a:latin typeface="Microsoft YaHei"/>
                <a:ea typeface="Microsoft YaHei"/>
              </a:rPr>
              <a:t>周</a:t>
            </a:r>
            <a:endParaRPr/>
          </a:p>
        </p:txBody>
      </p:sp>
      <p:sp>
        <p:nvSpPr>
          <p:cNvPr id="879" name="" descr="{&quot;isTemplate&quot;:true,&quot;type&quot;:&quot;text&quot;}"/>
          <p:cNvSpPr txBox="1"/>
          <p:nvPr/>
        </p:nvSpPr>
        <p:spPr>
          <a:xfrm rot="0" flipH="0" flipV="0">
            <a:off x="4743450" y="1885950"/>
            <a:ext cx="6877050" cy="3048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500" b="1">
                <a:solidFill>
                  <a:srgbClr val="1E293B"/>
                </a:solidFill>
                <a:latin typeface="Microsoft YaHei"/>
                <a:ea typeface="Microsoft YaHei"/>
              </a:rPr>
              <a:t>选定场景，搭好环境</a:t>
            </a:r>
            <a:endParaRPr/>
          </a:p>
        </p:txBody>
      </p:sp>
      <p:sp>
        <p:nvSpPr>
          <p:cNvPr id="880" name="" descr="{&quot;isTemplate&quot;:true,&quot;type&quot;:&quot;text&quot;}"/>
          <p:cNvSpPr txBox="1"/>
          <p:nvPr/>
        </p:nvSpPr>
        <p:spPr>
          <a:xfrm rot="0" flipH="0" flipV="0">
            <a:off x="4743450" y="2228850"/>
            <a:ext cx="687705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确定</a:t>
            </a: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 xml:space="preserve"> 1 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个高频、可衡量的场景与业务对接人，部署试点环境、导入核心文档。</a:t>
            </a:r>
            <a:endParaRPr/>
          </a:p>
        </p:txBody>
      </p:sp>
      <p:sp>
        <p:nvSpPr>
          <p:cNvPr id="881" name=""/>
          <p:cNvSpPr/>
          <p:nvPr/>
        </p:nvSpPr>
        <p:spPr>
          <a:xfrm rot="0" flipH="0" flipV="0">
            <a:off x="3733800" y="2705100"/>
            <a:ext cx="7886700" cy="971550"/>
          </a:xfrm>
          <a:custGeom>
            <a:pathLst>
              <a:path w="828" h="102">
                <a:moveTo>
                  <a:pt x="0" y="101"/>
                </a:moveTo>
                <a:lnTo>
                  <a:pt x="828" y="101"/>
                </a:lnTo>
                <a:lnTo>
                  <a:pt x="828" y="102"/>
                </a:lnTo>
                <a:lnTo>
                  <a:pt x="0" y="102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p/>
        </p:txBody>
      </p:sp>
      <p:sp>
        <p:nvSpPr>
          <p:cNvPr id="882" name="" descr="{&quot;isTemplate&quot;:true,&quot;type&quot;:&quot;text&quot;}"/>
          <p:cNvSpPr txBox="1"/>
          <p:nvPr/>
        </p:nvSpPr>
        <p:spPr>
          <a:xfrm rot="0" flipH="0" flipV="0">
            <a:off x="3733800" y="3076575"/>
            <a:ext cx="9144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563EB"/>
                </a:solidFill>
                <a:latin typeface="Microsoft YaHei"/>
                <a:ea typeface="Microsoft YaHei"/>
              </a:rPr>
              <a:t>第</a:t>
            </a:r>
            <a:r>
              <a:rPr lang="en-US" sz="1500" b="1">
                <a:solidFill>
                  <a:srgbClr val="2563EB"/>
                </a:solidFill>
                <a:latin typeface="Microsoft YaHei"/>
                <a:ea typeface="Microsoft YaHei"/>
              </a:rPr>
              <a:t xml:space="preserve"> 2 </a:t>
            </a:r>
            <a:r>
              <a:rPr lang="zh-CN" sz="1500" b="1">
                <a:solidFill>
                  <a:srgbClr val="2563EB"/>
                </a:solidFill>
                <a:latin typeface="Microsoft YaHei"/>
                <a:ea typeface="Microsoft YaHei"/>
              </a:rPr>
              <a:t>周</a:t>
            </a:r>
            <a:endParaRPr/>
          </a:p>
        </p:txBody>
      </p:sp>
      <p:sp>
        <p:nvSpPr>
          <p:cNvPr id="883" name="" descr="{&quot;isTemplate&quot;:true,&quot;type&quot;:&quot;text&quot;}"/>
          <p:cNvSpPr txBox="1"/>
          <p:nvPr/>
        </p:nvSpPr>
        <p:spPr>
          <a:xfrm rot="0" flipH="0" flipV="0">
            <a:off x="4743450" y="2857500"/>
            <a:ext cx="6877050" cy="3048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500" b="1">
                <a:solidFill>
                  <a:srgbClr val="1E293B"/>
                </a:solidFill>
                <a:latin typeface="Microsoft YaHei"/>
                <a:ea typeface="Microsoft YaHei"/>
              </a:rPr>
              <a:t>配置专家，设定规则</a:t>
            </a:r>
            <a:endParaRPr/>
          </a:p>
        </p:txBody>
      </p:sp>
      <p:sp>
        <p:nvSpPr>
          <p:cNvPr id="884" name="" descr="{&quot;isTemplate&quot;:true,&quot;type&quot;:&quot;text&quot;}"/>
          <p:cNvSpPr txBox="1"/>
          <p:nvPr/>
        </p:nvSpPr>
        <p:spPr>
          <a:xfrm rot="0" flipH="0" flipV="0">
            <a:off x="4743450" y="3200400"/>
            <a:ext cx="687705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挑选或微调岗位专家，设定审批清单与使用规范，小范围内先行试用。</a:t>
            </a:r>
            <a:endParaRPr/>
          </a:p>
        </p:txBody>
      </p:sp>
      <p:sp>
        <p:nvSpPr>
          <p:cNvPr id="885" name=""/>
          <p:cNvSpPr/>
          <p:nvPr/>
        </p:nvSpPr>
        <p:spPr>
          <a:xfrm rot="0" flipH="0" flipV="0">
            <a:off x="3733800" y="3676650"/>
            <a:ext cx="7886700" cy="971550"/>
          </a:xfrm>
          <a:custGeom>
            <a:pathLst>
              <a:path w="828" h="102">
                <a:moveTo>
                  <a:pt x="0" y="101"/>
                </a:moveTo>
                <a:lnTo>
                  <a:pt x="828" y="101"/>
                </a:lnTo>
                <a:lnTo>
                  <a:pt x="828" y="102"/>
                </a:lnTo>
                <a:lnTo>
                  <a:pt x="0" y="102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p/>
        </p:txBody>
      </p:sp>
      <p:sp>
        <p:nvSpPr>
          <p:cNvPr id="886" name="" descr="{&quot;isTemplate&quot;:true,&quot;type&quot;:&quot;text&quot;}"/>
          <p:cNvSpPr txBox="1"/>
          <p:nvPr/>
        </p:nvSpPr>
        <p:spPr>
          <a:xfrm rot="0" flipH="0" flipV="0">
            <a:off x="3733800" y="4048125"/>
            <a:ext cx="9144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563EB"/>
                </a:solidFill>
                <a:latin typeface="Microsoft YaHei"/>
                <a:ea typeface="Microsoft YaHei"/>
              </a:rPr>
              <a:t>第</a:t>
            </a:r>
            <a:r>
              <a:rPr lang="en-US" sz="1500" b="1">
                <a:solidFill>
                  <a:srgbClr val="2563EB"/>
                </a:solidFill>
                <a:latin typeface="Microsoft YaHei"/>
                <a:ea typeface="Microsoft YaHei"/>
              </a:rPr>
              <a:t xml:space="preserve"> 3 </a:t>
            </a:r>
            <a:r>
              <a:rPr lang="zh-CN" sz="1500" b="1">
                <a:solidFill>
                  <a:srgbClr val="2563EB"/>
                </a:solidFill>
                <a:latin typeface="Microsoft YaHei"/>
                <a:ea typeface="Microsoft YaHei"/>
              </a:rPr>
              <a:t>周</a:t>
            </a:r>
            <a:endParaRPr/>
          </a:p>
        </p:txBody>
      </p:sp>
      <p:sp>
        <p:nvSpPr>
          <p:cNvPr id="887" name="" descr="{&quot;isTemplate&quot;:true,&quot;type&quot;:&quot;text&quot;}"/>
          <p:cNvSpPr txBox="1"/>
          <p:nvPr/>
        </p:nvSpPr>
        <p:spPr>
          <a:xfrm rot="0" flipH="0" flipV="0">
            <a:off x="4743450" y="3829050"/>
            <a:ext cx="6877050" cy="3048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500" b="1">
                <a:solidFill>
                  <a:srgbClr val="1E293B"/>
                </a:solidFill>
                <a:latin typeface="Microsoft YaHei"/>
                <a:ea typeface="Microsoft YaHei"/>
              </a:rPr>
              <a:t>真实使用，持续微调</a:t>
            </a:r>
            <a:endParaRPr/>
          </a:p>
        </p:txBody>
      </p:sp>
      <p:sp>
        <p:nvSpPr>
          <p:cNvPr id="888" name="" descr="{&quot;isTemplate&quot;:true,&quot;type&quot;:&quot;text&quot;}"/>
          <p:cNvSpPr txBox="1"/>
          <p:nvPr/>
        </p:nvSpPr>
        <p:spPr>
          <a:xfrm rot="0" flipH="0" flipV="0">
            <a:off x="4743450" y="4171950"/>
            <a:ext cx="687705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放进真实业务跑起来，按反馈补充知识库、调整话术，观察员工的使用意愿。</a:t>
            </a:r>
            <a:endParaRPr/>
          </a:p>
        </p:txBody>
      </p:sp>
      <p:sp>
        <p:nvSpPr>
          <p:cNvPr id="889" name="" descr="{&quot;isTemplate&quot;:true,&quot;type&quot;:&quot;text&quot;}"/>
          <p:cNvSpPr txBox="1"/>
          <p:nvPr/>
        </p:nvSpPr>
        <p:spPr>
          <a:xfrm rot="0" flipH="0" flipV="0">
            <a:off x="3733800" y="5019675"/>
            <a:ext cx="9144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59E0B"/>
                </a:solidFill>
                <a:latin typeface="Microsoft YaHei"/>
                <a:ea typeface="Microsoft YaHei"/>
              </a:rPr>
              <a:t>第</a:t>
            </a:r>
            <a:r>
              <a:rPr lang="en-US" sz="1500" b="1">
                <a:solidFill>
                  <a:srgbClr val="F59E0B"/>
                </a:solidFill>
                <a:latin typeface="Microsoft YaHei"/>
                <a:ea typeface="Microsoft YaHei"/>
              </a:rPr>
              <a:t xml:space="preserve"> 4 </a:t>
            </a:r>
            <a:r>
              <a:rPr lang="zh-CN" sz="1500" b="1">
                <a:solidFill>
                  <a:srgbClr val="F59E0B"/>
                </a:solidFill>
                <a:latin typeface="Microsoft YaHei"/>
                <a:ea typeface="Microsoft YaHei"/>
              </a:rPr>
              <a:t>周</a:t>
            </a:r>
            <a:endParaRPr/>
          </a:p>
        </p:txBody>
      </p:sp>
      <p:sp>
        <p:nvSpPr>
          <p:cNvPr id="890" name="" descr="{&quot;isTemplate&quot;:true,&quot;type&quot;:&quot;text&quot;}"/>
          <p:cNvSpPr txBox="1"/>
          <p:nvPr/>
        </p:nvSpPr>
        <p:spPr>
          <a:xfrm rot="0" flipH="0" flipV="0">
            <a:off x="4743450" y="4657725"/>
            <a:ext cx="6877050" cy="3048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500" b="1">
                <a:solidFill>
                  <a:srgbClr val="1E293B"/>
                </a:solidFill>
                <a:latin typeface="Microsoft YaHei"/>
                <a:ea typeface="Microsoft YaHei"/>
              </a:rPr>
              <a:t>复盘效果，决定下一步</a:t>
            </a:r>
            <a:endParaRPr/>
          </a:p>
        </p:txBody>
      </p:sp>
      <p:sp>
        <p:nvSpPr>
          <p:cNvPr id="891" name="" descr="{&quot;isTemplate&quot;:true,&quot;type&quot;:&quot;text&quot;}"/>
          <p:cNvSpPr txBox="1"/>
          <p:nvPr/>
        </p:nvSpPr>
        <p:spPr>
          <a:xfrm rot="0" flipH="0" flipV="0">
            <a:off x="4743450" y="5000625"/>
            <a:ext cx="687705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看三个问题：答得准不准、处理快没快、员工愿不愿用——据此决定扩大、调整还是停止。</a:t>
            </a:r>
            <a:endParaRPr/>
          </a:p>
        </p:txBody>
      </p:sp>
      <p:sp>
        <p:nvSpPr>
          <p:cNvPr id="892" name=""/>
          <p:cNvSpPr/>
          <p:nvPr/>
        </p:nvSpPr>
        <p:spPr>
          <a:xfrm rot="0" flipH="0" flipV="0">
            <a:off x="571500" y="5734050"/>
            <a:ext cx="11049000" cy="552450"/>
          </a:xfrm>
          <a:prstGeom prst="roundRect">
            <a:avLst>
              <a:gd name="adj" fmla="val 17241"/>
            </a:avLst>
          </a:prstGeom>
          <a:solidFill>
            <a:srgbClr val="FFF7E9"/>
          </a:solidFill>
          <a:ln/>
        </p:spPr>
        <p:txBody>
          <a:bodyPr/>
          <a:p/>
        </p:txBody>
      </p:sp>
      <p:sp>
        <p:nvSpPr>
          <p:cNvPr id="893" name="" descr="{&quot;isTemplate&quot;:true,&quot;type&quot;:&quot;text&quot;}"/>
          <p:cNvSpPr txBox="1"/>
          <p:nvPr/>
        </p:nvSpPr>
        <p:spPr>
          <a:xfrm rot="0" flipH="0" flipV="0">
            <a:off x="704850" y="5857875"/>
            <a:ext cx="10782300" cy="3048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425" b="1">
                <a:solidFill>
                  <a:srgbClr val="7C2D12"/>
                </a:solidFill>
                <a:latin typeface="Microsoft YaHei"/>
                <a:ea typeface="Microsoft YaHei"/>
              </a:rPr>
              <a:t>不需要先签合同再验证：装好跑通一个场景，再决定要不要扩大到全公司。</a:t>
            </a:r>
            <a:endParaRPr/>
          </a:p>
        </p:txBody>
      </p:sp>
    </p:spTree>
  </p:cSld>
</p:sld>
</file>

<file path=ppt/slides/slide41.xml><?xml version="1.0" encoding="utf-8"?>
<p:sld xmlns:p="http://schemas.openxmlformats.org/presentationml/2006/main" xmlns:a="http://schemas.openxmlformats.org/drawingml/2006/main">
  <p:cSld>
    <p:spTree>
      <p:nvGrpSpPr>
        <p:cNvPr id="894" name="" descr="&lt;Slide style={{ padding: 60, background: '#FFFFFF' }}&gt;&#10;    &lt;Box style={{ height: 600 }}&gt;&#10;        &lt;Box style={{ height: 20, flexDirection: 'row', justifyContent: 'space-between', alignItems: 'center' }}&gt;&#10;            &lt;Text style={{ fontSize: 14, color: '#94A3B8', letterSpacing: 2 }}&gt;04 · 怎么开始&lt;/Text&gt;&#10;            &lt;Box style={{ width: 44, height: 4, borderRadius: 2, background: '#2563EB' }} /&gt;&#10;        &lt;/Box&gt;&#10;        &lt;Text style={{ fontSize: 34, fontWeight: 'bold', color: '#1E293B', marginTop: 16, lineHeight: 1.2 }}&gt;&#10;            试点常见问题：顾虑都有对应答案&#10;        &lt;/Text&gt;&#10;        &lt;Box style={{ height: 1, background: '#E2E8F0', marginTop: 16 }} /&gt;&#10;&#10;        &lt;Box style={{ marginTop: 20, gap: 12 }}&gt;&#10;            &lt;Box style={{ height: 84, background: '#F4F6FB', borderRadius: 10, padding: 16 }}&gt;&#10;                &lt;Text style={{ fontSize: 20, fontWeight: '600', color: '#2563EB', lineHeight: 1.3 }}&gt;要不要先买服务器、先立项采购？&lt;/Text&gt;&#10;                &lt;Text style={{ fontSize: 18, color: '#475569', lineHeight: 1.5, marginTop: 4 }}&gt;&#10;                    不用。一台笔记本就能起步验证；开源许可，不需要为「试一试」先走采购流程。&#10;                &lt;/Text&gt;&#10;            &lt;/Box&gt;&#10;            &lt;Box style={{ height: 84, background: '#F4F6FB', borderRadius: 10, padding: 16 }}&gt;&#10;                &lt;Text style={{ fontSize: 20, fontWeight: '600', color: '#2563EB', lineHeight: 1.3 }}&gt;员工会用吗？培训成本高不高？&lt;/Text&gt;&#10;                &lt;Text style={{ fontSize: 18, color: '#475569', lineHeight: 1.5, marginTop: 4 }}&gt;&#10;                    在飞书、钉钉、企业微信里直接对话即可，会打字就会用；33 个岗位专家开箱即用，不需要写提示词。&#10;                &lt;/Text&gt;&#10;            &lt;/Box&gt;&#10;            &lt;Box style={{ height: 84, background: '#F4F6FB', borderRadius: 10, padding: 16 }}&gt;&#10;                &lt;Text style={{ fontSize: 20, fontWeight: '600', color: '#2563EB', lineHeight: 1.3 }}&gt;数据会不会泄露？&lt;/Text&gt;&#10;                &lt;Text style={{ fontSize: 18, color: '#475569', lineHeight: 1.5, marginTop: 4 }}&gt;&#10;                    本地部署、数据不出内网；脱敏策略可配置，敏感场景可完全离线运行，出站访问可控。&#10;                &lt;/Text&gt;&#10;            &lt;/Box&gt;&#10;            &lt;Box style={{ height: 84, background: '#FFF7E9', borderRadius: 10, padding: 16 }}&gt;&#10;                &lt;Text style={{ fontSize: 20, fontWeight: '600', color: '#B45309', lineHeight: 1.3 }}&gt;效果怎么衡量？说不清楚怎么向管理层交代？&lt;/Text&gt;&#10;                &lt;Text style={{ fontSize: 18, color: '#7C2D12', lineHeight: 1.5, marginTop: 4 }}&gt;&#10;                    用三个可观察的维度：答得准不准（抽样核对）、处理快没快（前后对比）、员工愿不愿用（使用频次）——试点报告就写这三件事。&#10;                &lt;/Text&gt;&#10;            &lt;/Box&gt;&#10;        &lt;/Box&gt;&#10;&#10;        {/* 结论条 */}&#10;        &lt;Box style={{ height: 58, background: '#E8EEFB', borderRadius: 10, padding: 14, marginTop: 16, justifyContent: 'center' }}&gt;&#10;            &lt;Text style={{ fontSize: 19, fontWeight: '600', color: '#1E293B', lineHeight: 1.4 }}&gt;&#10;                质疑是试点的一部分：把顾虑列出来，30 天里逐条验证，答案比承诺有说服力。&#10;            &lt;/Text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96" name="" descr="{&quot;isTemplate&quot;:true,&quot;type&quot;:&quot;text&quot;}"/>
          <p:cNvSpPr txBox="1"/>
          <p:nvPr/>
        </p:nvSpPr>
        <p:spPr>
          <a:xfrm rot="0" flipH="0" flipV="0">
            <a:off x="571500" y="590550"/>
            <a:ext cx="981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94A3B8"/>
                </a:solidFill>
                <a:latin typeface="Microsoft YaHei"/>
                <a:ea typeface="Microsoft YaHei"/>
              </a:rPr>
              <a:t xml:space="preserve">04 · </a:t>
            </a:r>
            <a:r>
              <a:rPr lang="zh-CN" sz="1050" spc="150">
                <a:solidFill>
                  <a:srgbClr val="94A3B8"/>
                </a:solidFill>
                <a:latin typeface="Microsoft YaHei"/>
                <a:ea typeface="Microsoft YaHei"/>
              </a:rPr>
              <a:t>怎么开始</a:t>
            </a:r>
            <a:endParaRPr/>
          </a:p>
        </p:txBody>
      </p:sp>
      <p:sp>
        <p:nvSpPr>
          <p:cNvPr id="897" name=""/>
          <p:cNvSpPr/>
          <p:nvPr/>
        </p:nvSpPr>
        <p:spPr>
          <a:xfrm rot="0" flipH="0" flipV="0">
            <a:off x="11201400" y="647700"/>
            <a:ext cx="419100" cy="38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898" name="" descr="{&quot;isTemplate&quot;:true,&quot;type&quot;:&quot;text&quot;}"/>
          <p:cNvSpPr txBox="1"/>
          <p:nvPr/>
        </p:nvSpPr>
        <p:spPr>
          <a:xfrm rot="0" flipH="0" flipV="0">
            <a:off x="571500" y="914400"/>
            <a:ext cx="110490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E293B"/>
                </a:solidFill>
                <a:latin typeface="Microsoft YaHei"/>
                <a:ea typeface="Microsoft YaHei"/>
              </a:rPr>
              <a:t>试点常见问题：顾虑都有对应答案</a:t>
            </a:r>
            <a:endParaRPr/>
          </a:p>
        </p:txBody>
      </p:sp>
      <p:sp>
        <p:nvSpPr>
          <p:cNvPr id="899" name=""/>
          <p:cNvSpPr/>
          <p:nvPr/>
        </p:nvSpPr>
        <p:spPr>
          <a:xfrm rot="0" flipH="0" flipV="0">
            <a:off x="571500" y="1533525"/>
            <a:ext cx="1104900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900" name=""/>
          <p:cNvSpPr/>
          <p:nvPr/>
        </p:nvSpPr>
        <p:spPr>
          <a:xfrm rot="0" flipH="0" flipV="0">
            <a:off x="571500" y="1733550"/>
            <a:ext cx="11049000" cy="800100"/>
          </a:xfrm>
          <a:prstGeom prst="roundRect">
            <a:avLst>
              <a:gd name="adj" fmla="val 11905"/>
            </a:avLst>
          </a:prstGeom>
          <a:solidFill>
            <a:srgbClr val="F4F6FB"/>
          </a:solidFill>
          <a:ln/>
        </p:spPr>
        <p:txBody>
          <a:bodyPr/>
          <a:p/>
        </p:txBody>
      </p:sp>
      <p:sp>
        <p:nvSpPr>
          <p:cNvPr id="901" name="" descr="{&quot;isTemplate&quot;:true,&quot;type&quot;:&quot;text&quot;}"/>
          <p:cNvSpPr txBox="1"/>
          <p:nvPr/>
        </p:nvSpPr>
        <p:spPr>
          <a:xfrm rot="0" flipH="0" flipV="0">
            <a:off x="723900" y="1885950"/>
            <a:ext cx="10744200" cy="3048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500" b="1">
                <a:solidFill>
                  <a:srgbClr val="2563EB"/>
                </a:solidFill>
                <a:latin typeface="Microsoft YaHei"/>
                <a:ea typeface="Microsoft YaHei"/>
              </a:rPr>
              <a:t>要不要先买服务器、先立项采购？</a:t>
            </a:r>
            <a:endParaRPr/>
          </a:p>
        </p:txBody>
      </p:sp>
      <p:sp>
        <p:nvSpPr>
          <p:cNvPr id="902" name="" descr="{&quot;isTemplate&quot;:true,&quot;type&quot;:&quot;text&quot;}"/>
          <p:cNvSpPr txBox="1"/>
          <p:nvPr/>
        </p:nvSpPr>
        <p:spPr>
          <a:xfrm rot="0" flipH="0" flipV="0">
            <a:off x="723900" y="2228850"/>
            <a:ext cx="107442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不用。一台笔记本就能起步验证；开源许可，不需要为「试一试」先走采购流程。</a:t>
            </a:r>
            <a:endParaRPr/>
          </a:p>
        </p:txBody>
      </p:sp>
      <p:sp>
        <p:nvSpPr>
          <p:cNvPr id="903" name=""/>
          <p:cNvSpPr/>
          <p:nvPr/>
        </p:nvSpPr>
        <p:spPr>
          <a:xfrm rot="0" flipH="0" flipV="0">
            <a:off x="571500" y="2647950"/>
            <a:ext cx="11049000" cy="800100"/>
          </a:xfrm>
          <a:prstGeom prst="roundRect">
            <a:avLst>
              <a:gd name="adj" fmla="val 11905"/>
            </a:avLst>
          </a:prstGeom>
          <a:solidFill>
            <a:srgbClr val="F4F6FB"/>
          </a:solidFill>
          <a:ln/>
        </p:spPr>
        <p:txBody>
          <a:bodyPr/>
          <a:p/>
        </p:txBody>
      </p:sp>
      <p:sp>
        <p:nvSpPr>
          <p:cNvPr id="904" name="" descr="{&quot;isTemplate&quot;:true,&quot;type&quot;:&quot;text&quot;}"/>
          <p:cNvSpPr txBox="1"/>
          <p:nvPr/>
        </p:nvSpPr>
        <p:spPr>
          <a:xfrm rot="0" flipH="0" flipV="0">
            <a:off x="723900" y="2800350"/>
            <a:ext cx="10744200" cy="3048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500" b="1">
                <a:solidFill>
                  <a:srgbClr val="2563EB"/>
                </a:solidFill>
                <a:latin typeface="Microsoft YaHei"/>
                <a:ea typeface="Microsoft YaHei"/>
              </a:rPr>
              <a:t>员工会用吗？培训成本高不高？</a:t>
            </a:r>
            <a:endParaRPr/>
          </a:p>
        </p:txBody>
      </p:sp>
      <p:sp>
        <p:nvSpPr>
          <p:cNvPr id="905" name="" descr="{&quot;isTemplate&quot;:true,&quot;type&quot;:&quot;text&quot;}"/>
          <p:cNvSpPr txBox="1"/>
          <p:nvPr/>
        </p:nvSpPr>
        <p:spPr>
          <a:xfrm rot="0" flipH="0" flipV="0">
            <a:off x="723900" y="3143250"/>
            <a:ext cx="107442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在飞书、钉钉、企业微信里直接对话即可，会打字就会用；</a:t>
            </a: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 xml:space="preserve">33 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个岗位专家开箱即用，不需要写提示词。</a:t>
            </a:r>
            <a:endParaRPr/>
          </a:p>
        </p:txBody>
      </p:sp>
      <p:sp>
        <p:nvSpPr>
          <p:cNvPr id="906" name=""/>
          <p:cNvSpPr/>
          <p:nvPr/>
        </p:nvSpPr>
        <p:spPr>
          <a:xfrm rot="0" flipH="0" flipV="0">
            <a:off x="571500" y="3562350"/>
            <a:ext cx="11049000" cy="800100"/>
          </a:xfrm>
          <a:prstGeom prst="roundRect">
            <a:avLst>
              <a:gd name="adj" fmla="val 11905"/>
            </a:avLst>
          </a:prstGeom>
          <a:solidFill>
            <a:srgbClr val="F4F6FB"/>
          </a:solidFill>
          <a:ln/>
        </p:spPr>
        <p:txBody>
          <a:bodyPr/>
          <a:p/>
        </p:txBody>
      </p:sp>
      <p:sp>
        <p:nvSpPr>
          <p:cNvPr id="907" name="" descr="{&quot;isTemplate&quot;:true,&quot;type&quot;:&quot;text&quot;}"/>
          <p:cNvSpPr txBox="1"/>
          <p:nvPr/>
        </p:nvSpPr>
        <p:spPr>
          <a:xfrm rot="0" flipH="0" flipV="0">
            <a:off x="723900" y="3714750"/>
            <a:ext cx="10744200" cy="3048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500" b="1">
                <a:solidFill>
                  <a:srgbClr val="2563EB"/>
                </a:solidFill>
                <a:latin typeface="Microsoft YaHei"/>
                <a:ea typeface="Microsoft YaHei"/>
              </a:rPr>
              <a:t>数据会不会泄露？</a:t>
            </a:r>
            <a:endParaRPr/>
          </a:p>
        </p:txBody>
      </p:sp>
      <p:sp>
        <p:nvSpPr>
          <p:cNvPr id="908" name="" descr="{&quot;isTemplate&quot;:true,&quot;type&quot;:&quot;text&quot;}"/>
          <p:cNvSpPr txBox="1"/>
          <p:nvPr/>
        </p:nvSpPr>
        <p:spPr>
          <a:xfrm rot="0" flipH="0" flipV="0">
            <a:off x="723900" y="4057650"/>
            <a:ext cx="107442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本地部署、数据不出内网；脱敏策略可配置，敏感场景可完全离线运行，出站访问可控。</a:t>
            </a:r>
            <a:endParaRPr/>
          </a:p>
        </p:txBody>
      </p:sp>
      <p:sp>
        <p:nvSpPr>
          <p:cNvPr id="909" name=""/>
          <p:cNvSpPr/>
          <p:nvPr/>
        </p:nvSpPr>
        <p:spPr>
          <a:xfrm rot="0" flipH="0" flipV="0">
            <a:off x="571500" y="4476750"/>
            <a:ext cx="11049000" cy="800100"/>
          </a:xfrm>
          <a:prstGeom prst="roundRect">
            <a:avLst>
              <a:gd name="adj" fmla="val 11905"/>
            </a:avLst>
          </a:prstGeom>
          <a:solidFill>
            <a:srgbClr val="FFF7E9"/>
          </a:solidFill>
          <a:ln/>
        </p:spPr>
        <p:txBody>
          <a:bodyPr/>
          <a:p/>
        </p:txBody>
      </p:sp>
      <p:sp>
        <p:nvSpPr>
          <p:cNvPr id="910" name="" descr="{&quot;isTemplate&quot;:true,&quot;type&quot;:&quot;text&quot;}"/>
          <p:cNvSpPr txBox="1"/>
          <p:nvPr/>
        </p:nvSpPr>
        <p:spPr>
          <a:xfrm rot="0" flipH="0" flipV="0">
            <a:off x="723900" y="4629150"/>
            <a:ext cx="10744200" cy="3048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500" b="1">
                <a:solidFill>
                  <a:srgbClr val="B45309"/>
                </a:solidFill>
                <a:latin typeface="Microsoft YaHei"/>
                <a:ea typeface="Microsoft YaHei"/>
              </a:rPr>
              <a:t>效果怎么衡量？说不清楚怎么向管理层交代？</a:t>
            </a:r>
            <a:endParaRPr/>
          </a:p>
        </p:txBody>
      </p:sp>
      <p:sp>
        <p:nvSpPr>
          <p:cNvPr id="911" name="" descr="{&quot;isTemplate&quot;:true,&quot;type&quot;:&quot;text&quot;}"/>
          <p:cNvSpPr txBox="1"/>
          <p:nvPr/>
        </p:nvSpPr>
        <p:spPr>
          <a:xfrm rot="0" flipH="0" flipV="0">
            <a:off x="723900" y="4972050"/>
            <a:ext cx="107442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7C2D12"/>
                </a:solidFill>
                <a:latin typeface="Microsoft YaHei"/>
                <a:ea typeface="Microsoft YaHei"/>
              </a:rPr>
              <a:t>用三个可观察的维度：答得准不准（抽样核对）、处理快没快（前后对比）、员工愿不愿用（使用频次）——试点报告就写这三件事。</a:t>
            </a:r>
            <a:endParaRPr/>
          </a:p>
        </p:txBody>
      </p:sp>
      <p:sp>
        <p:nvSpPr>
          <p:cNvPr id="912" name=""/>
          <p:cNvSpPr/>
          <p:nvPr/>
        </p:nvSpPr>
        <p:spPr>
          <a:xfrm rot="0" flipH="0" flipV="0">
            <a:off x="571500" y="5429250"/>
            <a:ext cx="11049000" cy="552450"/>
          </a:xfrm>
          <a:prstGeom prst="roundRect">
            <a:avLst>
              <a:gd name="adj" fmla="val 17241"/>
            </a:avLst>
          </a:prstGeom>
          <a:solidFill>
            <a:srgbClr val="E8EEFB"/>
          </a:solidFill>
          <a:ln/>
        </p:spPr>
        <p:txBody>
          <a:bodyPr/>
          <a:p/>
        </p:txBody>
      </p:sp>
      <p:sp>
        <p:nvSpPr>
          <p:cNvPr id="913" name="" descr="{&quot;isTemplate&quot;:true,&quot;type&quot;:&quot;text&quot;}"/>
          <p:cNvSpPr txBox="1"/>
          <p:nvPr/>
        </p:nvSpPr>
        <p:spPr>
          <a:xfrm rot="0" flipH="0" flipV="0">
            <a:off x="704850" y="5553075"/>
            <a:ext cx="10782300" cy="3048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425" b="1">
                <a:solidFill>
                  <a:srgbClr val="1E293B"/>
                </a:solidFill>
                <a:latin typeface="Microsoft YaHei"/>
                <a:ea typeface="Microsoft YaHei"/>
              </a:rPr>
              <a:t>质疑是试点的一部分：把顾虑列出来，</a:t>
            </a:r>
            <a:r>
              <a:rPr lang="en-US" sz="1425" b="1">
                <a:solidFill>
                  <a:srgbClr val="1E293B"/>
                </a:solidFill>
                <a:latin typeface="Microsoft YaHei"/>
                <a:ea typeface="Microsoft YaHei"/>
              </a:rPr>
              <a:t xml:space="preserve">30 </a:t>
            </a:r>
            <a:r>
              <a:rPr lang="zh-CN" sz="1425" b="1">
                <a:solidFill>
                  <a:srgbClr val="1E293B"/>
                </a:solidFill>
                <a:latin typeface="Microsoft YaHei"/>
                <a:ea typeface="Microsoft YaHei"/>
              </a:rPr>
              <a:t>天里逐条验证，答案比承诺有说服力。</a:t>
            </a:r>
            <a:endParaRPr/>
          </a:p>
        </p:txBody>
      </p:sp>
    </p:spTree>
  </p:cSld>
</p:sld>
</file>

<file path=ppt/slides/slide42.xml><?xml version="1.0" encoding="utf-8"?>
<p:sld xmlns:p="http://schemas.openxmlformats.org/presentationml/2006/main" xmlns:a="http://schemas.openxmlformats.org/drawingml/2006/main">
  <p:cSld>
    <p:spTree>
      <p:nvGrpSpPr>
        <p:cNvPr id="914" name="" descr="&lt;Slide style={{ padding: 60, background: '#FFFFFF' }}&gt;&#13;&#10;    &lt;Box style={{ height: 600 }}&gt;&#13;&#10;        &lt;Box style={{ height: 20, flexDirection: 'row', justifyContent: 'space-between', alignItems: 'center' }}&gt;&#13;&#10;            &lt;Text style={{ fontSize: 14, color: '#94A3B8', letterSpacing: 2 }}&gt;04 · 怎么开始&lt;/Text&gt;&#13;&#10;            &lt;Box style={{ width: 44, height: 4, borderRadius: 2, background: '#2563EB' }} /&gt;&#13;&#10;        &lt;/Box&gt;&#13;&#10;        &lt;Text style={{ fontSize: 34, fontWeight: 'bold', color: '#1E293B', marginTop: 16, lineHeight: 1.2 }}&gt;&#13;&#10;            路线图：已经做到的、正在做的、打算做的&#13;&#10;        &lt;/Text&gt;&#13;&#10;        &lt;Box style={{ height: 1, background: '#E2E8F0', marginTop: 16 }} /&gt;&#13;&#10;&#13;&#10;        &lt;Box style={{ marginTop: 20, gap: 14 }}&gt;&#13;&#10;            &lt;Box style={{ height: 96, flexDirection: 'row', background: '#E8EEFB', borderRadius: 12, padding: 18 }}&gt;&#13;&#10;                &lt;Box style={{ width: 170, justifyContent: 'center' }}&gt;&#13;&#10;                    &lt;Text style={{ fontSize: 22, fontWeight: 'bold', color: '#2563EB' }}&gt;已完成&lt;/Text&gt;&#13;&#10;                    &lt;Text style={{ fontSize: 16, color: '#64748B', lineHeight: 1.3, marginTop: 2 }}&gt;已可交付&lt;/Text&gt;&#13;&#10;                &lt;/Box&gt;&#13;&#10;                &lt;Box style={{ flex: 1, justifyContent: 'center', marginLeft: 12 }}&gt;&#13;&#10;                    &lt;Text style={{ fontSize: 18, color: '#1E293B', lineHeight: 1.55 }}&gt;&#13;&#10;                        资源共享池、专家共享、桌面客户端、IM 全平台通道——这四项可以当场演示、直接用起来。&#13;&#10;                    &lt;/Text&gt;&#13;&#10;                &lt;/Box&gt;&#13;&#10;            &lt;/Box&gt;&#13;&#10;            &lt;Box style={{ height: 96, flexDirection: 'row', background: '#D6E4F9', borderRadius: 12, padding: 18 }}&gt;&#13;&#10;                &lt;Box style={{ width: 170, justifyContent: 'center' }}&gt;&#13;&#10;                    &lt;Text style={{ fontSize: 22, fontWeight: 'bold', color: '#1E293B' }}&gt;进行中&lt;/Text&gt;&#13;&#10;                    &lt;Text style={{ fontSize: 16, color: '#64748B', lineHeight: 1.3, marginTop: 2 }}&gt;可用，仍在打磨&lt;/Text&gt;&#13;&#10;                &lt;/Box&gt;&#13;&#10;                &lt;Box style={{ flex: 1, justifyContent: 'center', marginLeft: 12 }}&gt;&#13;&#10;                    &lt;Text style={{ fontSize: 18, color: '#1E293B', lineHeight: 1.55 }}&gt;&#13;&#10;                        多智能体团队编排（Beta）、移动端客户端（内测）——想用可以先用，但按「打磨中」预期管理。&#13;&#10;                    &lt;/Text&gt;&#13;&#10;                &lt;/Box&gt;&#13;&#10;            &lt;/Box&gt;&#13;&#10;            &lt;Box style={{ height: 96, flexDirection: 'row', background: '#FFF7E9', borderRadius: 12, padding: 18 }}&gt;&#13;&#10;                &lt;Box style={{ width: 170, justifyContent: 'center' }}&gt;&#13;&#10;                    &lt;Text style={{ fontSize: 22, fontWeight: 'bold', color: '#B45309' }}&gt;规划中&lt;/Text&gt;&#13;&#10;                    &lt;Text style={{ fontSize: 16, color: '#64748B', lineHeight: 1.3, marginTop: 2 }}&gt;方向明确，不承诺时间&lt;/Text&gt;&#13;&#10;                &lt;/Box&gt;&#13;&#10;                &lt;Box style={{ flex: 1, justifyContent: 'center', marginLeft: 12 }}&gt;&#13;&#10;                    &lt;Text style={{ fontSize: 18, color: '#1E293B', lineHeight: 1.55 }}&gt;&#13;&#10;                        自进化能力、企业知识大脑、插件市场、对话式控制面——评估时请以「已完成」与「进行中」的实测为准。&#13;&#10;                    &lt;/Text&gt;&#13;&#10;                &lt;/Box&gt;&#13;&#10;            &lt;/Box&gt;&#13;&#10;        &lt;/Box&gt;&#13;&#10;&#13;&#10;        &lt;Box style={{ flexDirection: 'row', marginTop: 16, gap: 16 }}&gt;&#13;&#10;            &lt;Box style={{ flex: 1 }}&gt;&#13;&#10;                &lt;Text style={{ fontSize: 18, color: '#475569', lineHeight: 1.55 }}&gt;&#13;&#10;                    版本节奏：产品持续更新，升级前可一键备份，配置与数据平滑延续。&#13;&#10;                &lt;/Text&gt;&#13;&#10;            &lt;/Box&gt;&#13;&#10;            &lt;Box style={{ width: 1, background: '#E2E8F0' }} /&gt;&#13;&#10;            &lt;Box style={{ flex: 1 }}&gt;&#13;&#10;                &lt;Text style={{ fontSize: 18, color: '#475569', lineHeight: 1.55 }}&gt;&#13;&#10;                    开源托管：代码公开可审计，企业可自行二次开发，不被单一厂商绑定。&#13;&#10;                &lt;/Text&gt;&#13;&#10;            &lt;/Box&gt;&#13;&#10;        &lt;/Box&gt;&#13;&#10;&#13;&#10;        {/* 结论条 */}&#13;&#10;        &lt;Box style={{ height: 52, background: '#E8EEFB', borderRadius: 10, padding: 14, marginTop: 10, justifyContent: 'center' }}&gt;&#13;&#10;            &lt;Text style={{ fontSize: 19, fontWeight: '600', color: '#1E293B', lineHeight: 1.4 }}&gt;&#13;&#10;                成熟度的判断依据不是路线图有多长，而是「已完成」那一栏能当场演示多少。&#13;&#10;            &lt;/Text&gt;&#13;&#10;        &lt;/Box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16" name="" descr="{&quot;isTemplate&quot;:true,&quot;type&quot;:&quot;text&quot;}"/>
          <p:cNvSpPr txBox="1"/>
          <p:nvPr/>
        </p:nvSpPr>
        <p:spPr>
          <a:xfrm rot="0" flipH="0" flipV="0">
            <a:off x="571500" y="590550"/>
            <a:ext cx="981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94A3B8"/>
                </a:solidFill>
                <a:latin typeface="Microsoft YaHei"/>
                <a:ea typeface="Microsoft YaHei"/>
              </a:rPr>
              <a:t xml:space="preserve">04 · </a:t>
            </a:r>
            <a:r>
              <a:rPr lang="zh-CN" sz="1050" spc="150">
                <a:solidFill>
                  <a:srgbClr val="94A3B8"/>
                </a:solidFill>
                <a:latin typeface="Microsoft YaHei"/>
                <a:ea typeface="Microsoft YaHei"/>
              </a:rPr>
              <a:t>怎么开始</a:t>
            </a:r>
            <a:endParaRPr/>
          </a:p>
        </p:txBody>
      </p:sp>
      <p:sp>
        <p:nvSpPr>
          <p:cNvPr id="917" name=""/>
          <p:cNvSpPr/>
          <p:nvPr/>
        </p:nvSpPr>
        <p:spPr>
          <a:xfrm rot="0" flipH="0" flipV="0">
            <a:off x="11201400" y="647700"/>
            <a:ext cx="419100" cy="38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918" name="" descr="{&quot;isTemplate&quot;:true,&quot;type&quot;:&quot;text&quot;}"/>
          <p:cNvSpPr txBox="1"/>
          <p:nvPr/>
        </p:nvSpPr>
        <p:spPr>
          <a:xfrm rot="0" flipH="0" flipV="0">
            <a:off x="571500" y="914400"/>
            <a:ext cx="110490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E293B"/>
                </a:solidFill>
                <a:latin typeface="Microsoft YaHei"/>
                <a:ea typeface="Microsoft YaHei"/>
              </a:rPr>
              <a:t>路线图：已经做到的、正在做的、打算做的</a:t>
            </a:r>
            <a:endParaRPr/>
          </a:p>
        </p:txBody>
      </p:sp>
      <p:sp>
        <p:nvSpPr>
          <p:cNvPr id="919" name=""/>
          <p:cNvSpPr/>
          <p:nvPr/>
        </p:nvSpPr>
        <p:spPr>
          <a:xfrm rot="0" flipH="0" flipV="0">
            <a:off x="571500" y="1533525"/>
            <a:ext cx="1104900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920" name=""/>
          <p:cNvSpPr/>
          <p:nvPr/>
        </p:nvSpPr>
        <p:spPr>
          <a:xfrm rot="0" flipH="0" flipV="0">
            <a:off x="571500" y="1733550"/>
            <a:ext cx="11049000" cy="914400"/>
          </a:xfrm>
          <a:prstGeom prst="roundRect">
            <a:avLst>
              <a:gd name="adj" fmla="val 12500"/>
            </a:avLst>
          </a:prstGeom>
          <a:solidFill>
            <a:srgbClr val="E8EEFB"/>
          </a:solidFill>
          <a:ln/>
        </p:spPr>
        <p:txBody>
          <a:bodyPr/>
          <a:p/>
        </p:txBody>
      </p:sp>
      <p:sp>
        <p:nvSpPr>
          <p:cNvPr id="921" name="" descr="{&quot;isTemplate&quot;:true,&quot;type&quot;:&quot;text&quot;}"/>
          <p:cNvSpPr txBox="1"/>
          <p:nvPr/>
        </p:nvSpPr>
        <p:spPr>
          <a:xfrm rot="0" flipH="0" flipV="0">
            <a:off x="742950" y="1933575"/>
            <a:ext cx="16192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563EB"/>
                </a:solidFill>
                <a:latin typeface="Microsoft YaHei"/>
                <a:ea typeface="Microsoft YaHei"/>
              </a:rPr>
              <a:t>已完成</a:t>
            </a:r>
            <a:endParaRPr/>
          </a:p>
        </p:txBody>
      </p:sp>
      <p:sp>
        <p:nvSpPr>
          <p:cNvPr id="922" name="" descr="{&quot;isTemplate&quot;:true,&quot;type&quot;:&quot;text&quot;}"/>
          <p:cNvSpPr txBox="1"/>
          <p:nvPr/>
        </p:nvSpPr>
        <p:spPr>
          <a:xfrm rot="0" flipH="0" flipV="0">
            <a:off x="742950" y="2209800"/>
            <a:ext cx="1619250" cy="2381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已可交付</a:t>
            </a:r>
            <a:endParaRPr/>
          </a:p>
        </p:txBody>
      </p:sp>
      <p:sp>
        <p:nvSpPr>
          <p:cNvPr id="923" name="" descr="{&quot;isTemplate&quot;:true,&quot;type&quot;:&quot;text&quot;}"/>
          <p:cNvSpPr txBox="1"/>
          <p:nvPr/>
        </p:nvSpPr>
        <p:spPr>
          <a:xfrm rot="0" flipH="0" flipV="0">
            <a:off x="2476500" y="2028825"/>
            <a:ext cx="8972550" cy="3238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350">
                <a:solidFill>
                  <a:srgbClr val="1E293B"/>
                </a:solidFill>
                <a:latin typeface="Microsoft YaHei"/>
                <a:ea typeface="Microsoft YaHei"/>
              </a:rPr>
              <a:t>资源共享池、专家共享、桌面客户端、</a:t>
            </a:r>
            <a:r>
              <a:rPr lang="en-US" sz="1350">
                <a:solidFill>
                  <a:srgbClr val="1E293B"/>
                </a:solidFill>
                <a:latin typeface="Microsoft YaHei"/>
                <a:ea typeface="Microsoft YaHei"/>
              </a:rPr>
              <a:t xml:space="preserve">IM </a:t>
            </a:r>
            <a:r>
              <a:rPr lang="zh-CN" sz="1350">
                <a:solidFill>
                  <a:srgbClr val="1E293B"/>
                </a:solidFill>
                <a:latin typeface="Microsoft YaHei"/>
                <a:ea typeface="Microsoft YaHei"/>
              </a:rPr>
              <a:t>全平台通道——这四项可以当场演示、直接用起来。</a:t>
            </a:r>
            <a:endParaRPr/>
          </a:p>
        </p:txBody>
      </p:sp>
      <p:sp>
        <p:nvSpPr>
          <p:cNvPr id="924" name=""/>
          <p:cNvSpPr/>
          <p:nvPr/>
        </p:nvSpPr>
        <p:spPr>
          <a:xfrm rot="0" flipH="0" flipV="0">
            <a:off x="571500" y="2781300"/>
            <a:ext cx="11049000" cy="914400"/>
          </a:xfrm>
          <a:prstGeom prst="roundRect">
            <a:avLst>
              <a:gd name="adj" fmla="val 12500"/>
            </a:avLst>
          </a:prstGeom>
          <a:solidFill>
            <a:srgbClr val="D6E4F9"/>
          </a:solidFill>
          <a:ln/>
        </p:spPr>
        <p:txBody>
          <a:bodyPr/>
          <a:p/>
        </p:txBody>
      </p:sp>
      <p:sp>
        <p:nvSpPr>
          <p:cNvPr id="925" name="" descr="{&quot;isTemplate&quot;:true,&quot;type&quot;:&quot;text&quot;}"/>
          <p:cNvSpPr txBox="1"/>
          <p:nvPr/>
        </p:nvSpPr>
        <p:spPr>
          <a:xfrm rot="0" flipH="0" flipV="0">
            <a:off x="742950" y="2981325"/>
            <a:ext cx="16192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E293B"/>
                </a:solidFill>
                <a:latin typeface="Microsoft YaHei"/>
                <a:ea typeface="Microsoft YaHei"/>
              </a:rPr>
              <a:t>进行中</a:t>
            </a:r>
            <a:endParaRPr/>
          </a:p>
        </p:txBody>
      </p:sp>
      <p:sp>
        <p:nvSpPr>
          <p:cNvPr id="926" name="" descr="{&quot;isTemplate&quot;:true,&quot;type&quot;:&quot;text&quot;}"/>
          <p:cNvSpPr txBox="1"/>
          <p:nvPr/>
        </p:nvSpPr>
        <p:spPr>
          <a:xfrm rot="0" flipH="0" flipV="0">
            <a:off x="742950" y="3257550"/>
            <a:ext cx="1619250" cy="2381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可用，仍在打磨</a:t>
            </a:r>
            <a:endParaRPr/>
          </a:p>
        </p:txBody>
      </p:sp>
      <p:sp>
        <p:nvSpPr>
          <p:cNvPr id="927" name="" descr="{&quot;isTemplate&quot;:true,&quot;type&quot;:&quot;text&quot;}"/>
          <p:cNvSpPr txBox="1"/>
          <p:nvPr/>
        </p:nvSpPr>
        <p:spPr>
          <a:xfrm rot="0" flipH="0" flipV="0">
            <a:off x="2476500" y="3076575"/>
            <a:ext cx="8972550" cy="3238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350">
                <a:solidFill>
                  <a:srgbClr val="1E293B"/>
                </a:solidFill>
                <a:latin typeface="Microsoft YaHei"/>
                <a:ea typeface="Microsoft YaHei"/>
              </a:rPr>
              <a:t>多智能体团队编排（</a:t>
            </a:r>
            <a:r>
              <a:rPr lang="en-US" sz="1350">
                <a:solidFill>
                  <a:srgbClr val="1E293B"/>
                </a:solidFill>
                <a:latin typeface="Microsoft YaHei"/>
                <a:ea typeface="Microsoft YaHei"/>
              </a:rPr>
              <a:t>Beta</a:t>
            </a:r>
            <a:r>
              <a:rPr lang="zh-CN" sz="1350">
                <a:solidFill>
                  <a:srgbClr val="1E293B"/>
                </a:solidFill>
                <a:latin typeface="Microsoft YaHei"/>
                <a:ea typeface="Microsoft YaHei"/>
              </a:rPr>
              <a:t>）、移动端客户端（内测）——想用可以先用，但按「打磨中」预期管理。</a:t>
            </a:r>
            <a:endParaRPr/>
          </a:p>
        </p:txBody>
      </p:sp>
      <p:sp>
        <p:nvSpPr>
          <p:cNvPr id="928" name=""/>
          <p:cNvSpPr/>
          <p:nvPr/>
        </p:nvSpPr>
        <p:spPr>
          <a:xfrm rot="0" flipH="0" flipV="0">
            <a:off x="571500" y="3829050"/>
            <a:ext cx="11049000" cy="914400"/>
          </a:xfrm>
          <a:prstGeom prst="roundRect">
            <a:avLst>
              <a:gd name="adj" fmla="val 12500"/>
            </a:avLst>
          </a:prstGeom>
          <a:solidFill>
            <a:srgbClr val="FFF7E9"/>
          </a:solidFill>
          <a:ln/>
        </p:spPr>
        <p:txBody>
          <a:bodyPr/>
          <a:p/>
        </p:txBody>
      </p:sp>
      <p:sp>
        <p:nvSpPr>
          <p:cNvPr id="929" name="" descr="{&quot;isTemplate&quot;:true,&quot;type&quot;:&quot;text&quot;}"/>
          <p:cNvSpPr txBox="1"/>
          <p:nvPr/>
        </p:nvSpPr>
        <p:spPr>
          <a:xfrm rot="0" flipH="0" flipV="0">
            <a:off x="742950" y="4029075"/>
            <a:ext cx="16192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B45309"/>
                </a:solidFill>
                <a:latin typeface="Microsoft YaHei"/>
                <a:ea typeface="Microsoft YaHei"/>
              </a:rPr>
              <a:t>规划中</a:t>
            </a:r>
            <a:endParaRPr/>
          </a:p>
        </p:txBody>
      </p:sp>
      <p:sp>
        <p:nvSpPr>
          <p:cNvPr id="930" name="" descr="{&quot;isTemplate&quot;:true,&quot;type&quot;:&quot;text&quot;}"/>
          <p:cNvSpPr txBox="1"/>
          <p:nvPr/>
        </p:nvSpPr>
        <p:spPr>
          <a:xfrm rot="0" flipH="0" flipV="0">
            <a:off x="742950" y="4305300"/>
            <a:ext cx="1619250" cy="2381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方向明确，不承诺时间</a:t>
            </a:r>
            <a:endParaRPr/>
          </a:p>
        </p:txBody>
      </p:sp>
      <p:sp>
        <p:nvSpPr>
          <p:cNvPr id="931" name="" descr="{&quot;isTemplate&quot;:true,&quot;type&quot;:&quot;text&quot;}"/>
          <p:cNvSpPr txBox="1"/>
          <p:nvPr/>
        </p:nvSpPr>
        <p:spPr>
          <a:xfrm rot="0" flipH="0" flipV="0">
            <a:off x="2476500" y="4124325"/>
            <a:ext cx="8972550" cy="3238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350">
                <a:solidFill>
                  <a:srgbClr val="1E293B"/>
                </a:solidFill>
                <a:latin typeface="Microsoft YaHei"/>
                <a:ea typeface="Microsoft YaHei"/>
              </a:rPr>
              <a:t>自进化能力、企业知识大脑、插件市场、对话式控制面——评估时请以「已完成」与「进行中」的实测为准。</a:t>
            </a:r>
            <a:endParaRPr/>
          </a:p>
        </p:txBody>
      </p:sp>
      <p:sp>
        <p:nvSpPr>
          <p:cNvPr id="932" name="" descr="{&quot;isTemplate&quot;:true,&quot;type&quot;:&quot;text&quot;}"/>
          <p:cNvSpPr txBox="1"/>
          <p:nvPr/>
        </p:nvSpPr>
        <p:spPr>
          <a:xfrm rot="0" flipH="0" flipV="0">
            <a:off x="571500" y="4895850"/>
            <a:ext cx="5372100" cy="3238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版本节奏：产品持续更新，升级前可一键备份，配置与数据平滑延续。</a:t>
            </a:r>
            <a:endParaRPr/>
          </a:p>
        </p:txBody>
      </p:sp>
      <p:sp>
        <p:nvSpPr>
          <p:cNvPr id="933" name=""/>
          <p:cNvSpPr/>
          <p:nvPr/>
        </p:nvSpPr>
        <p:spPr>
          <a:xfrm rot="0" flipH="0" flipV="0">
            <a:off x="6096000" y="4895850"/>
            <a:ext cx="9525" cy="63817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934" name="" descr="{&quot;isTemplate&quot;:true,&quot;type&quot;:&quot;text&quot;}"/>
          <p:cNvSpPr txBox="1"/>
          <p:nvPr/>
        </p:nvSpPr>
        <p:spPr>
          <a:xfrm rot="0" flipH="0" flipV="0">
            <a:off x="6257925" y="4895850"/>
            <a:ext cx="5362575" cy="638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开源托管：代码公开可审计，企业可自行二次开发，不被单一厂商绑定。</a:t>
            </a:r>
            <a:endParaRPr/>
          </a:p>
        </p:txBody>
      </p:sp>
      <p:sp>
        <p:nvSpPr>
          <p:cNvPr id="935" name=""/>
          <p:cNvSpPr/>
          <p:nvPr/>
        </p:nvSpPr>
        <p:spPr>
          <a:xfrm rot="0" flipH="0" flipV="0">
            <a:off x="571500" y="5629275"/>
            <a:ext cx="11049000" cy="495300"/>
          </a:xfrm>
          <a:prstGeom prst="roundRect">
            <a:avLst>
              <a:gd name="adj" fmla="val 19231"/>
            </a:avLst>
          </a:prstGeom>
          <a:solidFill>
            <a:srgbClr val="E8EEFB"/>
          </a:solidFill>
          <a:ln/>
        </p:spPr>
        <p:txBody>
          <a:bodyPr/>
          <a:p/>
        </p:txBody>
      </p:sp>
      <p:sp>
        <p:nvSpPr>
          <p:cNvPr id="936" name="" descr="{&quot;isTemplate&quot;:true,&quot;type&quot;:&quot;text&quot;}"/>
          <p:cNvSpPr txBox="1"/>
          <p:nvPr/>
        </p:nvSpPr>
        <p:spPr>
          <a:xfrm rot="0" flipH="0" flipV="0">
            <a:off x="704850" y="5724525"/>
            <a:ext cx="10782300" cy="3048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425" b="1">
                <a:solidFill>
                  <a:srgbClr val="1E293B"/>
                </a:solidFill>
                <a:latin typeface="Microsoft YaHei"/>
                <a:ea typeface="Microsoft YaHei"/>
              </a:rPr>
              <a:t>成熟度的判断依据不是路线图有多长，而是「已完成」那一栏能当场演示多少。</a:t>
            </a:r>
            <a:endParaRPr/>
          </a:p>
        </p:txBody>
      </p:sp>
    </p:spTree>
  </p:cSld>
</p:sld>
</file>

<file path=ppt/slides/slide43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937" name="" descr="&lt;Slide style={{ padding: 0, position: 'relative', background: 'linear-gradient(115deg, #FFFFFF 0%, #F4F6FB 55%, #E4ECF9 100%)' }}&gt;&#10;    {/* 右侧节点图 */}&#10;    &lt;Box style={{ position: 'absolute', right: 40, top: 90, width: 640, height: 540 }}&gt;&#10;        &lt;svg width={640} height={540} viewBox='0 0 640 540'&gt;&#10;            &lt;g stroke='#C7D6F5' strokeWidth='1' opacity='0.9'&gt;&#10;                &lt;line x1='80' y1='60' x2='240' y2='180' /&gt;&#10;                &lt;line x1='240' y1='180' x2='420' y2='120' /&gt;&#10;                &lt;line x1='240' y1='180' x2='400' y2='330' /&gt;&#10;                &lt;line x1='400' y1='330' x2='560' y2='260' /&gt;&#10;                &lt;line x1='400' y1='330' x2='300' y2='470' /&gt;&#10;                &lt;line x1='300' y1='470' x2='520' y2='440' /&gt;&#10;                &lt;line x1='420' y1='120' x2='560' y2='260' /&gt;&#10;            &lt;/g&gt;&#10;            &lt;circle cx='80' cy='60' r='7' fill='#0891B2' /&gt;&#10;            &lt;circle cx='240' cy='180' r='12' fill='#2563EB' /&gt;&#10;            &lt;circle cx='420' cy='120' r='7' fill='#0891B2' /&gt;&#10;            &lt;circle cx='400' cy='330' r='16' fill='#F59E0B' /&gt;&#10;            &lt;circle cx='560' cy='260' r='8' fill='#93C5FD' /&gt;&#10;            &lt;circle cx='300' cy='470' r='9' fill='#0891B2' /&gt;&#10;            &lt;circle cx='520' cy='440' r='7' fill='#93C5FD' /&gt;&#10;        &lt;/svg&gt;&#10;    &lt;/Box&gt;&#10;&#10;    {/* 收束金句 */}&#10;    &lt;Box style={{ position: 'absolute', left: 92, top: 140, width: 720 }}&gt;&#10;        &lt;Box style={{ width: 72, height: 6, borderRadius: 3, background: '#F59E0B' }} /&gt;&#10;        &lt;Text style={{ fontSize: 46, fontWeight: 'bold', color: '#1E293B', lineHeight: 1.35, marginTop: 30 }}&gt;&#10;            让 AI 不只回答问题，&lt;br /&gt;而是把活真正干完。&#10;        &lt;/Text&gt;&#10;        &lt;Text style={{ fontSize: 20, color: '#64748B', lineHeight: 1.5, marginTop: 20 }}&gt;&#10;            云顶数字工作台 · 会思考，会干活，陪企业成长的智能伙伴&#10;        &lt;/Text&gt;&#10;    &lt;/Box&gt;&#10;&#10;    {/* 行动路径 + 落款 */}&#10;    &lt;Box style={{ position: 'absolute', left: 92, bottom: 110, width: 720 }}&gt;&#10;        &lt;Box style={{ height: 1, background: '#C7D6F5' }} /&gt;&#10;        &lt;Box style={{ flexDirection: 'row', gap: 24, marginTop: 20 }}&gt;&#10;            &lt;Box style={{ width: 200 }}&gt;&#10;                &lt;Text style={{ fontSize: 15, color: '#64748B', lineHeight: 1.4 }}&gt;第一步&lt;/Text&gt;&#10;                &lt;Text style={{ fontSize: 19, fontWeight: '600', color: '#1E293B', lineHeight: 1.4, marginTop: 4 }}&gt;选定 1 个试点场景&lt;/Text&gt;&#10;            &lt;/Box&gt;&#10;            &lt;Box style={{ width: 200 }}&gt;&#10;                &lt;Text style={{ fontSize: 15, color: '#64748B', lineHeight: 1.4 }}&gt;第二步&lt;/Text&gt;&#10;                &lt;Text style={{ fontSize: 19, fontWeight: '600', color: '#1E293B', lineHeight: 1.4, marginTop: 4 }}&gt;30 天试点验证&lt;/Text&gt;&#10;            &lt;/Box&gt;&#10;            &lt;Box style={{ width: 250 }}&gt;&#10;                &lt;Text style={{ fontSize: 15, color: '#64748B', lineHeight: 1.4 }}&gt;第三步&lt;/Text&gt;&#10;                &lt;Text style={{ fontSize: 19, fontWeight: '600', color: '#2563EB', lineHeight: 1.4, marginTop: 4 }}&gt;复盘效果，决定推广&lt;/Text&gt;&#10;            &lt;/Box&gt;&#10;        &lt;/Box&gt;&#10;        &lt;Text style={{ fontSize: 15, color: '#64748B', lineHeight: 1.5, marginTop: 18 }}&gt;&#10;            开源仓库 github.com/njydsz/ydsz-worker · MIT 许可 · 业务版介绍 · 2026 年 10 月&#10;        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55000">
                <a:srgbClr val="F4F6FB"/>
              </a:gs>
              <a:gs pos="100000">
                <a:srgbClr val="E4ECF9"/>
              </a:gs>
            </a:gsLst>
            <a:lin ang="1500000" scaled="1"/>
          </a:gradFill>
          <a:ln/>
        </p:spPr>
        <p:txBody>
          <a:bodyPr/>
          <a:p/>
        </p:txBody>
      </p:sp>
      <p:pic>
        <p:nvPicPr>
          <p:cNvPr id="93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5715000" y="857250"/>
            <a:ext cx="6096000" cy="5143500"/>
          </a:xfrm>
          <a:prstGeom prst="rect">
            <a:avLst/>
          </a:prstGeom>
          <a:ln/>
        </p:spPr>
      </p:pic>
      <p:sp>
        <p:nvSpPr>
          <p:cNvPr id="940" name=""/>
          <p:cNvSpPr/>
          <p:nvPr/>
        </p:nvSpPr>
        <p:spPr>
          <a:xfrm rot="0" flipH="0" flipV="0">
            <a:off x="876300" y="1333500"/>
            <a:ext cx="685800" cy="5715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941" name="" descr="{&quot;isTemplate&quot;:true,&quot;type&quot;:&quot;text&quot;}"/>
          <p:cNvSpPr txBox="1"/>
          <p:nvPr/>
        </p:nvSpPr>
        <p:spPr>
          <a:xfrm rot="0" flipH="0" flipV="0">
            <a:off x="876300" y="1676400"/>
            <a:ext cx="6858000" cy="14287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3450" b="1">
                <a:solidFill>
                  <a:srgbClr val="1E293B"/>
                </a:solidFill>
                <a:latin typeface="Microsoft YaHei"/>
                <a:ea typeface="Microsoft YaHei"/>
              </a:rPr>
              <a:t>让</a:t>
            </a:r>
            <a:r>
              <a:rPr lang="en-US" sz="3450" b="1">
                <a:solidFill>
                  <a:srgbClr val="1E293B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3450" b="1">
                <a:solidFill>
                  <a:srgbClr val="1E293B"/>
                </a:solidFill>
                <a:latin typeface="Microsoft YaHei"/>
                <a:ea typeface="Microsoft YaHei"/>
              </a:rPr>
              <a:t>不只回答问题，</a:t>
            </a:r>
            <a:endParaRPr/>
          </a:p>
          <a:p>
            <a:pPr>
              <a:lnSpc>
                <a:spcPct val="135000"/>
              </a:lnSpc>
            </a:pPr>
            <a:r>
              <a:rPr lang="zh-CN" sz="3450" b="1">
                <a:solidFill>
                  <a:srgbClr val="1E293B"/>
                </a:solidFill>
                <a:latin typeface="Microsoft YaHei"/>
                <a:ea typeface="Microsoft YaHei"/>
              </a:rPr>
              <a:t>而是把活真正干完。</a:t>
            </a:r>
            <a:endParaRPr/>
          </a:p>
        </p:txBody>
      </p:sp>
      <p:sp>
        <p:nvSpPr>
          <p:cNvPr id="942" name="" descr="{&quot;isTemplate&quot;:true,&quot;type&quot;:&quot;text&quot;}"/>
          <p:cNvSpPr txBox="1"/>
          <p:nvPr/>
        </p:nvSpPr>
        <p:spPr>
          <a:xfrm rot="0" flipH="0" flipV="0">
            <a:off x="876300" y="3295650"/>
            <a:ext cx="6858000" cy="3429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500">
                <a:solidFill>
                  <a:srgbClr val="64748B"/>
                </a:solidFill>
                <a:latin typeface="Microsoft YaHei"/>
                <a:ea typeface="Microsoft YaHei"/>
              </a:rPr>
              <a:t>云顶数字工作台</a:t>
            </a:r>
            <a:r>
              <a:rPr lang="en-US" sz="1500">
                <a:solidFill>
                  <a:srgbClr val="64748B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500">
                <a:solidFill>
                  <a:srgbClr val="64748B"/>
                </a:solidFill>
                <a:latin typeface="Microsoft YaHei"/>
                <a:ea typeface="Microsoft YaHei"/>
              </a:rPr>
              <a:t>会思考，会干活，陪企业成长的智能伙伴</a:t>
            </a:r>
            <a:endParaRPr/>
          </a:p>
        </p:txBody>
      </p:sp>
      <p:sp>
        <p:nvSpPr>
          <p:cNvPr id="943" name=""/>
          <p:cNvSpPr/>
          <p:nvPr/>
        </p:nvSpPr>
        <p:spPr>
          <a:xfrm rot="0" flipH="0" flipV="0">
            <a:off x="876300" y="4591050"/>
            <a:ext cx="6858000" cy="9525"/>
          </a:xfrm>
          <a:prstGeom prst="rect">
            <a:avLst/>
          </a:prstGeom>
          <a:solidFill>
            <a:srgbClr val="C7D6F5"/>
          </a:solidFill>
          <a:ln/>
        </p:spPr>
        <p:txBody>
          <a:bodyPr/>
          <a:p/>
        </p:txBody>
      </p:sp>
      <p:sp>
        <p:nvSpPr>
          <p:cNvPr id="944" name="" descr="{&quot;isTemplate&quot;:true,&quot;type&quot;:&quot;text&quot;}"/>
          <p:cNvSpPr txBox="1"/>
          <p:nvPr/>
        </p:nvSpPr>
        <p:spPr>
          <a:xfrm rot="0" flipH="0" flipV="0">
            <a:off x="876300" y="4791075"/>
            <a:ext cx="1905000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第一步</a:t>
            </a:r>
            <a:endParaRPr/>
          </a:p>
        </p:txBody>
      </p:sp>
      <p:sp>
        <p:nvSpPr>
          <p:cNvPr id="945" name="" descr="{&quot;isTemplate&quot;:true,&quot;type&quot;:&quot;text&quot;}"/>
          <p:cNvSpPr txBox="1"/>
          <p:nvPr/>
        </p:nvSpPr>
        <p:spPr>
          <a:xfrm rot="0" flipH="0" flipV="0">
            <a:off x="876300" y="5076825"/>
            <a:ext cx="1905000" cy="3048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425" b="1">
                <a:solidFill>
                  <a:srgbClr val="1E293B"/>
                </a:solidFill>
                <a:latin typeface="Microsoft YaHei"/>
                <a:ea typeface="Microsoft YaHei"/>
              </a:rPr>
              <a:t>选定</a:t>
            </a:r>
            <a:r>
              <a:rPr lang="en-US" sz="1425" b="1">
                <a:solidFill>
                  <a:srgbClr val="1E293B"/>
                </a:solidFill>
                <a:latin typeface="Microsoft YaHei"/>
                <a:ea typeface="Microsoft YaHei"/>
              </a:rPr>
              <a:t xml:space="preserve"> 1 </a:t>
            </a:r>
            <a:r>
              <a:rPr lang="zh-CN" sz="1425" b="1">
                <a:solidFill>
                  <a:srgbClr val="1E293B"/>
                </a:solidFill>
                <a:latin typeface="Microsoft YaHei"/>
                <a:ea typeface="Microsoft YaHei"/>
              </a:rPr>
              <a:t>个试点场景</a:t>
            </a:r>
            <a:endParaRPr/>
          </a:p>
        </p:txBody>
      </p:sp>
      <p:sp>
        <p:nvSpPr>
          <p:cNvPr id="946" name="" descr="{&quot;isTemplate&quot;:true,&quot;type&quot;:&quot;text&quot;}"/>
          <p:cNvSpPr txBox="1"/>
          <p:nvPr/>
        </p:nvSpPr>
        <p:spPr>
          <a:xfrm rot="0" flipH="0" flipV="0">
            <a:off x="3009900" y="4791075"/>
            <a:ext cx="1905000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第二步</a:t>
            </a:r>
            <a:endParaRPr/>
          </a:p>
        </p:txBody>
      </p:sp>
      <p:sp>
        <p:nvSpPr>
          <p:cNvPr id="947" name="" descr="{&quot;isTemplate&quot;:true,&quot;type&quot;:&quot;text&quot;}"/>
          <p:cNvSpPr txBox="1"/>
          <p:nvPr/>
        </p:nvSpPr>
        <p:spPr>
          <a:xfrm rot="0" flipH="0" flipV="0">
            <a:off x="3009900" y="5076825"/>
            <a:ext cx="1905000" cy="3048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425" b="1">
                <a:solidFill>
                  <a:srgbClr val="1E293B"/>
                </a:solidFill>
                <a:latin typeface="Microsoft YaHei"/>
                <a:ea typeface="Microsoft YaHei"/>
              </a:rPr>
              <a:t xml:space="preserve">30 </a:t>
            </a:r>
            <a:r>
              <a:rPr lang="zh-CN" sz="1425" b="1">
                <a:solidFill>
                  <a:srgbClr val="1E293B"/>
                </a:solidFill>
                <a:latin typeface="Microsoft YaHei"/>
                <a:ea typeface="Microsoft YaHei"/>
              </a:rPr>
              <a:t>天试点验证</a:t>
            </a:r>
            <a:endParaRPr/>
          </a:p>
        </p:txBody>
      </p:sp>
      <p:sp>
        <p:nvSpPr>
          <p:cNvPr id="948" name="" descr="{&quot;isTemplate&quot;:true,&quot;type&quot;:&quot;text&quot;}"/>
          <p:cNvSpPr txBox="1"/>
          <p:nvPr/>
        </p:nvSpPr>
        <p:spPr>
          <a:xfrm rot="0" flipH="0" flipV="0">
            <a:off x="5143500" y="4791075"/>
            <a:ext cx="2381250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第三步</a:t>
            </a:r>
            <a:endParaRPr/>
          </a:p>
        </p:txBody>
      </p:sp>
      <p:sp>
        <p:nvSpPr>
          <p:cNvPr id="949" name="" descr="{&quot;isTemplate&quot;:true,&quot;type&quot;:&quot;text&quot;}"/>
          <p:cNvSpPr txBox="1"/>
          <p:nvPr/>
        </p:nvSpPr>
        <p:spPr>
          <a:xfrm rot="0" flipH="0" flipV="0">
            <a:off x="5143500" y="5076825"/>
            <a:ext cx="2381250" cy="3048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425" b="1">
                <a:solidFill>
                  <a:srgbClr val="2563EB"/>
                </a:solidFill>
                <a:latin typeface="Microsoft YaHei"/>
                <a:ea typeface="Microsoft YaHei"/>
              </a:rPr>
              <a:t>复盘效果，决定推广</a:t>
            </a:r>
            <a:endParaRPr/>
          </a:p>
        </p:txBody>
      </p:sp>
      <p:sp>
        <p:nvSpPr>
          <p:cNvPr id="950" name="" descr="{&quot;isTemplate&quot;:true,&quot;type&quot;:&quot;text&quot;}"/>
          <p:cNvSpPr txBox="1"/>
          <p:nvPr/>
        </p:nvSpPr>
        <p:spPr>
          <a:xfrm rot="0" flipH="0" flipV="0">
            <a:off x="876300" y="5553075"/>
            <a:ext cx="68580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开源仓库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 xml:space="preserve"> github.com/njydsz/ydsz-worker · MIT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许可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业务版介绍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 xml:space="preserve"> · 2026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年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 xml:space="preserve"> 10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月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2026-10-30T14:37:00Z</dcterms:created>
  <dcterms:modified xsi:type="dcterms:W3CDTF">2026-10-30T14:37:00Z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{"AIGC":{"Label":"1","ContentProducer":"00119111010856365494821B355","ProduceID":"01a18acacabc706b8be9785d8f383845","ReservedCode1":"","ContentPropagator":"00119111010856365494821B355","PropagateID":"01a18acacabc706b8be9785d8f383845","ReservedCode2":""}}</vt:lpwstr>
  </property>
</Properties>
</file>