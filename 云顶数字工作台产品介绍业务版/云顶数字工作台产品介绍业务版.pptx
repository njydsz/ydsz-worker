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32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4" Type="http://schemas.openxmlformats.org/officeDocument/2006/relationships/slide" Target="slides/slide34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2" Type="http://schemas.openxmlformats.org/officeDocument/2006/relationships/slide" Target="slides/slide32.xml" /><Relationship Id="rId13" Type="http://schemas.openxmlformats.org/officeDocument/2006/relationships/slide" Target="slides/slide13.xml" /><Relationship Id="rId43" Type="http://schemas.openxmlformats.org/officeDocument/2006/relationships/slide" Target="slides/slide43.xml" /><Relationship Id="rId24" Type="http://schemas.openxmlformats.org/officeDocument/2006/relationships/slide" Target="slides/slide24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22" Type="http://schemas.openxmlformats.org/officeDocument/2006/relationships/slide" Target="slides/slide22.xml" /><Relationship Id="rId15" Type="http://schemas.openxmlformats.org/officeDocument/2006/relationships/slide" Target="slides/slide15.xml" /><Relationship Id="rId42" Type="http://schemas.openxmlformats.org/officeDocument/2006/relationships/slide" Target="slides/slide4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47" Type="http://schemas.openxmlformats.org/officeDocument/2006/relationships/viewProps" Target="viewProp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37" Type="http://schemas.openxmlformats.org/officeDocument/2006/relationships/slide" Target="slides/slide37.xml" /><Relationship Id="rId19" Type="http://schemas.openxmlformats.org/officeDocument/2006/relationships/slide" Target="slides/slide19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36" Type="http://schemas.openxmlformats.org/officeDocument/2006/relationships/slide" Target="slides/slide36.xml" /><Relationship Id="rId25" Type="http://schemas.openxmlformats.org/officeDocument/2006/relationships/slide" Target="slides/slide25.xml" /><Relationship Id="rId6" Type="http://schemas.openxmlformats.org/officeDocument/2006/relationships/slide" Target="slides/slide6.xml" /><Relationship Id="rId26" Type="http://schemas.openxmlformats.org/officeDocument/2006/relationships/slide" Target="slides/slide26.xml" /><Relationship Id="rId40" Type="http://schemas.openxmlformats.org/officeDocument/2006/relationships/slide" Target="slides/slide40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9" Type="http://schemas.openxmlformats.org/officeDocument/2006/relationships/slide" Target="slides/slide9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3" Type="http://schemas.openxmlformats.org/officeDocument/2006/relationships/slide" Target="slides/slide33.xml" /><Relationship Id="rId35" Type="http://schemas.openxmlformats.org/officeDocument/2006/relationships/slide" Target="slides/slide35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41" Type="http://schemas.openxmlformats.org/officeDocument/2006/relationships/slide" Target="slides/slide41.xml" /><Relationship Id="rId44" Type="http://schemas.openxmlformats.org/officeDocument/2006/relationships/notesMaster" Target="notesMasters/notesMaster1.xml" /><Relationship Id="rId45" Type="http://schemas.openxmlformats.org/officeDocument/2006/relationships/presProps" Target="presProps.xml" /><Relationship Id="rId46" Type="http://schemas.openxmlformats.org/officeDocument/2006/relationships/tableStyles" Target="tableStyles.xml" /><Relationship Id="rId5" Type="http://schemas.openxmlformats.org/officeDocument/2006/relationships/slide" Target="slides/slide5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6.svg" /><Relationship Id="rId2" Type="http://schemas.openxmlformats.org/officeDocument/2006/relationships/image" Target="media/image5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svg" /><Relationship Id="rId1" Type="http://schemas.openxmlformats.org/officeDocument/2006/relationships/image" Target="media/image8.svg" /><Relationship Id="rId2" Type="http://schemas.openxmlformats.org/officeDocument/2006/relationships/image" Target="media/image9.sv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svg" /><Relationship Id="rId3" Type="http://schemas.openxmlformats.org/officeDocument/2006/relationships/image" Target="media/image10.svg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padding: 0, position: 'relative', background: 'linear-gradient(120deg, #FFFFFF 0%, #F4F6FB 52%, #E4ECF9 100%)' }}&gt;&#10;    {/* 右侧节点网络主视觉 */}&#10;    &lt;Box style={{ position: 'absolute', top: 0, right: 0, width: 620, height: 720 }}&gt;&#10;        &lt;svg width={620} height={720} viewBox='0 0 620 720'&gt;&#10;            &lt;g stroke='#C7D6F5' strokeWidth='1' opacity='0.9'&gt;&#10;                &lt;line x1='120' y1='150' x2='290' y1='110' /&gt;&#10;                &lt;line x1='120' y1='150' x2='280' y1='260' /&gt;&#10;                &lt;line x1='290' y1='110' x2='450' y1='180' /&gt;&#10;                &lt;line x1='290' y1='110' x2='420' y1='60' /&gt;&#10;                &lt;line x1='280' y1='260' x2='450' y1='180' /&gt;&#10;                &lt;line x1='280' y1='260' x2='380' y1='400' /&gt;&#10;                &lt;line x1='450' y1='180' x2='560' y1='100' /&gt;&#10;                &lt;line x1='450' y1='180' x2='540' y1='300' /&gt;&#10;                &lt;line x1='380' y1='400' x2='540' y1='300' /&gt;&#10;                &lt;line x1='380' y1='400' x2='250' y1='490' /&gt;&#10;                &lt;line x1='250' y1='490' x2='430' y1='580' /&gt;&#10;                &lt;line x1='430' y1='580' x2='540' y1='300' /&gt;&#10;                &lt;line x1='430' y1='580' x2='520' y1='660' /&gt;&#10;                &lt;line x1='560' y1='100' x2='540' y1='300' /&gt;&#10;            &lt;/g&gt;&#10;            &lt;circle cx='120' cy='150' r='9' fill='#0891B2' /&gt;&#10;            &lt;circle cx='290' cy='110' r='6' fill='#93C5FD' /&gt;&#10;            &lt;circle cx='420' cy='60' r='5' fill='#93C5FD' /&gt;&#10;            &lt;circle cx='450' cy='180' r='14' fill='#2563EB' /&gt;&#10;            &lt;circle cx='560' cy='100' r='6' fill='#93C5FD' /&gt;&#10;            &lt;circle cx='280' cy='260' r='9' fill='#0891B2' opacity='0.85' /&gt;&#10;            &lt;circle cx='540' cy='300' r='11' fill='#2563EB' /&gt;&#10;            &lt;circle cx='380' cy='400' r='18' fill='#F59E0B' /&gt;&#10;            &lt;circle cx='250' cy='490' r='7' fill='#93C5FD' /&gt;&#10;            &lt;circle cx='430' cy='580' r='10' fill='#0891B2' opacity='0.85' /&gt;&#10;            &lt;circle cx='520' cy='660' r='7' fill='#93C5FD' /&gt;&#10;        &lt;/svg&gt;&#10;    &lt;/Box&gt;&#10;&#10;    {/* 主文本区 */}&#10;    &lt;Box style={{ position: 'absolute', left: 92, top: 172, width: 560 }}&gt;&#10;        &lt;Box style={{ width: 72, height: 6, borderRadius: 3, background: '#F59E0B', marginBottom: 34 }} /&gt;&#10;        &lt;Text style={{ fontSize: 30, fontWeight: '600', color: '#2563EB', letterSpacing: 6, marginBottom: 22 }}&gt;&#10;            YDSZ WORKER&#10;        &lt;/Text&gt;&#10;        &lt;Text style={{ fontSize: 66, fontWeight: 'bold', color: '#1E293B', lineHeight: 1.15 }}&gt;&#10;            云顶数字工作台&#10;        &lt;/Text&gt;&#10;        &lt;Text style={{ fontSize: 30, color: '#334155', marginTop: 26, lineHeight: 1.4 }}&gt;&#10;            会思考，会干活，陪企业成长的智能伙伴&#10;        &lt;/Text&gt;&#10;        &lt;Box style={{ width: 420, height: 1, background: '#C7D6F5', marginTop: 30 }} /&gt;&#10;        &lt;Text style={{ fontSize: 24, color: '#475569', marginTop: 24, lineHeight: 1.4 }}&gt;&#10;            业务版产品介绍 · 面向管理层与业务团队&#10;        &lt;/Text&gt;&#10;    &lt;/Box&gt;&#10;&#10;    {/* 信息层 */}&#10;    &lt;Box style={{ position: 'absolute', left: 92, bottom: 64 }}&gt;&#10;        &lt;Text style={{ fontSize: 16, color: '#64748B' }}&gt;&#10;            2026 年 10 月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2000">
                <a:srgbClr val="F4F6FB"/>
              </a:gs>
              <a:gs pos="100000">
                <a:srgbClr val="E4ECF9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76300" y="16383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76300" y="2019300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450">
                <a:solidFill>
                  <a:srgbClr val="2563EB"/>
                </a:solidFill>
                <a:latin typeface="Microsoft YaHei"/>
                <a:ea typeface="Microsoft YaHei"/>
              </a:rPr>
              <a:t>YDSZ WORKER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76300" y="2571750"/>
            <a:ext cx="53340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>
                <a:solidFill>
                  <a:srgbClr val="1E293B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76300" y="3695700"/>
            <a:ext cx="53340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334155"/>
                </a:solidFill>
                <a:latin typeface="Microsoft YaHei"/>
                <a:ea typeface="Microsoft YaHei"/>
              </a:rPr>
              <a:t>会思考，会干活，陪企业成长的智能伙伴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76300" y="4467225"/>
            <a:ext cx="40005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76300" y="4705350"/>
            <a:ext cx="5334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业务版产品介绍</a:t>
            </a:r>
            <a:r>
              <a:rPr lang="en-US" sz="18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面向管理层与业务团队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76300" y="6057900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执行摘要 · OVERVIEW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一页看懂：把 AI 从「问答工具」变成「能干活的数字员工」&#10;        &lt;/Text&gt;&#10;        &lt;Box style={{ height: 1, background: '#E2E8F0', marginTop: 16 }} /&gt;&#10;&#10;        &lt;Box style={{ flex: 1, marginTop: 20, flexDirection: 'row', gap: 28 }}&gt;&#10;            {/* 左：定位宣言 */}&#10;            &lt;Box style={{ width: 440 }}&gt;&#10;                &lt;Box style={{ background: '#F4F6FB', borderRadius: 12, padding: 24 }}&gt;&#10;                    &lt;Text style={{ fontSize: 22, fontWeight: '600', color: '#1E293B', lineHeight: 1.3 }}&gt;&#10;                        云顶数字工作台是企业自有的数字员工工作台&#10;                    &lt;/Text&gt;&#10;                    &lt;Text style={{ fontSize: 18, color: '#475569', lineHeight: 1.5, marginTop: 14 }}&gt;&#10;                        私有化部署在自己的机器上，让 AI 读懂公司知识、真的动手做事，并且每一步都可控可查。&#10;                    &lt;/Text&gt;&#10;                    &lt;Box style={{ height: 1, background: '#E2E8F0', marginTop: 16 }} /&gt;&#10;                    &lt;Box style={{ marginTop: 14, gap: 8 }}&gt;&#10;                        &lt;Box style={{ height: 42, borderRadius: 8, background: '#E8EEFB', justifyContent: 'center', paddingLeft: 14 }}&gt;&#10;                            &lt;Text style={{ fontSize: 18, fontWeight: 'bold', color: '#2563EB' }}&gt;33 个岗位专家&lt;/Text&gt;&#10;                        &lt;/Box&gt;&#10;                        &lt;Box style={{ height: 42, borderRadius: 8, background: '#E8EEFB', justifyContent: 'center', paddingLeft: 14 }}&gt;&#10;                            &lt;Text style={{ fontSize: 18, fontWeight: 'bold', color: '#2563EB' }}&gt;10 个聊天入口&lt;/Text&gt;&#10;                        &lt;/Box&gt;&#10;                        &lt;Box style={{ height: 42, borderRadius: 8, background: '#FFF7E9', justifyContent: 'center', paddingLeft: 14 }}&gt;&#10;                            &lt;Text style={{ fontSize: 18, fontWeight: 'bold', color: '#B45309' }}&gt;47 个系统连接&lt;/Text&gt;&#10;                        &lt;/Box&gt;&#10;                    &lt;/Box&gt;&#10;                &lt;/Box&gt;&#10;            &lt;/Box&gt;&#10;&#10;            {/* 右：三个业务价值 */}&#10;            &lt;Box style={{ flex: 1, gap: 10 }}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2563EB', justifyContent: 'center', alignItems: 'center' }}&gt;&#10;                        &lt;Text style={{ fontSize: 22, fontWeight: 'bold', color: '#FFFFFF' }}&gt;省&lt;/Text&gt;&#10;                    &lt;/Box&gt;&#10;                    &lt;Box style={{ flex: 1, marginLeft: 14 }}&gt;&#10;                        &lt;Text style={{ fontSize: 22, fontWeight: '600', color: '#1E293B', lineHeight: 1.3 }}&gt;重复工作自动化，人力用在刀刃上&lt;/Text&gt;&#10;                        &lt;Text style={{ fontSize: 18, color: '#475569', lineHeight: 1.5, marginTop: 4 }}&gt;日报周报、数据汇总、批量填报这类「该做但没人爱做」的事，交给定时任务到点自动完成。&lt;/Text&gt;&#10;                    &lt;/Box&gt;&#10;                &lt;/Box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0891B2', justifyContent: 'center', alignItems: 'center' }}&gt;&#10;                        &lt;Text style={{ fontSize: 22, fontWeight: 'bold', color: '#FFFFFF' }}&gt;快&lt;/Text&gt;&#10;                    &lt;/Box&gt;&#10;                    &lt;Box style={{ flex: 1, marginLeft: 14 }}&gt;&#10;                        &lt;Text style={{ fontSize: 22, fontWeight: '600', color: '#1E293B', lineHeight: 1.3 }}&gt;知识随问随答，答案带得出出处&lt;/Text&gt;&#10;                        &lt;Text style={{ fontSize: 18, color: '#475569', lineHeight: 1.5, marginTop: 4 }}&gt;制度、合同、案例入库后随时提问，回答可回溯到原文，新人也能给出统一口径。&lt;/Text&gt;&#10;                    &lt;/Box&gt;&#10;                &lt;/Box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F59E0B', justifyContent: 'center', alignItems: 'center' }}&gt;&#10;                        &lt;Text style={{ fontSize: 22, fontWeight: 'bold', color: '#FFFFFF' }}&gt;稳&lt;/Text&gt;&#10;                    &lt;/Box&gt;&#10;                    &lt;Box style={{ flex: 1, marginLeft: 14 }}&gt;&#10;                        &lt;Text style={{ fontSize: 22, fontWeight: '600', color: '#1E293B', lineHeight: 1.3 }}&gt;数据不出内网，动作先过审批&lt;/Text&gt;&#10;                        &lt;Text style={{ fontSize: 18, color: '#475569', lineHeight: 1.5, marginTop: 4 }}&gt;系统部署在自己机器上，越界动作由人拍板，全过程留痕可回放，合规拿得出证据。&lt;/Text&gt;&#10;                    &lt;/Box&gt;&#10;                &lt;/Box&gt;&#10;            &lt;/Box&gt;&#10;        &lt;/Box&gt;&#10;&#10;        {/* 行动建议条 */}&#10;        &lt;Box style={{ height: 88, background: '#FFF7E9', borderRadius: 10, padding: 14, marginTop: 12 }}&gt;&#10;            &lt;Text style={{ fontSize: 19, fontWeight: '600', color: '#B45309', lineHeight: 1.3 }}&gt;行动建议&lt;/Text&gt;&#10;            &lt;Text style={{ fontSize: 18, color: '#7C2D12', lineHeight: 1.5, marginTop: 4 }}&gt;&#10;                从 1 个真实业务场景开始，用 30 天试点验证效果，再决定是否扩大到全公司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执行摘要</a:t>
            </a: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OVERVIEW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一页看懂：把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从「问答工具」变成「能干活的数字员工」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571500" y="1733550"/>
            <a:ext cx="4191000" cy="3514725"/>
          </a:xfrm>
          <a:prstGeom prst="roundRect">
            <a:avLst>
              <a:gd name="adj" fmla="val 32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7338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云顶数字工作台是企业自有的数字员工工作台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00100" y="275272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私有化部署在自己的机器上，让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读懂公司知识、真的动手做事，并且每一步都可控可查。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00100" y="3524250"/>
            <a:ext cx="37338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800100" y="366712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3450" y="376237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个岗位专家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00100" y="414337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33450" y="42386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个聊天入口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00100" y="461962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33450" y="471487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1350" b="1">
                <a:solidFill>
                  <a:srgbClr val="B45309"/>
                </a:solidFill>
                <a:latin typeface="Microsoft YaHei"/>
                <a:ea typeface="Microsoft YaHei"/>
              </a:rPr>
              <a:t>个系统连接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029200" y="173355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5181600" y="18859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24475" y="20097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省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810250" y="188595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重复工作自动化，人力用在刀刃上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810250" y="225742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日报周报、数据汇总、批量填报这类「该做但没人爱做」的事，交给定时任务到点自动完成。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029200" y="297180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181600" y="3124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324475" y="3248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810250" y="312420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知识随问随答，答案带得出出处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810250" y="349567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制度、合同、案例入库后随时提问，回答可回溯到原文，新人也能给出统一口径。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029200" y="421005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5181600" y="4362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324475" y="4486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稳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810250" y="436245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数据不出内网，动作先过审批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810250" y="473392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系统部署在自己机器上，越界动作由人拍板，全过程留痕可回放，合规拿得出证据。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71500" y="5467350"/>
            <a:ext cx="11049000" cy="838200"/>
          </a:xfrm>
          <a:prstGeom prst="roundRect">
            <a:avLst>
              <a:gd name="adj" fmla="val 1136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04850" y="5600700"/>
            <a:ext cx="10782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B45309"/>
                </a:solidFill>
                <a:latin typeface="Microsoft YaHei"/>
                <a:ea typeface="Microsoft YaHei"/>
              </a:rPr>
              <a:t>行动建议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04850" y="5924550"/>
            <a:ext cx="10782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个真实业务场景开始，用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天试点验证效果，再决定是否扩大到全公司。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17" name="" descr="&lt;Slide style={{ padding: 60, background: '#FFFFFF' }}&gt;&#13;&#10;    &lt;Box style={{ height: 600, flexDirection: 'row' }}&gt;&#13;&#10;        {/* 左侧标题区 */}&#13;&#10;        &lt;Box style={{ width: 400 }}&gt;&#13;&#10;            &lt;Box style={{ width: 72, height: 6, borderRadius: 3, background: '#2563EB' }} /&gt;&#13;&#10;            &lt;Text style={{ fontSize: 64, fontWeight: 'bold', color: '#1E293B', marginTop: 30, lineHeight: 1.15 }}&gt;&#13;&#10;                目录&#13;&#10;            &lt;/Text&gt;&#13;&#10;            &lt;Text style={{ fontSize: 18, color: '#94A3B8', letterSpacing: 6, marginTop: 18 }}&gt;&#13;&#10;                CONTENTS&#13;&#10;            &lt;/Text&gt;&#13;&#10;            &lt;Box style={{ width: 300, height: 1, background: '#E2E8F0', marginTop: 40 }} /&gt;&#13;&#10;        &lt;/Box&gt;&#13;&#10;&#13;&#10;        {/* 右侧章节清单 */}&#13;&#10;        &lt;Box style={{ width: 720, marginLeft: 40 }}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1&lt;/Text&gt;&#13;&#10;                &lt;Text style={{ flex: 1, fontSize: 26, fontWeight: '600', color: '#1E293B' }}&gt;为什么需要&lt;/Text&gt;&#13;&#10;                &lt;Text style={{ width: 70, fontSize: 16, color: '#64748B', textAlign: 'right' }}&gt;P 4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2&lt;/Text&gt;&#13;&#10;                &lt;Text style={{ flex: 1, fontSize: 26, fontWeight: '600', color: '#1E293B' }}&gt;业务怎么用&lt;/Text&gt;&#13;&#10;                &lt;Text style={{ width: 70, fontSize: 16, color: '#64748B', textAlign: 'right' }}&gt;P 12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3&lt;/Text&gt;&#13;&#10;                &lt;Text style={{ flex: 1, fontSize: 26, fontWeight: '600', color: '#1E293B' }}&gt;为什么放心&lt;/Text&gt;&#13;&#10;                &lt;Text style={{ width: 70, fontSize: 16, color: '#64748B', textAlign: 'right' }}&gt;P 31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4&lt;/Text&gt;&#13;&#10;                &lt;Text style={{ flex: 1, fontSize: 26, fontWeight: '600', color: '#1E293B' }}&gt;怎么开始&lt;/Text&gt;&#13;&#10;                &lt;Text style={{ width: 70, fontSize: 16, color: '#64748B', textAlign: 'right' }}&gt;P 37&lt;/Text&gt;&#13;&#10;            &lt;/Box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571500" y="5715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3810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45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571500" y="2524125"/>
            <a:ext cx="2857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4762500" y="57150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762500" y="100012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619750" y="103822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953750" y="109537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4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4762500" y="180975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4762500" y="223837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619750" y="227647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953750" y="233362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12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4762500" y="304800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762500" y="347662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619750" y="351472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0953750" y="357187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31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4762500" y="428625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762500" y="471487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619750" y="475297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953750" y="481012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37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5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1&#10;        &lt;/Text&gt;&#10;        &lt;Text style={{ fontSize: 64, fontWeight: 'bold', color: '#1E293B', lineHeight: 1.15, marginTop: 12 }}&gt;&#10;            为什么需要&#10;        &lt;/Text&gt;&#10;        &lt;Box style={{ width: 72, height: 6, borderRadius: 3, background: '#F59E0B', marginTop: 30 }} /&gt;&#10;        &lt;Text style={{ fontSize: 22, color: '#64748B', lineHeight: 1.5, marginTop: 26 }}&gt;&#10;            AI 落地的三道坎：数据、工具、管控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8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落地的三道坎：数据、工具、管控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5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为什么 AI 试了很多，业务却没有变化&#10;        &lt;/Text&gt;&#10;        &lt;Box style={{ height: 1, background: '#E2E8F0', marginTop: 16 }} /&gt;&#10;&#10;        &lt;Box style={{ flex: 1, marginTop: 20, flexDirection: 'row', gap: 32 }}&gt;&#10;            {/* 左：现状卡 */}&#10;            &lt;Box style={{ width: 380, background: '#F4F6FB', borderRadius: 12, padding: 24 }}&gt;&#10;                &lt;Text style={{ fontSize: 22, fontWeight: '600', color: '#1E293B', lineHeight: 1.35 }}&gt;&#10;                    演示很惊艳，落地没变化&#10;                &lt;/Text&gt;&#10;                &lt;Text style={{ fontSize: 18, color: '#475569', lineHeight: 1.55, marginTop: 12 }}&gt;&#10;                    模型能力已经足够强。卡住企业的，不是「AI 不够聪明」，而是它进不了业务的三段路。&#10;                &lt;/Text&gt;&#10;                &lt;Box style={{ height: 1, background: '#E2E8F0', marginTop: 16 }} /&gt;&#10;                &lt;Box style={{ marginTop: 16 }}&gt;&#10;                    &lt;svg width={332} height={72} viewBox='0 0 332 72'&gt;&#10;                        &lt;rect x='8' y='22' width='84' height='28' rx='8' fill='#E8EEFB' /&gt;&#10;                        &lt;rect x='124' y='22' width='84' height='28' rx='8' fill='#FDEBC8' /&gt;&#10;                        &lt;rect x='240' y='22' width='84' height='28' rx='8' fill='#E8EEFB' /&gt;&#10;                        &lt;path d='M92 36 L118 36' stroke='#94A3B8' strokeWidth='2' strokeDasharray='4 4' /&gt;&#10;                        &lt;path d='M208 36 L234 36' stroke='#94A3B8' strokeWidth='2' strokeDasharray='4 4' /&gt;&#10;                        &lt;text x='50' y='41' textAnchor='middle' fontSize='13' fill='#2563EB' fontFamily='Microsoft YaHei'&gt;数据&lt;/text&gt;&#10;                        &lt;text x='166' y='41' textAnchor='middle' fontSize='13' fill='#B45309' fontFamily='Microsoft YaHei'&gt;工具&lt;/text&gt;&#10;                        &lt;text x='282' y='41' textAnchor='middle' fontSize='13' fill='#2563EB' fontFamily='Microsoft YaHei'&gt;管控&lt;/text&gt;&#10;                    &lt;/svg&gt;&#10;                    &lt;Text style={{ fontSize: 16, color: '#64748B', lineHeight: 1.5, marginTop: 8 }}&gt;&#10;                        三段路都通了，AI 才进得了生产&#10;                    &lt;/Text&gt;&#10;                &lt;/Box&gt;&#10;            &lt;/Box&gt;&#10;&#10;            {/* 右：三行断层 */}&#10;            &lt;Box style={{ flex: 1 }}&gt;&#10;                &lt;Box style={{ height: 126, borderBottomWidth: 1, borderBottomColor: '#E2E8F0', borderBottomStyle: 'solid' }}&gt;&#10;                    &lt;Box style={{ flexDirection: 'row', alignItems: 'center', marginTop: 4 }}&gt;&#10;                        &lt;Text style={{ fontSize: 22, fontWeight: 'bold', color: '#2563EB', width: 56 }}&gt;01&lt;/Text&gt;&#10;                        &lt;Text style={{ fontSize: 22, fontWeight: '600', color: '#1E293B' }}&gt;不懂业务&lt;/Text&gt;&#10;                    &lt;/Box&gt;&#10;                    &lt;Text style={{ fontSize: 18, color: '#475569', lineHeight: 1.5, marginTop: 8 }}&gt;&#10;                        通用 AI 没读过你的制度、合同、工单，回答「放之四海皆准」，落不到具体业务上。&#10;                    &lt;/Text&gt;&#10;                &lt;/Box&gt;&#10;                &lt;Box style={{ height: 126, borderBottomWidth: 1, borderBottomColor: '#E2E8F0', borderBottomStyle: 'solid' }}&gt;&#10;                    &lt;Box style={{ flexDirection: 'row', alignItems: 'center', marginTop: 4 }}&gt;&#10;                        &lt;Text style={{ fontSize: 22, fontWeight: 'bold', color: '#2563EB', width: 56 }}&gt;02&lt;/Text&gt;&#10;                        &lt;Text style={{ fontSize: 22, fontWeight: '600', color: '#1E293B' }}&gt;不会干活&lt;/Text&gt;&#10;                    &lt;/Box&gt;&#10;                    &lt;Text style={{ fontSize: 18, color: '#475569', lineHeight: 1.5, marginTop: 8 }}&gt;&#10;                        只能给建议，不能真的改文件、跑流程、发通知——结论停在聊天框里，价值进不了业务流程。&#10;                    &lt;/Text&gt;&#10;                &lt;/Box&gt;&#10;                &lt;Box style={{ height: 126 }}&gt;&#10;                    &lt;Box style={{ flexDirection: 'row', alignItems: 'center', marginTop: 4 }}&gt;&#10;                        &lt;Text style={{ fontSize: 22, fontWeight: 'bold', color: '#2563EB', width: 56 }}&gt;03&lt;/Text&gt;&#10;                        &lt;Text style={{ fontSize: 22, fontWeight: '600', color: '#1E293B' }}&gt;不敢放手&lt;/Text&gt;&#10;                    &lt;/Box&gt;&#10;                    &lt;Text style={{ fontSize: 18, color: '#475569', lineHeight: 1.5, marginTop: 8 }}&gt;&#10;                        说不清它做了什么，管理层不敢批准它进入业务流程——越能干，越不敢用。&#10;                    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模型不是瓶颈——缺的是让 AI 进业务的三段路：数据、工具、管控。三项补齐，AI 才进得了生产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为什么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试了很多，业务却没有变化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57" name=""/>
          <p:cNvSpPr/>
          <p:nvPr/>
        </p:nvSpPr>
        <p:spPr>
          <a:xfrm rot="0" flipH="0" flipV="0">
            <a:off x="571500" y="1733550"/>
            <a:ext cx="3619500" cy="38481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演示很惊艳，落地没变化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800100" y="2419350"/>
            <a:ext cx="31623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模型能力已经足够强。卡住企业的，不是「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不够聪明」，而是它进不了业务的三段路。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800100" y="3533775"/>
            <a:ext cx="31623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9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3695700"/>
            <a:ext cx="3162300" cy="685800"/>
          </a:xfrm>
          <a:prstGeom prst="rect">
            <a:avLst/>
          </a:prstGeom>
          <a:ln/>
        </p:spPr>
      </p:pic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三段路都通了，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才进得了生产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4495800" y="1733550"/>
            <a:ext cx="7124700" cy="1200150"/>
          </a:xfrm>
          <a:custGeom>
            <a:pathLst>
              <a:path w="748" h="126">
                <a:moveTo>
                  <a:pt x="0" y="125"/>
                </a:moveTo>
                <a:lnTo>
                  <a:pt x="748" y="125"/>
                </a:lnTo>
                <a:lnTo>
                  <a:pt x="748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5029200" y="17716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不懂业务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4495800" y="21050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通用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没读过你的制度、合同、工单，回答「放之四海皆准」，落不到具体业务上。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4495800" y="2933700"/>
            <a:ext cx="7124700" cy="1200150"/>
          </a:xfrm>
          <a:custGeom>
            <a:pathLst>
              <a:path w="748" h="126">
                <a:moveTo>
                  <a:pt x="0" y="125"/>
                </a:moveTo>
                <a:lnTo>
                  <a:pt x="748" y="125"/>
                </a:lnTo>
                <a:lnTo>
                  <a:pt x="748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4495800" y="29718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5029200" y="29718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不会干活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4495800" y="3305175"/>
            <a:ext cx="712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只能给建议，不能真的改文件、跑流程、发通知——结论停在聊天框里，价值进不了业务流程。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4495800" y="417195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5029200" y="41719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不敢放手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4495800" y="45053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说不清它做了什么，管理层不敢批准它进入业务流程——越能干，越不敢用。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模型不是瓶颈——缺的是让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进业务的三段路：数据、工具、管控。三项补齐，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才进得了生产。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老板最关心的三个问题，先说清楚&#10;        &lt;/Text&gt;&#10;        &lt;Box style={{ height: 1, background: '#E2E8F0', marginTop: 16 }} /&gt;&#10;&#10;        &lt;Box style={{ marginTop: 20, gap: 12 }}&gt;&#10;            &lt;Box style={{ height: 118, flexDirection: 'row', background: '#E8EEFB', borderRadius: 12, padding: 18 }}&gt;&#10;                &lt;Box style={{ width: 220, justifyContent: 'center' }}&gt;&#10;                    &lt;Text style={{ fontSize: 22, fontWeight: 'bold', color: '#2563EB', lineHeight: 1.3 }}&gt;能不能落地？&lt;/Text&gt;&#10;                &lt;/Box&gt;&#10;                &lt;Box style={{ flex: 1, justifyContent: 'center', marginLeft: 12 }}&gt;&#10;                    &lt;Text style={{ fontSize: 18, color: '#1E293B', lineHeight: 1.55 }}&gt;&#10;                        不是新造概念：33 个岗位专家、24 个技能包、47 个系统连接开箱即用；从一个真实场景开始，30 天就能验证。&#10;                    &lt;/Text&gt;&#10;                &lt;/Box&gt;&#10;            &lt;/Box&gt;&#10;            &lt;Box style={{ height: 118, flexDirection: 'row', background: '#D6E4F9', borderRadius: 12, padding: 18 }}&gt;&#10;                &lt;Box style={{ width: 220, justifyContent: 'center' }}&gt;&#10;                    &lt;Text style={{ fontSize: 22, fontWeight: 'bold', color: '#1E293B', lineHeight: 1.3 }}&gt;安不安全？&lt;/Text&gt;&#10;                &lt;/Box&gt;&#10;                &lt;Box style={{ flex: 1, justifyContent: 'center', marginLeft: 12 }}&gt;&#10;                    &lt;Text style={{ fontSize: 18, color: '#1E293B', lineHeight: 1.55 }}&gt;&#10;                        部署在公司自己的机器上，数据不出内网；高风险动作先由人审批，每一步留痕可回放——合规拿得出证据。&#10;                    &lt;/Text&gt;&#10;                &lt;/Box&gt;&#10;            &lt;/Box&gt;&#10;            &lt;Box style={{ height: 118, flexDirection: 'row', background: '#FFF7E9', borderRadius: 12, padding: 18 }}&gt;&#10;                &lt;Box style={{ width: 220, justifyContent: 'center' }}&gt;&#10;                    &lt;Text style={{ fontSize: 22, fontWeight: 'bold', color: '#B45309', lineHeight: 1.3 }}&gt;值不值？&lt;/Text&gt;&#10;                &lt;/Box&gt;&#10;                &lt;Box style={{ flex: 1, justifyContent: 'center', marginLeft: 12 }}&gt;&#10;                    &lt;Text style={{ fontSize: 18, color: '#1E293B', lineHeight: 1.55 }}&gt;&#10;                        不承诺编造的百分比：用试点回答三个可衡量的问题——答得准不准、处理快没快、员工愿不愿用。&#10;                    &lt;/Text&gt;&#10;                &lt;/Box&gt;&#10;            &lt;/Box&gt;&#10;        &lt;/Box&gt;&#10;&#10;        {/* 结论条 */}&#10;        &lt;Box style={{ height: 62, background: '#E8EEFB', borderRadius: 10, padding: 14, marginTop: 16, justifyContent: 'center' }}&gt;&#10;            &lt;Text style={{ fontSize: 19, fontWeight: '600', color: '#1E293B', lineHeight: 1.4 }}&gt;&#10;                把这三个问题的答案放在前面，后面所有内容都是在支撑它们——价值、场景、风控、路径，一节一节展开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老板最关心的三个问题，先说清楚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82" name=""/>
          <p:cNvSpPr/>
          <p:nvPr/>
        </p:nvSpPr>
        <p:spPr>
          <a:xfrm rot="0" flipH="0" flipV="0">
            <a:off x="571500" y="173355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742950" y="213360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能不能落地？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2952750" y="1981200"/>
            <a:ext cx="8496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不是新造概念：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个岗位专家、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个系统连接开箱即用；从一个真实场景开始，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天就能验证。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571500" y="297180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742950" y="337185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安不安全？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2952750" y="3371850"/>
            <a:ext cx="84963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部署在公司自己的机器上，数据不出内网；高风险动作先由人审批，每一步留痕可回放——合规拿得出证据。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571500" y="421005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742950" y="461010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值不值？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2952750" y="4610100"/>
            <a:ext cx="84963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不承诺编造的百分比：用试点回答三个可衡量的问题——答得准不准、处理快没快、员工愿不愿用。</a:t>
            </a:r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571500" y="54864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704850" y="56292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把这三个问题的答案放在前面，后面所有内容都是在支撑它们——价值、场景、风控、路径，一节一节展开。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9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不是又一个聊天框，是企业的「数字员工工作台」&#10;        &lt;/Text&gt;&#10;        &lt;Box style={{ height: 1, background: '#E2E8F0', marginTop: 16 }} /&gt;&#10;&#10;        {/* 宣言行 */}&#10;        &lt;Box style={{ flexDirection: 'row', alignItems: 'center', marginTop: 18, gap: 18 }}&gt;&#10;            &lt;Text style={{ fontSize: 30, fontWeight: 'bold', color: '#1E293B' }}&gt;会思考&lt;/Text&gt;&#10;            &lt;Box style={{ width: 24, height: 3, borderRadius: 2, background: '#F59E0B' }} /&gt;&#10;            &lt;Text style={{ fontSize: 30, fontWeight: 'bold', color: '#1E293B' }}&gt;会干活&lt;/Text&gt;&#10;            &lt;Box style={{ width: 24, height: 3, borderRadius: 2, background: '#F59E0B' }} /&gt;&#10;            &lt;Text style={{ fontSize: 30, fontWeight: 'bold', color: '#1E293B' }}&gt;陪企业成长&lt;/Text&gt;&#10;        &lt;/Box&gt;&#10;&#10;        &lt;Box style={{ flex: 1, marginTop: 18, flexDirection: 'row', gap: 24 }}&gt;&#10;            {/* 左大卡：会思考 */}&#10;            &lt;Box style={{ width: 560, background: '#2563EB', borderRadius: 14, padding: 28 }}&gt;&#10;                &lt;Text style={{ fontSize: 24, fontWeight: '600', color: '#FFFFFF', lineHeight: 1.3 }}&gt;会思考：答案懂你的业务&lt;/Text&gt;&#10;                &lt;Text style={{ fontSize: 18, color: '#DBEAFE', lineHeight: 1.6, marginTop: 14 }}&gt;&#10;                    公司的制度、合同、案例、话术都进知识库；AI 基于这些私有知识作答，每个答案都带得出出处。&#10;                &lt;/Text&gt;&#10;                &lt;Box style={{ height: 1, background: '#3B82F6', marginTop: 18 }} /&gt;&#10;                &lt;Text style={{ fontSize: 18, color: '#DBEAFE', lineHeight: 1.6, marginTop: 14 }}&gt;&#10;                    长期记忆让它记得住你的偏好、项目和上一次的结论——换个会话还认得你，越合作越懂你的公司。&#10;                &lt;/Text&gt;&#10;            &lt;/Box&gt;&#10;&#10;            {/* 右两卡 */}&#10;            &lt;Box style={{ flex: 1, gap: 16 }}&gt;&#10;                &lt;Box style={{ flex: 1, background: '#F4F6FB', borderRadius: 12, padding: 22 }}&gt;&#10;                    &lt;Text style={{ fontSize: 22, fontWeight: '600', color: '#1E293B', lineHeight: 1.3 }}&gt;会干活：动作真的发生&lt;/Text&gt;&#10;                    &lt;Text style={{ fontSize: 18, color: '#475569', lineHeight: 1.55, marginTop: 10 }}&gt;&#10;                        读写文件、执行任务、生成报表、定时推送、操作浏览器——不是「建议你这样做」，而是真的帮你做完。&#10;                    &lt;/Text&gt;&#10;                &lt;/Box&gt;&#10;                &lt;Box style={{ flex: 1, background: '#F4F6FB', borderRadius: 12, padding: 22 }}&gt;&#10;                    &lt;Text style={{ fontSize: 22, fontWeight: '600', color: '#1E293B', lineHeight: 1.3 }}&gt;陪成长：能力沉淀下来&lt;/Text&gt;&#10;                    &lt;Text style={{ fontSize: 18, color: '#475569', lineHeight: 1.55, marginTop: 10 }}&gt;&#10;                        岗位专家、技能、记忆都是组织资产：配好一次，全公司复用；人员流动，能力不留失。&#10;                    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一个平台全员共用：每位员工有自己的数字同事，共用一台服务器，数据彼此隔离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不是又一个聊天框，是企业的「数字员工工作台」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571500" y="17145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会思考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1600200" y="1876425"/>
            <a:ext cx="2286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2000250" y="17145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会干活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3028950" y="1876425"/>
            <a:ext cx="2286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3429000" y="17145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陪企业成长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571500" y="2228850"/>
            <a:ext cx="5334000" cy="3352800"/>
          </a:xfrm>
          <a:prstGeom prst="roundRect">
            <a:avLst>
              <a:gd name="adj" fmla="val 39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38200" y="2495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会思考：答案懂你的业务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公司的制度、合同、案例、话术都进知识库；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基于这些私有知识作答，每个答案都带得出出处。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838200" y="3829050"/>
            <a:ext cx="48006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3971925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长期记忆让它记得住你的偏好、项目和上一次的结论——换个会话还认得你，越合作越懂你的公司。</a:t>
            </a:r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6134100" y="2228850"/>
            <a:ext cx="5486400" cy="160020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343650" y="2438400"/>
            <a:ext cx="506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会干活：动作真的发生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343650" y="2867025"/>
            <a:ext cx="5067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读写文件、执行任务、生成报表、定时推送、操作浏览器——不是「建议你这样做」，而是真的帮你做完。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6134100" y="3981450"/>
            <a:ext cx="5486400" cy="160020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343650" y="4191000"/>
            <a:ext cx="506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陪成长：能力沉淀下来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343650" y="4619625"/>
            <a:ext cx="5067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岗位专家、技能、记忆都是组织资产：配好一次，全公司复用；人员流动，能力不留失。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一个平台全员共用：每位员工有自己的数字同事，共用一台服务器，数据彼此隔离。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7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会思考：答案来自你的业务，不是网上的话&#10;        &lt;/Text&gt;&#10;        &lt;Box style={{ height: 1, background: '#E2E8F0', marginTop: 16 }} /&gt;&#10;&#10;        &lt;Box style={{ flex: 1, marginTop: 20, flexDirection: 'row', gap: 32 }}&gt;&#10;            {/* 左：主视觉 */}&#10;            &lt;Box style={{ width: 380, background: '#F4F6FB', borderRadius: 12, padding: 22, justifyContent: 'center', alignItems: 'center' }}&gt;&#10;                &lt;svg width={300} height={230} viewBox='0 0 300 230'&gt;&#10;                    &lt;rect x='30' y='30' width='150' height='100' rx='10' fill='#E8EEFB' stroke='#C7D6F5' strokeWidth='2' /&gt;&#10;                    &lt;rect x='120' y='70' width='150' height='100' rx='10' fill='#FFFFFF' stroke='#2563EB' strokeWidth='2' /&gt;&#10;                    &lt;rect x='75' y='110' width='150' height='100' rx='10' fill='#D6E4F9' stroke='#C7D6F5' strokeWidth='2' /&gt;&#10;                    &lt;text x='105' y='85' textAnchor='middle' fontSize='15' fill='#2563EB' fontFamily='Microsoft YaHei'&gt;公司文档&lt;/text&gt;&#10;                    &lt;text x='195' y='125' textAnchor='middle' fontSize='15' fill='#1E293B' fontFamily='Microsoft YaHei'&gt;知识库&lt;/text&gt;&#10;                    &lt;text x='150' y='165' textAnchor='middle' fontSize='15' fill='#1E293B' fontFamily='Microsoft YaHei'&gt;长期记忆&lt;/text&gt;&#10;                &lt;/svg&gt;&#10;                &lt;Text style={{ fontSize: 18, color: '#475569', lineHeight: 1.55, marginTop: 14 }}&gt;&#10;                    AI 只在公司的知识范围内作答，答不上来就明说、就转人工，不编故事。&#10;                &lt;/Text&gt;&#10;            &lt;/Box&gt;&#10;&#10;            {/* 右：三条 */}&#10;            &lt;Box style={{ flex: 1 }}&gt;&#10;                &lt;Box style={{ height: 128, borderBottomWidth: 1, borderBottomColor: '#E2E8F0', borderBottomStyle: 'solid' }}&gt;&#10;                    &lt;Text style={{ fontSize: 22, fontWeight: '600', color: '#1E293B', lineHeight: 1.3, marginTop: 4 }}&gt;私有知识库：基于公司资料回答&lt;/Text&gt;&#10;                    &lt;Text style={{ fontSize: 18, color: '#475569', lineHeight: 1.5, marginTop: 8 }}&gt;&#10;                        制度、合同、案例、话术统一入库，问答从这些资料出发，而不是凭空生成。&#10;                    &lt;/Text&gt;&#10;                &lt;/Box&gt;&#10;                &lt;Box style={{ height: 128, borderBottomWidth: 1, borderBottomColor: '#E2E8F0', borderBottomStyle: 'solid' }}&gt;&#10;                    &lt;Text style={{ fontSize: 22, fontWeight: '600', color: '#1E293B', lineHeight: 1.3, marginTop: 4 }}&gt;引用溯源：每个答案带得出出处&lt;/Text&gt;&#10;                    &lt;Text style={{ fontSize: 18, color: '#475569', lineHeight: 1.5, marginTop: 8 }}&gt;&#10;                        回答附来源标记，点得开原文核对——敢用的前提是说得清「凭什么这么答」。&#10;                    &lt;/Text&gt;&#10;                &lt;/Box&gt;&#10;                &lt;Box style={{ height: 128 }}&gt;&#10;                    &lt;Text style={{ fontSize: 22, fontWeight: '600', color: '#1E293B', lineHeight: 1.3, marginTop: 4 }}&gt;长期记忆：换个会话还认得你&lt;/Text&gt;&#10;                    &lt;Text style={{ fontSize: 18, color: '#475569', lineHeight: 1.5, marginTop: 8 }}&gt;&#10;                        记得住你的项目、偏好和上一次的结论，背景不用每次重讲，纠错一次就改一次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AI 的「聪明」要用在你的业务上，而不是用在编得像上——知识、出处、记忆三件事定住这一点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会思考：答案来自你的业务，不是网上的话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23" name=""/>
          <p:cNvSpPr/>
          <p:nvPr/>
        </p:nvSpPr>
        <p:spPr>
          <a:xfrm rot="0" flipH="0" flipV="0">
            <a:off x="571500" y="1733550"/>
            <a:ext cx="3619500" cy="38862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10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200275"/>
            <a:ext cx="2857500" cy="2190750"/>
          </a:xfrm>
          <a:prstGeom prst="rect">
            <a:avLst/>
          </a:prstGeom>
          <a:ln/>
        </p:spPr>
      </p:pic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3200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只在公司的知识范围内作答，答不上来就明说、就转人工，不编故事。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4495800" y="1733550"/>
            <a:ext cx="7124700" cy="1219200"/>
          </a:xfrm>
          <a:custGeom>
            <a:pathLst>
              <a:path w="748" h="128">
                <a:moveTo>
                  <a:pt x="0" y="127"/>
                </a:moveTo>
                <a:lnTo>
                  <a:pt x="748" y="127"/>
                </a:lnTo>
                <a:lnTo>
                  <a:pt x="748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私有知识库：基于公司资料回答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4495800" y="21812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制度、合同、案例、话术统一入库，问答从这些资料出发，而不是凭空生成。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4495800" y="2952750"/>
            <a:ext cx="7124700" cy="1219200"/>
          </a:xfrm>
          <a:custGeom>
            <a:pathLst>
              <a:path w="748" h="128">
                <a:moveTo>
                  <a:pt x="0" y="127"/>
                </a:moveTo>
                <a:lnTo>
                  <a:pt x="748" y="127"/>
                </a:lnTo>
                <a:lnTo>
                  <a:pt x="748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4495800" y="29908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引用溯源：每个答案带得出出处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4495800" y="34004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回答附来源标记，点得开原文核对——敢用的前提是说得清「凭什么这么答」。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4495800" y="42100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长期记忆：换个会话还认得你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4495800" y="46196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记得住你的项目、偏好和上一次的结论，背景不用每次重讲，纠错一次就改一次。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的「聪明」要用在你的业务上，而不是用在编得像上——知识、出处、记忆三件事定住这一点。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03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会干活：动作真的发生在你的业务里&#10;        &lt;/Text&gt;&#10;        &lt;Box style={{ height: 1, background: '#E2E8F0', marginTop: 16 }} /&gt;&#10;&#10;        &lt;Box style={{ flex: 1, marginTop: 20, flexDirection: 'row', gap: 18 }}&gt;&#10;            &lt;Box style={{ width: 460, background: '#2563EB', borderRadius: 14, padding: 24 }}&gt;&#10;                &lt;Text style={{ fontSize: 24, fontWeight: '600', color: '#FFFFFF', lineHeight: 1.3 }}&gt;不是「建议你这样做」&lt;/Text&gt;&#10;                &lt;Text style={{ fontSize: 18, color: '#DBEAFE', lineHeight: 1.6, marginTop: 12 }}&gt;&#10;                    读文件、写文件、跑任务、查信息、生成报表、回传结果——每一步都真实执行，结果直接交到你手上。&#10;                &lt;/Text&gt;&#10;                &lt;Box style={{ height: 1, background: '#3B82F6', marginTop: 16 }} /&gt;&#10;                &lt;Text style={{ fontSize: 18, color: '#DBEAFE', lineHeight: 1.6, marginTop: 12 }}&gt;&#10;                    执行发生在公司自己的机器或沙箱里；该审批的动作先停下来问人，干完的活全程留痕。&#10;                &lt;/Text&gt;&#10;            &lt;/Box&gt;&#10;            &lt;Box style={{ flex: 1, gap: 12 }}&gt;&#10;                &lt;Box style={{ flex: 1, background: '#F4F6FB', borderRadius: 12, padding: 18 }}&gt;&#10;                    &lt;Text style={{ fontSize: 22, fontWeight: '600', color: '#1E293B', lineHeight: 1.3 }}&gt;文件与内容&lt;/Text&gt;&#10;                    &lt;Text style={{ fontSize: 18, color: '#475569', lineHeight: 1.5, marginTop: 6 }}&gt;&#10;                        读文档、写文档、增量修改、全文检索，资料整理不再手工搬运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联网与查证&lt;/Text&gt;&#10;                    &lt;Text style={{ fontSize: 18, color: '#475569', lineHeight: 1.5, marginTop: 6 }}&gt;&#10;                        搜索公开信息、抓取网页、操作浏览器，调研类工作先帮你跑一遍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交付与排程&lt;/Text&gt;&#10;                    &lt;Text style={{ fontSize: 18, color: '#475569', lineHeight: 1.5, marginTop: 6 }}&gt;&#10;                        生成文件直接回传，定时任务到点执行，结果推送到指定会话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价值的分界线在这里：聊天工具帮你省打字，数字员工帮你把活干完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会干活：动作真的发生在你的业务里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42" name=""/>
          <p:cNvSpPr/>
          <p:nvPr/>
        </p:nvSpPr>
        <p:spPr>
          <a:xfrm rot="0" flipH="0" flipV="0">
            <a:off x="571500" y="1733550"/>
            <a:ext cx="4381500" cy="3886200"/>
          </a:xfrm>
          <a:prstGeom prst="roundRect">
            <a:avLst>
              <a:gd name="adj" fmla="val 343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9243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不是「建议你这样做」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39243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读文件、写文件、跑任务、查信息、生成报表、回传结果——每一步都真实执行，结果直接交到你手上。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800100" y="3581400"/>
            <a:ext cx="39243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3924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执行发生在公司自己的机器或沙箱里；该审批的动作先停下来问人，干完的活全程留痕。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5124450" y="17335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5295900" y="19050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文件与内容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5295900" y="22955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读文档、写文档、增量修改、全文检索，资料整理不再手工搬运。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5124450" y="30670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5295900" y="32385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联网与查证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5295900" y="36290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搜索公开信息、抓取网页、操作浏览器，调研类工作先帮你跑一遍。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5124450" y="44005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5295900" y="45720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交付与排程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5295900" y="49625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生成文件直接回传，定时任务到点执行，结果推送到指定会话。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价值的分界线在这里：聊天工具帮你省打字，数字员工帮你把活干完。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陪成长：越用越值钱的三类组织资产&#10;        &lt;/Text&gt;&#10;        &lt;Box style={{ height: 1, background: '#E2E8F0', marginTop: 16 }} /&gt;&#10;&#10;        &lt;Box style={{ marginTop: 20, gap: 12 }}&gt;&#10;            &lt;Box style={{ height: 92, flexDirection: 'row', background: '#E8EEFB', borderRadius: 12, padding: 18 }}&gt;&#10;                &lt;Box style={{ width: 160, justifyContent: 'center' }}&gt;&#10;                    &lt;Text style={{ fontSize: 22, fontWeight: 'bold', color: '#2563EB' }}&gt;岗位专家&lt;/Text&gt;&#10;                &lt;/Box&gt;&#10;                &lt;Box style={{ flex: 1, justifyContent: 'center', marginLeft: 12 }}&gt;&#10;                    &lt;Text style={{ fontSize: 18, color: '#1E293B', lineHeight: 1.55 }}&gt;&#10;                        33 个岗位定义可发布共享、各自微调：一个部门配好，全公司取用——业务能力第一次变成可交接的资产。&#10;                    &lt;/Text&gt;&#10;                &lt;/Box&gt;&#10;            &lt;/Box&gt;&#10;            &lt;Box style={{ height: 92, flexDirection: 'row', background: '#D6E4F9', borderRadius: 12, padding: 18 }}&gt;&#10;                &lt;Box style={{ width: 160, justifyContent: 'center' }}&gt;&#10;                    &lt;Text style={{ fontSize: 22, fontWeight: 'bold', color: '#1E293B' }}&gt;技能与插件&lt;/Text&gt;&#10;                &lt;/Box&gt;&#10;                &lt;Box style={{ flex: 1, justifyContent: 'center', marginLeft: 12 }}&gt;&#10;                    &lt;Text style={{ fontSize: 18, color: '#1E293B', lineHeight: 1.55 }}&gt;&#10;                        24 个技能包、37 个内置插件随装随用，在线市场持续扩充；新场景先看「有没有现成能力」，再考虑开发。&#10;                    &lt;/Text&gt;&#10;                &lt;/Box&gt;&#10;            &lt;/Box&gt;&#10;            &lt;Box style={{ height: 92, flexDirection: 'row', background: '#FFF7E9', borderRadius: 12, padding: 18 }}&gt;&#10;                &lt;Box style={{ width: 160, justifyContent: 'center' }}&gt;&#10;                    &lt;Text style={{ fontSize: 22, fontWeight: 'bold', color: '#B45309' }}&gt;知识与记忆&lt;/Text&gt;&#10;                &lt;/Box&gt;&#10;                &lt;Box style={{ flex: 1, justifyContent: 'center', marginLeft: 12 }}&gt;&#10;                    &lt;Text style={{ fontSize: 18, color: '#1E293B', lineHeight: 1.55 }}&gt;&#10;                        每次合作沉淀进知识库与记忆：员工离职带走的是个人经验，留下的是公司能力。&#10;                    &lt;/Text&gt;&#10;                &lt;/Box&gt;&#10;            &lt;/Box&gt;&#10;        &lt;/Box&gt;&#10;&#10;        &lt;Box style={{ flexDirection: 'row', marginTop: 16, gap: 16 }}&gt;&#10;            &lt;Box style={{ flex: 1 }}&gt;&#10;                &lt;Text style={{ fontSize: 18, color: '#475569', lineHeight: 1.55 }}&gt;&#10;                    全部存放在公司自己的平台上，不绑定任何员工的个人账号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人员流动时，新人接的是「配好的数字同事」，不是空白的交接文档。&#10;                &lt;/Text&gt;&#10;            &lt;/Box&gt;&#10;        &lt;/Box&gt;&#10;&#10;        {/* 结论条 */}&#10;        &lt;Box style={{ height: 58, background: '#E8EEFB', borderRadius: 10, padding: 14, marginTop: 14, justifyContent: 'center' }}&gt;&#10;            &lt;Text style={{ fontSize: 19, fontWeight: '600', color: '#1E293B', lineHeight: 1.4 }}&gt;&#10;                第一年它是工具，第三年它是公司自己的数字能力——越用越懂业务，这是「陪企业成长」的实感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陪成长：越用越值钱的三类组织资产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7335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" y="20478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岗位专家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381250" y="20097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个岗位定义可发布共享、各自微调：一个部门配好，全公司取用——业务能力第一次变成可交接的资产。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27241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42950" y="30384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技能与插件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381250" y="30003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个内置插件随装随用，在线市场持续扩充；新场景先看「有没有现成能力」，再考虑开发。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37147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知识与记忆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381250" y="39909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每次合作沉淀进知识库与记忆：员工离职带走的是个人经验，留下的是公司能力。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47434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全部存放在公司自己的平台上，不绑定任何员工的个人账号。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0" y="4743450"/>
            <a:ext cx="9525" cy="3238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257925" y="4743450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人员流动时，新人接的是「配好的数字同事」，不是空白的交接文档。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52006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4850" y="53244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第一年它是工具，第三年它是公司自己的数字能力——越用越懂业务，这是「陪企业成长」的实感。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和通用聊天 AI 比，差别在哪&#10;        &lt;/Text&gt;&#10;        &lt;Box style={{ height: 1, background: '#E2E8F0', marginTop: 16 }} /&gt;&#10;&#10;        {/* 对比式 */}&#10;        &lt;Box style={{ marginTop: 20, flexDirection: 'row', alignItems: 'stretch' }}&gt;&#10;            &lt;Box style={{ flex: 1, background: '#F4F6FB', borderRadius: 12, padding: 22 }}&gt;&#10;                &lt;Text style={{ fontSize: 22, fontWeight: '600', color: '#64748B', lineHeight: 1.3 }}&gt;通用聊天 AI&lt;/Text&gt;&#10;                &lt;Box style={{ height: 1, background: '#E2E8F0', marginTop: 14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答案基于公开知识，不了解你的制度与业务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只能给出建议，不能真的动手执行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数据要出网，合规审查难过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会话结束即忘，每次都像新同事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个人订阅制，能力不沉淀为组织资产&lt;/Text&gt;&#10;                    &lt;/Box&gt;&#10;                &lt;/Box&gt;&#10;            &lt;/Box&gt;&#10;&#10;            &lt;Box style={{ width: 64, justifyContent: 'center', alignItems: 'center' }}&gt;&#10;                &lt;Box style={{ width: 1, height: 120, background: '#E2E8F0' }} /&gt;&#10;                &lt;Box style={{ width: 44, height: 44, borderRadius: 22, background: '#F59E0B', justifyContent: 'center', alignItems: 'center', marginTop: -22 }}&gt;&#10;                    &lt;Text style={{ fontSize: 18, fontWeight: 'bold', color: '#FFFFFF' }}&gt;VS&lt;/Text&gt;&#10;                &lt;/Box&gt;&#10;                &lt;Box style={{ width: 1, height: 120, background: '#E2E8F0', marginTop: -22 }} /&gt;&#10;            &lt;/Box&gt;&#10;&#10;            &lt;Box style={{ flex: 1, background: '#E8EEFB', borderRadius: 12, padding: 22 }}&gt;&#10;                &lt;Text style={{ fontSize: 22, fontWeight: '600', color: '#2563EB', lineHeight: 1.3 }}&gt;云顶数字工作台&lt;/Text&gt;&#10;                &lt;Box style={{ height: 1, background: '#C7D6F5', marginTop: 14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基于公司知识库作答，答案带出处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读写文件、执行任务、交付结果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本地部署，数据不出内网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记忆持续积累，越合作越懂你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专家、技能、记忆沉淀为组织资产&lt;/Text&gt;&#10;                    &lt;/Box&gt;&#10;                &lt;/Box&gt;&#10;            &lt;/Box&gt;&#10;        &lt;/Box&gt;&#10;&#10;        {/* 结论条 */}&#10;        &lt;Box style={{ height: 56, background: '#FFF7E9', borderRadius: 10, padding: 14, marginTop: 12, justifyContent: 'center' }}&gt;&#10;            &lt;Text style={{ fontSize: 19, fontWeight: '600', color: '#7C2D12', lineHeight: 1.4 }}&gt;&#10;                聊天工具解决「问」，数字员工解决「做」——这是两种东西，不是两个牌子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和通用聊天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比，差别在哪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71500" y="1733550"/>
            <a:ext cx="5219700" cy="3038475"/>
          </a:xfrm>
          <a:prstGeom prst="roundRect">
            <a:avLst>
              <a:gd name="adj" fmla="val 376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通用聊天</a:t>
            </a: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81050" y="2409825"/>
            <a:ext cx="48006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810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90600" y="25336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答案基于公开知识，不了解你的制度与业务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81050" y="3038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90600" y="296227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只能给出建议，不能真的动手执行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1050" y="3467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90600" y="339090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数据要出网，合规审查难过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8105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90600" y="381952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会话结束即忘，每次都像新同事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81050" y="4324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90600" y="42481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个人订阅制，能力不沉淀为组织资产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0" y="2114550"/>
            <a:ext cx="9525" cy="1143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886450" y="30480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981700" y="31527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0" y="3257550"/>
            <a:ext cx="9525" cy="1143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6400800" y="1733550"/>
            <a:ext cx="5219700" cy="3038475"/>
          </a:xfrm>
          <a:prstGeom prst="roundRect">
            <a:avLst>
              <a:gd name="adj" fmla="val 3762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103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610350" y="2409825"/>
            <a:ext cx="48006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6103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19900" y="25336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基于公司知识库作答，答案带出处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610350" y="3038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19900" y="296227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读写文件、执行任务、交付结果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610350" y="3467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19900" y="339090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本地部署，数据不出内网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61035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19900" y="381952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记忆持续积累，越合作越懂你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610350" y="4324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19900" y="42481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专家、技能、记忆沉淀为组织资产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71500" y="4886325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04850" y="50006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聊天工具解决「问」，数字员工解决「做」——这是两种东西，不是两个牌子。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9" name="" descr="&lt;Slide style={{ padding: 60, background: '#F4F6FB', position: 'relative' }}&gt;&#13;&#10;    &lt;Box style={{ position: 'absolute', right: 60, top: 130, width: 420, height: 460 }}&gt;&#13;&#10;        &lt;svg width={420} height={460} viewBox='0 0 420 460'&gt;&#13;&#10;            &lt;circle cx='210' cy='240' r='150' fill='none' stroke='#C7D6F5' strokeWidth='1' /&gt;&#13;&#10;            &lt;circle cx='210' cy='240' r='200' fill='none' stroke='#C7D6F5' strokeWidth='1' /&gt;&#13;&#10;            &lt;path d='M10 240 A200 200 0 0 1 410 240' fill='none' stroke='#0891B2' strokeWidth='3' opacity='0.6' /&gt;&#13;&#10;            &lt;circle cx='360' cy='240' r='8' fill='#F59E0B' /&gt;&#13;&#10;            &lt;circle cx='60' cy='240' r='8' fill='#2563EB' /&gt;&#13;&#10;            &lt;circle cx='210' cy='40' r='6' fill='#0891B2' /&gt;&#13;&#10;        &lt;/svg&gt;&#13;&#10;    &lt;/Box&gt;&#13;&#10;&#13;&#10;    &lt;Box style={{ position: 'absolute', left: 92, top: 168, width: 680 }}&gt;&#13;&#10;        &lt;Text style={{ fontSize: 180, fontWeight: 'bold', color: '#CBD9F0', lineHeight: 1.05 }}&gt;&#13;&#10;            02&#13;&#10;        &lt;/Text&gt;&#13;&#10;        &lt;Text style={{ fontSize: 64, fontWeight: 'bold', color: '#1E293B', lineHeight: 1.15, marginTop: 12 }}&gt;&#13;&#10;            业务怎么用&#13;&#10;        &lt;/Text&gt;&#13;&#10;        &lt;Box style={{ width: 72, height: 6, borderRadius: 3, background: '#F59E0B', marginTop: 30 }} /&gt;&#13;&#10;        &lt;Text style={{ fontSize: 22, color: '#64748B', lineHeight: 1.5, marginTop: 26 }}&gt;&#13;&#10;            部门场景、能力专题与员工使用方式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部门场景、能力专题与员工使用方式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每个部门拿到什么&#10;        &lt;/Text&gt;&#10;        &lt;Box style={{ height: 1, background: '#E2E8F0', marginTop: 16 }} /&gt;&#10;&#10;        &lt;Box style={{ flex: 1, marginTop: 20, flexDirection: 'row', gap: 32 }}&gt;&#10;            {/* 左：大数字 */}&#10;            &lt;Box style={{ width: 280 }}&gt;&#10;                &lt;Text style={{ fontSize: 100, fontWeight: 'bold', color: '#F59E0B', lineHeight: 1.0 }}&gt;7&lt;/Text&gt;&#10;                &lt;Text style={{ fontSize: 22, fontWeight: '600', color: '#1E293B', marginTop: 8 }}&gt;类部门各有收获&lt;/Text&gt;&#10;                &lt;Text style={{ fontSize: 18, color: '#475569', lineHeight: 1.55, marginTop: 12 }}&gt;&#10;                    从一线客服到管理层，每个岗位都能说出「它帮我干了什么」——这是采纳率的起点。&#10;                &lt;/Text&gt;&#10;                &lt;Box style={{ width: 180, height: 1, background: '#E2E8F0', marginTop: 16 }} /&gt;&#10;                &lt;Text style={{ fontSize: 16, color: '#64748B', lineHeight: 1.5, marginTop: 12 }}&gt;&#10;                    同一份受控知识库，各部门按权限取用&#10;                &lt;/Text&gt;&#10;            &lt;/Box&gt;&#10;&#10;            {/* 右：七行清单 */}&#10;            &lt;Box style={{ flex: 1 }}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客服&lt;/Text&gt;&#10;                    &lt;Text style={{ fontSize: 18, color: '#475569' }}&gt;答复有出处，二次咨询记得住前情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运营&lt;/Text&gt;&#10;                    &lt;Text style={{ fontSize: 18, color: '#475569' }}&gt;日报周报自动出稿，异常预警主动推送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市场销售&lt;/Text&gt;&#10;                    &lt;Text style={{ fontSize: 18, color: '#475569' }}&gt;方案初稿、竞品信息随手可问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财务法务&lt;/Text&gt;&#10;                    &lt;Text style={{ fontSize: 18, color: '#475569' }}&gt;制度查询、合同要点快速梳理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人力 HR&lt;/Text&gt;&#10;                    &lt;Text style={{ fontSize: 18, color: '#475569' }}&gt;政策问答、面试安排、入职答疑有问必答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研发&lt;/Text&gt;&#10;                    &lt;Text style={{ fontSize: 18, color: '#475569' }}&gt;需求澄清、日志排查、文档生成提速&lt;/Text&gt;&#10;                &lt;/Box&gt;&#10;                &lt;Box style={{ height: 54, flexDirection: 'row', alignItems: 'center' }}&gt;&#10;                    &lt;Text style={{ width: 150, fontSize: 18, fontWeight: '600', color: '#2563EB' }}&gt;管理层&lt;/Text&gt;&#10;                    &lt;Text style={{ fontSize: 18, color: '#475569' }}&gt;进度可查、过程留痕、投入可控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不是替换岗位，而是给每个岗位配一个不下班的助理——业务先受益，推广阻力自然小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每个部门拿到什么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1733550"/>
            <a:ext cx="26670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F59E0B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类部门各有收获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3324225"/>
            <a:ext cx="2667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从一线客服到管理层，每个岗位都能说出「它帮我干了什么」——这是采纳率的起点。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4438650"/>
            <a:ext cx="1714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4562475"/>
            <a:ext cx="266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同一份受控知识库，各部门按权限取用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543300" y="17335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543300" y="18859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客服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972050" y="188595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答复有出处，二次咨询记得住前情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543300" y="22479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543300" y="24003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运营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972050" y="2400300"/>
            <a:ext cx="291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日报周报自动出稿，异常预警主动推送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543300" y="27622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543300" y="29146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市场销售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972050" y="291465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方案初稿、竞品信息随手可问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543300" y="32766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543300" y="34290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财务法务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972050" y="342900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制度查询、合同要点快速梳理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543300" y="37909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543300" y="39433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人力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HR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972050" y="394335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政策问答、面试安排、入职答疑有问必答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543300" y="43053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543300" y="44577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研发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972050" y="445770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需求澄清、日志排查、文档生成提速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543300" y="49720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管理层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972050" y="49720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进度可查、过程留痕、投入可控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不是替换岗位，而是给每个岗位配一个不下班的助理——业务先受益，推广阻力自然小。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客服与售后：答得准、记得住、转得顺&#10;        &lt;/Text&gt;&#10;        &lt;Box style={{ height: 1, background: '#E2E8F0', marginTop: 16 }} /&gt;&#10;&#10;        &lt;Box style={{ flex: 1, marginTop: 20, flexDirection: 'row', gap: 28 }}&gt;&#10;            {/* 左：示例卡 */}&#10;            &lt;Box style={{ width: 400, background: '#F4F6FB', borderRadius: 12, padding: 22 }}&gt;&#10;                &lt;Text style={{ fontSize: 18, fontWeight: '600', color: '#64748B', lineHeight: 1.3 }}&gt;现场是什么样&lt;/Text&gt;&#10;                &lt;Box style={{ background: '#FFFFFF', borderRadius: 10, padding: 16, marginTop: 12, borderWidth: 1, borderColor: '#C7D6F5', borderStyle: 'solid' }}&gt;&#10;                    &lt;Text style={{ fontSize: 18, color: '#475569', lineHeight: 1.5 }}&gt;客户问：「你们的设备保修多久？上门收费吗？」&lt;/Text&gt;&#10;                &lt;/Box&gt;&#10;                &lt;Box style={{ background: '#E8EEFB', borderRadius: 10, padding: 16, marginTop: 10 }}&gt;&#10;                    &lt;Text style={{ fontSize: 18, color: '#1E293B', lineHeight: 1.5 }}&gt;&#10;                        数字客服答：整机保修 2 年、核心部件 3 年，保修期内上门免收服务费——依据《售后服务政策 2026 版》第 3.2 条。&#10;                    &lt;/Text&gt;&#10;                &lt;/Box&gt;&#10;                &lt;Text style={{ fontSize: 16, color: '#64748B', lineHeight: 1.5, marginTop: 12 }}&gt;&#10;                    答案点得开出处；答不上来时主动转人工，不硬编。&#10;                &lt;/Text&gt;&#10;            &lt;/Box&gt;&#10;&#10;            {/* 右：两块 */}&#10;            &lt;Box style={{ flex: 1, gap: 14 }}&gt;&#10;                &lt;Box style={{ flex: 1, background: '#FFFFFF', borderWidth: 1, borderColor: '#C7D6F5', borderStyle: 'solid', borderRadius: 12, padding: 18 }}&gt;&#10;                    &lt;Text style={{ fontSize: 22, fontWeight: '600', color: '#1E293B', lineHeight: 1.3 }}&gt;典型工作&lt;/Text&gt;&#10;                    &lt;Text style={{ fontSize: 18, color: '#475569', lineHeight: 1.55, marginTop: 8 }}&gt;&#10;                        产品咨询、售后政策解答、投诉初步处理、回访提醒、常见问题整理——重复度高、口径要求高。&#10;                    &lt;/Text&gt;&#10;                &lt;/Box&gt;&#10;                &lt;Box style={{ flex: 1, background: '#E8EEFB', borderRadius: 12, padding: 18 }}&gt;&#10;                    &lt;Text style={{ fontSize: 22, fontWeight: '600', color: '#2563EB', lineHeight: 1.3 }}&gt;它能做的&lt;/Text&gt;&#10;                    &lt;Text style={{ fontSize: 18, color: '#1E293B', lineHeight: 1.55, marginTop: 8 }}&gt;&#10;                        秒答高频问题并附出处；二次咨询记得前情；超范围自动转人工并带上下文；常见问题持续沉淀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口径统一 + 背景延续 + 出处可查——客服体验的三块短板，一次补齐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部门深挖｜客服与售后：答得准、记得住、转得顺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571500" y="1733550"/>
            <a:ext cx="3810000" cy="3886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现场是什么样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81050" y="2333625"/>
            <a:ext cx="339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客户问：「你们的设备保修多久？上门收费吗？」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81050" y="3352800"/>
            <a:ext cx="3390900" cy="1238250"/>
          </a:xfrm>
          <a:prstGeom prst="roundRect">
            <a:avLst>
              <a:gd name="adj" fmla="val 7692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0861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数字客服答：整机保修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年、核心部件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年，保修期内上门免收服务费——依据《售后服务政策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版》第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3.2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条。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4705350"/>
            <a:ext cx="3390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答案点得开出处；答不上来时主动转人工，不硬编。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648200" y="1733550"/>
            <a:ext cx="6972300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819650" y="190500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819650" y="23145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产品咨询、售后政策解答、投诉初步处理、回访提醒、常见问题整理——重复度高、口径要求高。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648200" y="3743325"/>
            <a:ext cx="6972300" cy="1876425"/>
          </a:xfrm>
          <a:prstGeom prst="roundRect">
            <a:avLst>
              <a:gd name="adj" fmla="val 609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19650" y="3914775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它能做的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19650" y="432435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秒答高频问题并附出处；二次咨询记得前情；超范围自动转人工并带上下文；常见问题持续沉淀。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口径统一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背景延续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出处可查——客服体验的三块短板，一次补齐。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0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运营与行政：重复的事自动发生&#10;        &lt;/Text&gt;&#10;        &lt;Box style={{ height: 1, background: '#E2E8F0', marginTop: 16 }} /&gt;&#10;&#10;        {/* 一天的时间轴 */}&#10;        &lt;Box style={{ flex: 1, marginTop: 16, position: 'relative' }}&gt;&#10;            &lt;svg width={1160} height={330} viewBox='0 0 1160 330'&gt;&#10;                &lt;line x1='40' y1='165' x2='1120' y2='165' stroke='#C7D6F5' strokeWidth='2' /&gt;&#10;                &lt;circle cx='160' cy='165' r='9' fill='#2563EB' /&gt;&#10;                &lt;circle cx='440' cy='165' r='9' fill='#0891B2' /&gt;&#10;                &lt;circle cx='720' cy='165' r='9' fill='#2563EB' /&gt;&#10;                &lt;circle cx='1000' cy='165' r='11' fill='#F59E0B' /&gt;&#10;                &lt;line x1='160' y1='165' x2='160' y2='110' stroke='#C7D6F5' strokeWidth='1' /&gt;&#10;                &lt;line x1='440' y1='165' x2='440' y2='222' stroke='#C7D6F5' strokeWidth='1' /&gt;&#10;                &lt;line x1='720' y1='165' x2='720' y2='110' stroke='#C7D6F5' strokeWidth='1' /&gt;&#10;                &lt;line x1='1000' y1='165' x2='1000' y2='222' stroke='#C7D6F5' strokeWidth='1' /&gt;&#10;            &lt;/svg&gt;&#10;            &lt;Box style={{ position: 'absolute', left: 20, top: 8, width: 280, background: '#E8EEFB', borderRadius: 10, padding: 14 }}&gt;&#10;                &lt;Text style={{ fontSize: 20, fontWeight: '600', color: '#1E293B', lineHeight: 1.3 }}&gt;早 8:00 · 日报已就绪&lt;/Text&gt;&#10;                &lt;Text style={{ fontSize: 18, color: '#475569', lineHeight: 1.5, marginTop: 6 }}&gt;数据自动汇总、摘要生成、推送到管理群。&lt;/Text&gt;&#10;            &lt;/Box&gt;&#10;            &lt;Box style={{ position: 'absolute', left: 580, top: 8, width: 280, background: '#E8EEFB', borderRadius: 10, padding: 14 }}&gt;&#10;                &lt;Text style={{ fontSize: 20, fontWeight: '600', color: '#1E293B', lineHeight: 1.3 }}&gt;随时 · 批量操作回放&lt;/Text&gt;&#10;                &lt;Text style={{ fontSize: 18, color: '#475569', lineHeight: 1.5, marginTop: 6 }}&gt;后台填报录成技能，一次操作批量重放。&lt;/Text&gt;&#10;            &lt;/Box&gt;&#10;            &lt;Box style={{ position: 'absolute', left: 300, top: 208, width: 280, background: '#D6E4F9', borderRadius: 10, padding: 14 }}&gt;&#10;                &lt;Text style={{ fontSize: 20, fontWeight: '600', color: '#1E293B', lineHeight: 1.3 }}&gt;日间 · 异常即刻预警&lt;/Text&gt;&#10;                &lt;Text style={{ fontSize: 18, color: '#475569', lineHeight: 1.5, marginTop: 6 }}&gt;指标越线主动提醒，不用等周会复盘才发现。&lt;/Text&gt;&#10;            &lt;/Box&gt;&#10;            &lt;Box style={{ position: 'absolute', left: 860, top: 208, width: 280, background: '#FFF7E9', borderRadius: 10, padding: 14 }}&gt;&#10;                &lt;Text style={{ fontSize: 20, fontWeight: '600', color: '#1E293B', lineHeight: 1.3 }}&gt;到期前 · 主动提醒&lt;/Text&gt;&#10;                &lt;Text style={{ fontSize: 18, color: '#475569', lineHeight: 1.5, marginTop: 6 }}&gt;证照年检、合同续签、费用到期提前打招呼。&lt;/Text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运营行政的价值不在「快一点」，而在「不漏事」——该做的自动发生，人只处理例外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部门深挖｜运营与行政：重复的事自动发生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运营行政的价值不在「快一点」，而在「不漏事」——该做的自动发生，人只处理例外。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95450"/>
            <a:ext cx="11049000" cy="3143250"/>
          </a:xfrm>
          <a:prstGeom prst="rect">
            <a:avLst/>
          </a:prstGeom>
          <a:ln/>
        </p:spPr>
      </p:pic>
      <p:sp>
        <p:nvSpPr>
          <p:cNvPr id="139" name=""/>
          <p:cNvSpPr/>
          <p:nvPr/>
        </p:nvSpPr>
        <p:spPr>
          <a:xfrm rot="0" flipH="0" flipV="0">
            <a:off x="762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早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8:00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日报已就绪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95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数据自动汇总、摘要生成、推送到管理群。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229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随时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批量操作回放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29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后台填报录成技能，一次操作批量重放。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429000" y="3676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562350" y="3810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日间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异常即刻预警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562350" y="4171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指标越线主动提醒，不用等周会复盘才发现。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763000" y="3676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896350" y="3810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到期前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主动提醒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896350" y="4171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证照年检、合同续签、费用到期提前打招呼。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市场与销售：素材与情报随手可得&#10;        &lt;/Text&gt;&#10;        &lt;Box style={{ height: 1, background: '#E2E8F0', marginTop: 16 }} /&gt;&#10;&#10;        &lt;Box style={{ flex: 1, marginTop: 20, flexDirection: 'row', gap: 16 }}&gt;&#10;            &lt;Box style={{ width: 440, background: '#2563EB', borderRadius: 12, padding: 20 }}&gt;&#10;                &lt;Text style={{ fontSize: 22, fontWeight: '600', color: '#FFFFFF', lineHeight: 1.3 }}&gt;典型工作&lt;/Text&gt;&#10;                &lt;Text style={{ fontSize: 18, color: '#DBEAFE', lineHeight: 1.6, marginTop: 10 }}&gt;&#10;                    方案初稿、竞品信息收集、客户背景整理、销售话术准备、活动文案、会议纪要跟进——多数时间花在「找料」和「起稿」上。&#10;                &lt;/Text&gt;&#10;                &lt;Box style={{ height: 1, background: '#3B82F6', marginTop: 14 }} /&gt;&#10;                &lt;Text style={{ fontSize: 18, color: '#DBEAFE', lineHeight: 1.6, marginTop: 12 }}&gt;&#10;                    把准备时间从小时压到分钟，销售的时间应该花在客户身上，不是花在 PPT 上。&#10;                &lt;/Text&gt;&#10;            &lt;/Box&gt;&#10;            &lt;Box style={{ flex: 1, gap: 12 }}&gt;&#10;                &lt;Box style={{ flex: 1, background: '#F4F6FB', borderRadius: 12, padding: 18 }}&gt;&#10;                    &lt;Text style={{ fontSize: 22, fontWeight: '600', color: '#1E293B', lineHeight: 1.3 }}&gt;案例与话术，随问随取&lt;/Text&gt;&#10;                    &lt;Text style={{ fontSize: 18, color: '#475569', lineHeight: 1.5, marginTop: 6 }}&gt;&#10;                        从公司知识库调成功案例、报价口径、方案模板，新人也能答出老销售的水平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公开信息先替你跑一遍&lt;/Text&gt;&#10;                    &lt;Text style={{ fontSize: 18, color: '#475569', lineHeight: 1.5, marginTop: 6 }}&gt;&#10;                        联网搜索、网页抓取、浏览器收集公开资料，竞品与行业动态整理成简报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初稿它写，定稿你来&lt;/Text&gt;&#10;                    &lt;Text style={{ fontSize: 18, color: '#475569', lineHeight: 1.5, marginTop: 6 }}&gt;&#10;                        文案、纪要、跟进邮件生成初稿，人负责判断与润色——把重复的写作交出去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市场销售最先感受到的不是「更聪明」，而是「准备一场客户会不再要一整个下午」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部门深挖｜市场与销售：素材与情报随手可得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571500" y="1733550"/>
            <a:ext cx="4191000" cy="388620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810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3810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方案初稿、竞品信息收集、客户背景整理、销售话术准备、活动文案、会议纪要跟进——多数时间花在「找料」和「起稿」上。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62000" y="3476625"/>
            <a:ext cx="38100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000" y="3600450"/>
            <a:ext cx="381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把准备时间从小时压到分钟，销售的时间应该花在客户身上，不是花在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上。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914900" y="17335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086350" y="19050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案例与话术，随问随取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086350" y="22955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从公司知识库调成功案例、报价口径、方案模板，新人也能答出老销售的水平。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914900" y="30670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086350" y="32385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公开信息先替你跑一遍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086350" y="36290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联网搜索、网页抓取、浏览器收集公开资料，竞品与行业动态整理成简报。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914900" y="44005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086350" y="45720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初稿它写，定稿你来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086350" y="49625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文案、纪要、跟进邮件生成初稿，人负责判断与润色——把重复的写作交出去。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市场销售最先感受到的不是「更聪明」，而是「准备一场客户会不再要一整个下午」。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财务与法务：口径统一、依据可查&#10;        &lt;/Text&gt;&#10;        &lt;Box style={{ height: 1, background: '#E2E8F0', marginTop: 16 }} /&gt;&#10;&#10;        &lt;Box style={{ flex: 1, marginTop: 20, flexDirection: 'row', gap: 28 }}&gt;&#10;            {/* 左：典型工作 */}&#10;            &lt;Box style={{ flex: 1, background: '#F4F6FB', borderRadius: 12, padding: 22 }}&gt;&#10;                &lt;Text style={{ fontSize: 22, fontWeight: '600', color: '#64748B', lineHeight: 1.3 }}&gt;典型工作&lt;/Text&gt;&#10;                &lt;Box style={{ height: 1, background: '#E2E8F0', marginTop: 12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制度条款查询：差旅标准、报销口径、审批流程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合同要点梳理：关键条款、期限、违约与付款条件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法规与案例检索：监管口径、过往判例、内部指引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重复答疑：业务部门每天来问的「这个能不能报」&lt;/Text&gt;&#10;                    &lt;/Box&gt;&#10;                &lt;/Box&gt;&#10;            &lt;/Box&gt;&#10;&#10;            {/* 右：它能做的 */}&#10;            &lt;Box style={{ flex: 1, background: '#E8EEFB', borderRadius: 12, padding: 22 }}&gt;&#10;                &lt;Text style={{ fontSize: 22, fontWeight: '600', color: '#2563EB', lineHeight: 1.3 }}&gt;它能做的&lt;/Text&gt;&#10;                &lt;Box style={{ height: 1, background: '#C7D6F5', marginTop: 12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秒查制度条款，答案附原文出处，口径全公司统一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合同关键条款提示与风险点初筛，辅助人工判断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法规检索整理成要点，引用可回溯到原文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高频问题沉淀成标准答复，重复答疑量直接下降&lt;/Text&gt;&#10;                    &lt;/Box&gt;&#10;                &lt;/Box&gt;&#10;            &lt;/Box&gt;&#10;        &lt;/Box&gt;&#10;&#10;        {/* 结论条（含边界说明） */}&#10;        &lt;Box style={{ height: 58, background: '#FFF7E9', borderRadius: 10, padding: 14, marginTop: 12, justifyContent: 'center' }}&gt;&#10;            &lt;Text style={{ fontSize: 19, fontWeight: '600', color: '#7C2D12', lineHeight: 1.4 }}&gt;&#10;                定位是「辅助专业判断」，不是替代专业意见——查得到、说得清出处，财务法务才敢让它进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部门深挖｜财务与法务：口径统一、依据可查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571500" y="1733550"/>
            <a:ext cx="5391150" cy="388620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81050" y="2390775"/>
            <a:ext cx="49720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781050" y="2590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90600" y="251460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制度条款查询：差旅标准、报销口径、审批流程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81050" y="3019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合同要点梳理：关键条款、期限、违约与付款条件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81050" y="3448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90600" y="33718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法规与案例检索：监管口径、过往判例、内部指引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7810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90600" y="380047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重复答疑：业务部门每天来问的「这个能不能报」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229350" y="1733550"/>
            <a:ext cx="5391150" cy="3886200"/>
          </a:xfrm>
          <a:prstGeom prst="roundRect">
            <a:avLst>
              <a:gd name="adj" fmla="val 29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38900" y="19431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它能做的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438900" y="2390775"/>
            <a:ext cx="497205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438900" y="2590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648450" y="251460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秒查制度条款，答案附原文出处，口径全公司统一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438900" y="3019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48450" y="294322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合同关键条款提示与风险点初筛，辅助人工判断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438900" y="3448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648450" y="33718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法规检索整理成要点，引用可回溯到原文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43890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48450" y="380047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高频问题沉淀成标准答复，重复答疑量直接下降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定位是「辅助专业判断」，不是替代专业意见——查得到、说得清出处，财务法务才敢让它进场。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人力 HR：答疑不重复，招聘更省力&#10;        &lt;/Text&gt;&#10;        &lt;Box style={{ height: 1, background: '#E2E8F0', marginTop: 16 }} /&gt;&#10;&#10;        &lt;Box style={{ flex: 1, marginTop: 20, flexDirection: 'row', gap: 28 }}&gt;&#10;            {/* 左：常见问题 chip 云 */}&#10;            &lt;Box style={{ width: 380, background: '#F4F6FB', borderRadius: 12, padding: 20 }}&gt;&#10;                &lt;Text style={{ fontSize: 22, fontWeight: '600', color: '#1E293B', lineHeight: 1.3 }}&gt;HR 每天被问的&lt;/Text&gt;&#10;                &lt;Box style={{ height: 1, background: '#E2E8F0', marginTop: 12 }} /&gt;&#10;                &lt;Box style={{ flexDirection: 'row', gap: 8, marginTop: 14 }}&gt;&#10;                    &lt;Box style={{ background: '#E8EEFB', borderRadius: 8, padding: 9 }}&gt;&lt;Text style={{ fontSize: 18, color: '#1E293B' }}&gt;年假怎么算&lt;/Text&gt;&lt;/Box&gt;&#10;                    &lt;Box style={{ background: '#E8EEFB', borderRadius: 8, padding: 9 }}&gt;&lt;Text style={{ fontSize: 18, color: '#1E293B' }}&gt;社保基数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报销流程&lt;/Text&gt;&lt;/Box&gt;&#10;                    &lt;Box style={{ background: '#E8EEFB', borderRadius: 8, padding: 9 }}&gt;&lt;Text style={{ fontSize: 18, color: '#1E293B' }}&gt;转正材料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调薪政策&lt;/Text&gt;&lt;/Box&gt;&#10;                    &lt;Box style={{ background: '#FFF7E9', borderRadius: 8, padding: 9 }}&gt;&lt;Text style={{ fontSize: 18, color: '#B45309' }}&gt;入职答疑&lt;/Text&gt;&lt;/Box&gt;&#10;                &lt;/Box&gt;&#10;                &lt;Text style={{ fontSize: 16, color: '#64748B', lineHeight: 1.5, marginTop: 14 }}&gt;&#10;                    高度重复、口径敏感——最适合先交给数字助理。&#10;                &lt;/Text&gt;&#10;            &lt;/Box&gt;&#10;&#10;            {/* 右：三行 */}&#10;            &lt;Box style={{ flex: 1 }}&gt;&#10;                &lt;Box style={{ height: 128, borderBottomWidth: 1, borderBottomColor: '#E2E8F0', borderBottomStyle: 'solid' }}&gt;&#10;                    &lt;Text style={{ fontSize: 22, fontWeight: '600', color: '#1E293B', lineHeight: 1.3, marginTop: 4 }}&gt;政策问答，统一口径&lt;/Text&gt;&#10;                    &lt;Text style={{ fontSize: 18, color: '#475569', lineHeight: 1.5, marginTop: 8 }}&gt;&#10;                        基于公司制度作答并附出处，不同 HR 对同一问题不再给出两种说法。&#10;                    &lt;/Text&gt;&#10;                &lt;/Box&gt;&#10;                &lt;Box style={{ height: 128, borderBottomWidth: 1, borderBottomColor: '#E2E8F0', borderBottomStyle: 'solid' }}&gt;&#10;                    &lt;Text style={{ fontSize: 22, fontWeight: '600', color: '#1E293B', lineHeight: 1.3, marginTop: 4 }}&gt;新人入职，有问必答&lt;/Text&gt;&#10;                    &lt;Text style={{ fontSize: 18, color: '#475569', lineHeight: 1.5, marginTop: 8 }}&gt;&#10;                        入职引导、流程答疑、材料清单随时可问，新人少走弯路，HR 少被打断。&#10;                    &lt;/Text&gt;&#10;                &lt;/Box&gt;&#10;                &lt;Box style={{ height: 128 }}&gt;&#10;                    &lt;Text style={{ fontSize: 22, fontWeight: '600', color: '#1E293B', lineHeight: 1.3, marginTop: 4 }}&gt;招聘事务，先做粗活&lt;/Text&gt;&#10;                    &lt;Text style={{ fontSize: 18, color: '#475569', lineHeight: 1.5, marginTop: 8 }}&gt;&#10;                        简历按要求初筛整理、面试安排与通知草拟、培训资料整理——粗活交出去，判断留给人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HR 从重复答疑里解放出来，把时间还给人该做的事：谈人、育人、留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部门深挖｜人力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HR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：答疑不重复，招聘更省力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571500" y="1733550"/>
            <a:ext cx="3619500" cy="38862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238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每天被问的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62000" y="2371725"/>
            <a:ext cx="3238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62000" y="25146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47725" y="26003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年假怎么算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1866900" y="25146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952625" y="2600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社保基数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62000" y="29718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47725" y="3057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报销流程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1695450" y="29718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781175" y="3057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转正材料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62000" y="34290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47725" y="3514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调薪政策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695450" y="34290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781175" y="3514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入职答疑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2000" y="3943350"/>
            <a:ext cx="3238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高度重复、口径敏感——最适合先交给数字助理。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457700" y="1733550"/>
            <a:ext cx="7162800" cy="1219200"/>
          </a:xfrm>
          <a:custGeom>
            <a:pathLst>
              <a:path w="752" h="128">
                <a:moveTo>
                  <a:pt x="0" y="127"/>
                </a:moveTo>
                <a:lnTo>
                  <a:pt x="752" y="127"/>
                </a:lnTo>
                <a:lnTo>
                  <a:pt x="752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57700" y="17716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政策问答，统一口径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57700" y="21812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基于公司制度作答并附出处，不同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对同一问题不再给出两种说法。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457700" y="2952750"/>
            <a:ext cx="7162800" cy="1219200"/>
          </a:xfrm>
          <a:custGeom>
            <a:pathLst>
              <a:path w="752" h="128">
                <a:moveTo>
                  <a:pt x="0" y="127"/>
                </a:moveTo>
                <a:lnTo>
                  <a:pt x="752" y="127"/>
                </a:lnTo>
                <a:lnTo>
                  <a:pt x="752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57700" y="29908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新人入职，有问必答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57700" y="34004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入职引导、流程答疑、材料清单随时可问，新人少走弯路，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少被打断。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457700" y="42100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招聘事务，先做粗活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57700" y="46196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简历按要求初筛整理、面试安排与通知草拟、培训资料整理——粗活交出去，判断留给人。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从重复答疑里解放出来，把时间还给人该做的事：谈人、育人、留人。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5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一｜智能客服：答复有出处，背景记得住&#10;        &lt;/Text&gt;&#10;        &lt;Box style={{ height: 1, background: '#E2E8F0', marginTop: 16 }} /&gt;&#10;&#10;        {/* 五步流程 */}&#10;        &lt;Box style={{ flexDirection: 'row', marginTop: 20, alignItems: 'stretch' }}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1&lt;/Text&gt;&#10;                &lt;Text style={{ fontSize: 20, fontWeight: '600', color: '#1E293B', lineHeight: 1.3, marginTop: 4 }}&gt;客户提问&lt;/Text&gt;&#10;                &lt;Text style={{ fontSize: 18, color: '#475569', lineHeight: 1.5, marginTop: 6 }}&gt;&#10;                    问题从企业微信、飞书或钉钉进来，和网页控制台走同一条处理管线。&#10;                &lt;/Text&gt;&#10;            &lt;/Box&gt;&#10;            &lt;Box style={{ width: 25, justifyContent: 'center', alignItems: 'center' }}&gt;&#10;                &lt;svg width={25} height={18} viewBox='0 0 25 18'&gt;&lt;path d='M0 9 L15 9' stroke='#2563EB' strokeWidth='2' /&gt;&lt;path d='M15 2 L25 9 L15 16 Z' fill='#2563EB' /&gt;&lt;/svg&gt;&#10;            &lt;/Box&gt;&#10;            &lt;Box style={{ width: 210, background: '#D6E4F9', borderRadius: 10, padding: 12 }}&gt;&#10;                &lt;Text style={{ fontSize: 18, fontWeight: '600', color: '#475569', lineHeight: 1.3 }}&gt;02&lt;/Text&gt;&#10;                &lt;Text style={{ fontSize: 20, fontWeight: '600', color: '#1E293B', lineHeight: 1.3, marginTop: 4 }}&gt;检索知识库&lt;/Text&gt;&#10;                &lt;Text style={{ fontSize: 18, color: '#475569', lineHeight: 1.5, marginTop: 6 }}&gt;&#10;                    在公司受控文档中检索相关片段，只引用授权范围内的资料。&#10;                &lt;/Text&gt;&#10;            &lt;/Box&gt;&#10;            &lt;Box style={{ width: 25, justifyContent: 'center', alignItems: 'center' }}&gt;&#10;                &lt;svg width={25} height={18} viewBox='0 0 25 18'&gt;&lt;path d='M0 9 L15 9' stroke='#0891B2' strokeWidth='2' /&gt;&lt;path d='M15 2 L25 9 L15 16 Z' fill='#0891B2' /&gt;&lt;/svg&gt;&#10;            &lt;/Box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3&lt;/Text&gt;&#10;                &lt;Text style={{ fontSize: 20, fontWeight: '600', color: '#1E293B', lineHeight: 1.3, marginTop: 4 }}&gt;带出处作答&lt;/Text&gt;&#10;                &lt;Text style={{ fontSize: 18, color: '#475569', lineHeight: 1.5, marginTop: 6 }}&gt;&#10;                    答案直接回到原会话，附来源标记，客户和坐席都能点开核对。&#10;                &lt;/Text&gt;&#10;            &lt;/Box&gt;&#10;            &lt;Box style={{ width: 25, justifyContent: 'center', alignItems: 'center' }}&gt;&#10;                &lt;svg width={25} height={18} viewBox='0 0 25 18'&gt;&lt;path d='M0 9 L15 9' stroke='#F59E0B' strokeWidth='2' /&gt;&lt;path d='M15 2 L25 9 L15 16 Z' fill='#F59E0B' /&gt;&lt;/svg&gt;&#10;            &lt;/Box&gt;&#10;            &lt;Box style={{ width: 210, background: '#FFF7E9', borderWidth: 1, borderColor: '#F5D9A4', borderStyle: 'solid', borderRadius: 10, padding: 12 }}&gt;&#10;                &lt;Text style={{ fontSize: 18, fontWeight: '600', color: '#B45309', lineHeight: 1.3 }}&gt;04&lt;/Text&gt;&#10;                &lt;Text style={{ fontSize: 20, fontWeight: '600', color: '#1E293B', lineHeight: 1.3, marginTop: 4 }}&gt;不知则转人工&lt;/Text&gt;&#10;                &lt;Text style={{ fontSize: 18, color: '#475569', lineHeight: 1.5, marginTop: 6 }}&gt;&#10;                    缺信息时主动反问，超出范围时升级人工并保留完整上下文。&#10;                &lt;/Text&gt;&#10;            &lt;/Box&gt;&#10;            &lt;Box style={{ width: 25, justifyContent: 'center', alignItems: 'center' }}&gt;&#10;                &lt;svg width={25} height={18} viewBox='0 0 25 18'&gt;&lt;path d='M0 9 L15 9' stroke='#F59E0B' strokeWidth='2' /&gt;&lt;path d='M15 2 L25 9 L15 16 Z' fill='#F59E0B' /&gt;&lt;/svg&gt;&#10;            &lt;/Box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5&lt;/Text&gt;&#10;                &lt;Text style={{ fontSize: 20, fontWeight: '600', color: '#1E293B', lineHeight: 1.3, marginTop: 4 }}&gt;沉淀为记忆&lt;/Text&gt;&#10;                &lt;Text style={{ fontSize: 18, color: '#475569', lineHeight: 1.5, marginTop: 6 }}&gt;&#10;                    本次结论进入长期记忆，客户下次咨询不必从头复述背景。&#10;                &lt;/Text&gt;&#10;            &lt;/Box&gt;&#10;        &lt;/Box&gt;&#10;&#10;        {/* 三条收益 */}&#10;        &lt;Box style={{ flexDirection: 'row', marginTop: 20, gap: 16 }}&gt;&#10;            &lt;Box style={{ flex: 1.2, background: '#F4F6FB', borderRadius: 10, padding: 14 }}&gt;&#10;                &lt;Text style={{ fontSize: 20, fontWeight: '600', color: '#1E293B', lineHeight: 1.3 }}&gt;坐席减负&lt;/Text&gt;&#10;                &lt;Text style={{ fontSize: 18, color: '#475569', lineHeight: 1.5, marginTop: 6 }}&gt;不必在工单、知识库与聊天窗之间来回切换。&lt;/Text&gt;&#10;            &lt;/Box&gt;&#10;            &lt;Box style={{ flex: 1, background: '#F4F6FB', borderRadius: 10, padding: 14 }}&gt;&#10;                &lt;Text style={{ fontSize: 20, fontWeight: '600', color: '#1E293B', lineHeight: 1.3 }}&gt;口径统一&lt;/Text&gt;&#10;                &lt;Text style={{ fontSize: 18, color: '#475569', lineHeight: 1.5, marginTop: 6 }}&gt;答案来自同一份受控文档，不同坐席不再打架。&lt;/Text&gt;&#10;            &lt;/Box&gt;&#10;            &lt;Box style={{ flex: 1, background: '#F4F6FB', borderRadius: 10, padding: 14 }}&gt;&#10;                &lt;Text style={{ fontSize: 20, fontWeight: '600', color: '#1E293B', lineHeight: 1.3 }}&gt;体验延续&lt;/Text&gt;&#10;                &lt;Text style={{ fontSize: 18, color: '#475569', lineHeight: 1.5, marginTop: 6 }}&gt;二次咨询带着上次结论继续，客户不用重讲。&lt;/Text&gt;&#10;            &lt;/Box&gt;&#10;        &lt;/Box&gt;&#10;&#10;        {/* 结论条 */}&#10;        &lt;Box style={{ height: 62, background: '#E8EEFB', borderRadius: 10, padding: 16, marginTop: 14, justifyContent: 'center' }}&gt;&#10;            &lt;Text style={{ fontSize: 19, fontWeight: '600', color: '#1E293B', lineHeight: 1.4 }}&gt;&#10;                客服场景的价值不在「回答得快」，而在「答得准、说得出出处、记得住前情」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场景一｜智能客服：答复有出处，背景记得住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57150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客户提问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17716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问题从企业微信、飞书或钉钉进来，和网页控制台走同一条处理管线。</a:t>
            </a:r>
            <a:endParaRPr/>
          </a:p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571750" y="2724150"/>
            <a:ext cx="238125" cy="171450"/>
          </a:xfrm>
          <a:prstGeom prst="rect">
            <a:avLst/>
          </a:prstGeom>
          <a:ln/>
        </p:spPr>
      </p:pic>
      <p:sp>
        <p:nvSpPr>
          <p:cNvPr id="246" name=""/>
          <p:cNvSpPr/>
          <p:nvPr/>
        </p:nvSpPr>
        <p:spPr>
          <a:xfrm rot="0" flipH="0" flipV="0">
            <a:off x="2809875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924175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924175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检索知识库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924175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在公司受控文档中检索相关片段，只引用授权范围内的资料。</a:t>
            </a:r>
            <a:endParaRPr/>
          </a:p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10125" y="2724150"/>
            <a:ext cx="238125" cy="171450"/>
          </a:xfrm>
          <a:prstGeom prst="rect">
            <a:avLst/>
          </a:prstGeom>
          <a:ln/>
        </p:spPr>
      </p:pic>
      <p:sp>
        <p:nvSpPr>
          <p:cNvPr id="251" name=""/>
          <p:cNvSpPr/>
          <p:nvPr/>
        </p:nvSpPr>
        <p:spPr>
          <a:xfrm rot="0" flipH="0" flipV="0">
            <a:off x="504825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16255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16255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带出处作答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62550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答案直接回到原会话，附来源标记，客户和坐席都能点开核对。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48500" y="2724150"/>
            <a:ext cx="238125" cy="171450"/>
          </a:xfrm>
          <a:prstGeom prst="rect">
            <a:avLst/>
          </a:prstGeom>
          <a:ln/>
        </p:spPr>
      </p:pic>
      <p:sp>
        <p:nvSpPr>
          <p:cNvPr id="256" name=""/>
          <p:cNvSpPr/>
          <p:nvPr/>
        </p:nvSpPr>
        <p:spPr>
          <a:xfrm rot="0" flipH="0" flipV="0">
            <a:off x="7286625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00925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00925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不知则转人工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400925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缺信息时主动反问，超出范围时升级人工并保留完整上下文。</a:t>
            </a:r>
            <a:endParaRPr/>
          </a:p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86875" y="2724150"/>
            <a:ext cx="238125" cy="171450"/>
          </a:xfrm>
          <a:prstGeom prst="rect">
            <a:avLst/>
          </a:prstGeom>
          <a:ln/>
        </p:spPr>
      </p:pic>
      <p:sp>
        <p:nvSpPr>
          <p:cNvPr id="261" name=""/>
          <p:cNvSpPr/>
          <p:nvPr/>
        </p:nvSpPr>
        <p:spPr>
          <a:xfrm rot="0" flipH="0" flipV="0">
            <a:off x="952500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63930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63930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沉淀为记忆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639300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本次结论进入长期记忆，客户下次咨询不必从头复述背景。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4067175"/>
            <a:ext cx="4029075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04850" y="4200525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坐席减负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04850" y="4562475"/>
            <a:ext cx="3762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不必在工单、知识库与聊天窗之间来回切换。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752975" y="4067175"/>
            <a:ext cx="3362325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886325" y="4200525"/>
            <a:ext cx="30956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886325" y="4562475"/>
            <a:ext cx="309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答案来自同一份受控文档，不同坐席不再打架。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8267700" y="4067175"/>
            <a:ext cx="3352800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401050" y="420052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体验延续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401050" y="456247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二次咨询带着上次结论继续，客户不用重讲。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71500" y="54483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23900" y="559117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客服场景的价值不在「回答得快」，而在「答得准、说得出出处、记得住前情」。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0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二｜重复的事交给定时任务：让该做的事自动发生&#10;        &lt;/Text&gt;&#10;        &lt;Box style={{ height: 1, background: '#E2E8F0', marginTop: 16 }} /&gt;&#10;&#10;        {/* 横向时间轴，节点上下交错 */}&#10;        &lt;Box style={{ flex: 1, marginTop: 16, position: 'relative' }}&gt;&#10;            &lt;svg width={1160} height={340} viewBox='0 0 1160 340'&gt;&#10;                &lt;line x1='40' y1='170' x2='1120' y2='170' stroke='#C7D6F5' strokeWidth='2' /&gt;&#10;                &lt;circle cx='160' cy='170' r='9' fill='#2563EB' /&gt;&#10;                &lt;circle cx='440' cy='170' r='9' fill='#0891B2' /&gt;&#10;                &lt;circle cx='720' cy='170' r='9' fill='#2563EB' /&gt;&#10;                &lt;circle cx='1000' cy='170' r='11' fill='#F59E0B' /&gt;&#10;                &lt;line x1='160' y1='170' x2='160' y2='110' stroke='#C7D6F5' strokeWidth='1' /&gt;&#10;                &lt;line x1='440' y1='170' x2='440' y2='230' stroke='#C7D6F5' strokeWidth='1' /&gt;&#10;                &lt;line x1='720' y1='170' x2='720' y2='110' stroke='#C7D6F5' strokeWidth='1' /&gt;&#10;                &lt;line x1='1000' y1='170' x2='1000' y2='230' stroke='#C7D6F5' strokeWidth='1' /&gt;&#10;            &lt;/svg&gt;&#10;            {/* 上排两卡 */}&#10;            &lt;Box style={{ position: 'absolute', left: 20, top: 8, width: 280, background: '#E8EEFB', borderRadius: 10, padding: 14 }}&gt;&#10;                &lt;Text style={{ fontSize: 20, fontWeight: '600', color: '#1E293B', lineHeight: 1.3 }}&gt;日报周报自动出稿&lt;/Text&gt;&#10;                &lt;Text style={{ fontSize: 18, color: '#475569', lineHeight: 1.5, marginTop: 6 }}&gt;按时读数、生成摘要、推送到指定群，早上到岗即可看。&lt;/Text&gt;&#10;            &lt;/Box&gt;&#10;            &lt;Box style={{ position: 'absolute', left: 580, top: 8, width: 280, background: '#E8EEFB', borderRadius: 10, padding: 14 }}&gt;&#10;                &lt;Text style={{ fontSize: 20, fontWeight: '600', color: '#1E293B', lineHeight: 1.3 }}&gt;网页操作录成技能&lt;/Text&gt;&#10;                &lt;Text style={{ fontSize: 18, color: '#475569', lineHeight: 1.5, marginTop: 6 }}&gt;一次后台操作录制下来，之后批量回放，不再重复手工。&lt;/Text&gt;&#10;            &lt;/Box&gt;&#10;            {/* 下排两卡 */}&#10;            &lt;Box style={{ position: 'absolute', left: 300, top: 210, width: 280, background: '#D6E4F9', borderRadius: 10, padding: 14 }}&gt;&#10;                &lt;Text style={{ fontSize: 20, fontWeight: '600', color: '#1E293B', lineHeight: 1.3 }}&gt;数据看板与预警&lt;/Text&gt;&#10;                &lt;Text style={{ fontSize: 18, color: '#475569', lineHeight: 1.5, marginTop: 6 }}&gt;指标异常主动提醒，把「事后发现」变成「提前预警」。&lt;/Text&gt;&#10;            &lt;/Box&gt;&#10;            &lt;Box style={{ position: 'absolute', left: 860, top: 210, width: 280, background: '#FFF7E9', borderRadius: 10, padding: 14 }}&gt;&#10;                &lt;Text style={{ fontSize: 20, fontWeight: '600', color: '#1E293B', lineHeight: 1.3 }}&gt;主动关怀推送&lt;/Text&gt;&#10;                &lt;Text style={{ fontSize: 18, color: '#475569', lineHeight: 1.5, marginTop: 6 }}&gt;续约、回款、保修到期前主动提醒，重要的事不再靠记性。&lt;/Text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自动化的收益不是省几次点击，而是让「该做但没人做」的事稳定发生——巡检、提醒、复盘不再依赖人的记性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场景二｜重复的事交给定时任务：让该做的事自动发生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自动化的收益不是省几次点击，而是让「该做但没人做」的事稳定发生——巡检、提醒、复盘不再依赖人的记性。</a:t>
            </a:r>
            <a:endParaRPr/>
          </a:p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95450"/>
            <a:ext cx="11049000" cy="3238500"/>
          </a:xfrm>
          <a:prstGeom prst="rect">
            <a:avLst/>
          </a:prstGeom>
          <a:ln/>
        </p:spPr>
      </p:pic>
      <p:sp>
        <p:nvSpPr>
          <p:cNvPr id="319" name=""/>
          <p:cNvSpPr/>
          <p:nvPr/>
        </p:nvSpPr>
        <p:spPr>
          <a:xfrm rot="0" flipH="0" flipV="0">
            <a:off x="762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日报周报自动出稿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95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按时读数、生成摘要、推送到指定群，早上到岗即可看。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229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网页操作录成技能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229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一次后台操作录制下来，之后批量回放，不再重复手工。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429000" y="369570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562350" y="382905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数据看板与预警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562350" y="419100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指标异常主动提醒，把「事后发现」变成「提前预警」。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763000" y="369570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896350" y="382905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主动关怀推送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896350" y="419100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续约、回款、保修到期前主动提醒，重要的事不再靠记性。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三｜知识管理与新人赋能：经验不再锁在个人电脑里&#10;        &lt;/Text&gt;&#10;        &lt;Box style={{ height: 1, background: '#E2E8F0', marginTop: 16 }} /&gt;&#10;&#10;        {/* 对比式 */}&#10;        &lt;Box style={{ marginTop: 20, flexDirection: 'row', alignItems: 'stretch' }}&gt;&#10;            {/* 左：现在 */}&#10;            &lt;Box style={{ flex: 1, background: '#F4F6FB', borderRadius: 12, padding: 22 }}&gt;&#10;                &lt;Text style={{ fontSize: 22, fontWeight: '600', color: '#64748B', lineHeight: 1.3 }}&gt;现在的样子&lt;/Text&gt;&#10;                &lt;Box style={{ height: 1, background: '#E2E8F0', marginTop: 14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新人上手全靠问老同事，带教占用大量人力，遇到复杂问题还要等专家有空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文档散落在个人电脑、聊天记录和邮箱里，要用的时候找不到、找不全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同一件事不同人说法不一样，对外口径难统一，出了问题也难追溯来源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老员工一离职，客户关系、业务经验、历史结论跟着走，接的人两眼一抹黑&lt;/Text&gt;&#10;                    &lt;/Box&gt;&#10;                &lt;/Box&gt;&#10;            &lt;/Box&gt;&#10;&#10;            {/* 中缝 VS */}&#10;            &lt;Box style={{ width: 64, justifyContent: 'center', alignItems: 'center' }}&gt;&#10;                &lt;Box style={{ width: 1, height: 130, background: '#E2E8F0' }} /&gt;&#10;                &lt;Box style={{ width: 44, height: 44, borderRadius: 22, background: '#F59E0B', justifyContent: 'center', alignItems: 'center', marginTop: -22 }}&gt;&#10;                    &lt;Text style={{ fontSize: 18, fontWeight: 'bold', color: '#FFFFFF' }}&gt;VS&lt;/Text&gt;&#10;                &lt;/Box&gt;&#10;                &lt;Box style={{ width: 1, height: 130, background: '#E2E8F0', marginTop: -22 }} /&gt;&#10;            &lt;/Box&gt;&#10;&#10;            {/* 右：用起来之后 */}&#10;            &lt;Box style={{ flex: 1, background: '#E8EEFB', borderRadius: 12, padding: 22 }}&gt;&#10;                &lt;Text style={{ fontSize: 22, fontWeight: '600', color: '#2563EB', lineHeight: 1.3 }}&gt;用起来之后&lt;/Text&gt;&#10;                &lt;Box style={{ height: 1, background: '#C7D6F5', marginTop: 14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新人随时提问随时有答案，每个答案都带出处，可以点开原文核对，不怕答错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公司文档统一沉淀进知识库，按角色权限取用，找资料不再靠运气和人脉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同一份受控文档支撑所有回答，全公司口径一致，出了争议有据可查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关键结论与历史脉络由记忆留住，人员变动不影响业务连续性，交接更稳&lt;/Text&gt;&#10;                    &lt;/Box&gt;&#10;                &lt;/Box&gt;&#10;            &lt;/Box&gt;&#10;        &lt;/Box&gt;&#10;&#10;        {/* 结论条 */}&#10;        &lt;Box style={{ height: 56, background: '#FFF7E9', borderRadius: 10, padding: 14, marginTop: 10, justifyContent: 'center' }}&gt;&#10;            &lt;Text style={{ fontSize: 19, fontWeight: '600', color: '#7C2D12', lineHeight: 1.4 }}&gt;&#10;                知识管理的价值要到「新人也能答得像老人」那一天才算兑现——问答、出处、记忆三件事缺一不可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场景三｜知识管理与新人赋能：经验不再锁在个人电脑里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571500" y="1733550"/>
            <a:ext cx="5219700" cy="3829050"/>
          </a:xfrm>
          <a:prstGeom prst="roundRect">
            <a:avLst>
              <a:gd name="adj" fmla="val 298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现在的样子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81050" y="2409825"/>
            <a:ext cx="48006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7810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90600" y="253365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新人上手全靠问老同事，带教占用大量人力，遇到复杂问题还要等专家有空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8105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90600" y="326707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文档散落在个人电脑、聊天记录和邮箱里，要用的时候找不到、找不全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78105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90600" y="400050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同一件事不同人说法不一样，对外口径难统一，出了问题也难追溯来源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781050" y="4810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90600" y="473392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老员工一离职，客户关系、业务经验、历史结论跟着走，接的人两眼一抹黑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0" y="2409825"/>
            <a:ext cx="9525" cy="12382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5886450" y="3438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981700" y="35433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096000" y="3648075"/>
            <a:ext cx="9525" cy="12382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400800" y="1733550"/>
            <a:ext cx="5219700" cy="3829050"/>
          </a:xfrm>
          <a:prstGeom prst="roundRect">
            <a:avLst>
              <a:gd name="adj" fmla="val 2985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6103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用起来之后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610350" y="2409825"/>
            <a:ext cx="48006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6103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19900" y="253365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新人随时提问随时有答案，每个答案都带出处，可以点开原文核对，不怕答错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61035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819900" y="326707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公司文档统一沉淀进知识库，按角色权限取用，找资料不再靠运气和人脉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61035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19900" y="400050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同一份受控文档支撑所有回答，全公司口径一致，出了争议有据可查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610350" y="4810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819900" y="473392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关键结论与历史脉络由记忆留住，人员变动不影响业务连续性，交接更稳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71500" y="565785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04850" y="57721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知识管理的价值要到「新人也能答得像老人」那一天才算兑现——问答、出处、记忆三件事缺一不可。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四｜给每个岗位配一个专业助理&#10;        &lt;/Text&gt;&#10;        &lt;Box style={{ height: 1, background: '#E2E8F0', marginTop: 16 }} /&gt;&#10;&#10;        &lt;Box style={{ flex: 1, marginTop: 20, flexDirection: 'row', gap: 32 }}&gt;&#10;            {/* 左：巨型数字 */}&#10;            &lt;Box style={{ width: 420, justifyContent: 'center' }}&gt;&#10;                &lt;Text style={{ fontSize: 120, fontWeight: 'bold', color: '#F59E0B', lineHeight: 1.0 }}&gt;33&lt;/Text&gt;&#10;                &lt;Text style={{ fontSize: 24, fontWeight: '600', color: '#1E293B', marginTop: 8 }}&gt;个开箱即用的岗位专家&lt;/Text&gt;&#10;                &lt;Text style={{ fontSize: 18, color: '#475569', lineHeight: 1.55, marginTop: 12 }}&gt;&#10;                    覆盖研发、数据、运维、安全、法务、人力、市场、财务等职能——装好即可上岗，不是空白对话框。&#10;                &lt;/Text&gt;&#10;                &lt;Box style={{ flexDirection: 'row', gap: 8, marginTop: 16 }}&gt;&#10;                    &lt;Box style={{ background: '#E8EEFB', borderRadius: 6, padding: 8 }}&gt;&lt;Text style={{ fontSize: 16, color: '#1E293B' }}&gt;法务助理&lt;/Text&gt;&lt;/Box&gt;&#10;                    &lt;Box style={{ background: '#E8EEFB', borderRadius: 6, padding: 8 }}&gt;&lt;Text style={{ fontSize: 16, color: '#1E293B' }}&gt;人力招聘官&lt;/Text&gt;&lt;/Box&gt;&#10;                    &lt;Box style={{ background: '#E8EEFB', borderRadius: 6, padding: 8 }}&gt;&lt;Text style={{ fontSize: 16, color: '#1E293B' }}&gt;数据分析师&lt;/Text&gt;&lt;/Box&gt;&#10;                &lt;/Box&gt;&#10;                &lt;Box style={{ flexDirection: 'row', gap: 8, marginTop: 8 }}&gt;&#10;                    &lt;Box style={{ background: '#E8EEFB', borderRadius: 6, padding: 8 }}&gt;&lt;Text style={{ fontSize: 16, color: '#1E293B' }}&gt;项目经理&lt;/Text&gt;&lt;/Box&gt;&#10;                    &lt;Box style={{ background: '#E8EEFB', borderRadius: 6, padding: 8 }}&gt;&lt;Text style={{ fontSize: 16, color: '#1E293B' }}&gt;安全顾问&lt;/Text&gt;&lt;/Box&gt;&#10;                    &lt;Box style={{ background: '#FFF7E9', borderRadius: 6, padding: 8 }}&gt;&lt;Text style={{ fontSize: 16, color: '#B45309' }}&gt;更多岗位…&lt;/Text&gt;&lt;/Box&gt;&#10;                &lt;/Box&gt;&#10;            &lt;/Box&gt;&#10;&#10;            {/* 右：三条要点 */}&#10;            &lt;Box style={{ flex: 1, gap: 12 }}&gt;&#10;                &lt;Box style={{ height: 126, background: '#F4F6FB', borderRadius: 12, padding: 18 }}&gt;&#10;                    &lt;Text style={{ fontSize: 22, fontWeight: '600', color: '#1E293B', lineHeight: 1.3 }}&gt;自带专业设定，微调即可上岗&lt;/Text&gt;&#10;                    &lt;Text style={{ fontSize: 18, color: '#475569', lineHeight: 1.5, marginTop: 6 }}&gt;&#10;                        每个专家预置岗位职责、专业知识与表达风格，业务部门调整几句就能用起来。&#10;                    &lt;/Text&gt;&#10;                &lt;/Box&gt;&#10;                &lt;Box style={{ height: 126, background: '#F4F6FB', borderRadius: 12, padding: 18 }}&gt;&#10;                    &lt;Text style={{ fontSize: 22, fontWeight: '600', color: '#1E293B', lineHeight: 1.3 }}&gt;一人配好，全公司共享&lt;/Text&gt;&#10;                    &lt;Text style={{ fontSize: 18, color: '#475569', lineHeight: 1.5, marginTop: 6 }}&gt;&#10;                        专家可以发布共享：一个部门沉淀的岗位定义，其他部门直接取用、各自微调。&#10;                    &lt;/Text&gt;&#10;                &lt;/Box&gt;&#10;                &lt;Box style={{ height: 126, background: '#F4F6FB', borderRadius: 12, padding: 18 }}&gt;&#10;                    &lt;Text style={{ fontSize: 22, fontWeight: '600', color: '#1E293B', lineHeight: 1.3 }}&gt;资产留在公司，不随人走&lt;/Text&gt;&#10;                    &lt;Text style={{ fontSize: 18, color: '#475569', lineHeight: 1.5, marginTop: 6 }}&gt;&#10;                        岗位专家、技能、记忆都存放在公司自己的平台上——人员流动，能力沉淀。&#10;                    &lt;/Text&gt;&#10;                &lt;/Box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业务部门自己就能沉淀岗位资产，不必每次都找工程师改提示词——这是「陪企业成长」的具体含义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场景四｜给每个岗位配一个专业助理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71500" y="1990725"/>
            <a:ext cx="40005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59E0B"/>
                </a:solidFill>
                <a:latin typeface="Microsoft YaHei"/>
                <a:ea typeface="Microsoft YaHei"/>
              </a:rPr>
              <a:t>33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71500" y="343852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个开箱即用的岗位专家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3829050"/>
            <a:ext cx="4000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覆盖研发、数据、运维、安全、法务、人力、市场、财务等职能——装好即可上岗，不是空白对话框。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71500" y="46196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47700" y="4695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法务助理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1409700" y="46196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485900" y="46958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人力招聘官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2400300" y="46196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476500" y="46958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数据分析师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71500" y="50387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477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项目经理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1409700" y="50387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4859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安全顾问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2247900" y="5038725"/>
            <a:ext cx="895350" cy="342900"/>
          </a:xfrm>
          <a:prstGeom prst="roundRect">
            <a:avLst>
              <a:gd name="adj" fmla="val 1666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324100" y="5114925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45309"/>
                </a:solidFill>
                <a:latin typeface="Microsoft YaHei"/>
                <a:ea typeface="Microsoft YaHei"/>
              </a:rPr>
              <a:t>更多岗位…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876800" y="173355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048250" y="190500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自带专业设定，微调即可上岗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048250" y="229552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每个专家预置岗位职责、专业知识与表达风格，业务部门调整几句就能用起来。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876800" y="304800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048250" y="321945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一人配好，全公司共享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048250" y="360997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专家可以发布共享：一个部门沉淀的岗位定义，其他部门直接取用、各自微调。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876800" y="436245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048250" y="453390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资产留在公司，不随人走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048250" y="492442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岗位专家、技能、记忆都存放在公司自己的平台上——人员流动，能力沉淀。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业务部门自己就能沉淀岗位资产，不必每次都找工程师改提示词——这是「陪企业成长」的具体含义。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9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定时任务与主动关怀：不是等你问，是该出现时自己出现&#13;&#10;        &lt;/Text&gt;&#13;&#10;        &lt;Box style={{ height: 1, background: '#E2E8F0', marginTop: 16 }} /&gt;&#13;&#10;&#13;&#10;        {/* 三种触发 */}&#13;&#10;        &lt;Box style={{ flexDirection: 'row', marginTop: 14, gap: 12 }}&gt;&#13;&#10;            &lt;Box style={{ flex: 1, background: '#E8EEFB', borderRadius: 10, padding: 14 }}&gt;&#13;&#10;                &lt;Text style={{ fontSize: 20, fontWeight: '600', color: '#2563EB', lineHeight: 1.3 }}&gt;按时刻&lt;/Text&gt;&#13;&#10;                &lt;Text style={{ fontSize: 18, color: '#475569', lineHeight: 1.5, marginTop: 4 }}&gt;每天 8 点、每周一早上，固定时点触发。&lt;/Text&gt;&#13;&#10;            &lt;/Box&gt;&#13;&#10;            &lt;Box style={{ flex: 1, background: '#E8EEFB', borderRadius: 10, padding: 14 }}&gt;&#13;&#10;                &lt;Text style={{ fontSize: 20, fontWeight: '600', color: '#2563EB', lineHeight: 1.3 }}&gt;按间隔&lt;/Text&gt;&#13;&#10;                &lt;Text style={{ fontSize: 18, color: '#475569', lineHeight: 1.5, marginTop: 4 }}&gt;每 2 小时巡检一次，周期性重复执行。&lt;/Text&gt;&#13;&#10;            &lt;/Box&gt;&#13;&#10;            &lt;Box style={{ flex: 1, background: '#FFF7E9', borderRadius: 10, padding: 14 }}&gt;&#13;&#10;                &lt;Text style={{ fontSize: 20, fontWeight: '600', color: '#B45309', lineHeight: 1.3 }}&gt;指定时间 / 事件&lt;/Text&gt;&#13;&#10;                &lt;Text style={{ fontSize: 18, color: '#475569', lineHeight: 1.5, marginTop: 4 }}&gt;到期前、里程碑日、收到触发消息时执行。&lt;/Text&gt;&#13;&#10;            &lt;/Box&gt;&#13;&#10;        &lt;/Box&gt;&#13;&#10;&#13;&#10;        {/* 六类用法 */}&#13;&#10;        &lt;Box style={{ marginTop: 10, gap: 6 }}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日报周报自动出稿&lt;/Text&gt;&#13;&#10;                &lt;Text style={{ fontSize: 18, color: '#475569' }}&gt;读数据、写摘要、推送到指定群，到点就绪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数据看板与预警&lt;/Text&gt;&#13;&#10;                &lt;Text style={{ fontSize: 18, color: '#475569' }}&gt;指标异常主动提醒，把事后发现变成提前预警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网页操作批量回放&lt;/Text&gt;&#13;&#10;                &lt;Text style={{ fontSize: 18, color: '#475569' }}&gt;一次后台操作录成技能，之后按计划自动重放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主动关怀推送&lt;/Text&gt;&#13;&#10;                &lt;Text style={{ fontSize: 18, color: '#475569' }}&gt;续约、回款、保修到期前主动提醒相关负责人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团队知识沉淀&lt;/Text&gt;&#13;&#10;                &lt;Text style={{ fontSize: 18, color: '#475569' }}&gt;定时整理本周新增文档与问答，汇入知识库&lt;/Text&gt;&#13;&#10;            &lt;/Box&gt;&#13;&#10;            &lt;Box style={{ height: 44, flexDirection: 'row', alignItems: 'center' }}&gt;&#13;&#10;                &lt;Text style={{ width: 220, fontSize: 18, fontWeight: '600', color: '#2563EB' }}&gt;巡检与值守&lt;/Text&gt;&#13;&#10;                &lt;Text style={{ fontSize: 18, color: '#475569' }}&gt;按点检查服务状态与关键指标，异常即时上报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主动性的价值：重要的事不再依赖某个人的记性——提醒、汇报、巡检按点发生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专题｜定时任务与主动关怀：不是等你问，是该出现时自己出现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571500" y="1676400"/>
            <a:ext cx="3609975" cy="923925"/>
          </a:xfrm>
          <a:prstGeom prst="roundRect">
            <a:avLst>
              <a:gd name="adj" fmla="val 1030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04850" y="1809750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按时刻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04850" y="2152650"/>
            <a:ext cx="33432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每天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点、每周一早上，固定时点触发。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295775" y="1676400"/>
            <a:ext cx="3600450" cy="923925"/>
          </a:xfrm>
          <a:prstGeom prst="roundRect">
            <a:avLst>
              <a:gd name="adj" fmla="val 1030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429125" y="1809750"/>
            <a:ext cx="33337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按间隔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429125" y="2152650"/>
            <a:ext cx="3333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小时巡检一次，周期性重复执行。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8010525" y="1676400"/>
            <a:ext cx="3609975" cy="923925"/>
          </a:xfrm>
          <a:prstGeom prst="roundRect">
            <a:avLst>
              <a:gd name="adj" fmla="val 10309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143875" y="1809750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指定时间</a:t>
            </a:r>
            <a:r>
              <a:rPr lang="en-US" sz="150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43875" y="2152650"/>
            <a:ext cx="33432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到期前、里程碑日、收到触发消息时执行。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71500" y="26955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71500" y="28003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日报周报自动出稿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2667000" y="28003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读数据、写摘要、推送到指定群，到点就绪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571500" y="317182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71500" y="32766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数据看板与预警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2667000" y="32766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指标异常主动提醒，把事后发现变成提前预警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71500" y="36480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1500" y="37528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网页操作批量回放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2667000" y="375285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一次后台操作录成技能，之后按计划自动重放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1500" y="412432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71500" y="42291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主动关怀推送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2667000" y="42291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续约、回款、保修到期前主动提醒相关负责人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71500" y="46005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71500" y="47053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团队知识沉淀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2667000" y="47053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定时整理本周新增文档与问答，汇入知识库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71500" y="51816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巡检与值守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2667000" y="51816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按点检查服务状态与关键指标，异常即时上报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571500" y="5591175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04850" y="5686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主动性的价值：重要的事不再依赖某个人的记性——提醒、汇报、巡检按点发生。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文件、报表与信息收集：从「找到」到「交付」的完整链路&#10;        &lt;/Text&gt;&#10;        &lt;Box style={{ height: 1, background: '#E2E8F0', marginTop: 16 }} /&gt;&#10;&#10;        {/* 四步流程 */}&#10;        &lt;Box style={{ flexDirection: 'row', marginTop: 20, alignItems: 'stretch' }}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1&lt;/Text&gt;&#10;                &lt;Text style={{ fontSize: 20, fontWeight: '600', color: '#1E293B', lineHeight: 1.3, marginTop: 4 }}&gt;找到信息&lt;/Text&gt;&#10;                &lt;Text style={{ fontSize: 18, color: '#475569', lineHeight: 1.5, marginTop: 6 }}&gt;&#10;                    全文检索公司资料、联网搜索公开信息、抓取网页内容，多路并行找料。&#10;                &lt;/Text&gt;&#10;            &lt;/Box&gt;&#10;            &lt;Box style={{ width: 30, justifyContent: 'center', alignItems: 'center' }}&gt;&#10;                &lt;svg width={30} height={18} viewBox='0 0 30 18'&gt;&lt;path d='M0 9 L18 9' stroke='#2563EB' strokeWidth='2' /&gt;&lt;path d='M18 2 L30 9 L18 16 Z' fill='#2563EB' /&gt;&lt;/svg&gt;&#10;            &lt;/Box&gt;&#10;            &lt;Box style={{ width: 265, background: '#D6E4F9', borderRadius: 10, padding: 14 }}&gt;&#10;                &lt;Text style={{ fontSize: 18, fontWeight: '600', color: '#475569', lineHeight: 1.3 }}&gt;02&lt;/Text&gt;&#10;                &lt;Text style={{ fontSize: 20, fontWeight: '600', color: '#1E293B', lineHeight: 1.3, marginTop: 4 }}&gt;读懂内容&lt;/Text&gt;&#10;                &lt;Text style={{ fontSize: 18, color: '#475569', lineHeight: 1.5, marginTop: 6 }}&gt;&#10;                    PDF、Word、Excel、扫描件都能解析，长文档按需摘取要点与数据。&#10;                &lt;/Text&gt;&#10;            &lt;/Box&gt;&#10;            &lt;Box style={{ width: 30, justifyContent: 'center', alignItems: 'center' }}&gt;&#10;                &lt;svg width={30} height={18} viewBox='0 0 30 18'&gt;&lt;path d='M0 9 L18 9' stroke='#0891B2' strokeWidth='2' /&gt;&lt;path d='M18 2 L30 9 L18 16 Z' fill='#0891B2' /&gt;&lt;/svg&gt;&#10;            &lt;/Box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3&lt;/Text&gt;&#10;                &lt;Text style={{ fontSize: 20, fontWeight: '600', color: '#1E293B', lineHeight: 1.3, marginTop: 4 }}&gt;生成成果&lt;/Text&gt;&#10;                &lt;Text style={{ fontSize: 18, color: '#475569', lineHeight: 1.5, marginTop: 6 }}&gt;&#10;                    汇总成表、整理成报告、拟定初稿，按你要求的格式产出。&#10;                &lt;/Text&gt;&#10;            &lt;/Box&gt;&#10;            &lt;Box style={{ width: 30, justifyContent: 'center', alignItems: 'center' }}&gt;&#10;                &lt;svg width={30} height={18} viewBox='0 0 30 18'&gt;&lt;path d='M0 9 L18 9' stroke='#F59E0B' strokeWidth='2' /&gt;&lt;path d='M18 2 L30 9 L18 16 Z' fill='#F59E0B' /&gt;&lt;/svg&gt;&#10;            &lt;/Box&gt;&#10;            &lt;Box style={{ width: 265, background: '#FFF7E9', borderWidth: 1, borderColor: '#F5D9A4', borderStyle: 'solid', borderRadius: 10, padding: 14 }}&gt;&#10;                &lt;Text style={{ fontSize: 18, fontWeight: '600', color: '#B45309', lineHeight: 1.3 }}&gt;04&lt;/Text&gt;&#10;                &lt;Text style={{ fontSize: 20, fontWeight: '600', color: '#1E293B', lineHeight: 1.3, marginTop: 4 }}&gt;交付到位&lt;/Text&gt;&#10;                &lt;Text style={{ fontSize: 18, color: '#475569', lineHeight: 1.5, marginTop: 6 }}&gt;&#10;                    文件直接回传会话、推送到群、或按计划定时发出——结果到人，不用再来取。&#10;                &lt;/Text&gt;&#10;            &lt;/Box&gt;&#10;        &lt;/Box&gt;&#10;&#10;        {/* 支撑点 */}&#10;        &lt;Box style={{ flexDirection: 'row', marginTop: 20, gap: 16 }}&gt;&#10;            &lt;Box style={{ flex: 1, background: '#F4F6FB', borderRadius: 10, padding: 14 }}&gt;&#10;                &lt;Text style={{ fontSize: 20, fontWeight: '600', color: '#1E293B', lineHeight: 1.3 }}&gt;中文场景处理&lt;/Text&gt;&#10;                &lt;Text style={{ fontSize: 18, color: '#475569', lineHeight: 1.5, marginTop: 4 }}&gt;编码兼容、老格式转换、扫描件自动识别。&lt;/Text&gt;&#10;            &lt;/Box&gt;&#10;            &lt;Box style={{ flex: 1, background: '#F4F6FB', borderRadius: 10, padding: 14 }}&gt;&#10;                &lt;Text style={{ fontSize: 20, fontWeight: '600', color: '#1E293B', lineHeight: 1.3 }}&gt;浏览器自动化&lt;/Text&gt;&#10;                &lt;Text style={{ fontSize: 18, color: '#475569', lineHeight: 1.5, marginTop: 4 }}&gt;内部系统填报、批量后台操作、页面截图核验。&lt;/Text&gt;&#10;            &lt;/Box&gt;&#10;            &lt;Box style={{ flex: 1, background: '#F4F6FB', borderRadius: 10, padding: 14 }}&gt;&#10;                &lt;Text style={{ fontSize: 20, fontWeight: '600', color: '#1E293B', lineHeight: 1.3 }}&gt;全程可控&lt;/Text&gt;&#10;                &lt;Text style={{ fontSize: 18, color: '#475569', lineHeight: 1.5, marginTop: 4 }}&gt;高风险动作先审批，文件操作按权限执行。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大部分办公时间不是花在「想」，而是花在找、抄、改、发——这条链路正是数字员工的主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专题｜文件、报表与信息收集：从「找到」到「交付」的完整链路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57150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0485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找到信息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全文检索公司资料、联网搜索公开信息、抓取网页内容，多路并行找料。</a:t>
            </a:r>
            <a:endParaRPr/>
          </a:p>
        </p:txBody>
      </p:sp>
      <p:pic>
        <p:nvPicPr>
          <p:cNvPr id="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2590800"/>
            <a:ext cx="285750" cy="171450"/>
          </a:xfrm>
          <a:prstGeom prst="rect">
            <a:avLst/>
          </a:prstGeom>
          <a:ln/>
        </p:spPr>
      </p:pic>
      <p:sp>
        <p:nvSpPr>
          <p:cNvPr id="442" name=""/>
          <p:cNvSpPr/>
          <p:nvPr/>
        </p:nvSpPr>
        <p:spPr>
          <a:xfrm rot="0" flipH="0" flipV="0">
            <a:off x="338137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51472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51472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读懂内容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51472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Word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Excel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、扫描件都能解析，长文档按需摘取要点与数据。</a:t>
            </a:r>
            <a:endParaRPr/>
          </a:p>
        </p:txBody>
      </p:sp>
      <p:pic>
        <p:nvPicPr>
          <p:cNvPr id="4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0" y="2590800"/>
            <a:ext cx="285750" cy="171450"/>
          </a:xfrm>
          <a:prstGeom prst="rect">
            <a:avLst/>
          </a:prstGeom>
          <a:ln/>
        </p:spPr>
      </p:pic>
      <p:sp>
        <p:nvSpPr>
          <p:cNvPr id="447" name=""/>
          <p:cNvSpPr/>
          <p:nvPr/>
        </p:nvSpPr>
        <p:spPr>
          <a:xfrm rot="0" flipH="0" flipV="0">
            <a:off x="619125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32460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32460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生成成果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324600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汇总成表、整理成报告、拟定初稿，按你要求的格式产出。</a:t>
            </a:r>
            <a:endParaRPr/>
          </a:p>
        </p:txBody>
      </p:sp>
      <p:pic>
        <p:nvPicPr>
          <p:cNvPr id="4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15375" y="2590800"/>
            <a:ext cx="285750" cy="171450"/>
          </a:xfrm>
          <a:prstGeom prst="rect">
            <a:avLst/>
          </a:prstGeom>
          <a:ln/>
        </p:spPr>
      </p:pic>
      <p:sp>
        <p:nvSpPr>
          <p:cNvPr id="452" name=""/>
          <p:cNvSpPr/>
          <p:nvPr/>
        </p:nvSpPr>
        <p:spPr>
          <a:xfrm rot="0" flipH="0" flipV="0">
            <a:off x="900112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13447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13447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交付到位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文件直接回传会话、推送到群、或按计划定时发出——结果到人，不用再来取。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5715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048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中文场景处理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04850" y="427672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编码兼容、老格式转换、扫描件自动识别。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43053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4386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浏览器自动化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内部系统填报、批量后台操作、页面截图核验。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80391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1724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全程可控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172450" y="427672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高风险动作先审批，文件操作按权限执行。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71500" y="518160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04850" y="5305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大部分办公时间不是花在「想」，而是花在找、抄、改、发——这条链路正是数字员工的主场。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67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24 个技能包、37 个插件：开箱即用的能力库&#10;        &lt;/Text&gt;&#10;        &lt;Box style={{ height: 1, background: '#E2E8F0', marginTop: 16 }} /&gt;&#10;&#10;        &lt;Box style={{ flex: 1, marginTop: 20, flexDirection: 'row', gap: 24 }}&gt;&#10;            {/* 左：技能包 */}&#10;            &lt;Box style={{ width: 540, background: '#F4F6FB', borderRadius: 12, padding: 20 }}&gt;&#10;                &lt;Box style={{ flexDirection: 'row', alignItems: 'baseline' }}&gt;&#10;                    &lt;Text style={{ fontSize: 46, fontWeight: 'bold', color: '#2563EB', lineHeight: 1.0 }}&gt;24&lt;/Text&gt;&#10;                    &lt;Text style={{ fontSize: 20, fontWeight: '600', color: '#1E293B', marginLeft: 10 }}&gt;个技能包（中英双语）&lt;/Text&gt;&#10;                &lt;/Box&gt;&#10;                &lt;Text style={{ fontSize: 18, color: '#475569', lineHeight: 1.5, marginTop: 8 }}&gt;&#10;                    按场景装进不同岗位的数字同事，像给员工配发工具箱。&#10;                &lt;/Text&gt;&#10;                &lt;Box style={{ height: 1, background: '#E2E8F0', marginTop: 12 }} /&gt;&#10;                &lt;Box style={{ flexDirection: 'row', gap: 8, marginTop: 12 }}&gt;&#10;                    &lt;Box style={{ background: '#E8EEFB', borderRadius: 8, padding: 9 }}&gt;&lt;Text style={{ fontSize: 18, color: '#1E293B' }}&gt;计划拆解&lt;/Text&gt;&lt;/Box&gt;&#10;                    &lt;Box style={{ background: '#E8EEFB', borderRadius: 8, padding: 9 }}&gt;&lt;Text style={{ fontSize: 18, color: '#1E293B' }}&gt;PPT 制作&lt;/Text&gt;&lt;/Box&gt;&#10;                    &lt;Box style={{ background: '#E8EEFB', borderRadius: 8, padding: 9 }}&gt;&lt;Text style={{ fontSize: 18, color: '#1E293B' }}&gt;PDF 处理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扫描件识别&lt;/Text&gt;&lt;/Box&gt;&#10;                    &lt;Box style={{ background: '#E8EEFB', borderRadius: 8, padding: 9 }}&gt;&lt;Text style={{ fontSize: 18, color: '#1E293B' }}&gt;数据笔记本&lt;/Text&gt;&lt;/Box&gt;&#10;                    &lt;Box style={{ background: '#E8EEFB', borderRadius: 8, padding: 9 }}&gt;&lt;Text style={{ fontSize: 18, color: '#1E293B' }}&gt;系统化排障&lt;/Text&gt;&lt;/Box&gt;&#10;                &lt;/Box&gt;&#10;                &lt;Box style={{ flexDirection: 'row', gap: 8, marginTop: 8 }}&gt;&#10;                    &lt;Box style={{ background: '#FFF7E9', borderRadius: 8, padding: 9 }}&gt;&lt;Text style={{ fontSize: 18, color: '#B45309' }}&gt;技能工厂 · 更多…&lt;/Text&gt;&lt;/Box&gt;&#10;                &lt;/Box&gt;&#10;            &lt;/Box&gt;&#10;&#10;            {/* 右：插件 + 扩充 */}&#10;            &lt;Box style={{ flex: 1, gap: 14 }}&gt;&#10;                &lt;Box style={{ flex: 1, background: '#E8EEFB', borderRadius: 12, padding: 20 }}&gt;&#10;                    &lt;Box style={{ flexDirection: 'row', alignItems: 'baseline' }}&gt;&#10;                        &lt;Text style={{ fontSize: 46, fontWeight: 'bold', color: '#2563EB', lineHeight: 1.0 }}&gt;37&lt;/Text&gt;&#10;                        &lt;Text style={{ fontSize: 20, fontWeight: '600', color: '#1E293B', marginLeft: 10 }}&gt;个内置插件&lt;/Text&gt;&#10;                    &lt;/Box&gt;&#10;                    &lt;Text style={{ fontSize: 18, color: '#1E293B', lineHeight: 1.55, marginTop: 8 }}&gt;&#10;                        天气、行情、热点、记账、二维码、习惯打卡、影视查询……装上即可让数字同事多一手技能。&#10;                    &lt;/Text&gt;&#10;                &lt;/Box&gt;&#10;                &lt;Box style={{ flex: 1, background: '#FFF7E9', borderRadius: 12, padding: 20 }}&gt;&#10;                    &lt;Text style={{ fontSize: 22, fontWeight: '600', color: '#B45309', lineHeight: 1.3 }}&gt;持续扩充 + 安全把关&lt;/Text&gt;&#10;                    &lt;Text style={{ fontSize: 18, color: '#7C2D12', lineHeight: 1.55, marginTop: 8 }}&gt;&#10;                        在线技能市场随时安装新能力；第三方技能支持扫描策略（关闭 / 告警 / 阻断），进什么不进什么由公司定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采购一套产品，也拿到一条可持续扩充能力的供应链——新场景先问「有没有现成技能」，而不是先排开发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个插件：开箱即用的能力库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571500" y="1733550"/>
            <a:ext cx="5143500" cy="388620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563E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400175" y="192405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个技能包（中英双语）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按场景装进不同岗位的数字同事，像给员工配发工具箱。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62000" y="2962275"/>
            <a:ext cx="4762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762000" y="30861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47725" y="31718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计划拆解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1695450" y="30861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781175" y="3171825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PPT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制作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2647950" y="3086100"/>
            <a:ext cx="8953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2733675" y="317182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处理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620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477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扫描件识别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18669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9526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数据笔记本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29718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0575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系统化排障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762000" y="4000500"/>
            <a:ext cx="1485900" cy="381000"/>
          </a:xfrm>
          <a:prstGeom prst="roundRect">
            <a:avLst>
              <a:gd name="adj" fmla="val 200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47725" y="4086225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技能工厂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更多…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5943600" y="1733550"/>
            <a:ext cx="5676900" cy="1981200"/>
          </a:xfrm>
          <a:prstGeom prst="roundRect">
            <a:avLst>
              <a:gd name="adj" fmla="val 576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134100" y="19240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563EB"/>
                </a:solidFill>
                <a:latin typeface="Microsoft YaHei"/>
                <a:ea typeface="Microsoft YaHei"/>
              </a:rPr>
              <a:t>37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772275" y="1924050"/>
            <a:ext cx="952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个内置插件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134100" y="2533650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天气、行情、热点、记账、二维码、习惯打卡、影视查询……装上即可让数字同事多一手技能。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5943600" y="3848100"/>
            <a:ext cx="5676900" cy="1771650"/>
          </a:xfrm>
          <a:prstGeom prst="roundRect">
            <a:avLst>
              <a:gd name="adj" fmla="val 6452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134100" y="4038600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持续扩充</a:t>
            </a:r>
            <a:r>
              <a:rPr lang="en-US" sz="16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安全把关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134100" y="44481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在线技能市场随时安装新能力；第三方技能支持扫描策略（关闭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告警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阻断），进什么不进什么由公司定。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采购一套产品，也拿到一条可持续扩充能力的供应链——新场景先问「有没有现成技能」，而不是先排开发。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47 个系统连接器：接进公司已经在用的工具&#13;&#10;        &lt;/Text&gt;&#13;&#10;        &lt;Box style={{ height: 1, background: '#E2E8F0', marginTop: 16 }} /&gt;&#13;&#10;&#13;&#10;        &lt;Box style={{ flex: 1, marginTop: 20, flexDirection: 'row', gap: 28 }}&gt;&#13;&#10;            {/* 左：大数字 */}&#13;&#10;            &lt;Box style={{ width: 300 }}&gt;&#13;&#10;                &lt;Text style={{ fontSize: 100, fontWeight: 'bold', color: '#F59E0B', lineHeight: 1.0 }}&gt;47&lt;/Text&gt;&#13;&#10;                &lt;Text style={{ fontSize: 22, fontWeight: '600', color: '#1E293B', marginTop: 8 }}&gt;个企业系统连接器&lt;/Text&gt;&#13;&#10;                &lt;Text style={{ fontSize: 18, color: '#475569', lineHeight: 1.55, marginTop: 12 }}&gt;&#13;&#10;                    43 个已可用、4 个即将上线。授权流程内建：API Key、OAuth2、个人令牌按系统适配。&#13;&#10;                &lt;/Text&gt;&#13;&#10;                &lt;Box style={{ width: 180, height: 1, background: '#E2E8F0', marginTop: 14 }} /&gt;&#13;&#10;                &lt;Text style={{ fontSize: 16, color: '#64748B', lineHeight: 1.5, marginTop: 12 }}&gt;&#13;&#10;                    按岗位绑定：客服接工单与知识库，销售接 CRM 与文档&#13;&#10;                &lt;/Text&gt;&#13;&#10;            &lt;/Box&gt;&#13;&#10;&#13;&#10;            {/* 右：分类 */}&#13;&#10;            &lt;Box style={{ flex: 1, gap: 6 }}&gt;&#13;&#10;                &lt;Box style={{ height: 52, flexDirection: 'row', alignItems: 'center', background: '#F4F6FB', borderRadius: 10, padding: 12 }}&gt;&#13;&#10;                    &lt;Text style={{ width: 170, fontSize: 18, fontWeight: '600', color: '#2563EB' }}&gt;办公文档 · 10&lt;/Text&gt;&#13;&#10;                    &lt;Text style={{ fontSize: 18, color: '#475569' }}&gt;腾讯文档、腾讯会议、微云、金山文档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知识沉淀 · 8&lt;/Text&gt;&#13;&#10;                    &lt;Text style={{ fontSize: 18, color: '#475569' }}&gt;腾讯 IMA、乐享、语雀、Obsidian 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效率协作 · 7&lt;/Text&gt;&#13;&#10;                    &lt;Text style={{ fontSize: 18, color: '#475569' }}&gt;邮箱、滴答清单、办公套件、腾讯问卷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出行差旅 · 5&lt;/Text&gt;&#13;&#10;                    &lt;Text style={{ fontSize: 18, color: '#475569' }}&gt;飞猪、携程、美团、滴滴、百度地图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媒体内容 · 4&lt;/Text&gt;&#13;&#10;                    &lt;Text style={{ fontSize: 18, color: '#475569' }}&gt;腾讯新闻、微信读书、QQ 音乐、RSS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研发与项目 · 4&lt;/Text&gt;&#13;&#10;                    &lt;Text style={{ fontSize: 18, color: '#475569' }}&gt;GitHub、Jira、Linear、TAPD 等&lt;/Text&gt;&#13;&#10;                &lt;/Box&gt;&#13;&#10;                &lt;Box style={{ height: 52, flexDirection: 'row', alignItems: 'center', background: '#FFF7E9', borderRadius: 10, padding: 12 }}&gt;&#13;&#10;                    &lt;Text style={{ width: 170, fontSize: 18, fontWeight: '600', color: '#B45309' }}&gt;专业数据 · 5+&lt;/Text&gt;&#13;&#10;                    &lt;Text style={{ fontSize: 18, color: '#7C2D12' }}&gt;企查查、天眼查、法规、金融数据等；内部系统可自定义接入&lt;/Text&gt;&#13;&#10;                &lt;/Box&gt;&#13;&#10;            &lt;/Box&gt;&#13;&#10;        &lt;/Box&gt;&#13;&#10;&#13;&#10;        {/* 结论条 */}&#13;&#10;        &lt;Box style={{ height: 58, background: '#E8EEFB', borderRadius: 10, padding: 14, marginTop: 12, justifyContent: 'center' }}&gt;&#13;&#10;            &lt;Text style={{ fontSize: 19, fontWeight: '600', color: '#1E293B', lineHeight: 1.4 }}&gt;&#13;&#10;                省下的不是几个接口的工作量，而是整套授权、刷新与运维的长期成本——主流系统接入无需自研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个系统连接器：接进公司已经在用的工具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71500" y="1733550"/>
            <a:ext cx="28575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F59E0B"/>
                </a:solidFill>
                <a:latin typeface="Microsoft YaHei"/>
                <a:ea typeface="Microsoft YaHei"/>
              </a:rPr>
              <a:t>47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个企业系统连接器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71500" y="3324225"/>
            <a:ext cx="2857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43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个已可用、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个即将上线。授权流程内建：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API Key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OAuth2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、个人令牌按系统适配。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71500" y="4419600"/>
            <a:ext cx="1714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按岗位绑定：客服接工单与知识库，销售接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CRM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与文档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3695700" y="17335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810000" y="18764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办公文档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10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429250" y="1876425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腾讯文档、腾讯会议、微云、金山文档等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695700" y="22860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810000" y="24288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知识沉淀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8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429250" y="2428875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IMA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、乐享、语雀、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Obsidian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3695700" y="28384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810000" y="29813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效率协作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7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429250" y="2981325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邮箱、滴答清单、办公套件、腾讯问卷等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695700" y="33909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810000" y="35337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出行差旅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5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429250" y="353377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飞猪、携程、美团、滴滴、百度地图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3695700" y="39433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810000" y="40862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媒体内容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429250" y="4086225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腾讯新闻、微信读书、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QQ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音乐、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RSS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3695700" y="44958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810000" y="46386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研发与项目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429250" y="4638675"/>
            <a:ext cx="253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GitHub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Jira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Linear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TAPD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3695700" y="50482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810000" y="51911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Microsoft YaHei"/>
                <a:ea typeface="Microsoft YaHei"/>
              </a:rPr>
              <a:t>专业数据</a:t>
            </a: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5+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429250" y="519112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企查查、天眼查、法规、金融数据等；内部系统可自定义接入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省下的不是几个接口的工作量，而是整套授权、刷新与运维的长期成本——主流系统接入无需自研。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35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三层记忆：换个会话还认得你，纠错一次改一次&#13;&#10;        &lt;/Text&gt;&#13;&#10;        &lt;Box style={{ height: 1, background: '#E2E8F0', marginTop: 16 }} /&gt;&#13;&#10;&#13;&#10;        {/* 三层结构 */}&#13;&#10;        &lt;Box style={{ marginTop: 20, gap: 14 }}&gt;&#13;&#10;            &lt;Box style={{ height: 112, flexDirection: 'row', background: '#E8EEFB', borderRadius: 12, padding: 18 }}&gt;&#13;&#10;                &lt;Box style={{ width: 170, justifyContent: 'center' }}&gt;&#13;&#10;                    &lt;Text style={{ fontSize: 22, fontWeight: 'bold', color: '#2563EB', lineHeight: 1.3 }}&gt;原子事实&lt;/Text&gt;&#13;&#10;                    &lt;Text style={{ fontSize: 16, color: '#64748B', lineHeight: 1.3, marginTop: 2 }}&gt;最小可核验的条目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「项目 A 的负责人是张工」「差旅标准是每天 500 元」——一条一条记住，错了可以纠正、过期可以更新。&#13;&#10;                    &lt;/Text&gt;&#13;&#10;                &lt;/Box&gt;&#13;&#10;            &lt;/Box&gt;&#13;&#10;            &lt;Box style={{ height: 112, flexDirection: 'row', background: '#D6E4F9', borderRadius: 12, padding: 18 }}&gt;&#13;&#10;                &lt;Box style={{ width: 170, justifyContent: 'center' }}&gt;&#13;&#10;                    &lt;Text style={{ fontSize: 22, fontWeight: 'bold', color: '#1E293B', lineHeight: 1.3 }}&gt;实体画像&lt;/Text&gt;&#13;&#10;                    &lt;Text style={{ fontSize: 16, color: '#64748B', lineHeight: 1.3, marginTop: 2 }}&gt;人 / 项目 / 系统的档案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每个人、每个项目、每套系统有自己的档案页：偏好、职责、历史结论一查即得，同名也能分得清。&#13;&#10;                    &lt;/Text&gt;&#13;&#10;                &lt;/Box&gt;&#13;&#10;            &lt;/Box&gt;&#13;&#10;            &lt;Box style={{ height: 112, flexDirection: 'row', background: '#FFF7E9', borderRadius: 12, padding: 18 }}&gt;&#13;&#10;                &lt;Box style={{ width: 170, justifyContent: 'center' }}&gt;&#13;&#10;                    &lt;Text style={{ fontSize: 22, fontWeight: 'bold', color: '#B45309', lineHeight: 1.3 }}&gt;情节经历&lt;/Text&gt;&#13;&#10;                    &lt;Text style={{ fontSize: 16, color: '#64748B', lineHeight: 1.3, marginTop: 2 }}&gt;事件的来龙去脉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保留事情的脉络：上个月为什么改了口径、当时谁拍的板——回答「当时是怎么定的」不再翻聊天记录。&#13;&#10;                    &lt;/Text&gt;&#13;&#10;                &lt;/Box&gt;&#13;&#10;            &lt;/Box&gt;&#13;&#10;        &lt;/Box&gt;&#13;&#10;&#13;&#10;        &lt;Box style={{ flexDirection: 'row', marginTop: 16, gap: 16 }}&gt;&#13;&#10;            &lt;Box style={{ flex: 1 }}&gt;&#13;&#10;                &lt;Text style={{ fontSize: 18, color: '#475569', lineHeight: 1.55 }}&gt;&#13;&#10;                    可纠正：说一次「记错了」，它就改，不再重复同样的误解。&#13;&#10;                &lt;/Text&gt;&#13;&#10;            &lt;/Box&gt;&#13;&#10;            &lt;Box style={{ width: 1, background: '#E2E8F0' }} /&gt;&#13;&#10;            &lt;Box style={{ flex: 1 }}&gt;&#13;&#10;                &lt;Text style={{ fontSize: 18, color: '#475569', lineHeight: 1.55 }}&gt;&#13;&#10;                    可清理：长期运行自动整理归档，不会越堆越乱、越问越慢。&#13;&#10;                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记忆让 AI 的能力随合作时间累积——每次会话不再从零开始，这是「越用越值钱」的技术底座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专题｜三层记忆：换个会话还认得你，纠错一次改一次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571500" y="17335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42950" y="197167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原子事实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42950" y="23241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最小可核验的条目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476500" y="21050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「项目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的负责人是张工」「差旅标准是每天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元」——一条一条记住，错了可以纠正、过期可以更新。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571500" y="293370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42950" y="317182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实体画像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42950" y="352425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项目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系统的档案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2476500" y="330517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每个人、每个项目、每套系统有自己的档案页：偏好、职责、历史结论一查即得，同名也能分得清。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571500" y="41338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42950" y="437197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情节经历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42950" y="47244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事件的来龙去脉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2476500" y="45053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保留事情的脉络：上个月为什么改了口径、当时谁拍的板——回答「当时是怎么定的」不再翻聊天记录。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71500" y="53530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可纠正：说一次「记错了」，它就改，不再重复同样的误解。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0" y="5353050"/>
            <a:ext cx="9525" cy="3238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257925" y="5353050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可清理：长期运行自动整理归档，不会越堆越乱、越问越慢。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71500" y="57721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04850" y="58674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记忆让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的能力随合作时间累积——每次会话不再从零开始，这是「越用越值钱」的技术底座。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8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知识库与引用溯源：敢用的前提是说得清出处&#10;        &lt;/Text&gt;&#10;        &lt;Box style={{ height: 1, background: '#E2E8F0', marginTop: 16 }} /&gt;&#10;&#10;        {/* 流程 */}&#10;        &lt;Box style={{ flexDirection: 'row', marginTop: 20, alignItems: 'stretch' }}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1&lt;/Text&gt;&#10;                &lt;Text style={{ fontSize: 20, fontWeight: '600', color: '#1E293B', lineHeight: 1.3, marginTop: 4 }}&gt;文档进来&lt;/Text&gt;&#10;                &lt;Text style={{ fontSize: 18, color: '#475569', lineHeight: 1.5, marginTop: 6 }}&gt;&#10;                    PDF、Word、Excel、网页、扫描件都能收；编码自动兼容，老格式自动转换。&#10;                &lt;/Text&gt;&#10;            &lt;/Box&gt;&#10;            &lt;Box style={{ width: 30, justifyContent: 'center', alignItems: 'center' }}&gt;&#10;                &lt;svg width={30} height={18} viewBox='0 0 30 18'&gt;&lt;path d='M0 9 L18 9' stroke='#2563EB' strokeWidth='2' /&gt;&lt;path d='M18 2 L30 9 L18 16 Z' fill='#2563EB' /&gt;&lt;/svg&gt;&#10;            &lt;/Box&gt;&#10;            &lt;Box style={{ width: 265, background: '#D6E4F9', borderRadius: 10, padding: 14 }}&gt;&#10;                &lt;Text style={{ fontSize: 18, fontWeight: '600', color: '#475569', lineHeight: 1.3 }}&gt;02&lt;/Text&gt;&#10;                &lt;Text style={{ fontSize: 20, fontWeight: '600', color: '#1E293B', lineHeight: 1.3, marginTop: 4 }}&gt;切片入库&lt;/Text&gt;&#10;                &lt;Text style={{ fontSize: 18, color: '#475569', lineHeight: 1.5, marginTop: 6 }}&gt;&#10;                    自动拆分、建立索引，按知识库分仓管理，谁建的、谁能看一目了然。&#10;                &lt;/Text&gt;&#10;            &lt;/Box&gt;&#10;            &lt;Box style={{ width: 30, justifyContent: 'center', alignItems: 'center' }}&gt;&#10;                &lt;svg width={30} height={18} viewBox='0 0 30 18'&gt;&lt;path d='M0 9 L18 9' stroke='#0891B2' strokeWidth='2' /&gt;&lt;path d='M18 2 L30 9 L18 16 Z' fill='#0891B2' /&gt;&lt;/svg&gt;&#10;            &lt;/Box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3&lt;/Text&gt;&#10;                &lt;Text style={{ fontSize: 20, fontWeight: '600', color: '#1E293B', lineHeight: 1.3, marginTop: 4 }}&gt;检索作答&lt;/Text&gt;&#10;                &lt;Text style={{ fontSize: 18, color: '#475569', lineHeight: 1.5, marginTop: 6 }}&gt;&#10;                    提问时只取授权范围内的片段作答，超出知识范围就明说。&#10;                &lt;/Text&gt;&#10;            &lt;/Box&gt;&#10;            &lt;Box style={{ width: 30, justifyContent: 'center', alignItems: 'center' }}&gt;&#10;                &lt;svg width={30} height={18} viewBox='0 0 30 18'&gt;&lt;path d='M0 9 L18 9' stroke='#F59E0B' strokeWidth='2' /&gt;&lt;path d='M18 2 L30 9 L18 16 Z' fill='#F59E0B' /&gt;&lt;/svg&gt;&#10;            &lt;/Box&gt;&#10;            &lt;Box style={{ width: 265, background: '#FFF7E9', borderWidth: 1, borderColor: '#F5D9A4', borderStyle: 'solid', borderRadius: 10, padding: 14 }}&gt;&#10;                &lt;Text style={{ fontSize: 18, fontWeight: '600', color: '#B45309', lineHeight: 1.3 }}&gt;04&lt;/Text&gt;&#10;                &lt;Text style={{ fontSize: 20, fontWeight: '600', color: '#1E293B', lineHeight: 1.3, marginTop: 4 }}&gt;出处随答案&lt;/Text&gt;&#10;                &lt;Text style={{ fontSize: 18, color: '#475569', lineHeight: 1.5, marginTop: 6 }}&gt;&#10;                    每条回答标注来源文档与位置，点开即可核对原文。&#10;                &lt;/Text&gt;&#10;            &lt;/Box&gt;&#10;        &lt;/Box&gt;&#10;&#10;        {/* 三点支撑 */}&#10;        &lt;Box style={{ flexDirection: 'row', marginTop: 20, gap: 16 }}&gt;&#10;            &lt;Box style={{ flex: 1, background: '#F4F6FB', borderRadius: 10, padding: 14 }}&gt;&#10;                &lt;Text style={{ fontSize: 20, fontWeight: '600', color: '#1E293B', lineHeight: 1.3 }}&gt;中文场景专门处理&lt;/Text&gt;&#10;                &lt;Text style={{ fontSize: 18, color: '#475569', lineHeight: 1.5, marginTop: 4 }}&gt;编码回退、老格式转换、扫描件 OCR 一条龙。&lt;/Text&gt;&#10;            &lt;/Box&gt;&#10;            &lt;Box style={{ flex: 1, background: '#F4F6FB', borderRadius: 10, padding: 14 }}&gt;&#10;                &lt;Text style={{ fontSize: 20, fontWeight: '600', color: '#1E293B', lineHeight: 1.3 }}&gt;同库共享，按权取用&lt;/Text&gt;&#10;                &lt;Text style={{ fontSize: 18, color: '#475569', lineHeight: 1.5, marginTop: 4 }}&gt;一份受控文档，全公司按权限引用，口径统一。&lt;/Text&gt;&#10;            &lt;/Box&gt;&#10;            &lt;Box style={{ flex: 1, background: '#F4F6FB', borderRadius: 10, padding: 14 }}&gt;&#10;                &lt;Text style={{ fontSize: 20, fontWeight: '600', color: '#1E293B', lineHeight: 1.3 }}&gt;边界说在前面&lt;/Text&gt;&#10;                &lt;Text style={{ fontSize: 18, color: '#475569', lineHeight: 1.5, marginTop: 4 }}&gt;当前为向量检索，中小企业语料规模下足够，超大规模再升级。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减少「一本正经地胡说」的关键，不是换个更大的模型，而是让答案锚定公司自己的文档并交出出处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专题｜知识库与引用溯源：敢用的前提是说得清出处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57150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0485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文档进来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Word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Excel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、网页、扫描件都能收；编码自动兼容，老格式自动转换。</a:t>
            </a:r>
            <a:endParaRPr/>
          </a:p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2590800"/>
            <a:ext cx="285750" cy="17145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338137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51472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351472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切片入库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351472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自动拆分、建立索引，按知识库分仓管理，谁建的、谁能看一目了然。</a:t>
            </a:r>
            <a:endParaRPr/>
          </a:p>
        </p:txBody>
      </p:sp>
      <p:pic>
        <p:nvPicPr>
          <p:cNvPr id="5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0" y="2590800"/>
            <a:ext cx="285750" cy="171450"/>
          </a:xfrm>
          <a:prstGeom prst="rect">
            <a:avLst/>
          </a:prstGeom>
          <a:ln/>
        </p:spPr>
      </p:pic>
      <p:sp>
        <p:nvSpPr>
          <p:cNvPr id="574" name=""/>
          <p:cNvSpPr/>
          <p:nvPr/>
        </p:nvSpPr>
        <p:spPr>
          <a:xfrm rot="0" flipH="0" flipV="0">
            <a:off x="619125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32460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32460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检索作答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324600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提问时只取授权范围内的片段作答，超出知识范围就明说。</a:t>
            </a:r>
            <a:endParaRPr/>
          </a:p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15375" y="2590800"/>
            <a:ext cx="285750" cy="171450"/>
          </a:xfrm>
          <a:prstGeom prst="rect">
            <a:avLst/>
          </a:prstGeom>
          <a:ln/>
        </p:spPr>
      </p:pic>
      <p:sp>
        <p:nvSpPr>
          <p:cNvPr id="579" name=""/>
          <p:cNvSpPr/>
          <p:nvPr/>
        </p:nvSpPr>
        <p:spPr>
          <a:xfrm rot="0" flipH="0" flipV="0">
            <a:off x="900112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13447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913447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出处随答案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每条回答标注来源文档与位置，点开即可核对原文。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5715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048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中文场景专门处理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048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编码回退、老格式转换、扫描件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OCR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一条龙。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3053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386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同库共享，按权取用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一份受控文档，全公司按权限引用，口径统一。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80391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1724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边界说在前面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1724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当前为向量检索，中小企业语料规模下足够，超大规模再升级。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71500" y="518160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04850" y="5305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减少「一本正经地胡说」的关键，不是换个更大的模型，而是让答案锚定公司自己的文档并交出出处。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94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复杂任务交给一个团队，而不是一个人硬扛&#13;&#10;        &lt;/Text&gt;&#13;&#10;        &lt;Box style={{ height: 1, background: '#E2E8F0', marginTop: 16 }} /&gt;&#13;&#10;&#13;&#10;        &lt;Box style={{ flex: 1, marginTop: 20, flexDirection: 'row', gap: 28 }}&gt;&#13;&#10;            {/* 左：编排示意 */}&#13;&#10;            &lt;Box style={{ width: 420, background: '#F4F6FB', borderRadius: 12, padding: 20, justifyContent: 'center', alignItems: 'center' }}&gt;&#13;&#10;                &lt;svg width={340} height={260} viewBox='0 0 340 260'&gt;&#13;&#10;                    &lt;rect x='110' y='14' width='120' height='52' rx='10' fill='#2563EB' /&gt;&#13;&#10;                    &lt;text x='170' y='46' textAnchor='middle' fontSize='16' fill='#FFFFFF' fontFamily='Microsoft YaHei'&gt;协调者&lt;/text&gt;&#13;&#10;                    &lt;rect x='18' y='140' width='96' height='44' rx='10' fill='#E8EEFB' stroke='#C7D6F5' strokeWidth='1.5' /&gt;&#13;&#10;                    &lt;text x='66' y='167' textAnchor='middle' fontSize='14' fill='#1E293B' fontFamily='Microsoft YaHei'&gt;数据专家&lt;/text&gt;&#13;&#10;                    &lt;rect x='122' y='140' width='96' height='44' rx='10' fill='#E8EEFB' stroke='#C7D6F5' strokeWidth='1.5' /&gt;&#13;&#10;                    &lt;text x='170' y='167' textAnchor='middle' fontSize='14' fill='#1E293B' fontFamily='Microsoft YaHei'&gt;文档专家&lt;/text&gt;&#13;&#10;                    &lt;rect x='226' y='140' width='96' height='44' rx='10' fill='#E8EEFB' stroke='#C7D6F5' strokeWidth='1.5' /&gt;&#13;&#10;                    &lt;text x='274' y='167' textAnchor='middle' fontSize='14' fill='#1E293B' fontFamily='Microsoft YaHei'&gt;审核专家&lt;/text&gt;&#13;&#10;                    &lt;line x1='170' y1='66' x2='66' y2='140' stroke='#93C5FD' strokeWidth='2' /&gt;&#13;&#10;                    &lt;line x1='170' y1='66' x2='170' y2='140' stroke='#93C5FD' strokeWidth='2' /&gt;&#13;&#10;                    &lt;line x1='170' y1='66' x2='274' y2='140' stroke='#93C5FD' strokeWidth='2' /&gt;&#13;&#10;                    &lt;rect x='80' y='214' width='180' height='38' rx='10' fill='#FFF7E9' stroke='#F5D9A4' strokeWidth='1.5' /&gt;&#13;&#10;                    &lt;text x='170' y='238' textAnchor='middle' fontSize='14' fill='#B45309' fontFamily='Microsoft YaHei'&gt;汇总结果 · 回到原会话&lt;/text&gt;&#13;&#10;                &lt;/svg&gt;&#13;&#10;                &lt;Text style={{ fontSize: 16, color: '#64748B', lineHeight: 1.5, marginTop: 10 }}&gt;&#13;&#10;                    多步骤目标从任一入口进来，走同一条协作管线（团队编排能力持续打磨中）&#13;&#10;                &lt;/Text&gt;&#13;&#10;            &lt;/Box&gt;&#13;&#10;&#13;&#10;            {/* 右：四点 */}&#13;&#10;            &lt;Box style={{ gap: 8 }}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拆解：一次目标，多段完成&lt;/Text&gt;&#13;&#10;                    &lt;Text style={{ fontSize: 18, color: '#475569', lineHeight: 1.5, marginTop: 6 }}&gt;&#13;&#10;                        协调者把复杂任务拆成子目标，按专长派给不同岗位专家。&#13;&#10;                    &lt;/Text&gt;&#13;&#10;                &lt;/Box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并行：互不阻塞&lt;/Text&gt;&#13;&#10;                    &lt;Text style={{ fontSize: 18, color: '#475569', lineHeight: 1.5, marginTop: 6 }}&gt;&#13;&#10;                        各成员在自己的会话里干活，结果回流汇总，不用等一个串一个。&#13;&#10;                    &lt;/Text&gt;&#13;&#10;                &lt;/Box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可见：随时插话叫停&lt;/Text&gt;&#13;&#10;                    &lt;Text style={{ fontSize: 18, color: '#475569', lineHeight: 1.5, marginTop: 6 }}&gt;&#13;&#10;                        按角色分条呈现进度，中途可以补充要求、修改方向或直接叫停。&#13;&#10;                    &lt;/Text&gt;&#13;&#10;                &lt;/Box&gt;&#13;&#10;                &lt;Box style={{ height: 96, background: '#FFF7E9', borderRadius: 12, padding: 18 }}&gt;&#13;&#10;                    &lt;Text style={{ fontSize: 22, fontWeight: '600', color: '#B45309', lineHeight: 1.3 }}&gt;沉淀：流程可复用&lt;/Text&gt;&#13;&#10;                    &lt;Text style={{ fontSize: 18, color: '#7C2D12', lineHeight: 1.5, marginTop: 6 }}&gt;&#13;&#10;                        跑顺一次的协作方式可以沉淀下来，下次同类任务照着走。&#13;&#10;                    &lt;/Text&gt;&#13;&#10;                &lt;/Box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把一次性的复杂任务变成可编排、可追溯的流水线——多步骤业务才敢真正托付出去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专题｜复杂任务交给一个团队，而不是一个人硬扛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571500" y="1733550"/>
            <a:ext cx="4000500" cy="3962400"/>
          </a:xfrm>
          <a:prstGeom prst="roundRect">
            <a:avLst>
              <a:gd name="adj" fmla="val 2885"/>
            </a:avLst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6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152650"/>
            <a:ext cx="3238500" cy="2476500"/>
          </a:xfrm>
          <a:prstGeom prst="rect">
            <a:avLst/>
          </a:prstGeom>
          <a:ln/>
        </p:spPr>
      </p:pic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62000" y="4724400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多步骤目标从任一入口进来，走同一条协作管线（团队编排能力持续打磨中）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4838700" y="17335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5010150" y="19050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拆解：一次目标，多段完成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010150" y="22955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协调者把复杂任务拆成子目标，按专长派给不同岗位专家。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838700" y="27241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5010150" y="28956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并行：互不阻塞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010150" y="32861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各成员在自己的会话里干活，结果回流汇总，不用等一个串一个。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4838700" y="37147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010150" y="38862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可见：随时插话叫停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010150" y="42767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按角色分条呈现进度，中途可以补充要求、修改方向或直接叫停。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4838700" y="47053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010150" y="48768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沉淀：流程可复用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010150" y="52673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跑顺一次的协作方式可以沉淀下来，下次同类任务照着走。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71500" y="579120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04850" y="58864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把一次性的复杂任务变成可编排、可追溯的流水线——多步骤业务才敢真正托付出去。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639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员工零学习成本：在天天用的聊天框里派活&#10;        &lt;/Text&gt;&#10;        &lt;Box style={{ height: 1, background: '#E2E8F0', marginTop: 16 }} /&gt;&#10;&#10;        &lt;Box style={{ flex: 1, marginTop: 20, flexDirection: 'row', gap: 32 }}&gt;&#10;            {/* 左：入口面板 */}&#10;            &lt;Box style={{ width: 420, background: '#F4F6FB', borderRadius: 12, padding: 22 }}&gt;&#10;                &lt;Text style={{ fontSize: 22, fontWeight: '600', color: '#1E293B', lineHeight: 1.3 }}&gt;10 个入口，覆盖主流协作平台&lt;/Text&gt;&#10;                &lt;Text style={{ fontSize: 18, color: '#475569', lineHeight: 1.5, marginTop: 8 }}&gt;&#10;                    员工在熟悉的聊天工具里直接派活，不必学新系统、不必改习惯。&#10;                &lt;/Text&gt;&#10;                &lt;Box style={{ height: 1, background: '#E2E8F0', marginTop: 14 }} /&gt;&#10;                &lt;Box style={{ flexDirection: 'row', gap: 8, marginTop: 14 }}&gt;&#10;                    &lt;Box style={{ background: '#E8EEFB', borderRadius: 8, padding: 10 }}&gt;&lt;Text style={{ fontSize: 18, color: '#1E293B' }}&gt;飞书&lt;/Text&gt;&lt;/Box&gt;&#10;                    &lt;Box style={{ background: '#E8EEFB', borderRadius: 8, padding: 10 }}&gt;&lt;Text style={{ fontSize: 18, color: '#1E293B' }}&gt;钉钉&lt;/Text&gt;&lt;/Box&gt;&#10;                    &lt;Box style={{ background: '#E8EEFB', borderRadius: 8, padding: 10 }}&gt;&lt;Text style={{ fontSize: 18, color: '#1E293B' }}&gt;企业微信&lt;/Text&gt;&lt;/Box&gt;&#10;                    &lt;Box style={{ background: '#E8EEFB', borderRadius: 8, padding: 10 }}&gt;&lt;Text style={{ fontSize: 18, color: '#1E293B' }}&gt;微信&lt;/Text&gt;&lt;/Box&gt;&#10;                &lt;/Box&gt;&#10;                &lt;Box style={{ flexDirection: 'row', gap: 8, marginTop: 8 }}&gt;&#10;                    &lt;Box style={{ background: '#E8EEFB', borderRadius: 8, padding: 10 }}&gt;&lt;Text style={{ fontSize: 18, color: '#1E293B' }}&gt;QQ&lt;/Text&gt;&lt;/Box&gt;&#10;                    &lt;Box style={{ background: '#E8EEFB', borderRadius: 8, padding: 10 }}&gt;&lt;Text style={{ fontSize: 18, color: '#1E293B' }}&gt;腾讯元宝&lt;/Text&gt;&lt;/Box&gt;&#10;                    &lt;Box style={{ background: '#E8EEFB', borderRadius: 8, padding: 10 }}&gt;&lt;Text style={{ fontSize: 18, color: '#1E293B' }}&gt;小艺&lt;/Text&gt;&lt;/Box&gt;&#10;                &lt;/Box&gt;&#10;                &lt;Box style={{ flexDirection: 'row', gap: 8, marginTop: 8 }}&gt;&#10;                    &lt;Box style={{ background: '#FFF7E9', borderRadius: 8, padding: 10 }}&gt;&lt;Text style={{ fontSize: 18, color: '#B45309' }}&gt;Telegram&lt;/Text&gt;&lt;/Box&gt;&#10;                    &lt;Box style={{ background: '#FFF7E9', borderRadius: 8, padding: 10 }}&gt;&lt;Text style={{ fontSize: 18, color: '#B45309' }}&gt;Discord&lt;/Text&gt;&lt;/Box&gt;&#10;                    &lt;Box style={{ background: '#FFF7E9', borderRadius: 8, padding: 10 }}&gt;&lt;Text style={{ fontSize: 18, color: '#B45309' }}&gt;MQTT（IoT）&lt;/Text&gt;&lt;/Box&gt;&#10;                &lt;/Box&gt;&#10;            &lt;/Box&gt;&#10;&#10;            {/* 右：三行 */}&#10;            &lt;Box style={{ flex: 1 }}&gt;&#10;                &lt;Box style={{ height: 132, borderBottomWidth: 1, borderBottomColor: '#E2E8F0', borderBottomStyle: 'solid' }}&gt;&#10;                    &lt;Text style={{ fontSize: 22, fontWeight: '600', color: '#1E293B', lineHeight: 1.3, marginTop: 4 }}&gt;扫码即接入，几分钟上线&lt;/Text&gt;&#10;                    &lt;Text style={{ fontSize: 18, color: '#475569', lineHeight: 1.5, marginTop: 8 }}&gt;&#10;                        主流平台支持扫码绑定与机器人自助创建，IT 配置一次，全员可用。&#10;                    &lt;/Text&gt;&#10;                &lt;/Box&gt;&#10;                &lt;Box style={{ height: 132, borderBottomWidth: 1, borderBottomColor: '#E2E8F0', borderBottomStyle: 'solid' }}&gt;&#10;                    &lt;Text style={{ fontSize: 22, fontWeight: '600', color: '#1E293B', lineHeight: 1.3, marginTop: 4 }}&gt;群聊私聊都好用&lt;/Text&gt;&#10;                    &lt;Text style={{ fontSize: 18, color: '#475569', lineHeight: 1.5, marginTop: 8 }}&gt;&#10;                        单聊、群聊各自成会话，上下文不串台；群里 @ 一下即可让数字同事干活。&#10;                    &lt;/Text&gt;&#10;                &lt;/Box&gt;&#10;                &lt;Box style={{ height: 132 }}&gt;&#10;                    &lt;Text style={{ fontSize: 22, fontWeight: '600', color: '#1E293B', lineHeight: 1.3, marginTop: 4 }}&gt;不只是应答，还能主动触达&lt;/Text&gt;&#10;                    &lt;Text style={{ fontSize: 18, color: '#475569', lineHeight: 1.5, marginTop: 8 }}&gt;&#10;                        日报、预警、待办直接推到指定会话——该提醒的事，它先开口。&#10;                    &lt;/Text&gt;&#10;                &lt;/Box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推广 AI 最大的成本是改变人的习惯——把它放进现有的协作工具里，这一步就省掉了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员工零学习成本：在天天用的聊天框里派活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571500" y="1733550"/>
            <a:ext cx="4000500" cy="390525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3581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个入口，覆盖主流协作平台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81050" y="2352675"/>
            <a:ext cx="358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员工在熟悉的聊天工具里直接派活，不必学新系统、不必改习惯。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781050" y="3105150"/>
            <a:ext cx="35814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7810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763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飞书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13906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4859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钉钉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2000250" y="3248025"/>
            <a:ext cx="8763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2095500" y="33432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企业微信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29527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微信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781050" y="3724275"/>
            <a:ext cx="47625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76300" y="38195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QQ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1333500" y="3724275"/>
            <a:ext cx="8763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428750" y="3819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腾讯元宝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2286000" y="372427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2381250" y="38195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小艺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781050" y="4200525"/>
            <a:ext cx="942975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76300" y="4295775"/>
            <a:ext cx="75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Telegram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1800225" y="4200525"/>
            <a:ext cx="81915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895475" y="4295775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Discord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2695575" y="4200525"/>
            <a:ext cx="129540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2790825" y="429577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MQTT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IoT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876800" y="1733550"/>
            <a:ext cx="6743700" cy="1257300"/>
          </a:xfrm>
          <a:custGeom>
            <a:pathLst>
              <a:path w="708" h="132">
                <a:moveTo>
                  <a:pt x="0" y="131"/>
                </a:moveTo>
                <a:lnTo>
                  <a:pt x="708" y="131"/>
                </a:lnTo>
                <a:lnTo>
                  <a:pt x="70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876800" y="17716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扫码即接入，几分钟上线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876800" y="21812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主流平台支持扫码绑定与机器人自助创建，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配置一次，全员可用。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4876800" y="2990850"/>
            <a:ext cx="6743700" cy="1257300"/>
          </a:xfrm>
          <a:custGeom>
            <a:pathLst>
              <a:path w="708" h="132">
                <a:moveTo>
                  <a:pt x="0" y="131"/>
                </a:moveTo>
                <a:lnTo>
                  <a:pt x="708" y="131"/>
                </a:lnTo>
                <a:lnTo>
                  <a:pt x="70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876800" y="30289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群聊私聊都好用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4876800" y="34385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单聊、群聊各自成会话，上下文不串台；群里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@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一下即可让数字同事干活。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876800" y="42862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不只是应答，还能主动触达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4876800" y="46958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日报、预警、待办直接推到指定会话——该提醒的事，它先开口。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推广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最大的成本是改变人的习惯——把它放进现有的协作工具里，这一步就省掉了。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7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3&#10;        &lt;/Text&gt;&#10;        &lt;Text style={{ fontSize: 64, fontWeight: 'bold', color: '#1E293B', lineHeight: 1.15, marginTop: 12 }}&gt;&#10;            为什么放心&#10;        &lt;/Text&gt;&#10;        &lt;Box style={{ width: 72, height: 6, borderRadius: 3, background: '#F59E0B', marginTop: 30 }} /&gt;&#10;        &lt;Text style={{ fontSize: 22, color: '#64748B', lineHeight: 1.5, marginTop: 26 }}&gt;&#10;            动作有人拍板，过程可回放，数据不出内网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6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动作有人拍板，过程可回放，数据不出内网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68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越界动作先由人拍板：自主执行与人工掌控并存&#10;        &lt;/Text&gt;&#10;        &lt;Box style={{ height: 1, background: '#E2E8F0', marginTop: 16 }} /&gt;&#10;&#10;        {/* 三层：事前 / 事中 / 事后 */}&#10;        &lt;Box style={{ marginTop: 18, gap: 12 }}&gt;&#10;            &lt;Box style={{ height: 92, flexDirection: 'row', background: '#E8EEFB', borderRadius: 12, padding: 18 }}&gt;&#10;                &lt;Box style={{ width: 150, justifyContent: 'center' }}&gt;&#10;                    &lt;Text style={{ fontSize: 22, fontWeight: 'bold', color: '#2563EB' }}&gt;事前 · 立规矩&lt;/Text&gt;&#10;                &lt;/Box&gt;&#10;                &lt;Box style={{ flex: 1, justifyContent: 'center', marginLeft: 12 }}&gt;&#10;                    &lt;Text style={{ fontSize: 18, color: '#1E293B', lineHeight: 1.55 }}&gt;&#10;                        写文件、改文件、执行命令、删除这类高风险动作默认纳入审批清单；哪些动作要人点头、由谁来批，管理员可按岗位逐项设定。&#10;                    &lt;/Text&gt;&#10;                &lt;/Box&gt;&#10;            &lt;/Box&gt;&#10;            &lt;Box style={{ height: 92, flexDirection: 'row', background: '#D6E4F9', borderRadius: 12, padding: 18 }}&gt;&#10;                &lt;Box style={{ width: 150, justifyContent: 'center' }}&gt;&#10;                    &lt;Text style={{ fontSize: 22, fontWeight: 'bold', color: '#1E293B' }}&gt;事中 · 暂停等决策&lt;/Text&gt;&#10;                &lt;/Box&gt;&#10;                &lt;Box style={{ flex: 1, justifyContent: 'center', marginLeft: 12 }}&gt;&#10;                    &lt;Text style={{ fontSize: 18, color: '#1E293B', lineHeight: 1.55 }}&gt;&#10;                        命中审批清单或危险命令规则时，任务在此挂起等待人工处置：通过、修改后通过、拒绝、追问补充四种决策任选，结果回写进度。&#10;                    &lt;/Text&gt;&#10;                &lt;/Box&gt;&#10;            &lt;/Box&gt;&#10;            &lt;Box style={{ height: 92, flexDirection: 'row', background: '#FFF7E9', borderRadius: 12, padding: 18 }}&gt;&#10;                &lt;Box style={{ width: 150, justifyContent: 'center' }}&gt;&#10;                    &lt;Text style={{ fontSize: 22, fontWeight: 'bold', color: '#B45309' }}&gt;事后 · 留痕可回放&lt;/Text&gt;&#10;                &lt;/Box&gt;&#10;                &lt;Box style={{ flex: 1, justifyContent: 'center', marginLeft: 12 }}&gt;&#10;                    &lt;Text style={{ fontSize: 18, color: '#1E293B', lineHeight: 1.55 }}&gt;&#10;                        每一次工具调用写入轨迹账本，可按会话回放完整过程；决策记录在案，任务从断点继续，出了争议也拿得出证据。&#10;                    &lt;/Text&gt;&#10;                &lt;/Box&gt;&#10;            &lt;/Box&gt;&#10;        &lt;/Box&gt;&#10;&#10;        {/* 补充说明行 */}&#10;        &lt;Box style={{ flexDirection: 'row', marginTop: 12, gap: 16 }}&gt;&#10;            &lt;Box style={{ flex: 1 }}&gt;&#10;                &lt;Text style={{ fontSize: 18, color: '#475569', lineHeight: 1.55 }}&gt;&#10;                    会话级放行：确认某个工具可信后，可以一次放行整段会话，同类动作不再反复打断工作流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四处入口同一套审批：网页、命令行、聊天工具、定时任务触发的动作，走的是同一套审批规则。&#10;                &lt;/Text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机器负责把活干完，人保留随时改主意和问清楚的权利——这才敢让 AI 进业务流程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越界动作先由人拍板：自主执行与人工掌控并存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571500" y="17145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42950" y="2028825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事前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立规矩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286000" y="1885950"/>
            <a:ext cx="91630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写文件、改文件、执行命令、删除这类高风险动作默认纳入审批清单；哪些动作要人点头、由谁来批，管理员可按岗位逐项设定。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571500" y="27051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742950" y="2895600"/>
            <a:ext cx="1428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事中</a:t>
            </a: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暂停等决策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2286000" y="2876550"/>
            <a:ext cx="91630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命中审批清单或危险命令规则时，任务在此挂起等待人工处置：通过、修改后通过、拒绝、追问补充四种决策任选，结果回写进度。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571500" y="36957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42950" y="3886200"/>
            <a:ext cx="1428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事后</a:t>
            </a:r>
            <a:r>
              <a:rPr lang="en-US" sz="16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留痕可回放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2286000" y="3971925"/>
            <a:ext cx="91630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每一次工具调用写入轨迹账本，可按会话回放完整过程；决策记录在案，任务从断点继续，出了争议也拿得出证据。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71500" y="4686300"/>
            <a:ext cx="53721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会话级放行：确认某个工具可信后，可以一次放行整段会话，同类动作不再反复打断工作流。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096000" y="4686300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257925" y="4686300"/>
            <a:ext cx="53625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四处入口同一套审批：网页、命令行、聊天工具、定时任务触发的动作，走的是同一套审批规则。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71500" y="541972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04850" y="55435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机器负责把活干完，人保留随时改主意和问清楚的权利——这才敢让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进业务流程。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706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3 · 为什么放心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五层防线：每一层都看得见、查得到、改得动&#13;&#10;        &lt;/Text&gt;&#13;&#10;        &lt;Box style={{ height: 1, background: '#E2E8F0', marginTop: 16 }} /&gt;&#13;&#10;&#13;&#10;        &lt;Box style={{ marginTop: 20, gap: 12 }}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1&lt;/Text&gt;&#13;&#10;                &lt;Text style={{ width: 210, fontSize: 20, fontWeight: '600', color: '#1E293B' }}&gt;身份与授权&lt;/Text&gt;&#13;&#10;                &lt;Text style={{ fontSize: 18, color: '#475569', lineHeight: 1.5 }}&gt;密码、LDAP、SSO 单点登录与邀请码；数据按人隔离，谁能看谁的一目了然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2&lt;/Text&gt;&#13;&#10;                &lt;Text style={{ width: 210, fontSize: 20, fontWeight: '600', color: '#1E293B' }}&gt;命令守卫&lt;/Text&gt;&#13;&#10;                &lt;Text style={{ fontSize: 18, color: '#475569', lineHeight: 1.5 }}&gt;20 条内建危险命令规则：删除、提权、危险网络操作等，拦截、告警或转审批可配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3&lt;/Text&gt;&#13;&#10;                &lt;Text style={{ width: 210, fontSize: 20, fontWeight: '600', color: '#1E293B' }}&gt;文件系统沙箱&lt;/Text&gt;&#13;&#10;                &lt;Text style={{ fontSize: 18, color: '#475569', lineHeight: 1.5 }}&gt;按操作与路径授权；系统目录、密钥、凭证等敏感位置默认拦截，开箱即在保护状态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4&lt;/Text&gt;&#13;&#10;                &lt;Text style={{ width: 210, fontSize: 20, fontWeight: '600', color: '#1E293B' }}&gt;数据脱敏与出站&lt;/Text&gt;&#13;&#10;                &lt;Text style={{ fontSize: 18, color: '#475569', lineHeight: 1.5 }}&gt;阻断、删除、掩码、哈希四种脱敏策略作用于输入输出；对外请求先过安全校验。&lt;/Text&gt;&#13;&#10;            &lt;/Box&gt;&#13;&#10;            &lt;Box style={{ height: 72, flexDirection: 'row', alignItems: 'center' }}&gt;&#13;&#10;                &lt;Text style={{ width: 56, fontSize: 22, fontWeight: 'bold', color: '#2563EB' }}&gt;05&lt;/Text&gt;&#13;&#10;                &lt;Text style={{ width: 210, fontSize: 20, fontWeight: '600', color: '#1E293B' }}&gt;审计与备份&lt;/Text&gt;&#13;&#10;                &lt;Text style={{ fontSize: 18, color: '#475569', lineHeight: 1.5 }}&gt;工具调用全量进轨迹账本，支持自动备份与一键恢复，出事之前就有准备。&lt;/Text&gt;&#13;&#10;            &lt;/Box&gt;&#13;&#10;        &lt;/Box&gt;&#13;&#10;&#13;&#10;        {/* 结论条 */}&#13;&#10;        &lt;Box style={{ height: 52, background: '#E8EEFB', borderRadius: 10, padding: 14, marginTop: 12, justifyContent: 'center' }}&gt;&#13;&#10;            &lt;Text style={{ fontSize: 19, fontWeight: '600', color: '#1E293B', lineHeight: 1.4 }}&gt;&#13;&#10;                安全不是一句承诺：这五层都是配置里看得见、改得动、有日志可查的具体机制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五层防线：每一层都看得见、查得到、改得动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571500" y="17335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104900" y="19621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身份与授权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3105150" y="1914525"/>
            <a:ext cx="5981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密码、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LDAP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SSO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单点登录与邀请码；数据按人隔离，谁能看谁的一目了然。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571500" y="25336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571500" y="27432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04900" y="27622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命令守卫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3105150" y="2714625"/>
            <a:ext cx="6429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条内建危险命令规则：删除、提权、危险网络操作等，拦截、告警或转审批可配。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571500" y="33337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1104900" y="35623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文件系统沙箱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105150" y="3514725"/>
            <a:ext cx="651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按操作与路径授权；系统目录、密钥、凭证等敏感位置默认拦截，开箱即在保护状态。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571500" y="41338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71500" y="43434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04900" y="43624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数据脱敏与出站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105150" y="4314825"/>
            <a:ext cx="6172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阻断、删除、掩码、哈希四种脱敏策略作用于输入输出；对外请求先过安全校验。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571500" y="5153025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104900" y="51625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审计与备份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105150" y="5124450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工具调用全量进轨迹账本，支持自动备份与一键恢复，出事之前就有准备。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571500" y="57340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安全不是一句承诺：这五层都是配置里看得见、改得动、有日志可查的具体机制。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3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数据主权：数据不出内网，开关握在自己手里&#10;        &lt;/Text&gt;&#10;        &lt;Box style={{ height: 1, background: '#E2E8F0', marginTop: 16 }} /&gt;&#10;&#10;        &lt;Box style={{ flex: 1, marginTop: 20, flexDirection: 'row', gap: 32 }}&gt;&#10;            {/* 左：盾形 SVG */}&#10;            &lt;Box style={{ width: 380, justifyContent: 'center', alignItems: 'center' }}&gt;&#10;                &lt;svg width={320} height={340} viewBox='0 0 320 340'&gt;&#10;                    &lt;path d='M160 20 L290 70 L290 170 C290 250 230 300 160 320 C90 300 30 250 30 170 L30 70 Z' fill='#E8EEFB' stroke='#2563EB' strokeWidth='3' /&gt;&#10;                    &lt;path d='M160 60 L250 95 L250 168 C250 228 208 266 160 282 C112 266 70 228 70 168 L70 95 Z' fill='#FFFFFF' stroke='#C7D6F5' strokeWidth='2' /&gt;&#10;                    &lt;rect x='118' y='150' width='84' height='64' rx='8' fill='#2563EB' /&gt;&#10;                    &lt;path d='M134 150 L134 134 C134 116 146 104 160 104 C174 104 186 116 186 134 L186 150' fill='none' stroke='#2563EB' strokeWidth='10' /&gt;&#10;                    &lt;circle cx='160' cy='178' r='9' fill='#FFFFFF' /&gt;&#10;                    &lt;rect x='156' y='178' width='8' height='18' fill='#FFFFFF' /&gt;&#10;                    &lt;text x='160' y='252' textAnchor='middle' fontSize='17' fill='#1E293B' fontFamily='Microsoft YaHei' fontWeight='bold'&gt;数据留在自己机器上&lt;/text&gt;&#10;                &lt;/svg&gt;&#10;            &lt;/Box&gt;&#10;&#10;            {/* 右：四行 */}&#10;            &lt;Box style={{ flex: 1 }}&gt;&#10;                &lt;Box style={{ height: 100, borderBottomWidth: 1, borderBottomColor: '#E2E8F0', borderBottomStyle: 'solid' }}&gt;&#10;                    &lt;Text style={{ fontSize: 22, fontWeight: '600', color: '#1E293B', lineHeight: 1.3, marginTop: 4 }}&gt;本地部署，数据自持&lt;/Text&gt;&#10;                    &lt;Text style={{ fontSize: 18, color: '#475569', lineHeight: 1.5, marginTop: 6 }}&gt;&#10;                        一台服务器跑起来，配置、会话、文档、记忆全部落在公司自己的机器上。&#10;                    &lt;/Text&gt;&#10;                &lt;/Box&gt;&#10;                &lt;Box style={{ height: 100, borderBottomWidth: 1, borderBottomColor: '#E2E8F0', borderBottomStyle: 'solid' }}&gt;&#10;                    &lt;Text style={{ fontSize: 22, fontWeight: '600', color: '#1E293B', lineHeight: 1.3, marginTop: 4 }}&gt;脱敏策略自己定&lt;/Text&gt;&#10;                    &lt;Text style={{ fontSize: 18, color: '#475569', lineHeight: 1.5, marginTop: 6 }}&gt;&#10;                        输入输出可配置阻断、删除、掩码、哈希四种脱敏策略，按数据敏感度选择。&#10;                    &lt;/Text&gt;&#10;                &lt;/Box&gt;&#10;                &lt;Box style={{ height: 100, borderBottomWidth: 1, borderBottomColor: '#E2E8F0', borderBottomStyle: 'solid' }}&gt;&#10;                    &lt;Text style={{ fontSize: 22, fontWeight: '600', color: '#1E293B', lineHeight: 1.3, marginTop: 4 }}&gt;权限隔离，运维留痕&lt;/Text&gt;&#10;                    &lt;Text style={{ fontSize: 18, color: '#475569', lineHeight: 1.5, marginTop: 6 }}&gt;&#10;                        数据按人隔离，员工只见自己的资源；管理员跨用户运维同样留痕可查。&#10;                    &lt;/Text&gt;&#10;                &lt;/Box&gt;&#10;                &lt;Box style={{ height: 100 }}&gt;&#10;                    &lt;Text style={{ fontSize: 22, fontWeight: '600', color: '#1E293B', lineHeight: 1.3, marginTop: 4 }}&gt;敏感场景可完全离线&lt;/Text&gt;&#10;                    &lt;Text style={{ fontSize: 18, color: '#475569', lineHeight: 1.5, marginTop: 6 }}&gt;&#10;                        支持本地模型与本地向量化：内网推理、内网检索，不出网也能用起来。&#10;                    &lt;/Text&gt;&#10;                &lt;/Box&gt;&#10;            &lt;/Box&gt;&#10;        &lt;/Box&gt;&#10;&#10;        {/* 结论条 */}&#10;        &lt;Box style={{ height: 58, background: '#FFF7E9', borderRadius: 10, padding: 14, marginTop: 10, justifyContent: 'center' }}&gt;&#10;            &lt;Text style={{ fontSize: 19, fontWeight: '600', color: '#7C2D12', lineHeight: 1.4 }}&gt;&#10;                该上云的环节仍可上云，该留内网的必须留得住——选择权在配置里，不在合同里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数据主权：数据不出内网，开关握在自己手里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7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066925"/>
            <a:ext cx="3048000" cy="3238500"/>
          </a:xfrm>
          <a:prstGeom prst="rect">
            <a:avLst/>
          </a:prstGeom>
          <a:ln/>
        </p:spPr>
      </p:pic>
      <p:sp>
        <p:nvSpPr>
          <p:cNvPr id="740" name=""/>
          <p:cNvSpPr/>
          <p:nvPr/>
        </p:nvSpPr>
        <p:spPr>
          <a:xfrm rot="0" flipH="0" flipV="0">
            <a:off x="4495800" y="17335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本地部署，数据自持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495800" y="21621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一台服务器跑起来，配置、会话、文档、记忆全部落在公司自己的机器上。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4495800" y="26860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4495800" y="27241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脱敏策略自己定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495800" y="31146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输入输出可配置阻断、删除、掩码、哈希四种脱敏策略，按数据敏感度选择。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4495800" y="36385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4495800" y="3676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权限隔离，运维留痕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4495800" y="40671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数据按人隔离，员工只见自己的资源；管理员跨用户运维同样留痕可查。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4495800" y="46291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敏感场景可完全离线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495800" y="50196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支持本地模型与本地向量化：内网推理、内网检索，不出网也能用起来。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该上云的环节仍可上云，该留内网的必须留得住——选择权在配置里，不在合同里。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75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一台服务器全员共用，数据彼此看不见&#10;        &lt;/Text&gt;&#10;        &lt;Box style={{ height: 1, background: '#E2E8F0', marginTop: 16 }} /&gt;&#10;&#10;        &lt;Box style={{ flex: 1, marginTop: 20, flexDirection: 'row', gap: 16 }}&gt;&#10;            &lt;Box style={{ flex: 1, background: '#E8EEFB', borderRadius: 12, padding: 20 }}&gt;&#10;                &lt;Text style={{ fontSize: 22, fontWeight: '600', color: '#2563EB', lineHeight: 1.3 }}&gt;三种角色&lt;/Text&gt;&#10;                &lt;Text style={{ fontSize: 18, color: '#1E293B', lineHeight: 1.6, marginTop: 10 }}&gt;&#10;                    管理员：全局运维视角，跨用户操作也留痕。普通成员：只见自己的资源与 Agent。外部协作：邀请码开通，范围受控。&#10;                &lt;/Text&gt;&#10;            &lt;/Box&gt;&#10;            &lt;Box style={{ flex: 1, background: '#D6E4F9', borderRadius: 12, padding: 20 }}&gt;&#10;                &lt;Text style={{ fontSize: 22, fontWeight: '600', color: '#1E293B', lineHeight: 1.3 }}&gt;按人隔离&lt;/Text&gt;&#10;                &lt;Text style={{ fontSize: 18, color: '#1E293B', lineHeight: 1.6, marginTop: 10 }}&gt;&#10;                    每位用户创建自己的专家、知识库、定时任务与通道；数据归属逐条校验，共用一台服务器，不共用一份上下文。&#10;                &lt;/Text&gt;&#10;            &lt;/Box&gt;&#10;            &lt;Box style={{ flex: 1, background: '#FFF7E9', borderRadius: 12, padding: 20 }}&gt;&#10;                &lt;Text style={{ fontSize: 22, fontWeight: '600', color: '#B45309', lineHeight: 1.3 }}&gt;按模块授权&lt;/Text&gt;&#10;                &lt;Text style={{ fontSize: 18, color: '#1E293B', lineHeight: 1.6, marginTop: 10 }}&gt;&#10;                    权限目录 + 角色模板：谁能用哪些功能、看哪些数据，逐项配置，人员变动即时收回。&#10;                &lt;/Text&gt;&#10;            &lt;/Box&gt;&#10;        &lt;/Box&gt;&#10;&#10;        &lt;Box style={{ flexDirection: 'row', marginTop: 16, gap: 16 }}&gt;&#10;            &lt;Box style={{ flex: 1 }}&gt;&#10;                &lt;Text style={{ fontSize: 18, color: '#475569', lineHeight: 1.55 }}&gt;&#10;                    对 IT：账号生命周期沿用现有目录服务，离职即失效，不必另建人员台账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对业务：跨团队协作通过共享专家与邀请实现，既不封闭也不失控。&#10;                &lt;/Text&gt;&#10;            &lt;/Box&gt;&#10;        &lt;/Box&gt;&#10;&#10;        {/* 结论条 */}&#10;        &lt;Box style={{ height: 58, background: '#E8EEFB', borderRadius: 10, padding: 14, marginTop: 14, justifyContent: 'center' }}&gt;&#10;            &lt;Text style={{ fontSize: 19, fontWeight: '600', color: '#1E293B', lineHeight: 1.4 }}&gt;&#10;                一人运维、全员使用：服务器是共享的成本项，数据与智能体资产是严格隔离的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一台服务器全员共用，数据彼此看不见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5715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三种角色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32004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管理员：全局运维视角，跨用户操作也留痕。普通成员：只见自己的资源与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。外部协作：邀请码开通，范围受控。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43053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4958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按人隔离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495800" y="235267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每位用户创建自己的专家、知识库、定时任务与通道；数据归属逐条校验，共用一台服务器，不共用一份上下文。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80391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2296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按模块授权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权限目录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角色模板：谁能用哪些功能、看哪些数据，逐项配置，人员变动即时收回。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571500" y="4962525"/>
            <a:ext cx="53721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：账号生命周期沿用现有目录服务，离职即失效，不必另建人员台账。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96000" y="4962525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6257925" y="4962525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对业务：跨团队协作通过共享专家与邀请实现，既不封闭也不失控。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一人运维、全员使用：服务器是共享的成本项，数据与智能体资产是严格隔离的。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77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出问题能回放每一步，出问题之前能提前备份&#10;        &lt;/Text&gt;&#10;        &lt;Box style={{ height: 1, background: '#E2E8F0', marginTop: 16 }} /&gt;&#10;&#10;        {/* 四步链 */}&#10;        &lt;Box style={{ flexDirection: 'row', marginTop: 20, gap: 14 }}&gt;&#10;            &lt;Box style={{ flex: 1, background: '#E8EEFB', borderRadius: 12, padding: 16 }}&gt;&#10;                &lt;Text style={{ fontSize: 20, fontWeight: '600', color: '#2563EB', lineHeight: 1.3 }}&gt;调用即留痕&lt;/Text&gt;&#10;                &lt;Text style={{ fontSize: 18, color: '#475569', lineHeight: 1.5, marginTop: 6 }}&gt;&#10;                    读文件、跑命令、查知识库——每次动作的参数与结果都记录在案。&#10;                &lt;/Text&gt;&#10;            &lt;/Box&gt;&#10;            &lt;Box style={{ flex: 1, background: '#D6E4F9', borderRadius: 12, padding: 16 }}&gt;&#10;                &lt;Text style={{ fontSize: 20, fontWeight: '600', color: '#1E293B', lineHeight: 1.3 }}&gt;多视图检视&lt;/Text&gt;&#10;                &lt;Text style={{ fontSize: 18, color: '#475569', lineHeight: 1.5, marginTop: 6 }}&gt;&#10;                    调用清单、时间轴、明细三种看法，管理视角一屏看全。&#10;                &lt;/Text&gt;&#10;            &lt;/Box&gt;&#10;            &lt;Box style={{ flex: 1, background: '#E8EEFB', borderRadius: 12, padding: 16 }}&gt;&#10;                &lt;Text style={{ fontSize: 20, fontWeight: '600', color: '#2563EB', lineHeight: 1.3 }}&gt;按会话回放&lt;/Text&gt;&#10;                &lt;Text style={{ fontSize: 18, color: '#475569', lineHeight: 1.5, marginTop: 6 }}&gt;&#10;                    出争议时完整回放过程：它做了什么、谁批的、结果是什么。&#10;                &lt;/Text&gt;&#10;            &lt;/Box&gt;&#10;            &lt;Box style={{ flex: 1, background: '#FFF7E9', borderRadius: 12, padding: 16 }}&gt;&#10;                &lt;Text style={{ fontSize: 20, fontWeight: '600', color: '#B45309', lineHeight: 1.3 }}&gt;备份先于意外&lt;/Text&gt;&#10;                &lt;Text style={{ fontSize: 18, color: '#475569', lineHeight: 1.5, marginTop: 6 }}&gt;&#10;                    自动备份可挂定时任务，覆盖数据与工作区；升级前一键导出。&#10;                &lt;/Text&gt;&#10;            &lt;/Box&gt;&#10;        &lt;/Box&gt;&#10;&#10;        {/* 两个补充 */}&#10;        &lt;Box style={{ flexDirection: 'row', marginTop: 18, gap: 16 }}&gt;&#10;            &lt;Box style={{ flex: 1, background: '#F4F6FB', borderRadius: 10, padding: 16 }}&gt;&#10;                &lt;Text style={{ fontSize: 20, fontWeight: '600', color: '#1E293B', lineHeight: 1.3 }}&gt;轨迹不只是日志&lt;/Text&gt;&#10;                &lt;Text style={{ fontSize: 18, color: '#475569', lineHeight: 1.55, marginTop: 6 }}&gt;&#10;                    除了追责，也能复盘效果：哪些任务被反复使用、哪些环节总被人工干预——优化从这里开始。&#10;                &lt;/Text&gt;&#10;            &lt;/Box&gt;&#10;            &lt;Box style={{ flex: 1, background: '#F4F6FB', borderRadius: 10, padding: 16 }}&gt;&#10;                &lt;Text style={{ fontSize: 20, fontWeight: '600', color: '#1E293B', lineHeight: 1.3 }}&gt;恢复有路径&lt;/Text&gt;&#10;                &lt;Text style={{ fontSize: 18, color: '#475569', lineHeight: 1.55, marginTop: 6 }}&gt;&#10;                    支持数据转储与工作区归档；服务模式下升级后自动重启恢复，误操作也有退路。&#10;                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可回放、可恢复、可解释——这三项决定了 AI 能不能真正通过企业的内控与安全评审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出问题能回放每一步，出问题之前能提前备份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79" name=""/>
          <p:cNvSpPr/>
          <p:nvPr/>
        </p:nvSpPr>
        <p:spPr>
          <a:xfrm rot="0" flipH="0" flipV="0">
            <a:off x="571500" y="1733550"/>
            <a:ext cx="2667000" cy="1600200"/>
          </a:xfrm>
          <a:prstGeom prst="roundRect">
            <a:avLst>
              <a:gd name="adj" fmla="val 71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2362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调用即留痕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23622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读文件、跑命令、查知识库——每次动作的参数与结果都记录在案。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3371850" y="1733550"/>
            <a:ext cx="2657475" cy="1600200"/>
          </a:xfrm>
          <a:prstGeom prst="roundRect">
            <a:avLst>
              <a:gd name="adj" fmla="val 71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3524250" y="188595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多视图检视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3524250" y="2247900"/>
            <a:ext cx="2352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调用清单、时间轴、明细三种看法，管理视角一屏看全。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6162675" y="1733550"/>
            <a:ext cx="2667000" cy="1600200"/>
          </a:xfrm>
          <a:prstGeom prst="roundRect">
            <a:avLst>
              <a:gd name="adj" fmla="val 71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315075" y="1885950"/>
            <a:ext cx="2362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按会话回放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315075" y="2247900"/>
            <a:ext cx="23622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出争议时完整回放过程：它做了什么、谁批的、结果是什么。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8963025" y="1733550"/>
            <a:ext cx="2657475" cy="1600200"/>
          </a:xfrm>
          <a:prstGeom prst="roundRect">
            <a:avLst>
              <a:gd name="adj" fmla="val 71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115425" y="188595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备份先于意外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115425" y="2247900"/>
            <a:ext cx="2352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自动备份可挂定时任务，覆盖数据与工作区；升级前一键导出。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571500" y="3505200"/>
            <a:ext cx="5448300" cy="1304925"/>
          </a:xfrm>
          <a:prstGeom prst="roundRect">
            <a:avLst>
              <a:gd name="adj" fmla="val 729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723900" y="36576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轨迹不只是日志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23900" y="4019550"/>
            <a:ext cx="5143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除了追责，也能复盘效果：哪些任务被反复使用、哪些环节总被人工干预——优化从这里开始。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6172200" y="3505200"/>
            <a:ext cx="5448300" cy="1304925"/>
          </a:xfrm>
          <a:prstGeom prst="roundRect">
            <a:avLst>
              <a:gd name="adj" fmla="val 729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324600" y="36576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恢复有路径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324600" y="4019550"/>
            <a:ext cx="5143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支持数据转储与工作区归档；服务模式下升级后自动重启恢复，误操作也有退路。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71500" y="496252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704850" y="50863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可回放、可恢复、可解释——这三项决定了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能不能真正通过企业的内控与安全评审。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9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4&#10;        &lt;/Text&gt;&#10;        &lt;Text style={{ fontSize: 64, fontWeight: 'bold', color: '#1E293B', lineHeight: 1.15, marginTop: 12 }}&gt;&#10;            怎么开始&#10;        &lt;/Text&gt;&#10;        &lt;Box style={{ width: 72, height: 6, borderRadius: 3, background: '#F59E0B', marginTop: 30 }} /&gt;&#10;        &lt;Text style={{ fontSize: 22, color: '#64748B', lineHeight: 1.5, marginTop: 26 }}&gt;&#10;            从一台电脑试点，到全公司共用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8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从一台电脑试点，到全公司共用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80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三条路径：从一台电脑到全公司，规模变了不用换产品&#10;        &lt;/Text&gt;&#10;        &lt;Box style={{ height: 1, background: '#E2E8F0', marginTop: 16 }} /&gt;&#10;&#10;        {/* 阶梯三步 */}&#10;        &lt;Box style={{ flexDirection: 'row', marginTop: 24, gap: 20, alignItems: 'flex-end' }}&gt;&#10;            &lt;Box style={{ width: 373, background: '#E8EEFB', borderRadius: 12, padding: 20 }}&gt;&#10;                &lt;Text style={{ fontSize: 18, fontWeight: '600', color: '#2563EB', lineHeight: 1.3 }}&gt;路径一 · 自助验证&lt;/Text&gt;&#10;                &lt;Text style={{ fontSize: 22, fontWeight: '600', color: '#1E293B', lineHeight: 1.3, marginTop: 8 }}&gt;一台笔记本跑通一个场景&lt;/Text&gt;&#10;                &lt;Text style={{ fontSize: 18, color: '#475569', lineHeight: 1.55, marginTop: 8 }}&gt;&#10;                    一键脚本安装，本地运行，不需要任何中间件与采购流程。适合先小范围验证，成本几乎为零。&#10;                &lt;/Text&gt;&#10;            &lt;/Box&gt;&#10;            &lt;Box style={{ width: 373, background: '#D6E4F9', borderRadius: 12, padding: 20 }}&gt;&#10;                &lt;Text style={{ fontSize: 18, fontWeight: '600', color: '#2563EB', lineHeight: 1.3 }}&gt;路径二 · 团队部署&lt;/Text&gt;&#10;                &lt;Text style={{ fontSize: 22, fontWeight: '600', color: '#1E293B', lineHeight: 1.3, marginTop: 8 }}&gt;一个部门稳定使用&lt;/Text&gt;&#10;                &lt;Text style={{ fontSize: 18, color: '#475569', lineHeight: 1.55, marginTop: 8 }}&gt;&#10;                    切到服务器部署，开多用户、备份与 HTTPS 对外访问。适合部门级常态化使用。&#10;                &lt;/Text&gt;&#10;            &lt;/Box&gt;&#10;            &lt;Box style={{ width: 374, background: '#2563EB', borderRadius: 12, padding: 20 }}&gt;&#10;                &lt;Text style={{ fontSize: 18, fontWeight: '600', color: '#BFDBFE', lineHeight: 1.3 }}&gt;路径三 · 规模推广&lt;/Text&gt;&#10;                &lt;Text style={{ fontSize: 22, fontWeight: '600', color: '#FFFFFF', lineHeight: 1.3, marginTop: 8 }}&gt;全公司共用一台实例&lt;/Text&gt;&#10;                &lt;Text style={{ fontSize: 18, color: '#DBEAFE', lineHeight: 1.55, marginTop: 8 }}&gt;&#10;                    桌面客户端与 NAS 包分发到终端，专家与知识库沉淀为组织资产，数据与资产按人隔离。&#10;                &lt;/Text&gt;&#10;            &lt;/Box&gt;&#10;        &lt;/Box&gt;&#10;&#10;        {/* 部署形态 */}&#10;        &lt;Box style={{ flexDirection: 'row', marginTop: 20, gap: 10, alignItems: 'center' }}&gt;&#10;            &lt;Text style={{ fontSize: 18, color: '#64748B' }}&gt;部署形态：&lt;/Text&gt;&#10;            &lt;Box style={{ background: '#F4F6FB', borderRadius: 8, padding: 9 }}&gt;&lt;Text style={{ fontSize: 18, color: '#1E293B' }}&gt;一键脚本&lt;/Text&gt;&lt;/Box&gt;&#10;            &lt;Box style={{ background: '#F4F6FB', borderRadius: 8, padding: 9 }}&gt;&lt;Text style={{ fontSize: 18, color: '#1E293B' }}&gt;Docker&lt;/Text&gt;&lt;/Box&gt;&#10;            &lt;Box style={{ background: '#F4F6FB', borderRadius: 8, padding: 9 }}&gt;&lt;Text style={{ fontSize: 18, color: '#1E293B' }}&gt;系统服务&lt;/Text&gt;&lt;/Box&gt;&#10;            &lt;Box style={{ background: '#F4F6FB', borderRadius: 8, padding: 9 }}&gt;&lt;Text style={{ fontSize: 18, color: '#1E293B' }}&gt;桌面客户端&lt;/Text&gt;&lt;/Box&gt;&#10;            &lt;Box style={{ background: '#F4F6FB', borderRadius: 8, padding: 9 }}&gt;&lt;Text style={{ fontSize: 18, color: '#1E293B' }}&gt;NAS&lt;/Text&gt;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三条路径共用同一份配置与数据：试点时积累的专家、知识库与记忆，扩大规模时直接带走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三条路径：从一台电脑到全公司，规模变了不用换产品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571500" y="1771650"/>
            <a:ext cx="3552825" cy="2105025"/>
          </a:xfrm>
          <a:prstGeom prst="roundRect">
            <a:avLst>
              <a:gd name="adj" fmla="val 543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31718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路径一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自助验证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762000" y="2314575"/>
            <a:ext cx="3171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一台笔记本跑通一个场景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31718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一键脚本安装，本地运行，不需要任何中间件与采购流程。适合先小范围验证，成本几乎为零。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4314825" y="1771650"/>
            <a:ext cx="3552825" cy="2105025"/>
          </a:xfrm>
          <a:prstGeom prst="roundRect">
            <a:avLst>
              <a:gd name="adj" fmla="val 5430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4505325" y="1962150"/>
            <a:ext cx="31718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路径二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团队部署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4505325" y="2314575"/>
            <a:ext cx="3171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一个部门稳定使用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4505325" y="2724150"/>
            <a:ext cx="31718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切到服务器部署，开多用户、备份与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对外访问。适合部门级常态化使用。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8058150" y="1771650"/>
            <a:ext cx="3562350" cy="2105025"/>
          </a:xfrm>
          <a:prstGeom prst="roundRect">
            <a:avLst>
              <a:gd name="adj" fmla="val 543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248650" y="19621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BFDBFE"/>
                </a:solidFill>
                <a:latin typeface="Microsoft YaHei"/>
                <a:ea typeface="Microsoft YaHei"/>
              </a:rPr>
              <a:t>路径三</a:t>
            </a:r>
            <a:r>
              <a:rPr lang="en-US" sz="1350" b="1">
                <a:solidFill>
                  <a:srgbClr val="BFDBF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BFDBFE"/>
                </a:solidFill>
                <a:latin typeface="Microsoft YaHei"/>
                <a:ea typeface="Microsoft YaHei"/>
              </a:rPr>
              <a:t>规模推广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248650" y="2314575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全公司共用一台实例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248650" y="2724150"/>
            <a:ext cx="31813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桌面客户端与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NAS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包分发到终端，专家与知识库沉淀为组织资产，数据与资产按人隔离。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571500" y="4152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部署形态：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1524000" y="4067175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609725" y="4152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一键脚本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2476500" y="4067175"/>
            <a:ext cx="752475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2562225" y="4152900"/>
            <a:ext cx="581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Docker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3324225" y="4067175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3409950" y="4152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系统服务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4276725" y="4067175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362450" y="4152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桌面客户端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5400675" y="4067175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486400" y="4152900"/>
            <a:ext cx="361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NAS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571500" y="460057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04850" y="47244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三条路径共用同一份配置与数据：试点时积累的专家、知识库与记忆，扩大规模时直接带走。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83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4 · 怎么开始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五种部署形态：从一台电脑到一台 NAS，都有对应跑法&#13;&#10;        &lt;/Text&gt;&#13;&#10;        &lt;Box style={{ height: 1, background: '#E2E8F0', marginTop: 16 }} /&gt;&#13;&#10;&#13;&#10;        &lt;Box style={{ marginTop: 20, gap: 12 }}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一键脚本安装&lt;/Text&gt;&#13;&#10;                &lt;/Box&gt;&#13;&#10;                &lt;Text style={{ fontSize: 18, color: '#475569', lineHeight: 1.5 }}&gt;&#13;&#10;                  各平台一条命令装好，自动配独立运行环境，不碰系统原有配置。适合个人验证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Docker Compose&lt;/Text&gt;&#13;&#10;                &lt;/Box&gt;&#13;&#10;                &lt;Text style={{ fontSize: 18, color: '#475569', lineHeight: 1.5 }}&gt;&#13;&#10;                    官方编排文件开箱可用，另有国内镜像加速版；生产环境推荐，迁移方便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注册为系统服务&lt;/Text&gt;&#13;&#10;                &lt;/Box&gt;&#13;&#10;                &lt;Text style={{ fontSize: 18, color: '#475569', lineHeight: 1.5 }}&gt;&#13;&#10;                    开机自启、内置自更新，升级后自动重启恢复——像运维一套正式系统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桌面客户端&lt;/Text&gt;&#13;&#10;                &lt;/Box&gt;&#13;&#10;                &lt;Text style={{ fontSize: 18, color: '#475569', lineHeight: 1.5 }}&gt;&#13;&#10;                    Windows / macOS / Linux 原生安装包，图形界面完成安装，不需要终端。&#13;&#10;                &lt;/Text&gt;&#13;&#10;            &lt;/Box&gt;&#13;&#10;            &lt;Box style={{ height: 72, flexDirection: 'row', alignItems: 'center' }}&gt;&#13;&#10;                &lt;Box style={{ width: 200, justifyContent: 'center' }}&gt;&#13;&#10;                    &lt;Text style={{ fontSize: 20, fontWeight: '600', color: '#2563EB' }}&gt;NAS 与移动访问&lt;/Text&gt;&#13;&#10;                &lt;/Box&gt;&#13;&#10;                &lt;Text style={{ fontSize: 18, color: '#475569', lineHeight: 1.5 }}&gt;&#13;&#10;                    飞牛 fnOS 提供原生与容器两种包；控制台支持手机浏览器与 HTTPS 安全访问。&#13;&#10;                &lt;/Text&gt;&#13;&#10;            &lt;/Box&gt;&#13;&#10;        &lt;/Box&gt;&#13;&#10;&#13;&#10;        {/* 结论条 */}&#13;&#10;        &lt;Box style={{ height: 52, background: '#E8EEFB', borderRadius: 10, padding: 14, marginTop: 12, justifyContent: 'center' }}&gt;&#13;&#10;            &lt;Text style={{ fontSize: 19, fontWeight: '600', color: '#1E293B', lineHeight: 1.4 }}&gt;&#13;&#10;                上线路径不依赖任何云厂商：试点在一台电脑上完成，规模扩大时配置与数据可平滑带走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五种部署形态：从一台电脑到一台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NAS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，都有对应跑法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571500" y="17335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571500" y="19621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一键脚本安装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476500" y="1914525"/>
            <a:ext cx="6172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各平台一条命令装好，自动配独立运行环境，不碰系统原有配置。适合个人验证。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571500" y="25336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571500" y="27622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Docker Compose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2476500" y="2714625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官方编排文件开箱可用，另有国内镜像加速版；生产环境推荐，迁移方便。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571500" y="33337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571500" y="35623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注册为系统服务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2476500" y="3514725"/>
            <a:ext cx="5514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开机自启、内置自更新，升级后自动重启恢复——像运维一套正式系统。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571500" y="41338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571500" y="43624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桌面客户端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2476500" y="4314825"/>
            <a:ext cx="5772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Windows / macOS / Linux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原生安装包，图形界面完成安装，不需要终端。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71500" y="51625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NAS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与移动访问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2476500" y="5124450"/>
            <a:ext cx="61245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fnOS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提供原生与容器两种包；控制台支持手机浏览器与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安全访问。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571500" y="57340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上线路径不依赖任何云厂商：试点在一台电脑上完成，规模扩大时配置与数据可平滑带走。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86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建议：30 天，验证一个真实场景&#10;        &lt;/Text&gt;&#10;        &lt;Box style={{ height: 1, background: '#E2E8F0', marginTop: 16 }} /&gt;&#10;&#10;        &lt;Box style={{ flex: 1, marginTop: 20, flexDirection: 'row', gap: 32 }}&gt;&#10;            {/* 左：30 天 */}&#10;            &lt;Box style={{ width: 300, background: '#2563EB', borderRadius: 12, padding: 22, justifyContent: 'center' }}&gt;&#10;                &lt;Text style={{ fontSize: 88, fontWeight: 'bold', color: '#FFFFFF', lineHeight: 1.0 }}&gt;30&lt;/Text&gt;&#10;                &lt;Text style={{ fontSize: 22, fontWeight: '600', color: '#DBEAFE', marginTop: 8, lineHeight: 1.3 }}&gt;天完成一次可决策的验证&lt;/Text&gt;&#10;                &lt;Box style={{ height: 1, background: '#3B82F6', marginTop: 16 }} /&gt;&#10;                &lt;Text style={{ fontSize: 18, color: '#DBEAFE', lineHeight: 1.55, marginTop: 14 }}&gt;&#10;                    需要的投入：1 位业务对接人，每天几条真实问题。产出：一份可以拿去开会的评估结论。&#10;                &lt;/Text&gt;&#10;            &lt;/Box&gt;&#10;&#10;            {/* 右：四周安排 */}&#10;            &lt;Box style={{ flex: 1 }}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1 周&lt;/Text&gt;&#10;                    &lt;/Box&gt;&#10;                    &lt;Box style={{ flex: 1, justifyContent: 'center', marginLeft: 10 }}&gt;&#10;                        &lt;Text style={{ fontSize: 20, fontWeight: '600', color: '#1E293B', lineHeight: 1.3 }}&gt;选定场景，搭好环境&lt;/Text&gt;&#10;                        &lt;Text style={{ fontSize: 18, color: '#475569', lineHeight: 1.5, marginTop: 4 }}&gt;&#10;                            确定 1 个高频、可衡量的场景与业务对接人，部署试点环境、导入核心文档。&#10;                        &lt;/Text&gt;&#10;                    &lt;/Box&gt;&#10;                &lt;/Box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2 周&lt;/Text&gt;&#10;                    &lt;/Box&gt;&#10;                    &lt;Box style={{ flex: 1, justifyContent: 'center', marginLeft: 10 }}&gt;&#10;                        &lt;Text style={{ fontSize: 20, fontWeight: '600', color: '#1E293B', lineHeight: 1.3 }}&gt;配置专家，设定规则&lt;/Text&gt;&#10;                        &lt;Text style={{ fontSize: 18, color: '#475569', lineHeight: 1.5, marginTop: 4 }}&gt;&#10;                            挑选或微调岗位专家，设定审批清单与使用规范，小范围内先行试用。&#10;                        &lt;/Text&gt;&#10;                    &lt;/Box&gt;&#10;                &lt;/Box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3 周&lt;/Text&gt;&#10;                    &lt;/Box&gt;&#10;                    &lt;Box style={{ flex: 1, justifyContent: 'center', marginLeft: 10 }}&gt;&#10;                        &lt;Text style={{ fontSize: 20, fontWeight: '600', color: '#1E293B', lineHeight: 1.3 }}&gt;真实使用，持续微调&lt;/Text&gt;&#10;                        &lt;Text style={{ fontSize: 18, color: '#475569', lineHeight: 1.5, marginTop: 4 }}&gt;&#10;                            放进真实业务跑起来，按反馈补充知识库、调整话术，观察员工的使用意愿。&#10;                        &lt;/Text&gt;&#10;                    &lt;/Box&gt;&#10;                &lt;/Box&gt;&#10;                &lt;Box style={{ height: 102, flexDirection: 'row' }}&gt;&#10;                    &lt;Box style={{ width: 96, justifyContent: 'center' }}&gt;&#10;                        &lt;Text style={{ fontSize: 20, fontWeight: 'bold', color: '#F59E0B' }}&gt;第 4 周&lt;/Text&gt;&#10;                    &lt;/Box&gt;&#10;                    &lt;Box style={{ flex: 1, justifyContent: 'center', marginLeft: 10 }}&gt;&#10;                        &lt;Text style={{ fontSize: 20, fontWeight: '600', color: '#1E293B', lineHeight: 1.3 }}&gt;复盘效果，决定下一步&lt;/Text&gt;&#10;                        &lt;Text style={{ fontSize: 18, color: '#475569', lineHeight: 1.5, marginTop: 4 }}&gt;&#10;                            看三个问题：答得准不准、处理快没快、员工愿不愿用——据此决定扩大、调整还是停止。&#10;                        &lt;/Text&gt;&#10;                    &lt;/Box&gt;&#10;                &lt;/Box&gt;&#10;            &lt;/Box&gt;&#10;        &lt;/Box&gt;&#10;&#10;        {/* 结论条 */}&#10;        &lt;Box style={{ height: 58, background: '#FFF7E9', borderRadius: 10, padding: 14, marginTop: 12, justifyContent: 'center' }}&gt;&#10;            &lt;Text style={{ fontSize: 19, fontWeight: '600', color: '#7C2D12', lineHeight: 1.4 }}&gt;&#10;                不需要先签合同再验证：装好跑通一个场景，再决定要不要扩大到全公司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建议：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天，验证一个真实场景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72" name=""/>
          <p:cNvSpPr/>
          <p:nvPr/>
        </p:nvSpPr>
        <p:spPr>
          <a:xfrm rot="0" flipH="0" flipV="0">
            <a:off x="571500" y="1733550"/>
            <a:ext cx="2857500" cy="3886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81050" y="2343150"/>
            <a:ext cx="24384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781050" y="3429000"/>
            <a:ext cx="2438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BEAFE"/>
                </a:solidFill>
                <a:latin typeface="Microsoft YaHei"/>
                <a:ea typeface="Microsoft YaHei"/>
              </a:rPr>
              <a:t>天完成一次可决策的验证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781050" y="3914775"/>
            <a:ext cx="24384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24384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需要的投入：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位业务对接人，每天几条真实问题。产出：一份可以拿去开会的评估结论。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3733800" y="173355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3733800" y="210502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4743450" y="188595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选定场景，搭好环境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4743450" y="222885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确定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个高频、可衡量的场景与业务对接人，部署试点环境、导入核心文档。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3733800" y="270510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3733800" y="30765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4743450" y="285750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配置专家，设定规则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4743450" y="320040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挑选或微调岗位专家，设定审批清单与使用规范，小范围内先行试用。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3733800" y="367665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3733800" y="404812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4743450" y="382905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真实使用，持续微调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4743450" y="417195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放进真实业务跑起来，按反馈补充知识库、调整话术，观察员工的使用意愿。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3733800" y="50196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743450" y="4657725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复盘效果，决定下一步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4743450" y="5000625"/>
            <a:ext cx="6877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看三个问题：答得准不准、处理快没快、员工愿不愿用——据此决定扩大、调整还是停止。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不需要先签合同再验证：装好跑通一个场景，再决定要不要扩大到全公司。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894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试点常见问题：顾虑都有对应答案&#10;        &lt;/Text&gt;&#10;        &lt;Box style={{ height: 1, background: '#E2E8F0', marginTop: 16 }} /&gt;&#10;&#10;        &lt;Box style={{ marginTop: 20, gap: 12 }}&gt;&#10;            &lt;Box style={{ height: 84, background: '#F4F6FB', borderRadius: 10, padding: 16 }}&gt;&#10;                &lt;Text style={{ fontSize: 20, fontWeight: '600', color: '#2563EB', lineHeight: 1.3 }}&gt;要不要先买服务器、先立项采购？&lt;/Text&gt;&#10;                &lt;Text style={{ fontSize: 18, color: '#475569', lineHeight: 1.5, marginTop: 4 }}&gt;&#10;                    不用。一台笔记本就能起步验证；开源许可，不需要为「试一试」先走采购流程。&#10;                &lt;/Text&gt;&#10;            &lt;/Box&gt;&#10;            &lt;Box style={{ height: 84, background: '#F4F6FB', borderRadius: 10, padding: 16 }}&gt;&#10;                &lt;Text style={{ fontSize: 20, fontWeight: '600', color: '#2563EB', lineHeight: 1.3 }}&gt;员工会用吗？培训成本高不高？&lt;/Text&gt;&#10;                &lt;Text style={{ fontSize: 18, color: '#475569', lineHeight: 1.5, marginTop: 4 }}&gt;&#10;                    在飞书、钉钉、企业微信里直接对话即可，会打字就会用；33 个岗位专家开箱即用，不需要写提示词。&#10;                &lt;/Text&gt;&#10;            &lt;/Box&gt;&#10;            &lt;Box style={{ height: 84, background: '#F4F6FB', borderRadius: 10, padding: 16 }}&gt;&#10;                &lt;Text style={{ fontSize: 20, fontWeight: '600', color: '#2563EB', lineHeight: 1.3 }}&gt;数据会不会泄露？&lt;/Text&gt;&#10;                &lt;Text style={{ fontSize: 18, color: '#475569', lineHeight: 1.5, marginTop: 4 }}&gt;&#10;                    本地部署、数据不出内网；脱敏策略可配置，敏感场景可完全离线运行，出站访问可控。&#10;                &lt;/Text&gt;&#10;            &lt;/Box&gt;&#10;            &lt;Box style={{ height: 84, background: '#FFF7E9', borderRadius: 10, padding: 16 }}&gt;&#10;                &lt;Text style={{ fontSize: 20, fontWeight: '600', color: '#B45309', lineHeight: 1.3 }}&gt;效果怎么衡量？说不清楚怎么向管理层交代？&lt;/Text&gt;&#10;                &lt;Text style={{ fontSize: 18, color: '#7C2D12', lineHeight: 1.5, marginTop: 4 }}&gt;&#10;                    用三个可观察的维度：答得准不准（抽样核对）、处理快没快（前后对比）、员工愿不愿用（使用频次）——试点报告就写这三件事。&#10;                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质疑是试点的一部分：把顾虑列出来，30 天里逐条验证，答案比承诺有说服力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试点常见问题：顾虑都有对应答案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571500" y="17335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要不要先买服务器、先立项采购？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23900" y="22288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不用。一台笔记本就能起步验证；开源许可，不需要为「试一试」先走采购流程。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571500" y="26479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23900" y="28003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员工会用吗？培训成本高不高？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723900" y="31432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在飞书、钉钉、企业微信里直接对话即可，会打字就会用；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个岗位专家开箱即用，不需要写提示词。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571500" y="35623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23900" y="37147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数据会不会泄露？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23900" y="40576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本地部署、数据不出内网；脱敏策略可配置，敏感场景可完全离线运行，出站访问可控。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571500" y="44767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23900" y="46291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效果怎么衡量？说不清楚怎么向管理层交代？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23900" y="49720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用三个可观察的维度：答得准不准（抽样核对）、处理快没快（前后对比）、员工愿不愿用（使用频次）——试点报告就写这三件事。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571500" y="54292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04850" y="55530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质疑是试点的一部分：把顾虑列出来，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天里逐条验证，答案比承诺有说服力。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914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4 · 怎么开始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路线图：已经做到的、正在做的、打算做的&#13;&#10;        &lt;/Text&gt;&#13;&#10;        &lt;Box style={{ height: 1, background: '#E2E8F0', marginTop: 16 }} /&gt;&#13;&#10;&#13;&#10;        &lt;Box style={{ marginTop: 20, gap: 14 }}&gt;&#13;&#10;            &lt;Box style={{ height: 96, flexDirection: 'row', background: '#E8EEFB', borderRadius: 12, padding: 18 }}&gt;&#13;&#10;                &lt;Box style={{ width: 170, justifyContent: 'center' }}&gt;&#13;&#10;                    &lt;Text style={{ fontSize: 22, fontWeight: 'bold', color: '#2563EB' }}&gt;已完成&lt;/Text&gt;&#13;&#10;                    &lt;Text style={{ fontSize: 16, color: '#64748B', lineHeight: 1.3, marginTop: 2 }}&gt;已可交付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资源共享池、专家共享、桌面客户端、IM 全平台通道——这四项可以当场演示、直接用起来。&#13;&#10;                    &lt;/Text&gt;&#13;&#10;                &lt;/Box&gt;&#13;&#10;            &lt;/Box&gt;&#13;&#10;            &lt;Box style={{ height: 96, flexDirection: 'row', background: '#D6E4F9', borderRadius: 12, padding: 18 }}&gt;&#13;&#10;                &lt;Box style={{ width: 170, justifyContent: 'center' }}&gt;&#13;&#10;                    &lt;Text style={{ fontSize: 22, fontWeight: 'bold', color: '#1E293B' }}&gt;进行中&lt;/Text&gt;&#13;&#10;                    &lt;Text style={{ fontSize: 16, color: '#64748B', lineHeight: 1.3, marginTop: 2 }}&gt;可用，仍在打磨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多智能体团队编排（Beta）、移动端客户端（内测）——想用可以先用，但按「打磨中」预期管理。&#13;&#10;                    &lt;/Text&gt;&#13;&#10;                &lt;/Box&gt;&#13;&#10;            &lt;/Box&gt;&#13;&#10;            &lt;Box style={{ height: 96, flexDirection: 'row', background: '#FFF7E9', borderRadius: 12, padding: 18 }}&gt;&#13;&#10;                &lt;Box style={{ width: 170, justifyContent: 'center' }}&gt;&#13;&#10;                    &lt;Text style={{ fontSize: 22, fontWeight: 'bold', color: '#B45309' }}&gt;规划中&lt;/Text&gt;&#13;&#10;                    &lt;Text style={{ fontSize: 16, color: '#64748B', lineHeight: 1.3, marginTop: 2 }}&gt;方向明确，不承诺时间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自进化能力、企业知识大脑、插件市场、对话式控制面——评估时请以「已完成」与「进行中」的实测为准。&#13;&#10;                    &lt;/Text&gt;&#13;&#10;                &lt;/Box&gt;&#13;&#10;            &lt;/Box&gt;&#13;&#10;        &lt;/Box&gt;&#13;&#10;&#13;&#10;        &lt;Box style={{ flexDirection: 'row', marginTop: 16, gap: 16 }}&gt;&#13;&#10;            &lt;Box style={{ flex: 1 }}&gt;&#13;&#10;                &lt;Text style={{ fontSize: 18, color: '#475569', lineHeight: 1.55 }}&gt;&#13;&#10;                    版本节奏：产品持续更新，升级前可一键备份，配置与数据平滑延续。&#13;&#10;                &lt;/Text&gt;&#13;&#10;            &lt;/Box&gt;&#13;&#10;            &lt;Box style={{ width: 1, background: '#E2E8F0' }} /&gt;&#13;&#10;            &lt;Box style={{ flex: 1 }}&gt;&#13;&#10;                &lt;Text style={{ fontSize: 18, color: '#475569', lineHeight: 1.55 }}&gt;&#13;&#10;                    开源托管：代码公开可审计，企业可自行二次开发，不被单一厂商绑定。&#13;&#10;                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成熟度的判断依据不是路线图有多长，而是「已完成」那一栏能当场演示多少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路线图：已经做到的、正在做的、打算做的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20" name=""/>
          <p:cNvSpPr/>
          <p:nvPr/>
        </p:nvSpPr>
        <p:spPr>
          <a:xfrm rot="0" flipH="0" flipV="0">
            <a:off x="571500" y="173355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742950" y="193357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742950" y="22098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已可交付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2476500" y="20288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资源共享池、专家共享、桌面客户端、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全平台通道——这四项可以当场演示、直接用起来。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571500" y="278130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742950" y="298132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42950" y="325755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可用，仍在打磨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2476500" y="307657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多智能体团队编排（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Beta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）、移动端客户端（内测）——想用可以先用，但按「打磨中」预期管理。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571500" y="382905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规划中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742950" y="43053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方向明确，不承诺时间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2476500" y="41243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自进化能力、企业知识大脑、插件市场、对话式控制面——评估时请以「已完成」与「进行中」的实测为准。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571500" y="48958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版本节奏：产品持续更新，升级前可一键备份，配置与数据平滑延续。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096000" y="4895850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257925" y="4895850"/>
            <a:ext cx="53625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开源托管：代码公开可审计，企业可自行二次开发，不被单一厂商绑定。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571500" y="5629275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704850" y="57245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成熟度的判断依据不是路线图有多长，而是「已完成」那一栏能当场演示多少。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7" name="" descr="&lt;Slide style={{ padding: 0, position: 'relative', background: 'linear-gradient(115deg, #FFFFFF 0%, #F4F6FB 55%, #E4ECF9 100%)' }}&gt;&#10;    {/* 右侧节点图 */}&#10;    &lt;Box style={{ position: 'absolute', right: 40, top: 90, width: 640, height: 540 }}&gt;&#10;        &lt;svg width={640} height={540} viewBox='0 0 640 540'&gt;&#10;            &lt;g stroke='#C7D6F5' strokeWidth='1' opacity='0.9'&gt;&#10;                &lt;line x1='80' y1='60' x2='240' y2='180' /&gt;&#10;                &lt;line x1='240' y1='180' x2='420' y2='120' /&gt;&#10;                &lt;line x1='240' y1='180' x2='400' y2='330' /&gt;&#10;                &lt;line x1='400' y1='330' x2='560' y2='260' /&gt;&#10;                &lt;line x1='400' y1='330' x2='300' y2='470' /&gt;&#10;                &lt;line x1='300' y1='470' x2='520' y2='440' /&gt;&#10;                &lt;line x1='420' y1='120' x2='560' y2='260' /&gt;&#10;            &lt;/g&gt;&#10;            &lt;circle cx='80' cy='60' r='7' fill='#0891B2' /&gt;&#10;            &lt;circle cx='240' cy='180' r='12' fill='#2563EB' /&gt;&#10;            &lt;circle cx='420' cy='120' r='7' fill='#0891B2' /&gt;&#10;            &lt;circle cx='400' cy='330' r='16' fill='#F59E0B' /&gt;&#10;            &lt;circle cx='560' cy='260' r='8' fill='#93C5FD' /&gt;&#10;            &lt;circle cx='300' cy='470' r='9' fill='#0891B2' /&gt;&#10;            &lt;circle cx='520' cy='440' r='7' fill='#93C5FD' /&gt;&#10;        &lt;/svg&gt;&#10;    &lt;/Box&gt;&#10;&#10;    {/* 收束金句 */}&#10;    &lt;Box style={{ position: 'absolute', left: 92, top: 140, width: 720 }}&gt;&#10;        &lt;Box style={{ width: 72, height: 6, borderRadius: 3, background: '#F59E0B' }} /&gt;&#10;        &lt;Text style={{ fontSize: 46, fontWeight: 'bold', color: '#1E293B', lineHeight: 1.35, marginTop: 30 }}&gt;&#10;            让 AI 不只回答问题，&lt;br /&gt;而是把活真正干完。&#10;        &lt;/Text&gt;&#10;        &lt;Text style={{ fontSize: 20, color: '#64748B', lineHeight: 1.5, marginTop: 20 }}&gt;&#10;            云顶数字工作台 · 会思考，会干活，陪企业成长的智能伙伴&#10;        &lt;/Text&gt;&#10;    &lt;/Box&gt;&#10;&#10;    {/* 行动路径 + 落款 */}&#10;    &lt;Box style={{ position: 'absolute', left: 92, bottom: 110, width: 720 }}&gt;&#10;        &lt;Box style={{ height: 1, background: '#C7D6F5' }} /&gt;&#10;        &lt;Box style={{ flexDirection: 'row', gap: 24, marginTop: 20 }}&gt;&#10;            &lt;Box style={{ width: 200 }}&gt;&#10;                &lt;Text style={{ fontSize: 15, color: '#64748B', lineHeight: 1.4 }}&gt;第一步&lt;/Text&gt;&#10;                &lt;Text style={{ fontSize: 19, fontWeight: '600', color: '#1E293B', lineHeight: 1.4, marginTop: 4 }}&gt;选定 1 个试点场景&lt;/Text&gt;&#10;            &lt;/Box&gt;&#10;            &lt;Box style={{ width: 200 }}&gt;&#10;                &lt;Text style={{ fontSize: 15, color: '#64748B', lineHeight: 1.4 }}&gt;第二步&lt;/Text&gt;&#10;                &lt;Text style={{ fontSize: 19, fontWeight: '600', color: '#1E293B', lineHeight: 1.4, marginTop: 4 }}&gt;30 天试点验证&lt;/Text&gt;&#10;            &lt;/Box&gt;&#10;            &lt;Box style={{ width: 250 }}&gt;&#10;                &lt;Text style={{ fontSize: 15, color: '#64748B', lineHeight: 1.4 }}&gt;第三步&lt;/Text&gt;&#10;                &lt;Text style={{ fontSize: 19, fontWeight: '600', color: '#2563EB', lineHeight: 1.4, marginTop: 4 }}&gt;复盘效果，决定推广&lt;/Text&gt;&#10;            &lt;/Box&gt;&#10;        &lt;/Box&gt;&#10;        &lt;Text style={{ fontSize: 15, color: '#64748B', lineHeight: 1.5, marginTop: 18 }}&gt;&#10;            开源仓库 github.com/njydsz/ydsz-worker · MIT 许可 · 业务版介绍 · 2026 年 10 月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5000">
                <a:srgbClr val="F4F6FB"/>
              </a:gs>
              <a:gs pos="100000">
                <a:srgbClr val="E4ECF9"/>
              </a:gs>
            </a:gsLst>
            <a:lin ang="1500000" scaled="1"/>
          </a:gradFill>
          <a:ln/>
        </p:spPr>
        <p:txBody>
          <a:bodyPr/>
          <a:p/>
        </p:txBody>
      </p:sp>
      <p:pic>
        <p:nvPicPr>
          <p:cNvPr id="9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857250"/>
            <a:ext cx="6096000" cy="5143500"/>
          </a:xfrm>
          <a:prstGeom prst="rect">
            <a:avLst/>
          </a:prstGeom>
          <a:ln/>
        </p:spPr>
      </p:pic>
      <p:sp>
        <p:nvSpPr>
          <p:cNvPr id="940" name=""/>
          <p:cNvSpPr/>
          <p:nvPr/>
        </p:nvSpPr>
        <p:spPr>
          <a:xfrm rot="0" flipH="0" flipV="0">
            <a:off x="876300" y="13335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876300" y="1676400"/>
            <a:ext cx="6858000" cy="1428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让</a:t>
            </a:r>
            <a:r>
              <a:rPr lang="en-US" sz="34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不只回答问题，</a:t>
            </a:r>
            <a:endParaRPr/>
          </a:p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而是把活真正干完。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76300" y="3295650"/>
            <a:ext cx="6858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云顶数字工作台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会思考，会干活，陪企业成长的智能伙伴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876300" y="4591050"/>
            <a:ext cx="68580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876300" y="4791075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876300" y="50768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选定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个试点场景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3009900" y="4791075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3009900" y="50768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天试点验证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5143500" y="4791075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5143500" y="5076825"/>
            <a:ext cx="2381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复盘效果，决定推广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76300" y="5553075"/>
            <a:ext cx="685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开源仓库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github.com/njydsz/ydsz-worker · MIT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许可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业务版介绍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2026-10-30T14:28:46Z</dcterms:created>
  <dcterms:modified xsi:type="dcterms:W3CDTF">2026-10-30T14:28:46Z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{"AIGC":{"Label":"1","ContentProducer":"00119111010856365494821B355","ProduceID":"01a18acacabc706b8be9785d8f383845","ReservedCode1":"","ContentPropagator":"00119111010856365494821B355","PropagateID":"01a18acacabc706b8be9785d8f383845","ReservedCode2":""}}</vt:lpwstr>
  </property>
</Properties>
</file>